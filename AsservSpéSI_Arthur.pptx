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3" r:id="rId2"/>
    <p:sldId id="257" r:id="rId3"/>
    <p:sldId id="274" r:id="rId4"/>
    <p:sldId id="256" r:id="rId5"/>
    <p:sldId id="260" r:id="rId6"/>
    <p:sldId id="259" r:id="rId7"/>
    <p:sldId id="258" r:id="rId8"/>
    <p:sldId id="285" r:id="rId9"/>
    <p:sldId id="284" r:id="rId10"/>
    <p:sldId id="282" r:id="rId11"/>
    <p:sldId id="275" r:id="rId12"/>
    <p:sldId id="276" r:id="rId13"/>
    <p:sldId id="277" r:id="rId14"/>
    <p:sldId id="278" r:id="rId15"/>
    <p:sldId id="279" r:id="rId16"/>
    <p:sldId id="271" r:id="rId17"/>
    <p:sldId id="280" r:id="rId18"/>
    <p:sldId id="281" r:id="rId19"/>
    <p:sldId id="270" r:id="rId20"/>
    <p:sldId id="272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8AF33D-6C1B-4D25-9C32-D60006D0B854}" v="1" dt="2026-06-07T12:01:45.4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5" autoAdjust="0"/>
    <p:restoredTop sz="84988" autoAdjust="0"/>
  </p:normalViewPr>
  <p:slideViewPr>
    <p:cSldViewPr snapToGrid="0">
      <p:cViewPr varScale="1">
        <p:scale>
          <a:sx n="94" d="100"/>
          <a:sy n="94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36737-801A-413E-B812-23FEA7ECAC28}" type="datetimeFigureOut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731D1-85AE-4366-B364-066FEADE3F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3806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T</a:t>
            </a:r>
            <a:r>
              <a:rPr lang="fr-FR" b="1" dirty="0">
                <a:solidFill>
                  <a:srgbClr val="FF0000"/>
                </a:solidFill>
              </a:rPr>
              <a:t>o</a:t>
            </a:r>
            <a:r>
              <a:rPr lang="fr-FR" dirty="0">
                <a:solidFill>
                  <a:srgbClr val="FF0000"/>
                </a:solidFill>
              </a:rPr>
              <a:t>ut</a:t>
            </a:r>
            <a:r>
              <a:rPr lang="fr-FR" dirty="0"/>
              <a:t> pourri a modifier nom titre correct numéro candidat </a:t>
            </a:r>
          </a:p>
          <a:p>
            <a:r>
              <a:rPr lang="fr-FR" b="1" dirty="0">
                <a:solidFill>
                  <a:srgbClr val="FF0000"/>
                </a:solidFill>
              </a:rPr>
              <a:t>Dé</a:t>
            </a:r>
            <a:r>
              <a:rPr lang="fr-FR" dirty="0"/>
              <a:t>velopper séquence en plusieurs slides et détailler les trucs dans chaque cours/TP/TD</a:t>
            </a:r>
          </a:p>
          <a:p>
            <a:r>
              <a:rPr lang="fr-FR" dirty="0"/>
              <a:t>Vraiment détailler les séances il faut que les séquences ne soit pas trop longues LE FIL ROUGE!!</a:t>
            </a:r>
          </a:p>
          <a:p>
            <a:r>
              <a:rPr lang="fr-FR" b="1" dirty="0"/>
              <a:t>Dé</a:t>
            </a:r>
            <a:r>
              <a:rPr lang="fr-FR" dirty="0"/>
              <a:t>tailler plus éval</a:t>
            </a:r>
          </a:p>
          <a:p>
            <a:r>
              <a:rPr lang="fr-FR" b="1" dirty="0"/>
              <a:t>Fair</a:t>
            </a:r>
            <a:r>
              <a:rPr lang="fr-FR" dirty="0"/>
              <a:t>e une conclusion globale du but de notre action</a:t>
            </a:r>
          </a:p>
          <a:p>
            <a:r>
              <a:rPr lang="fr-FR" dirty="0"/>
              <a:t>Aller plus vers l’écran du projecteur: être dynamique</a:t>
            </a:r>
          </a:p>
          <a:p>
            <a:r>
              <a:rPr lang="fr-FR" dirty="0"/>
              <a:t>Pourquoi pas écrire au tableau</a:t>
            </a:r>
          </a:p>
          <a:p>
            <a:r>
              <a:rPr lang="fr-FR" dirty="0"/>
              <a:t>Faire le tracé pour la mesure du temps de réponse</a:t>
            </a:r>
          </a:p>
          <a:p>
            <a:r>
              <a:rPr lang="fr-FR" dirty="0"/>
              <a:t>Point clé attention lien BO connaissances compétences illustrer</a:t>
            </a:r>
          </a:p>
          <a:p>
            <a:r>
              <a:rPr lang="fr-FR" b="1" dirty="0"/>
              <a:t>Vo</a:t>
            </a:r>
            <a:r>
              <a:rPr lang="fr-FR" dirty="0"/>
              <a:t>ir ce qu'il y avait dans la séquence précédente et dans celle suivante</a:t>
            </a:r>
          </a:p>
          <a:p>
            <a:r>
              <a:rPr lang="fr-FR" dirty="0"/>
              <a:t>Changer PB TP</a:t>
            </a:r>
          </a:p>
          <a:p>
            <a:r>
              <a:rPr lang="fr-FR" dirty="0"/>
              <a:t>Expliquer comment l’élève serait susceptible de répondre aux questions du TP</a:t>
            </a:r>
          </a:p>
          <a:p>
            <a:r>
              <a:rPr lang="fr-FR" dirty="0"/>
              <a:t>Bien de présenter la filière</a:t>
            </a:r>
          </a:p>
          <a:p>
            <a:r>
              <a:rPr lang="fr-FR" dirty="0"/>
              <a:t>Mettre une problématique intéressante au début de la séquence</a:t>
            </a:r>
          </a:p>
          <a:p>
            <a:r>
              <a:rPr lang="fr-FR" dirty="0"/>
              <a:t>Pas de TP tournant chaque élève travaille le même contenu sur un système différent</a:t>
            </a:r>
          </a:p>
          <a:p>
            <a:r>
              <a:rPr lang="fr-FR" dirty="0"/>
              <a:t>Dans le cas de groupes de 4/5 pers c’est le chef tout seul qui présente le travail de TOUS les autres</a:t>
            </a:r>
          </a:p>
          <a:p>
            <a:r>
              <a:rPr lang="fr-FR" dirty="0"/>
              <a:t>Ou deux demi groupes qui tournent un sur une partie analytique l’autre sur </a:t>
            </a:r>
            <a:r>
              <a:rPr lang="fr-FR" dirty="0" err="1"/>
              <a:t>expe</a:t>
            </a:r>
            <a:r>
              <a:rPr lang="fr-FR" dirty="0"/>
              <a:t> mais dont le sens ne change rien</a:t>
            </a:r>
          </a:p>
          <a:p>
            <a:r>
              <a:rPr lang="fr-FR" dirty="0"/>
              <a:t>Ne pas confondre automatise et asservi (ex volet roulant)</a:t>
            </a:r>
          </a:p>
          <a:p>
            <a:r>
              <a:rPr lang="fr-FR" dirty="0"/>
              <a:t>Bien détaille tout ce qu’il est possible de faire avec le système étudié/ possibilité de mesures</a:t>
            </a:r>
          </a:p>
          <a:p>
            <a:r>
              <a:rPr lang="fr-FR" dirty="0"/>
              <a:t>4min sur la présentation globale contexte prérequis objectifs</a:t>
            </a:r>
          </a:p>
          <a:p>
            <a:r>
              <a:rPr lang="fr-FR" dirty="0"/>
              <a:t>2min sur le déroulé de la séquence</a:t>
            </a:r>
          </a:p>
          <a:p>
            <a:r>
              <a:rPr lang="fr-FR" dirty="0"/>
              <a:t>8min sur le contenu des séances contenu scientifique ET!! Lier au contexte de la séance et lier aux </a:t>
            </a:r>
            <a:r>
              <a:rPr lang="fr-FR" dirty="0" err="1"/>
              <a:t>systemes</a:t>
            </a:r>
            <a:r>
              <a:rPr lang="fr-FR" dirty="0"/>
              <a:t> (cahier des charges). On est en SI pas en </a:t>
            </a:r>
            <a:r>
              <a:rPr lang="fr-FR" dirty="0" err="1"/>
              <a:t>autom</a:t>
            </a:r>
            <a:endParaRPr lang="fr-FR" dirty="0"/>
          </a:p>
          <a:p>
            <a:r>
              <a:rPr lang="fr-FR" dirty="0"/>
              <a:t>1min </a:t>
            </a:r>
            <a:r>
              <a:rPr lang="fr-FR" dirty="0" err="1"/>
              <a:t>eval</a:t>
            </a:r>
            <a:endParaRPr lang="fr-FR" dirty="0"/>
          </a:p>
          <a:p>
            <a:r>
              <a:rPr lang="fr-FR" dirty="0" err="1"/>
              <a:t>Florestant</a:t>
            </a:r>
            <a:r>
              <a:rPr lang="fr-FR" dirty="0"/>
              <a:t> mathurin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0221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Bien trainer, on peut supposer que tout est en ilots avec 1 </a:t>
            </a:r>
            <a:r>
              <a:rPr lang="fr-FR" dirty="0" err="1"/>
              <a:t>sys</a:t>
            </a:r>
            <a:r>
              <a:rPr lang="fr-FR" dirty="0"/>
              <a:t> par ilot </a:t>
            </a:r>
          </a:p>
          <a:p>
            <a:r>
              <a:rPr lang="fr-FR" dirty="0"/>
              <a:t>Quel est l’</a:t>
            </a:r>
            <a:r>
              <a:rPr lang="fr-FR" dirty="0" err="1"/>
              <a:t>interet</a:t>
            </a:r>
            <a:r>
              <a:rPr lang="fr-FR" dirty="0"/>
              <a:t> de cette séquence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722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Juste discuter du placement de la séquence dans l’année et les grandes idées de la séquence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60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Détailler les prérequis qui me semble nécessaire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8077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Détailler!!!!!!!</a:t>
            </a:r>
          </a:p>
          <a:p>
            <a:r>
              <a:rPr lang="fr-FR" dirty="0"/>
              <a:t>Correspondance des Connaissances associées aux des Compétences développées du BO de SI lycée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398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Bien lier </a:t>
            </a:r>
            <a:r>
              <a:rPr lang="fr-FR" b="1" dirty="0"/>
              <a:t>aux compétences objectifs </a:t>
            </a:r>
            <a:r>
              <a:rPr lang="fr-FR" dirty="0"/>
              <a:t>dans </a:t>
            </a:r>
            <a:r>
              <a:rPr lang="fr-FR" b="1" dirty="0"/>
              <a:t>chaque séance </a:t>
            </a:r>
            <a:r>
              <a:rPr lang="fr-FR" dirty="0"/>
              <a:t>ce que l’on veut leur apprendre détailler </a:t>
            </a:r>
            <a:r>
              <a:rPr lang="fr-FR" dirty="0" err="1"/>
              <a:t>eval</a:t>
            </a:r>
            <a:r>
              <a:rPr lang="fr-FR" dirty="0"/>
              <a:t> sommative formative ptet ajouter dm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Pk pas parler de l’adaptation à tous les élèves (ceintures de judo)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Détailler ce qu’on fait chaque séance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TP1 découverte intérêt asservissement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Cours1 bases sur les </a:t>
            </a:r>
            <a:r>
              <a:rPr lang="fr-FR" dirty="0" err="1"/>
              <a:t>slci</a:t>
            </a:r>
            <a:r>
              <a:rPr lang="fr-FR" dirty="0"/>
              <a:t> : schéma bloc Bo, BF chaine directe </a:t>
            </a:r>
            <a:r>
              <a:rPr lang="fr-FR" dirty="0" err="1"/>
              <a:t>etc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TP2 lier composants réels a leur version schéma bloc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TD1 remplissage de schéma bloc</a:t>
            </a:r>
          </a:p>
          <a:p>
            <a:r>
              <a:rPr lang="fr-FR" dirty="0"/>
              <a:t>TP3 distinguer </a:t>
            </a:r>
            <a:r>
              <a:rPr lang="fr-FR" dirty="0" err="1"/>
              <a:t>sys</a:t>
            </a:r>
            <a:r>
              <a:rPr lang="fr-FR" dirty="0"/>
              <a:t> asservi de </a:t>
            </a:r>
            <a:r>
              <a:rPr lang="fr-FR" dirty="0" err="1"/>
              <a:t>sys</a:t>
            </a:r>
            <a:r>
              <a:rPr lang="fr-FR" dirty="0"/>
              <a:t> non asservi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Cours 2 correcteurs? intérêt correcteur essai indiciel critères de comparaison</a:t>
            </a:r>
          </a:p>
          <a:p>
            <a:r>
              <a:rPr lang="fr-FR" dirty="0"/>
              <a:t>TP4 influence correcteur sur réponse (celui que je vais développer plus tard)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TD2 analyse des performances d’un système</a:t>
            </a:r>
          </a:p>
          <a:p>
            <a:r>
              <a:rPr lang="fr-FR" dirty="0"/>
              <a:t>TP5 impact des perturbations sur le système</a:t>
            </a:r>
          </a:p>
          <a:p>
            <a:r>
              <a:rPr lang="fr-FR" dirty="0"/>
              <a:t>TP6 analyse des performances d’un système propose différents réglages lequel est le mieux</a:t>
            </a:r>
          </a:p>
          <a:p>
            <a:r>
              <a:rPr lang="fr-FR" dirty="0"/>
              <a:t>Cours 3 remédiation des points mal compris grâce au CR et au DM reçus précédemment, en demi groupe permet de plus personnaliser</a:t>
            </a:r>
          </a:p>
          <a:p>
            <a:r>
              <a:rPr lang="fr-FR" dirty="0"/>
              <a:t>TD </a:t>
            </a:r>
            <a:r>
              <a:rPr lang="fr-FR" dirty="0" err="1"/>
              <a:t>eval</a:t>
            </a:r>
            <a:r>
              <a:rPr lang="fr-FR" dirty="0"/>
              <a:t> sommative sur les notions à connaitre</a:t>
            </a:r>
          </a:p>
          <a:p>
            <a:r>
              <a:rPr lang="fr-FR" b="1" dirty="0"/>
              <a:t>Modalités pédagogiques </a:t>
            </a:r>
            <a:r>
              <a:rPr lang="fr-FR" dirty="0"/>
              <a:t>pourquoi on a organisé la séquence comme ca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429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7311-A7DF-5A18-AA63-3CAD972E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F0C156-ABC8-7042-D02B-4C6AEDAA8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1E033F0-CB7D-3B4F-F138-FB42E02DD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Bien lier </a:t>
            </a:r>
            <a:r>
              <a:rPr lang="fr-FR" b="1" dirty="0"/>
              <a:t>aux compétences objectifs </a:t>
            </a:r>
            <a:r>
              <a:rPr lang="fr-FR" dirty="0"/>
              <a:t>dans </a:t>
            </a:r>
            <a:r>
              <a:rPr lang="fr-FR" b="1" dirty="0"/>
              <a:t>chaque séance </a:t>
            </a:r>
            <a:r>
              <a:rPr lang="fr-FR" dirty="0"/>
              <a:t>ce que l’on veut leur apprendre détailler </a:t>
            </a:r>
            <a:r>
              <a:rPr lang="fr-FR" dirty="0" err="1"/>
              <a:t>eval</a:t>
            </a:r>
            <a:r>
              <a:rPr lang="fr-FR" dirty="0"/>
              <a:t> sommative formative ptet ajouter dm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Pk pas parler de l’adaptation à tous les élèves (ceintures de judo)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Détailler ce qu’on fait chaque séance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TP1 découverte intérêt asservissement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Cours1 bases sur les </a:t>
            </a:r>
            <a:r>
              <a:rPr lang="fr-FR" dirty="0" err="1"/>
              <a:t>slci</a:t>
            </a:r>
            <a:r>
              <a:rPr lang="fr-FR" dirty="0"/>
              <a:t> : schéma bloc Bo, BF chaine directe </a:t>
            </a:r>
            <a:r>
              <a:rPr lang="fr-FR" dirty="0" err="1"/>
              <a:t>etc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TP2 lier composants réels a leur version schéma bloc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TD1 remplissage de schéma bloc</a:t>
            </a:r>
          </a:p>
          <a:p>
            <a:r>
              <a:rPr lang="fr-FR" dirty="0"/>
              <a:t>TP3 distinguer </a:t>
            </a:r>
            <a:r>
              <a:rPr lang="fr-FR" dirty="0" err="1"/>
              <a:t>sys</a:t>
            </a:r>
            <a:r>
              <a:rPr lang="fr-FR" dirty="0"/>
              <a:t> asservi de </a:t>
            </a:r>
            <a:r>
              <a:rPr lang="fr-FR" dirty="0" err="1"/>
              <a:t>sys</a:t>
            </a:r>
            <a:r>
              <a:rPr lang="fr-FR" dirty="0"/>
              <a:t> non asservi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Cours 2 correcteurs? intérêt correcteur essai indiciel critères de comparaison</a:t>
            </a:r>
          </a:p>
          <a:p>
            <a:r>
              <a:rPr lang="fr-FR" dirty="0"/>
              <a:t>TP4 influence correcteur sur réponse (celui que je vais développer plus tard)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TD2 analyse des performances d’un système</a:t>
            </a:r>
          </a:p>
          <a:p>
            <a:r>
              <a:rPr lang="fr-FR" dirty="0"/>
              <a:t>TP5 impact des perturbations sur le système</a:t>
            </a:r>
          </a:p>
          <a:p>
            <a:r>
              <a:rPr lang="fr-FR" dirty="0"/>
              <a:t>TP6 analyse des performances d’un système propose différents réglages lequel est le mieux</a:t>
            </a:r>
          </a:p>
          <a:p>
            <a:r>
              <a:rPr lang="fr-FR" dirty="0"/>
              <a:t>Cours 3 remédiation des points mal compris grâce au CR et au DM reçus précédemment</a:t>
            </a:r>
          </a:p>
          <a:p>
            <a:r>
              <a:rPr lang="fr-FR" dirty="0"/>
              <a:t>TD </a:t>
            </a:r>
            <a:r>
              <a:rPr lang="fr-FR" dirty="0" err="1"/>
              <a:t>eval</a:t>
            </a:r>
            <a:r>
              <a:rPr lang="fr-FR" dirty="0"/>
              <a:t> sommative sur les notions à connaitre</a:t>
            </a:r>
          </a:p>
          <a:p>
            <a:r>
              <a:rPr lang="fr-FR" b="1" dirty="0"/>
              <a:t>Modalités pédagogiques </a:t>
            </a:r>
            <a:r>
              <a:rPr lang="fr-FR" dirty="0"/>
              <a:t>pourquoi on a organisé la séquence comme ca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9C8535-8D8A-5851-7558-F42E6F97A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124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7BDE0-C9FA-2E46-BFB6-4D7AF6F6A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D18D9DE-9CCF-7DB9-7E17-F7A96563B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FAAA794-9F89-9A7E-434F-444F818E8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Bien lier </a:t>
            </a:r>
            <a:r>
              <a:rPr lang="fr-FR" b="1" dirty="0"/>
              <a:t>aux compétences objectifs </a:t>
            </a:r>
            <a:r>
              <a:rPr lang="fr-FR" dirty="0"/>
              <a:t>dans </a:t>
            </a:r>
            <a:r>
              <a:rPr lang="fr-FR" b="1" dirty="0"/>
              <a:t>chaque séance </a:t>
            </a:r>
            <a:r>
              <a:rPr lang="fr-FR" dirty="0"/>
              <a:t>ce que l’on veut leur apprendre détailler </a:t>
            </a:r>
            <a:r>
              <a:rPr lang="fr-FR" dirty="0" err="1"/>
              <a:t>eval</a:t>
            </a:r>
            <a:r>
              <a:rPr lang="fr-FR" dirty="0"/>
              <a:t> sommative formative ptet ajouter dm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Pk pas parler de l’adaptation à tous les élèves (ceintures de judo)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Détailler ce qu’on fait chaque séance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TP1 découverte intérêt asservissement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Cours1 bases sur les </a:t>
            </a:r>
            <a:r>
              <a:rPr lang="fr-FR" dirty="0" err="1"/>
              <a:t>slci</a:t>
            </a:r>
            <a:r>
              <a:rPr lang="fr-FR" dirty="0"/>
              <a:t> : schéma bloc Bo, BF chaine directe </a:t>
            </a:r>
            <a:r>
              <a:rPr lang="fr-FR" dirty="0" err="1"/>
              <a:t>etc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TP2 lier composants réels a leur version schéma bloc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TD1 remplissage de schéma bloc</a:t>
            </a:r>
          </a:p>
          <a:p>
            <a:r>
              <a:rPr lang="fr-FR" dirty="0"/>
              <a:t>TP3 distinguer </a:t>
            </a:r>
            <a:r>
              <a:rPr lang="fr-FR" dirty="0" err="1"/>
              <a:t>sys</a:t>
            </a:r>
            <a:r>
              <a:rPr lang="fr-FR" dirty="0"/>
              <a:t> asservi de </a:t>
            </a:r>
            <a:r>
              <a:rPr lang="fr-FR" dirty="0" err="1"/>
              <a:t>sys</a:t>
            </a:r>
            <a:r>
              <a:rPr lang="fr-FR" dirty="0"/>
              <a:t> non asservi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Cours 2 correcteurs? intérêt correcteur essai indiciel critères de comparaison</a:t>
            </a:r>
          </a:p>
          <a:p>
            <a:r>
              <a:rPr lang="fr-FR" dirty="0"/>
              <a:t>TP4 influence correcteur sur réponse (celui que je vais développer plus tard)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TD2 analyse des performances d’un système</a:t>
            </a:r>
          </a:p>
          <a:p>
            <a:r>
              <a:rPr lang="fr-FR" dirty="0"/>
              <a:t>TP5 impact des perturbations sur le système</a:t>
            </a:r>
          </a:p>
          <a:p>
            <a:r>
              <a:rPr lang="fr-FR" dirty="0"/>
              <a:t>TP6 analyse des performances d’un système propose différents réglages lequel est le mieux</a:t>
            </a:r>
          </a:p>
          <a:p>
            <a:r>
              <a:rPr lang="fr-FR" dirty="0"/>
              <a:t>Cours 3 remédiation des points mal compris grâce au CR et au DM reçus précédemment</a:t>
            </a:r>
          </a:p>
          <a:p>
            <a:r>
              <a:rPr lang="fr-FR" dirty="0"/>
              <a:t>TD </a:t>
            </a:r>
            <a:r>
              <a:rPr lang="fr-FR" dirty="0" err="1"/>
              <a:t>eval</a:t>
            </a:r>
            <a:r>
              <a:rPr lang="fr-FR" dirty="0"/>
              <a:t> sommative sur les notions à connaitre</a:t>
            </a:r>
          </a:p>
          <a:p>
            <a:r>
              <a:rPr lang="fr-FR" b="1" dirty="0"/>
              <a:t>Modalités pédagogiques </a:t>
            </a:r>
            <a:r>
              <a:rPr lang="fr-FR" dirty="0"/>
              <a:t>pourquoi on a organisé la séquence comme ca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5E9ECD-1A8D-072E-FBDA-9163F54B6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305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Leur utilité?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640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Masse perturbation </a:t>
            </a:r>
          </a:p>
          <a:p>
            <a:r>
              <a:rPr lang="fr-FR" dirty="0"/>
              <a:t>Schéma bloc clair sur le logiciel MCC 1</a:t>
            </a:r>
            <a:r>
              <a:rPr lang="fr-FR" baseline="30000" dirty="0"/>
              <a:t>er</a:t>
            </a:r>
            <a:r>
              <a:rPr lang="fr-FR" dirty="0"/>
              <a:t> et 2 ordre</a:t>
            </a:r>
          </a:p>
          <a:p>
            <a:r>
              <a:rPr lang="fr-FR" dirty="0"/>
              <a:t>Etudes cinématique, transmission de puissance</a:t>
            </a:r>
          </a:p>
          <a:p>
            <a:r>
              <a:rPr lang="fr-FR" dirty="0"/>
              <a:t>Robot collaboratif mono axe, issu s’in système industriel : le robot </a:t>
            </a:r>
            <a:r>
              <a:rPr lang="fr-FR" dirty="0" err="1"/>
              <a:t>Sapelem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7510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Bien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14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évalue que les compétences (compétences du BO qui se basent sur des connaissances: il faut mobiliser les connaissances)(savoir faire) pas les connaissances </a:t>
            </a:r>
          </a:p>
          <a:p>
            <a:r>
              <a:rPr lang="fr-FR" dirty="0"/>
              <a:t>Pour les éval en fait se référer au sujet final aka bac ou concours</a:t>
            </a:r>
          </a:p>
          <a:p>
            <a:r>
              <a:rPr lang="fr-FR" dirty="0"/>
              <a:t>Se projeter dans la séquence</a:t>
            </a:r>
          </a:p>
          <a:p>
            <a:r>
              <a:rPr lang="fr-FR" dirty="0"/>
              <a:t>Améliorer les performances pour respecter l’intention de l’utilisateur.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720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Bien dire que le sujet sera un poil différent au niveau de la présentation du logiciel.</a:t>
            </a:r>
          </a:p>
          <a:p>
            <a:r>
              <a:rPr lang="fr-FR" dirty="0"/>
              <a:t>Pourquoi 3 élèves/groupe très important d’expliquer</a:t>
            </a:r>
          </a:p>
          <a:p>
            <a:r>
              <a:rPr lang="fr-FR" dirty="0"/>
              <a:t>Les motorisations peuvent se retrouver sur les différentes parties d’un exosquelette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241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Détailler sur le document réponse que chaque essai permet de rempli une conclusion intermédiaire</a:t>
            </a:r>
          </a:p>
          <a:p>
            <a:r>
              <a:rPr lang="fr-FR" dirty="0"/>
              <a:t>Le TP définit seulement les boutons utiles sur le logiciel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318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153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sti2d éviter les démarches déductives</a:t>
            </a:r>
          </a:p>
          <a:p>
            <a:r>
              <a:rPr lang="fr-FR" dirty="0"/>
              <a:t>Détailler plus éval</a:t>
            </a:r>
          </a:p>
          <a:p>
            <a:r>
              <a:rPr lang="fr-FR" dirty="0"/>
              <a:t>Faire une conclusion globale du but de notre action</a:t>
            </a:r>
          </a:p>
          <a:p>
            <a:r>
              <a:rPr lang="fr-FR" dirty="0"/>
              <a:t>Ce TP permet de monter l’impact réel des correcteurs sur les systèmes asservis,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492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731D1-85AE-4366-B364-066FEADE3F45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44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6DF711-41FE-BC36-2551-915030E6E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73F54A-5A33-D854-8941-37712C755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4476D4-928F-EE23-2208-DCCAE23D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B472-2D2A-4E66-B07F-79D072F84BFE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A77797-E36C-F16F-09CA-B4E03B16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916059-AA0D-B530-BBE5-C71F98C1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81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D296C9-7E6D-4C0B-AB2A-AD2F22AF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6F0445-EC47-CC69-A4DD-DCE620058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E4EC8A-E889-7098-46A5-BBB24C85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5D067-1761-455A-B651-847A786833B8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67521B-EAA7-C302-0F50-637841A51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0EC2DB-EE08-D441-48A8-3E3204F6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9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174776-5587-F858-2604-354A226A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49EA73-C48A-F2B5-0E08-D683776AF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D039C8-A726-BD26-6FBA-D858D74E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A18E-5218-4C74-997D-818C26E4ACE5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06EF1D-F7EB-7B74-AD95-D98391D30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F3C274-D32B-7344-652C-623CF784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08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5BC0A-E2F3-981B-7B0A-EB3083BB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1E34D3-9038-DC73-B4C8-9B0409BDA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4BA138-3D33-5172-5F2D-6571B4916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D29B37-88AE-5D1F-720A-EB6A4795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125F8-2564-496C-B395-414FF818976B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2CB28E-189C-2720-7E67-FCB1706D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E1AE9A-E492-3608-CA3E-92F741EC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283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307AF-B24D-51CB-61B6-72864E2D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99181F-8B30-BCC2-B646-83FD69987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640C097-C15A-FC95-866C-9BBCB3EED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65E01B8-585B-AEE4-1C95-3910804D7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6900EC2-CC71-9BE9-DC0A-B486BC5BD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4B5B798-F4C6-C695-7A5A-880C3513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9BFB-3D4D-47DC-9BA0-0B40936448BE}" type="datetime1">
              <a:rPr lang="fr-FR" smtClean="0"/>
              <a:t>07/06/2026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6F0C7EC-0544-73E9-DE29-9632F9D4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E9ED55-4600-4E3C-0DC6-EFE5D7D1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109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15B3D5-8A00-8AD8-1CAF-D23F9379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054F4B-F70C-68AC-1FDC-37D3E0EF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6F9F-02A1-480E-B942-CE6D867C50E8}" type="datetime1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B95A69-C762-41A3-5216-3BC55C07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162E71-4B9B-48DD-BE35-11327B39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54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8F44F57-3A95-4159-DB34-70E5FB23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760E-78EA-4543-9427-A88EB1653952}" type="datetime1">
              <a:rPr lang="fr-FR" smtClean="0"/>
              <a:t>07/06/2026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8F05ACA-7EE0-B81F-E8AE-4CDEE549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7E460B-1F57-4B09-2A71-78CCCCBA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9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DC75D-8E80-7A95-E72E-40B4632B8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B0C44B-C09A-A529-A204-134460066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3512CE-393F-8FE4-F4FA-4B3328D95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428757-884D-D118-79E3-802E5B07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8625-9E79-43B9-9564-00F6848FBBFC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ACB2A1-6CCC-651B-4E14-BA495A77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A861B9-8372-F0D1-011D-E1F28649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4647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59C4F-673A-ED4D-3B5D-FBA615818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7A36D45-7F70-D116-238E-50A3E0B23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A3A843-10B3-FE89-A865-0187D5C06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4A0979-8D9A-AAE6-7FD8-4333BCDD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8A006-D451-46DA-A4D6-DE174B63DBF9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FBFA0C-669A-2FFA-9D90-F020DED99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C3CF3B-3555-AB73-6404-79F7DF4D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992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2D1158-D8BB-8A84-A615-78B0FEC4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CC13670-FA7A-3BE4-9BCB-6FCE413B5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9631FC-316D-692B-2051-0D0A37A6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7E122-8D58-471B-B215-D9E86B27F8A0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E9125E-D720-8585-C7F5-F17B8888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1C4AEC-6A8D-F86A-0707-0E5FCBF9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45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DF9AE4B-2534-568D-B396-F2E647F35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0713E4F-9025-06A8-2D9E-D90F1C0F6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9C4C49-7B8D-3D53-6826-3EEB7425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D1296-AB39-4990-AC0B-72F9CBC5EF61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CF3146-EE99-EA97-B96E-D78C9EE2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61CCE9-E162-5478-91C0-456E14F3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1703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9A2220-585D-DA61-19CF-722946D8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41AB91-EA0A-1B3D-30DD-77EE46465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9984C2-764A-08FD-ACA0-4AD7F1D19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30491-6F93-4193-87AC-4426AF174243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4187E2-F0AC-C3C3-A07C-5CDFAD8CF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E6EC5D-6FA6-82DD-2D0C-3C11AD87F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A5C1E-DE71-4D99-BC1E-739595F06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610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E3A031-9DFD-A1C4-37C2-C1A492BB8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fr-FR" sz="3600" dirty="0"/>
              <a:t>Epreuve d’exploitation pédagogique d’une activité pratique relative à l’approche globale d’un système pluri technique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0907E7-C971-AEFA-CFB8-25CD42688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76674"/>
            <a:ext cx="10515600" cy="2479676"/>
          </a:xfrm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Bac Général spécialité SI, Robot CoMax</a:t>
            </a:r>
          </a:p>
          <a:p>
            <a:pPr marL="0" indent="0" algn="ctr">
              <a:buNone/>
            </a:pPr>
            <a:r>
              <a:rPr lang="fr-FR" dirty="0"/>
              <a:t>10/03/2025</a:t>
            </a:r>
          </a:p>
          <a:p>
            <a:pPr marL="0" indent="0" algn="ctr">
              <a:buNone/>
            </a:pPr>
            <a:r>
              <a:rPr lang="fr-FR" dirty="0"/>
              <a:t>Candidat N° PREVISANI Arthur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4811C3-26BC-7A32-D31A-96D937F4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</a:t>
            </a:fld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421357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7BB3BB-819C-F3A4-89D9-8D156E545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2AC53D-0D7A-E55F-53B9-6B50C25E5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638"/>
            <a:ext cx="10515600" cy="4351338"/>
          </a:xfrm>
        </p:spPr>
        <p:txBody>
          <a:bodyPr/>
          <a:lstStyle/>
          <a:p>
            <a:r>
              <a:rPr lang="fr-FR" sz="3600" dirty="0"/>
              <a:t>Contexte</a:t>
            </a:r>
          </a:p>
          <a:p>
            <a:r>
              <a:rPr lang="fr-FR" sz="3600" dirty="0"/>
              <a:t>Prérequis/compétences</a:t>
            </a:r>
          </a:p>
          <a:p>
            <a:r>
              <a:rPr lang="fr-FR" sz="3600" dirty="0"/>
              <a:t>Organisation de séquence</a:t>
            </a:r>
          </a:p>
          <a:p>
            <a:r>
              <a:rPr lang="fr-FR" sz="3600" dirty="0"/>
              <a:t>Présentation du système</a:t>
            </a:r>
          </a:p>
          <a:p>
            <a:r>
              <a:rPr lang="fr-FR" sz="3600" dirty="0"/>
              <a:t>Séance à caractère expérimental</a:t>
            </a:r>
          </a:p>
          <a:p>
            <a:r>
              <a:rPr lang="fr-FR" sz="3600" dirty="0"/>
              <a:t>Conclusion </a:t>
            </a:r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CCBB51-CFF7-C4CC-A63F-7F3F6851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400" smtClean="0"/>
              <a:t>2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04568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721221-444B-CB8F-5D46-F61CBF73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fr-FR" dirty="0"/>
              <a:t>Contexte pédagogique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EB49FE9-832B-5AF4-DDEB-5B07D6086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7766" y="1231942"/>
            <a:ext cx="9936468" cy="319288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44D3443-A7A0-E1C5-08ED-AE723CB105B3}"/>
              </a:ext>
            </a:extLst>
          </p:cNvPr>
          <p:cNvSpPr txBox="1"/>
          <p:nvPr/>
        </p:nvSpPr>
        <p:spPr>
          <a:xfrm>
            <a:off x="1537549" y="4489188"/>
            <a:ext cx="911690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/>
              <a:t>Choix de la séquence l’Homme augmenté </a:t>
            </a:r>
          </a:p>
          <a:p>
            <a:r>
              <a:rPr lang="fr-FR" sz="3000" dirty="0"/>
              <a:t>Problématique: Comment améliorer un exo squelette pour respecter le cahier des charges</a:t>
            </a:r>
          </a:p>
          <a:p>
            <a:r>
              <a:rPr lang="fr-FR" sz="3000" dirty="0"/>
              <a:t>Séquence précédente: PFD, mécanique du solide</a:t>
            </a:r>
          </a:p>
          <a:p>
            <a:r>
              <a:rPr lang="fr-FR" sz="3000" dirty="0"/>
              <a:t>Séquence suivante: Réseau, signaux numériques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CAA2D67-C65F-EDFD-796B-556AE1BB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3</a:t>
            </a:fld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486173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6301CF-D518-5DB8-5F3E-C441216C2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881" y="255260"/>
            <a:ext cx="10927977" cy="659140"/>
          </a:xfrm>
        </p:spPr>
        <p:txBody>
          <a:bodyPr>
            <a:noAutofit/>
          </a:bodyPr>
          <a:lstStyle/>
          <a:p>
            <a:r>
              <a:rPr lang="fr-FR" sz="4400" dirty="0"/>
              <a:t>Placement / contenu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116BFE5-6690-2517-E73A-E76AAE001D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1836" y="829973"/>
            <a:ext cx="9148327" cy="536690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7757E81-60F6-A49B-6DE7-BE00CB0E3B07}"/>
              </a:ext>
            </a:extLst>
          </p:cNvPr>
          <p:cNvSpPr txBox="1"/>
          <p:nvPr/>
        </p:nvSpPr>
        <p:spPr>
          <a:xfrm>
            <a:off x="880533" y="6112453"/>
            <a:ext cx="94995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Séquence début février en terminale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06E0DC1-27C4-CFE6-8E9F-33A97D30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4</a:t>
            </a:fld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018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08E9B4-8299-AE3A-2CE2-92AC0F88B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832"/>
            <a:ext cx="10515600" cy="1325563"/>
          </a:xfrm>
        </p:spPr>
        <p:txBody>
          <a:bodyPr/>
          <a:lstStyle/>
          <a:p>
            <a:r>
              <a:rPr lang="fr-FR" dirty="0"/>
              <a:t>Prérequis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D18E48-E67E-30A1-0F4C-1142C2250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409"/>
            <a:ext cx="10515600" cy="4351338"/>
          </a:xfrm>
        </p:spPr>
        <p:txBody>
          <a:bodyPr/>
          <a:lstStyle/>
          <a:p>
            <a:r>
              <a:rPr lang="fr-FR" dirty="0"/>
              <a:t>Outils d’ingénierie système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833CED-5E80-1EF8-7367-BBFDFD12B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959" y="1823561"/>
            <a:ext cx="6439799" cy="13051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5B1207D-2893-F3C3-8D9D-0E6A79E77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485" y="3187073"/>
            <a:ext cx="6468378" cy="10193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1B15256-04D5-47EB-E9CC-2C517B7D7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959" y="5897627"/>
            <a:ext cx="6477904" cy="95263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913C11E-9F9B-A7BC-959E-14122CD0F08A}"/>
              </a:ext>
            </a:extLst>
          </p:cNvPr>
          <p:cNvSpPr/>
          <p:nvPr/>
        </p:nvSpPr>
        <p:spPr>
          <a:xfrm>
            <a:off x="4649259" y="6232888"/>
            <a:ext cx="3860800" cy="474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195EDEF0-B5C7-3C4F-1480-8A83AA58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5</a:t>
            </a:fld>
            <a:endParaRPr lang="fr-FR" sz="200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4C3FF3B-12BA-10FC-C5AD-3F6A091A5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959" y="4228048"/>
            <a:ext cx="6401693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6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134281-D53C-AED2-D059-A073CEEE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Compétences/savoir faire à transmettre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85431F-D716-B5C0-31F3-7A3226313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177039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Compétences</a:t>
            </a:r>
          </a:p>
          <a:p>
            <a:r>
              <a:rPr lang="fr-FR" dirty="0"/>
              <a:t>Analyser comportement système asservi</a:t>
            </a:r>
          </a:p>
          <a:p>
            <a:r>
              <a:rPr lang="fr-FR" dirty="0"/>
              <a:t>Associer un modèle à un système asservi</a:t>
            </a:r>
          </a:p>
          <a:p>
            <a:r>
              <a:rPr lang="fr-FR" dirty="0"/>
              <a:t>Relations grandeur effort flux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Savoirs</a:t>
            </a:r>
          </a:p>
          <a:p>
            <a:r>
              <a:rPr lang="fr-FR" dirty="0"/>
              <a:t>Connaissances sur SLCI ordre 0,1,2 </a:t>
            </a:r>
          </a:p>
          <a:p>
            <a:r>
              <a:rPr lang="fr-FR" dirty="0"/>
              <a:t>Précision, stabilité, temps de réponse, correcteurs</a:t>
            </a:r>
          </a:p>
          <a:p>
            <a:r>
              <a:rPr lang="fr-FR" dirty="0"/>
              <a:t>Structure: chaine directe, bouclée, perturbation, comparateur</a:t>
            </a:r>
          </a:p>
          <a:p>
            <a:r>
              <a:rPr lang="fr-FR" dirty="0"/>
              <a:t>Notions sur les systèmes asservis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D84530-A3D8-A149-33AE-22D847DF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6</a:t>
            </a:fld>
            <a:endParaRPr lang="fr-FR" sz="2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21B9CE2-7CB6-EB40-FF85-551656B4F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413" y="1776741"/>
            <a:ext cx="6420746" cy="80973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4C812E0-3BDA-9368-5FD0-C0455A086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466" y="3356994"/>
            <a:ext cx="6401693" cy="91452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F6DACCC-4BA2-57D9-9739-DD04DFFF3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413" y="2586479"/>
            <a:ext cx="6373114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1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E65452-D626-344E-4E54-203BE6CB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 de la séquence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60A1DB-D40E-057B-1868-88FCCF21A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Séquence de 4 semaines donc 4*6 = 24h</a:t>
            </a:r>
          </a:p>
          <a:p>
            <a:r>
              <a:rPr lang="fr-FR" dirty="0"/>
              <a:t>6 heures/semaine réparties en 3*2 heures dans le labo de SI</a:t>
            </a:r>
          </a:p>
          <a:p>
            <a:r>
              <a:rPr lang="fr-FR" dirty="0"/>
              <a:t>Chaque semaine 4 h en demi groupe, 2 h classe entière</a:t>
            </a:r>
          </a:p>
          <a:p>
            <a:endParaRPr lang="fr-FR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AF0FF98-F751-D9CD-ACA5-58EA7AB78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845811"/>
              </p:ext>
            </p:extLst>
          </p:nvPr>
        </p:nvGraphicFramePr>
        <p:xfrm>
          <a:off x="1219199" y="3429000"/>
          <a:ext cx="9838268" cy="28828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9567">
                  <a:extLst>
                    <a:ext uri="{9D8B030D-6E8A-4147-A177-3AD203B41FA5}">
                      <a16:colId xmlns:a16="http://schemas.microsoft.com/office/drawing/2014/main" val="510414834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477646523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2362536329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1517061753"/>
                    </a:ext>
                  </a:extLst>
                </a:gridCol>
              </a:tblGrid>
              <a:tr h="669039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TP1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Cours1 / TD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TP2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58022"/>
                  </a:ext>
                </a:extLst>
              </a:tr>
              <a:tr h="669039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/>
                        <a:t>Semaine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TD1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TP3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Cours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5682"/>
                  </a:ext>
                </a:extLst>
              </a:tr>
              <a:tr h="669039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/>
                        <a:t>Semaine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TP4 avec 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TD2 + DM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TP5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2880"/>
                  </a:ext>
                </a:extLst>
              </a:tr>
              <a:tr h="875782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/>
                        <a:t>Semaine 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TP6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Cours3 / TD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TD3 + Evaluation 1h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413310"/>
                  </a:ext>
                </a:extLst>
              </a:tr>
            </a:tbl>
          </a:graphicData>
        </a:graphic>
      </p:graphicFrame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1CB85A-9FD7-1066-DF70-D136BE2F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7</a:t>
            </a:fld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51881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D23D8-0E24-C09A-9647-A5D080C7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BD0E77-1CCF-72CE-9921-7F89A136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 de la séquence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39AB1C13-3BA5-0C10-C7BF-D1FA05C4B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896076"/>
              </p:ext>
            </p:extLst>
          </p:nvPr>
        </p:nvGraphicFramePr>
        <p:xfrm>
          <a:off x="1176866" y="2647157"/>
          <a:ext cx="9838268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9567">
                  <a:extLst>
                    <a:ext uri="{9D8B030D-6E8A-4147-A177-3AD203B41FA5}">
                      <a16:colId xmlns:a16="http://schemas.microsoft.com/office/drawing/2014/main" val="510414834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477646523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2362536329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1517061753"/>
                    </a:ext>
                  </a:extLst>
                </a:gridCol>
              </a:tblGrid>
              <a:tr h="589981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TP1 </a:t>
                      </a:r>
                    </a:p>
                    <a:p>
                      <a:pPr algn="ctr"/>
                      <a:r>
                        <a:rPr lang="fr-FR" sz="2400" dirty="0"/>
                        <a:t>découverte asservissement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Cours1 / TD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Bases système asservi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TP2</a:t>
                      </a:r>
                    </a:p>
                    <a:p>
                      <a:pPr algn="ctr"/>
                      <a:r>
                        <a:rPr lang="fr-FR" sz="2400" dirty="0"/>
                        <a:t>Lien composant schéma bloc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58022"/>
                  </a:ext>
                </a:extLst>
              </a:tr>
              <a:tr h="669039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/>
                        <a:t>Semaine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TD1</a:t>
                      </a:r>
                    </a:p>
                    <a:p>
                      <a:pPr algn="ctr"/>
                      <a:r>
                        <a:rPr lang="fr-FR" sz="2400" dirty="0"/>
                        <a:t>Entrainement complétion schéma bloc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TP3 </a:t>
                      </a:r>
                    </a:p>
                    <a:p>
                      <a:pPr algn="ctr"/>
                      <a:r>
                        <a:rPr lang="fr-FR" sz="2400" dirty="0"/>
                        <a:t>distinguer système asservi /non asservi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Cours 2</a:t>
                      </a:r>
                    </a:p>
                    <a:p>
                      <a:pPr algn="ctr"/>
                      <a:r>
                        <a:rPr lang="fr-FR" sz="2400" dirty="0"/>
                        <a:t>Correcteurs , leur intérêt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5682"/>
                  </a:ext>
                </a:extLst>
              </a:tr>
            </a:tbl>
          </a:graphicData>
        </a:graphic>
      </p:graphicFrame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440A13-2456-67EF-0796-C8DC7E592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8</a:t>
            </a:fld>
            <a:endParaRPr lang="fr-FR" sz="20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CBB4AFD-732B-E372-C562-6ED8D10C3E70}"/>
              </a:ext>
            </a:extLst>
          </p:cNvPr>
          <p:cNvSpPr txBox="1"/>
          <p:nvPr/>
        </p:nvSpPr>
        <p:spPr>
          <a:xfrm>
            <a:off x="1176866" y="1681164"/>
            <a:ext cx="6805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Semaines A/B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Séquence divisée en deux chapitres</a:t>
            </a:r>
          </a:p>
        </p:txBody>
      </p:sp>
    </p:spTree>
    <p:extLst>
      <p:ext uri="{BB962C8B-B14F-4D97-AF65-F5344CB8AC3E}">
        <p14:creationId xmlns:p14="http://schemas.microsoft.com/office/powerpoint/2010/main" val="19956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EA0B5-354C-725E-50EF-0F6A0259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47B528-DDA1-92D4-5786-84DA0C5D1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 de la séquence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96136F2-054D-A5DA-101B-96A40CBF7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291054"/>
              </p:ext>
            </p:extLst>
          </p:nvPr>
        </p:nvGraphicFramePr>
        <p:xfrm>
          <a:off x="1176866" y="1874520"/>
          <a:ext cx="9838268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9567">
                  <a:extLst>
                    <a:ext uri="{9D8B030D-6E8A-4147-A177-3AD203B41FA5}">
                      <a16:colId xmlns:a16="http://schemas.microsoft.com/office/drawing/2014/main" val="510414834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477646523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2362536329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1517061753"/>
                    </a:ext>
                  </a:extLst>
                </a:gridCol>
              </a:tblGrid>
              <a:tr h="669039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/>
                        <a:t>Semaine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TP4 avec CR</a:t>
                      </a:r>
                    </a:p>
                    <a:p>
                      <a:pPr algn="ctr"/>
                      <a:r>
                        <a:rPr lang="fr-FR" sz="2400" dirty="0"/>
                        <a:t>Influence correcteur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TD2 + DM</a:t>
                      </a:r>
                    </a:p>
                    <a:p>
                      <a:pPr algn="ctr"/>
                      <a:r>
                        <a:rPr lang="fr-FR" sz="2400" dirty="0"/>
                        <a:t>Analyse des performances système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TP5</a:t>
                      </a:r>
                    </a:p>
                    <a:p>
                      <a:pPr algn="ctr"/>
                      <a:r>
                        <a:rPr lang="fr-FR" sz="2400" dirty="0"/>
                        <a:t>Impact des perturbations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2880"/>
                  </a:ext>
                </a:extLst>
              </a:tr>
              <a:tr h="875782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/>
                        <a:t>Semaine 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TP6 </a:t>
                      </a:r>
                    </a:p>
                    <a:p>
                      <a:pPr algn="ctr"/>
                      <a:r>
                        <a:rPr lang="fr-FR" sz="2400" dirty="0"/>
                        <a:t>Analyse performances choix de réglage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Cours3 / TD</a:t>
                      </a:r>
                    </a:p>
                    <a:p>
                      <a:pPr algn="ctr"/>
                      <a:r>
                        <a:rPr lang="fr-FR" sz="2400" dirty="0"/>
                        <a:t>Remédiation (grâce DM et CR)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TD3 + Evaluation 1h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413310"/>
                  </a:ext>
                </a:extLst>
              </a:tr>
            </a:tbl>
          </a:graphicData>
        </a:graphic>
      </p:graphicFrame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D6CF0E-E6FF-372E-B554-3B418644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9</a:t>
            </a:fld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0011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6B6A07-1F88-7B6A-BCE2-2D8CA9C6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Evaluations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2A5177-4F47-C4BB-B597-5B0421810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946"/>
            <a:ext cx="10515600" cy="4351338"/>
          </a:xfrm>
        </p:spPr>
        <p:txBody>
          <a:bodyPr/>
          <a:lstStyle/>
          <a:p>
            <a:r>
              <a:rPr lang="fr-FR" dirty="0"/>
              <a:t>Evaluation formative:</a:t>
            </a:r>
          </a:p>
          <a:p>
            <a:pPr marL="0" indent="0">
              <a:buNone/>
            </a:pPr>
            <a:r>
              <a:rPr lang="fr-FR" dirty="0"/>
              <a:t>	Devoir maison sur l’analyse des performances d’un système: 	Comparaison de réglages de correcteur, schéma bloc, boucle 	d’asservissement</a:t>
            </a:r>
          </a:p>
          <a:p>
            <a:r>
              <a:rPr lang="fr-FR" dirty="0"/>
              <a:t>Evaluation sommative</a:t>
            </a:r>
          </a:p>
          <a:p>
            <a:pPr marL="0" indent="0">
              <a:buNone/>
            </a:pPr>
            <a:r>
              <a:rPr lang="fr-FR" dirty="0"/>
              <a:t>	Remplissage d’un document réponse lors du TP4 sur les 	comparaisons entre les différentes actions d’un correcteur.</a:t>
            </a:r>
          </a:p>
          <a:p>
            <a:pPr marL="0" indent="0">
              <a:buNone/>
            </a:pPr>
            <a:r>
              <a:rPr lang="fr-FR" dirty="0"/>
              <a:t>	Evaluation sur table d’1H sur les compétences attendues: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759126-8373-3231-935F-6340F7DB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10</a:t>
            </a:fld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E8F52B3-1300-98F4-9B1C-4B30F8CA59A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-2166"/>
          <a:stretch>
            <a:fillRect/>
          </a:stretch>
        </p:blipFill>
        <p:spPr>
          <a:xfrm>
            <a:off x="1853857" y="5189787"/>
            <a:ext cx="2741282" cy="100826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8BA75A0-2543-B181-588B-C2ECF9567D0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541"/>
          <a:stretch>
            <a:fillRect/>
          </a:stretch>
        </p:blipFill>
        <p:spPr>
          <a:xfrm>
            <a:off x="4741853" y="5253287"/>
            <a:ext cx="2826351" cy="121285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FBDB84A-1DC2-4645-3CCC-DBC17878FED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-2166"/>
          <a:stretch>
            <a:fillRect/>
          </a:stretch>
        </p:blipFill>
        <p:spPr>
          <a:xfrm>
            <a:off x="7714918" y="5334250"/>
            <a:ext cx="2773387" cy="102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36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7E4D-A75C-2180-419E-41EF28C6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E3864-86C4-0B24-790C-B57D78E0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Pertinence du robot CoMax pour la séquence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85CEAB-9920-850F-93A0-15343E4FD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4953"/>
            <a:ext cx="5609470" cy="514201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0359603-3125-F2FB-7FA4-37A26FB5B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670" y="1690688"/>
            <a:ext cx="5525271" cy="4096322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4CC167F-84B0-2E9E-3500-33080ACF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11</a:t>
            </a:fld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015499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8C8BC5E-897D-898A-5716-F1E12402B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84357"/>
            <a:ext cx="9741408" cy="667364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400A430-4DDA-48F3-F0A9-4F65C80D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6286" y="18435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Diagramme des </a:t>
            </a:r>
            <a:br>
              <a:rPr lang="fr-FR" dirty="0"/>
            </a:br>
            <a:r>
              <a:rPr lang="fr-FR" dirty="0"/>
              <a:t>exigences </a:t>
            </a:r>
            <a:br>
              <a:rPr lang="fr-FR" dirty="0"/>
            </a:br>
            <a:r>
              <a:rPr lang="fr-FR" dirty="0"/>
              <a:t>partiel du CoMax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BB0261-66A8-2937-39DB-E788829A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12</a:t>
            </a:fld>
            <a:endParaRPr lang="fr-FR" sz="20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953EB84A-439D-95B2-4BA9-290BCABD9A55}"/>
              </a:ext>
            </a:extLst>
          </p:cNvPr>
          <p:cNvGrpSpPr/>
          <p:nvPr/>
        </p:nvGrpSpPr>
        <p:grpSpPr>
          <a:xfrm>
            <a:off x="1443990" y="3754175"/>
            <a:ext cx="2783586" cy="3161030"/>
            <a:chOff x="3160014" y="3995420"/>
            <a:chExt cx="2783586" cy="316103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9B1BB33D-4861-E356-053F-305413216601}"/>
                </a:ext>
              </a:extLst>
            </p:cNvPr>
            <p:cNvCxnSpPr>
              <a:cxnSpLocks/>
            </p:cNvCxnSpPr>
            <p:nvPr/>
          </p:nvCxnSpPr>
          <p:spPr>
            <a:xfrm>
              <a:off x="3160014" y="3995420"/>
              <a:ext cx="1964436" cy="316103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456CC2A1-ED24-DCE1-6077-13CE148D008E}"/>
                </a:ext>
              </a:extLst>
            </p:cNvPr>
            <p:cNvCxnSpPr>
              <a:cxnSpLocks/>
            </p:cNvCxnSpPr>
            <p:nvPr/>
          </p:nvCxnSpPr>
          <p:spPr>
            <a:xfrm>
              <a:off x="5511800" y="4889500"/>
              <a:ext cx="0" cy="220974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0558F4-3650-A936-29B2-B9BB56ADA5C0}"/>
                </a:ext>
              </a:extLst>
            </p:cNvPr>
            <p:cNvSpPr/>
            <p:nvPr/>
          </p:nvSpPr>
          <p:spPr>
            <a:xfrm>
              <a:off x="5016500" y="5842000"/>
              <a:ext cx="9271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733354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3BC434-7FF4-CA71-112B-BB056F75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Séance à caractère expérimentale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BCB85B-3585-63F3-8E5F-3EFC63CCC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dirty="0"/>
              <a:t>Placée au début de la semaine 3</a:t>
            </a:r>
          </a:p>
          <a:p>
            <a:r>
              <a:rPr lang="fr-FR" dirty="0"/>
              <a:t>Problématique:</a:t>
            </a:r>
            <a:endParaRPr lang="fr-FR" sz="2600" dirty="0"/>
          </a:p>
          <a:p>
            <a:pPr marL="0" indent="0">
              <a:buNone/>
            </a:pPr>
            <a:r>
              <a:rPr lang="fr-FR" sz="2600" dirty="0"/>
              <a:t>	 Comment améliorer les performances de l’asservissement d’un 		 	 exosquelette.</a:t>
            </a:r>
          </a:p>
          <a:p>
            <a:r>
              <a:rPr lang="fr-FR" dirty="0"/>
              <a:t>Prérequis: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sz="2400" dirty="0"/>
              <a:t>ce qu’ils devaient savoir en début de séquence + bases vues dans les deux 1ers 	cours sur les schémas blocs et la fonction d’un correcteur.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dirty="0"/>
              <a:t>Objectifs: 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sz="2600" dirty="0"/>
              <a:t>Monter l’influence des différents correcteurs sur la réponse du système.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6B5A53-623A-52A1-E554-859AF006A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0257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C11F38-61F7-00EB-9F4E-DA653169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BE811D-1E67-71FF-4C2E-096B30FFE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725"/>
            <a:ext cx="10515600" cy="5248275"/>
          </a:xfrm>
        </p:spPr>
        <p:txBody>
          <a:bodyPr/>
          <a:lstStyle/>
          <a:p>
            <a:r>
              <a:rPr lang="fr-FR" dirty="0"/>
              <a:t>Organisation en demi groupe (donc 18 élèves) sur une séance de deux heures de TP </a:t>
            </a:r>
          </a:p>
          <a:p>
            <a:r>
              <a:rPr lang="fr-FR" dirty="0"/>
              <a:t>8 systèmes disponibles =&gt; donc 6*3 groupes d’élèves</a:t>
            </a:r>
          </a:p>
          <a:p>
            <a:endParaRPr lang="fr-FR" dirty="0"/>
          </a:p>
          <a:p>
            <a:r>
              <a:rPr lang="fr-FR" dirty="0"/>
              <a:t>Tous les supports de </a:t>
            </a:r>
            <a:r>
              <a:rPr lang="fr-FR" dirty="0" err="1"/>
              <a:t>TPs</a:t>
            </a:r>
            <a:r>
              <a:rPr lang="fr-FR" dirty="0"/>
              <a:t> présents dans la salle sont compatibles avec le même TP car ils possèdent tous un correcteur =&gt; même sujet travaillé pour chaque groupe durant cette séance.</a:t>
            </a:r>
          </a:p>
          <a:p>
            <a:r>
              <a:rPr lang="fr-FR" dirty="0"/>
              <a:t>La salle dispose d’ilots avec un système par ilot</a:t>
            </a:r>
          </a:p>
          <a:p>
            <a:r>
              <a:rPr lang="fr-FR" dirty="0"/>
              <a:t>Le sujet donne les différentes manips à faire (démarche d’investigation) afin de monter un phénomène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945FDE-96F8-F417-CE01-98416E15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14</a:t>
            </a:fld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23D9742-CD75-B7D2-D5AE-75F10D5D6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816" y="2959088"/>
            <a:ext cx="7112367" cy="50802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90E14F9-4DD8-427B-2A4C-F55810935C07}"/>
              </a:ext>
            </a:extLst>
          </p:cNvPr>
          <p:cNvSpPr txBox="1"/>
          <p:nvPr/>
        </p:nvSpPr>
        <p:spPr>
          <a:xfrm>
            <a:off x="6491287" y="3152729"/>
            <a:ext cx="19685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000" dirty="0"/>
              <a:t>+ CoMax</a:t>
            </a:r>
          </a:p>
        </p:txBody>
      </p:sp>
    </p:spTree>
    <p:extLst>
      <p:ext uri="{BB962C8B-B14F-4D97-AF65-F5344CB8AC3E}">
        <p14:creationId xmlns:p14="http://schemas.microsoft.com/office/powerpoint/2010/main" val="1799384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66C1A-F9A7-5C03-3F46-C3205702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Déroulé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86B535-0D52-F07E-6A32-08D2CAF61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351338"/>
          </a:xfrm>
        </p:spPr>
        <p:txBody>
          <a:bodyPr/>
          <a:lstStyle/>
          <a:p>
            <a:r>
              <a:rPr lang="fr-FR" dirty="0"/>
              <a:t>Activité 1: Complétion d’une chaine information/énergie pour le système étudié et présentation des éléments du logiciel utile pour cette séance.</a:t>
            </a:r>
          </a:p>
          <a:p>
            <a:r>
              <a:rPr lang="fr-FR" dirty="0"/>
              <a:t>Activité 2: Réalisation de différents essais indiciels avec des gains de correcteurs donnés.                                                                                        Comparaison des performances de manière quantitative avec la détermination graphique du temps de réponse à 5%, du dépassement pour la stabilité, et de l’erreur statique pour la précision.</a:t>
            </a:r>
          </a:p>
          <a:p>
            <a:r>
              <a:rPr lang="fr-FR" dirty="0"/>
              <a:t>Activité 3: Enfin, remplissage d’un tableau comparatif des performances des différents correcteurs.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3028F7-694D-A0BD-FD0E-B10E74CF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979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F94648-12EB-06CF-53FF-9B0E3D38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Activité 2: essai sur un robot pas chargé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C775526-C6AF-9E88-9A39-6AD39CB2E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099344"/>
              </p:ext>
            </p:extLst>
          </p:nvPr>
        </p:nvGraphicFramePr>
        <p:xfrm>
          <a:off x="4948767" y="1864657"/>
          <a:ext cx="6773335" cy="397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433">
                  <a:extLst>
                    <a:ext uri="{9D8B030D-6E8A-4147-A177-3AD203B41FA5}">
                      <a16:colId xmlns:a16="http://schemas.microsoft.com/office/drawing/2014/main" val="86573828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49119208"/>
                    </a:ext>
                  </a:extLst>
                </a:gridCol>
                <a:gridCol w="1456268">
                  <a:extLst>
                    <a:ext uri="{9D8B030D-6E8A-4147-A177-3AD203B41FA5}">
                      <a16:colId xmlns:a16="http://schemas.microsoft.com/office/drawing/2014/main" val="181137861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4379477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1796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Vérification performances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KP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61273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fr-FR" dirty="0"/>
                        <a:t>Proportionnel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Essai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78075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Essai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3354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Essai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4233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Intégral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Essai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40189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Essai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05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Essai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1000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893903"/>
                  </a:ext>
                </a:extLst>
              </a:tr>
              <a:tr h="3589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Dérivé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Essai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2008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Essai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6285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Essai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220459"/>
                  </a:ext>
                </a:extLst>
              </a:tr>
            </a:tbl>
          </a:graphicData>
        </a:graphic>
      </p:graphicFrame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56A148D-9F9C-3C18-5EAF-EF69E1A5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16</a:t>
            </a:fld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BF59BC1-FC08-C792-79E6-D97B9C9ED290}"/>
              </a:ext>
            </a:extLst>
          </p:cNvPr>
          <p:cNvSpPr txBox="1"/>
          <p:nvPr/>
        </p:nvSpPr>
        <p:spPr>
          <a:xfrm>
            <a:off x="965200" y="1866899"/>
            <a:ext cx="3352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Consigne pour chaque mesure:</a:t>
            </a:r>
          </a:p>
          <a:p>
            <a:r>
              <a:rPr lang="fr-FR" dirty="0"/>
              <a:t>Régler les gains à x puis réaliser un échelon en position de 20mm.</a:t>
            </a:r>
          </a:p>
          <a:p>
            <a:r>
              <a:rPr lang="fr-FR" dirty="0"/>
              <a:t>Analyser la courbe obtenue </a:t>
            </a:r>
          </a:p>
          <a:p>
            <a:r>
              <a:rPr lang="fr-FR" dirty="0"/>
              <a:t>(avec images descriptive qui rappelle les différents critères)  sur les 3 critères et compléter le tableau pour les performances de chaque essai.</a:t>
            </a:r>
          </a:p>
          <a:p>
            <a:r>
              <a:rPr lang="fr-FR" dirty="0"/>
              <a:t>Conclure quand aux améliorations ou dégradation de la performance pour chaque critère.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3576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7A6F-3E39-09DD-A207-1C7036726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>
            <a:extLst>
              <a:ext uri="{FF2B5EF4-FFF2-40B4-BE49-F238E27FC236}">
                <a16:creationId xmlns:a16="http://schemas.microsoft.com/office/drawing/2014/main" id="{72430D56-9290-566D-ED7E-46CFC77C4A6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5272" y="4388221"/>
            <a:ext cx="5917192" cy="2052881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0686AD5F-8D16-134C-5685-CB845D20A8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1816512"/>
            <a:ext cx="5917192" cy="205288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F6CF0EF-95FB-8BBC-9E78-830C34F42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36525"/>
            <a:ext cx="10731500" cy="1325563"/>
          </a:xfrm>
        </p:spPr>
        <p:txBody>
          <a:bodyPr/>
          <a:lstStyle/>
          <a:p>
            <a:r>
              <a:rPr lang="fr-FR" dirty="0"/>
              <a:t>Activité 2: résultats: exemple de résultats pour l’action  proportionnelle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6C52782-0B78-A3DA-8E38-D1AEB10E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17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57E1714-BCEB-757B-8ED1-25EC3C0344F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155"/>
          <a:stretch>
            <a:fillRect/>
          </a:stretch>
        </p:blipFill>
        <p:spPr>
          <a:xfrm>
            <a:off x="315272" y="1791864"/>
            <a:ext cx="5780728" cy="205288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7D10546-6109-2DB6-B584-A65E8C95EA1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292"/>
          <a:stretch>
            <a:fillRect/>
          </a:stretch>
        </p:blipFill>
        <p:spPr>
          <a:xfrm>
            <a:off x="433511" y="4430289"/>
            <a:ext cx="5662489" cy="158505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509B4B6-A239-672D-5BA2-94343666371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1944308"/>
            <a:ext cx="5917192" cy="1671569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2BC0A2D6-2C85-FB54-023D-B3D455D9A5D5}"/>
              </a:ext>
            </a:extLst>
          </p:cNvPr>
          <p:cNvSpPr txBox="1"/>
          <p:nvPr/>
        </p:nvSpPr>
        <p:spPr>
          <a:xfrm>
            <a:off x="2781300" y="6441102"/>
            <a:ext cx="185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KP=1000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5447DCD-33C4-9A54-F91E-EFCC125A4C91}"/>
              </a:ext>
            </a:extLst>
          </p:cNvPr>
          <p:cNvSpPr txBox="1"/>
          <p:nvPr/>
        </p:nvSpPr>
        <p:spPr>
          <a:xfrm>
            <a:off x="2781300" y="3844745"/>
            <a:ext cx="185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KP=100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C378065-7EB2-4149-0284-F608AE2FA77A}"/>
              </a:ext>
            </a:extLst>
          </p:cNvPr>
          <p:cNvSpPr txBox="1"/>
          <p:nvPr/>
        </p:nvSpPr>
        <p:spPr>
          <a:xfrm>
            <a:off x="8610600" y="3903479"/>
            <a:ext cx="185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KP=3000</a:t>
            </a:r>
          </a:p>
        </p:txBody>
      </p:sp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E2AED19B-9CA7-F480-5A2C-97B0B2D7C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089599"/>
              </p:ext>
            </p:extLst>
          </p:nvPr>
        </p:nvGraphicFramePr>
        <p:xfrm>
          <a:off x="6784028" y="4459341"/>
          <a:ext cx="50927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1288609309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129027706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82294162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3030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KP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TR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Stabilité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24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Grandes oscillations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93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Petites oscillations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69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0,15s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Beaucoup d’oscillations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353940"/>
                  </a:ext>
                </a:extLst>
              </a:tr>
            </a:tbl>
          </a:graphicData>
        </a:graphic>
      </p:graphicFrame>
      <p:sp>
        <p:nvSpPr>
          <p:cNvPr id="22" name="ZoneTexte 21">
            <a:extLst>
              <a:ext uri="{FF2B5EF4-FFF2-40B4-BE49-F238E27FC236}">
                <a16:creationId xmlns:a16="http://schemas.microsoft.com/office/drawing/2014/main" id="{ACE4FB17-099E-2E89-1F71-4BFA4493BCB8}"/>
              </a:ext>
            </a:extLst>
          </p:cNvPr>
          <p:cNvSpPr txBox="1"/>
          <p:nvPr/>
        </p:nvSpPr>
        <p:spPr>
          <a:xfrm>
            <a:off x="4404868" y="1404180"/>
            <a:ext cx="5132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Réponse temporelle à un échelon de position</a:t>
            </a:r>
          </a:p>
        </p:txBody>
      </p:sp>
    </p:spTree>
    <p:extLst>
      <p:ext uri="{BB962C8B-B14F-4D97-AF65-F5344CB8AC3E}">
        <p14:creationId xmlns:p14="http://schemas.microsoft.com/office/powerpoint/2010/main" val="1079953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73848-1DDC-C86D-4897-50BA3686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 du TP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37FC83-8E1F-123D-5446-A6D19C5A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18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5A64BE2-1FC5-802C-E532-592A171ADB6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18162" y="1902486"/>
            <a:ext cx="4755676" cy="305302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8AF8B36-E430-7125-2263-A6671ABC27DB}"/>
              </a:ext>
            </a:extLst>
          </p:cNvPr>
          <p:cNvSpPr txBox="1"/>
          <p:nvPr/>
        </p:nvSpPr>
        <p:spPr>
          <a:xfrm>
            <a:off x="1957387" y="1475244"/>
            <a:ext cx="858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Tableau récapitulatif du réglage des actions P, I et D d’un correcteur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C615516-40E9-3E7B-FFBF-4B3691313C83}"/>
              </a:ext>
            </a:extLst>
          </p:cNvPr>
          <p:cNvSpPr txBox="1"/>
          <p:nvPr/>
        </p:nvSpPr>
        <p:spPr>
          <a:xfrm>
            <a:off x="1790700" y="4955514"/>
            <a:ext cx="8915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A permis de leur monter l’impact réel des correcteurs et l’importance de leur bon réglage pour le respect d’un cahier des charges²²²²²²²²²²²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535908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969E10-8A52-BE84-71F9-CEE19A45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Partie 1.4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502267-B310-52D4-8F4B-1F794E4E8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O</a:t>
            </a:r>
            <a:r>
              <a:rPr lang="fr-FR" dirty="0">
                <a:solidFill>
                  <a:srgbClr val="FF0000"/>
                </a:solidFill>
              </a:rPr>
              <a:t>bj</a:t>
            </a:r>
            <a:r>
              <a:rPr lang="fr-FR" dirty="0"/>
              <a:t>ectifs: monter l’influence des différents correcteurs sur la réponse du système.</a:t>
            </a:r>
          </a:p>
          <a:p>
            <a:r>
              <a:rPr lang="fr-FR" dirty="0">
                <a:solidFill>
                  <a:srgbClr val="FF0000"/>
                </a:solidFill>
              </a:rPr>
              <a:t>Pré</a:t>
            </a:r>
            <a:r>
              <a:rPr lang="fr-FR" dirty="0"/>
              <a:t>requis: ce qu’ils devaient savoir en début de séquence + bases vues dans les deux 1ers cours sur les schémas blocs et la fonction d’un correcteur.</a:t>
            </a:r>
          </a:p>
          <a:p>
            <a:r>
              <a:rPr lang="fr-FR" dirty="0">
                <a:solidFill>
                  <a:srgbClr val="FF0000"/>
                </a:solidFill>
              </a:rPr>
              <a:t>Pla</a:t>
            </a:r>
            <a:r>
              <a:rPr lang="fr-FR" dirty="0"/>
              <a:t>cement milieu de semaine 2</a:t>
            </a:r>
          </a:p>
          <a:p>
            <a:r>
              <a:rPr lang="fr-FR" dirty="0"/>
              <a:t>Problématique+ déroulé : Comment améliorer les performances d’un système</a:t>
            </a:r>
          </a:p>
          <a:p>
            <a:r>
              <a:rPr lang="fr-FR" dirty="0"/>
              <a:t>Chane Energie info et but </a:t>
            </a:r>
            <a:r>
              <a:rPr lang="fr-FR" dirty="0" err="1"/>
              <a:t>tp</a:t>
            </a:r>
            <a:r>
              <a:rPr lang="fr-FR" dirty="0"/>
              <a:t> compléter le tableau des performances des différents correcteurs par comparaison de ce ci sur les trics habituels stabilité rapidité précision</a:t>
            </a:r>
          </a:p>
          <a:p>
            <a:r>
              <a:rPr lang="fr-FR" dirty="0"/>
              <a:t>Organisation en demi groupe ( donc 18 élèves) sur une séance de deux heures de TP si on a 7 systèmes cela fait ici 7+1=8 </a:t>
            </a:r>
            <a:r>
              <a:rPr lang="fr-FR" dirty="0" err="1"/>
              <a:t>sys</a:t>
            </a:r>
            <a:r>
              <a:rPr lang="fr-FR" dirty="0"/>
              <a:t> dispo donc 6*3 élèves</a:t>
            </a:r>
          </a:p>
          <a:p>
            <a:r>
              <a:rPr lang="fr-FR" dirty="0"/>
              <a:t>Tous les supports de </a:t>
            </a:r>
            <a:r>
              <a:rPr lang="fr-FR" dirty="0" err="1"/>
              <a:t>TPs</a:t>
            </a:r>
            <a:r>
              <a:rPr lang="fr-FR" dirty="0"/>
              <a:t> présents dans la salle sont compatibles avec le même TP car tous ont un correcteur =&gt; </a:t>
            </a:r>
            <a:r>
              <a:rPr lang="fr-FR" dirty="0" err="1"/>
              <a:t>mme</a:t>
            </a:r>
            <a:r>
              <a:rPr lang="fr-FR" dirty="0"/>
              <a:t> sujet </a:t>
            </a:r>
            <a:r>
              <a:rPr lang="fr-FR" dirty="0" err="1"/>
              <a:t>pr</a:t>
            </a:r>
            <a:r>
              <a:rPr lang="fr-FR" dirty="0"/>
              <a:t> chaque </a:t>
            </a:r>
            <a:r>
              <a:rPr lang="fr-FR" dirty="0" err="1"/>
              <a:t>grpe</a:t>
            </a:r>
            <a:endParaRPr lang="fr-FR" dirty="0"/>
          </a:p>
          <a:p>
            <a:r>
              <a:rPr lang="fr-FR" dirty="0"/>
              <a:t>Le sujet donne les différentes manips a faire et les gains correcteurs associées</a:t>
            </a:r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3C85C8-1ADD-A891-8BC4-E06B3C02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9908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12493E-5A77-5443-E5F8-E25B7477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A3C46A-A7E0-DAC9-2E32-4F60AC373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Faire mesure avec tels valeurs qq constatez vous remplir un tableau pour chaque valeur puis a la fin faire tableau récapitulatif</a:t>
            </a:r>
          </a:p>
          <a:p>
            <a:r>
              <a:rPr lang="fr-FR" dirty="0"/>
              <a:t>Mesurer tr 5% es et oscillation </a:t>
            </a:r>
          </a:p>
          <a:p>
            <a:r>
              <a:rPr lang="fr-FR" dirty="0"/>
              <a:t>Aller plus vers l’écran du projecteur: être dynamique</a:t>
            </a:r>
          </a:p>
          <a:p>
            <a:r>
              <a:rPr lang="fr-FR" dirty="0"/>
              <a:t>Pourquoi pas écrire au tableau</a:t>
            </a:r>
          </a:p>
          <a:p>
            <a:r>
              <a:rPr lang="fr-FR" dirty="0"/>
              <a:t>Faire le trace pour la mesure du temps de réponse</a:t>
            </a:r>
          </a:p>
          <a:p>
            <a:r>
              <a:rPr lang="fr-FR" dirty="0"/>
              <a:t>Point clé attention lien BO connaissances compétences illustrer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4B285A-8FBC-444E-FD0B-ED0DD939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C1E-DE71-4D99-BC1E-739595F062E0}" type="slidenum">
              <a:rPr lang="fr-FR" sz="2000" smtClean="0"/>
              <a:t>20</a:t>
            </a:fld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96F342-07BE-38AB-9C4B-E6D8542FB1C8}"/>
              </a:ext>
            </a:extLst>
          </p:cNvPr>
          <p:cNvSpPr/>
          <p:nvPr/>
        </p:nvSpPr>
        <p:spPr>
          <a:xfrm>
            <a:off x="2361844" y="5835142"/>
            <a:ext cx="965437" cy="521208"/>
          </a:xfrm>
          <a:prstGeom prst="rect">
            <a:avLst/>
          </a:prstGeom>
          <a:solidFill>
            <a:srgbClr val="FFEBB9"/>
          </a:solidFill>
          <a:ln>
            <a:solidFill>
              <a:srgbClr val="FFE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58AD993-A170-31EC-A6B8-B28D5DFCC69D}"/>
              </a:ext>
            </a:extLst>
          </p:cNvPr>
          <p:cNvCxnSpPr>
            <a:cxnSpLocks/>
          </p:cNvCxnSpPr>
          <p:nvPr/>
        </p:nvCxnSpPr>
        <p:spPr>
          <a:xfrm>
            <a:off x="3232031" y="4339971"/>
            <a:ext cx="19050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6008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2097</Words>
  <Application>Microsoft Office PowerPoint</Application>
  <PresentationFormat>Grand écran</PresentationFormat>
  <Paragraphs>333</Paragraphs>
  <Slides>20</Slides>
  <Notes>17</Notes>
  <HiddenSlides>2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Thème Office</vt:lpstr>
      <vt:lpstr>Epreuve d’exploitation pédagogique d’une activité pratique relative à l’approche globale d’un système pluri technique</vt:lpstr>
      <vt:lpstr>Sommaire</vt:lpstr>
      <vt:lpstr>Contexte pédagogique</vt:lpstr>
      <vt:lpstr>Placement / contenu</vt:lpstr>
      <vt:lpstr>Prérequis</vt:lpstr>
      <vt:lpstr>Compétences/savoir faire à transmettre</vt:lpstr>
      <vt:lpstr>Organisation de la séquence</vt:lpstr>
      <vt:lpstr>Organisation de la séquence</vt:lpstr>
      <vt:lpstr>Organisation de la séquence</vt:lpstr>
      <vt:lpstr>Evaluations</vt:lpstr>
      <vt:lpstr>Pertinence du robot CoMax pour la séquence</vt:lpstr>
      <vt:lpstr>Diagramme des  exigences  partiel du CoMax</vt:lpstr>
      <vt:lpstr>Séance à caractère expérimentale</vt:lpstr>
      <vt:lpstr>Organisation</vt:lpstr>
      <vt:lpstr>Déroulé</vt:lpstr>
      <vt:lpstr>Activité 2: essai sur un robot pas chargé</vt:lpstr>
      <vt:lpstr>Activité 2: résultats: exemple de résultats pour l’action  proportionnelle</vt:lpstr>
      <vt:lpstr>Conclusion du TP</vt:lpstr>
      <vt:lpstr>Partie 1.4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Previsani Arthur</dc:creator>
  <cp:lastModifiedBy>Hugues Brice</cp:lastModifiedBy>
  <cp:revision>14</cp:revision>
  <dcterms:created xsi:type="dcterms:W3CDTF">2026-03-05T13:15:03Z</dcterms:created>
  <dcterms:modified xsi:type="dcterms:W3CDTF">2026-06-07T12:01:46Z</dcterms:modified>
</cp:coreProperties>
</file>