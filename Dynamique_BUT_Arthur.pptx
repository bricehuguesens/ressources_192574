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3" r:id="rId2"/>
    <p:sldId id="257" r:id="rId3"/>
    <p:sldId id="275" r:id="rId4"/>
    <p:sldId id="297" r:id="rId5"/>
    <p:sldId id="276" r:id="rId6"/>
    <p:sldId id="286" r:id="rId7"/>
    <p:sldId id="287" r:id="rId8"/>
    <p:sldId id="288" r:id="rId9"/>
    <p:sldId id="289" r:id="rId10"/>
    <p:sldId id="298" r:id="rId11"/>
    <p:sldId id="274" r:id="rId12"/>
    <p:sldId id="256" r:id="rId13"/>
    <p:sldId id="258" r:id="rId14"/>
    <p:sldId id="259" r:id="rId15"/>
    <p:sldId id="290" r:id="rId16"/>
    <p:sldId id="291" r:id="rId17"/>
    <p:sldId id="293" r:id="rId18"/>
    <p:sldId id="292" r:id="rId19"/>
    <p:sldId id="294" r:id="rId20"/>
    <p:sldId id="295" r:id="rId21"/>
    <p:sldId id="296" r:id="rId22"/>
    <p:sldId id="301" r:id="rId23"/>
    <p:sldId id="282" r:id="rId24"/>
    <p:sldId id="299" r:id="rId25"/>
    <p:sldId id="300" r:id="rId26"/>
    <p:sldId id="270" r:id="rId27"/>
    <p:sldId id="272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evisani Arthur" initials="AP" lastIdx="1" clrIdx="0">
    <p:extLst>
      <p:ext uri="{19B8F6BF-5375-455C-9EA6-DF929625EA0E}">
        <p15:presenceInfo xmlns:p15="http://schemas.microsoft.com/office/powerpoint/2012/main" userId="S::arthur.previsani@ens-rennes.fr::121b42a6-0d5d-437c-9257-bdea03a971e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9701"/>
    <a:srgbClr val="DDDDDD"/>
    <a:srgbClr val="000000"/>
    <a:srgbClr val="DCDBDB"/>
    <a:srgbClr val="DAD9DA"/>
    <a:srgbClr val="FFE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4C8E1-19A1-4F92-8DE1-6EA5ABC92CA5}" v="1" dt="2026-06-07T12:01:28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75325" autoAdjust="0"/>
  </p:normalViewPr>
  <p:slideViewPr>
    <p:cSldViewPr snapToGrid="0">
      <p:cViewPr varScale="1">
        <p:scale>
          <a:sx n="83" d="100"/>
          <a:sy n="83" d="100"/>
        </p:scale>
        <p:origin x="15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36737-801A-413E-B812-23FEA7ECAC28}" type="datetimeFigureOut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731D1-85AE-4366-B364-066FEADE3F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3806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Mettre diapo 3/23</a:t>
            </a:r>
          </a:p>
          <a:p>
            <a:r>
              <a:rPr lang="fr-FR" dirty="0"/>
              <a:t>Pas de titre généraliste en haut des diapos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0221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machine, capteur et logiciel, ses possibilités, réglages</a:t>
            </a:r>
          </a:p>
          <a:p>
            <a:r>
              <a:rPr lang="fr-FR" dirty="0"/>
              <a:t>Potentialités didactiques, et même si ce n’est pas didactisé pourquoi c’est quand même intéressant (cas des séries STS (BTS))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Detailler</a:t>
            </a:r>
            <a:r>
              <a:rPr lang="fr-FR" dirty="0"/>
              <a:t> toutes les possibilités du </a:t>
            </a:r>
            <a:r>
              <a:rPr lang="fr-FR" dirty="0" err="1"/>
              <a:t>sys</a:t>
            </a:r>
            <a:r>
              <a:rPr lang="fr-FR" dirty="0"/>
              <a:t> pour chaque filière de sti2d ex pupitre, capteur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1" u="sng" strike="noStrike" kern="1200" dirty="0">
                <a:ln>
                  <a:noFill/>
                </a:ln>
                <a:uFillTx/>
                <a:latin typeface="Arial" pitchFamily="34"/>
                <a:ea typeface="Segoe UI" pitchFamily="2"/>
                <a:cs typeface="Tahoma" pitchFamily="2"/>
              </a:rPr>
              <a:t>EE </a:t>
            </a:r>
            <a:r>
              <a:rPr lang="fr-FR" sz="1200" b="0" i="1" u="none" strike="noStrike" kern="1200" dirty="0">
                <a:ln>
                  <a:noFill/>
                </a:ln>
                <a:latin typeface="Arial" pitchFamily="34"/>
                <a:ea typeface="Segoe UI" pitchFamily="2"/>
                <a:cs typeface="Tahoma" pitchFamily="2"/>
              </a:rPr>
              <a:t>: </a:t>
            </a:r>
            <a:r>
              <a:rPr lang="fr-FR" sz="1200" b="0" i="0" u="none" strike="noStrike" kern="1200" dirty="0">
                <a:ln>
                  <a:noFill/>
                </a:ln>
                <a:latin typeface="Arial" pitchFamily="34"/>
                <a:ea typeface="Segoe UI" pitchFamily="2"/>
                <a:cs typeface="Tahoma" pitchFamily="2"/>
              </a:rPr>
              <a:t>Chaîne d’énergie / Chaîne d’information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SIN: pupitre de commande, capteur de force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ITEC: mors, essai de traction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7510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72B78-07D0-534C-3A54-3DDDDF4D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D62868-6EC1-55D7-22DA-D7080451F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AC9A73B-016F-332D-4410-EC48662EC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machine, capteur et logiciel, ses possibilités, réglages</a:t>
            </a:r>
          </a:p>
          <a:p>
            <a:r>
              <a:rPr lang="fr-FR" b="1" dirty="0"/>
              <a:t>Potentialités didactiques</a:t>
            </a:r>
            <a:r>
              <a:rPr lang="fr-FR" dirty="0"/>
              <a:t>, et même si ce n’est pas didactisé pourquoi c’est quand même intéressant (cas des séries STS (BTS))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Detailler</a:t>
            </a:r>
            <a:r>
              <a:rPr lang="fr-FR" dirty="0"/>
              <a:t> toutes les possibilités du </a:t>
            </a:r>
            <a:r>
              <a:rPr lang="fr-FR" dirty="0" err="1"/>
              <a:t>sys</a:t>
            </a:r>
            <a:r>
              <a:rPr lang="fr-FR" dirty="0"/>
              <a:t> pour chaque filière de sti2d ex pupitre, capteur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1" u="sng" strike="noStrike" kern="1200" dirty="0">
                <a:ln>
                  <a:noFill/>
                </a:ln>
                <a:uFillTx/>
                <a:latin typeface="Arial" pitchFamily="34"/>
                <a:ea typeface="Segoe UI" pitchFamily="2"/>
                <a:cs typeface="Tahoma" pitchFamily="2"/>
              </a:rPr>
              <a:t>EE </a:t>
            </a:r>
            <a:r>
              <a:rPr lang="fr-FR" sz="1200" b="0" i="1" u="none" strike="noStrike" kern="1200" dirty="0">
                <a:ln>
                  <a:noFill/>
                </a:ln>
                <a:latin typeface="Arial" pitchFamily="34"/>
                <a:ea typeface="Segoe UI" pitchFamily="2"/>
                <a:cs typeface="Tahoma" pitchFamily="2"/>
              </a:rPr>
              <a:t>: </a:t>
            </a:r>
            <a:r>
              <a:rPr lang="fr-FR" sz="1200" b="0" i="0" u="none" strike="noStrike" kern="1200" dirty="0">
                <a:ln>
                  <a:noFill/>
                </a:ln>
                <a:latin typeface="Arial" pitchFamily="34"/>
                <a:ea typeface="Segoe UI" pitchFamily="2"/>
                <a:cs typeface="Tahoma" pitchFamily="2"/>
              </a:rPr>
              <a:t>Chaîne d’énergie / Chaîne d’information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SIN: pupitre de commande, capteur de force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ITEC: mors, essai de traction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DFD817-2CBD-3A54-714F-7C565FE22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1589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14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Présenter </a:t>
            </a:r>
            <a:r>
              <a:rPr lang="fr-FR" dirty="0" err="1"/>
              <a:t>diag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1932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6949-0275-1165-7857-E16AB2E17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F076042-E292-7CB6-EFBE-8FA3A4ECA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8B69A09-4835-C27C-150A-1270535D3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excite les barres a différentes fréquences et on regarde à la quelle elles rentrent en résonance </a:t>
            </a:r>
          </a:p>
          <a:p>
            <a:r>
              <a:rPr lang="fr-FR" dirty="0"/>
              <a:t>On a déplacé la structure et on a regardé la période des oscillations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010B90-4305-5B03-AA9A-6C12D7AEF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0173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029BB-C44D-0C22-F70D-9D8BB6001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5B32BA2-3680-BE21-F909-65EBFF2C6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180ECE-A90D-D7E9-4692-CD1E9F811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C9014E-438C-395B-5FDC-844D6EC10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3950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BEE80-0250-8636-BFCE-5241D890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930495-E8E3-C0C7-246D-C06C9BE0E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6848D26-84B9-0C20-546F-A50F97768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manque une slide ici pour ajouter de la fluidité dans le changement de partie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CD493E-C998-C6D1-5878-9E7D33232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6823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27F62-D0B4-7492-0502-62981932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24AF330-D737-3341-3739-BC0C7D9A2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355EB58-FF8E-A763-7526-C737BE23E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Protocole mesure </a:t>
            </a:r>
          </a:p>
          <a:p>
            <a:r>
              <a:rPr lang="fr-FR" dirty="0"/>
              <a:t>K on tire avec un dynamomètre et on regarde</a:t>
            </a:r>
          </a:p>
          <a:p>
            <a:r>
              <a:rPr lang="fr-FR" dirty="0"/>
              <a:t>xi je tire la structure de 4cm puis le la lâche d’un coup (échelon) elle veut revenir a 0, mesure D1% donc xi</a:t>
            </a:r>
          </a:p>
          <a:p>
            <a:r>
              <a:rPr lang="fr-FR" dirty="0"/>
              <a:t>manque une slide ici pour ajouter de la fluidité dans le changement de partie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F2EA04-AD08-D408-D48B-27D3E52B4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3349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bachelor</a:t>
            </a:r>
            <a:r>
              <a:rPr lang="fr-FR" dirty="0"/>
              <a:t> universitaire de technologie</a:t>
            </a:r>
          </a:p>
          <a:p>
            <a:endParaRPr lang="fr-FR" dirty="0"/>
          </a:p>
          <a:p>
            <a:r>
              <a:rPr lang="fr-FR" dirty="0"/>
              <a:t>Taille classe nb heure placer séquence dans année</a:t>
            </a:r>
          </a:p>
          <a:p>
            <a:r>
              <a:rPr lang="fr-FR" dirty="0"/>
              <a:t>Pas TP, cours, TD (réservé a la prépa) mais activité pratique et activité dirigée (Cours TD) pour les sti2d</a:t>
            </a:r>
          </a:p>
          <a:p>
            <a:r>
              <a:rPr lang="fr-FR" dirty="0"/>
              <a:t>Objectifs séquence</a:t>
            </a:r>
          </a:p>
          <a:p>
            <a:r>
              <a:rPr lang="fr-FR" dirty="0"/>
              <a:t>Prérequis connaissances a transmettre</a:t>
            </a:r>
          </a:p>
          <a:p>
            <a:r>
              <a:rPr lang="fr-FR" dirty="0"/>
              <a:t>Prog annuelle les grades lignes</a:t>
            </a:r>
          </a:p>
          <a:p>
            <a:r>
              <a:rPr lang="fr-FR" dirty="0"/>
              <a:t>Puis architecture séquence bien détailler chaque module</a:t>
            </a:r>
          </a:p>
          <a:p>
            <a:r>
              <a:rPr lang="fr-FR" dirty="0"/>
              <a:t>Innovation, ingénierie et développement durable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Innovation Technologique et Éco-Conception</a:t>
            </a:r>
            <a:endParaRPr lang="fr-FR" dirty="0"/>
          </a:p>
          <a:p>
            <a:r>
              <a:rPr lang="fr-FR" dirty="0" err="1"/>
              <a:t>Ac</a:t>
            </a:r>
            <a:r>
              <a:rPr lang="fr-FR" dirty="0"/>
              <a:t> </a:t>
            </a:r>
            <a:r>
              <a:rPr lang="fr-FR" dirty="0" err="1"/>
              <a:t>monpelier</a:t>
            </a:r>
            <a:r>
              <a:rPr lang="fr-FR" dirty="0"/>
              <a:t> limoges ou orléans et </a:t>
            </a:r>
            <a:r>
              <a:rPr lang="fr-FR" dirty="0" err="1"/>
              <a:t>éduscol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722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Juste discuter du placement de la séquence dans l’année et les grandes idées de la séquence</a:t>
            </a:r>
          </a:p>
          <a:p>
            <a:r>
              <a:rPr lang="fr-FR" dirty="0"/>
              <a:t>Bien progression par thème, évite de faire une compétence/bloc de connaissances par séquence</a:t>
            </a:r>
          </a:p>
          <a:p>
            <a:r>
              <a:rPr lang="fr-FR" dirty="0"/>
              <a:t>Pour de bonnes progressions BTS voir site du lycée </a:t>
            </a:r>
            <a:r>
              <a:rPr lang="fr-FR" dirty="0" err="1"/>
              <a:t>carriat</a:t>
            </a:r>
            <a:r>
              <a:rPr lang="fr-FR" dirty="0"/>
              <a:t> attention BTS tas TD TP mais atelier et </a:t>
            </a:r>
          </a:p>
          <a:p>
            <a:r>
              <a:rPr lang="fr-FR" dirty="0"/>
              <a:t>Toujours associer a un système ou a un produit industriel / pièce pour chaque séance</a:t>
            </a:r>
          </a:p>
          <a:p>
            <a:r>
              <a:rPr lang="fr-FR" dirty="0"/>
              <a:t>Si la progression n’est pas donnée plutôt s’atteler a trouver une bonne problématique et placer la séquence.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60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Chap</a:t>
            </a:r>
            <a:r>
              <a:rPr lang="fr-FR" dirty="0"/>
              <a:t> 1 on tourne autour de tous les sujets et o approfondit la partie RDM papier/</a:t>
            </a:r>
            <a:r>
              <a:rPr lang="fr-FR" dirty="0" err="1"/>
              <a:t>expe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Chap</a:t>
            </a:r>
            <a:r>
              <a:rPr lang="fr-FR" dirty="0"/>
              <a:t> 2 on refait une passe la dessus et on fait la partie simu éléments finis</a:t>
            </a:r>
          </a:p>
          <a:p>
            <a:r>
              <a:rPr lang="fr-FR" dirty="0"/>
              <a:t>Détailler plus la séance a </a:t>
            </a:r>
            <a:r>
              <a:rPr lang="fr-FR" dirty="0" err="1"/>
              <a:t>carectere</a:t>
            </a:r>
            <a:r>
              <a:rPr lang="fr-FR" dirty="0"/>
              <a:t> </a:t>
            </a:r>
            <a:r>
              <a:rPr lang="fr-FR" dirty="0" err="1"/>
              <a:t>expe</a:t>
            </a:r>
            <a:r>
              <a:rPr lang="fr-FR" dirty="0"/>
              <a:t> </a:t>
            </a:r>
          </a:p>
          <a:p>
            <a:r>
              <a:rPr lang="fr-FR" dirty="0"/>
              <a:t>Mettre a la fin une vue d’ensemble dans la séquence </a:t>
            </a:r>
          </a:p>
          <a:p>
            <a:r>
              <a:rPr lang="fr-FR" dirty="0"/>
              <a:t>quel logiciel pour faire le quizz repréciser le nombre d’heures pour chaque cours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429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398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ADDD-99D9-35F7-7726-F51F9851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F7C728-517C-39FE-6465-F7329B902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1B7F2F-81FB-8063-C269-6D288F4F0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Rigidité déformations/allongement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D40436-AA9A-A159-A0DE-1903BF42D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3816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01244-A1F0-38F6-AEBD-F413F7B9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FE928EA-667B-E5CE-0453-781D05D3F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DB21576-FB24-453F-2295-EB93F50B9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Préciser le logiciel du quizz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6F57F9-592D-6700-F695-76DB03119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3818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16D53-56A9-752D-39D2-4D8DAF5A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BCAFA9D-4563-3A27-2A80-377C5C8DD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763DED0-4EA3-76B8-6422-1830596C8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2,3: comment choisir le nombre d’échantillons: est ce que c’est de la qualification de nouveau produit ou alors juste un contrôle qualité habituel: ici contrôle qualité habituel donc échantillon plus petit ( voir même faire 2 essais par échantillon en le coupant en 2) disons 3-5 colliers pour un paquet de 100 il faut être précis de quand date la norme, son nom iso et son nom complet dire vite fait quels critères on choisit (ici S-2, II) la seule variable de notre essai de traction doit être le collier (et pas sont positionnement ou son serrage ou la course initiale)</a:t>
            </a:r>
          </a:p>
          <a:p>
            <a:r>
              <a:rPr lang="fr-FR" dirty="0"/>
              <a:t>Tests traction (RM ou Re), fatigue, résistance aux </a:t>
            </a:r>
            <a:r>
              <a:rPr lang="fr-FR" dirty="0" err="1"/>
              <a:t>UVs</a:t>
            </a:r>
            <a:r>
              <a:rPr lang="fr-FR" dirty="0"/>
              <a:t>, résistance a abrasion</a:t>
            </a:r>
          </a:p>
          <a:p>
            <a:r>
              <a:rPr lang="fr-FR" dirty="0"/>
              <a:t>Regarder le guide équipement officiel d’un labo de si pour le niveau considéré</a:t>
            </a:r>
          </a:p>
          <a:p>
            <a:r>
              <a:rPr lang="fr-FR" dirty="0"/>
              <a:t>Serrer clé </a:t>
            </a:r>
            <a:r>
              <a:rPr lang="fr-FR" dirty="0" err="1"/>
              <a:t>dymao</a:t>
            </a:r>
            <a:r>
              <a:rPr lang="fr-FR" dirty="0"/>
              <a:t> pour montrer la relativité (et pk pas le monter le glissement quand ce n’est pas assez serré ou la rupture au niveau du mords quand c’est trop serré)</a:t>
            </a:r>
          </a:p>
          <a:p>
            <a:r>
              <a:rPr lang="fr-FR" dirty="0"/>
              <a:t>Garder le plus longtemps possibles valeurs mesurés brutes afin que l’on puisse changer les paramètres (aka section ici ) pour faire des incertitudes par exemple</a:t>
            </a:r>
          </a:p>
          <a:p>
            <a:r>
              <a:rPr lang="fr-FR" dirty="0"/>
              <a:t>Couper tète, couper en deux, installer bien droit, d entre mords 40mm, et serre correctement (rilsan sur la totalité des mords), régler v déplacement( 45mm/min), mettre à 0, lancer acquisition et appui bouton monter exporter courbe en csv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CD29C5-9050-1A3D-E8A1-0261E4F14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42752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DDD35-2939-3B88-A71C-6B0C9CE0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C4F8C8B-D5BA-C9D0-19E2-F882D7796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8B259AF-D7A1-7E6F-1FC8-6D3A589A1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1EFAEE-1C50-EA86-5D30-9453AEF82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374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600D2-5951-5EFD-A377-C5A7C8E2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CF88C7-DA28-9DED-CC78-FAA9ECECC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8D6AC76-B23A-DBAC-88B3-50488BC8B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preciser</a:t>
            </a:r>
            <a:r>
              <a:rPr lang="fr-FR" dirty="0"/>
              <a:t> le type de pont vis a vis des </a:t>
            </a:r>
            <a:r>
              <a:rPr lang="fr-FR" dirty="0" err="1"/>
              <a:t>hypotheses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3C7FFF-1CC7-FAF6-3B94-F0C86E8A1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34163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19CF4-A951-36DE-DE18-5793A894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A718F63-90E4-D6CA-5175-74E1D9151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5C8F986-80D9-474A-5C56-CDE34E26E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E1B40C-27D4-55F9-1EF5-B9D3130C4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9551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878C0-4F06-8C8F-43FC-733EEAC79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09D29FA-E8F9-7BB0-B221-7149472EE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93227D3-F91A-0836-0524-E21F43F83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2,3: comment choisir le nombre d’échantillons: est ce que c’est de la qualification de nouveau produit ou alors juste un contrôle qualité habituel: ici contrôle qualité habituel donc échantillon plus petit ( voir même faire 2 essais par échantillon en le coupant en 2) disons 3-5 colliers pour un paquet de 100 il faut être précis de quand date la norme, son nom iso et son nom complet dire vite fait quels critères on choisit (ici S-2, II) la seule variable de notre essai de traction doit être le collier (et pas sont positionnement ou son serrage ou la course initiale)</a:t>
            </a:r>
          </a:p>
          <a:p>
            <a:r>
              <a:rPr lang="fr-FR" dirty="0"/>
              <a:t>Tests traction (RM ou Re), fatigue, résistance aux </a:t>
            </a:r>
            <a:r>
              <a:rPr lang="fr-FR" dirty="0" err="1"/>
              <a:t>UVs</a:t>
            </a:r>
            <a:r>
              <a:rPr lang="fr-FR" dirty="0"/>
              <a:t>, résistance a abrasion</a:t>
            </a:r>
          </a:p>
          <a:p>
            <a:r>
              <a:rPr lang="fr-FR" dirty="0"/>
              <a:t>Regarder le guide équipement officiel d’un labo de si pour le niveau considéré</a:t>
            </a:r>
          </a:p>
          <a:p>
            <a:r>
              <a:rPr lang="fr-FR" dirty="0"/>
              <a:t>Serrer clé </a:t>
            </a:r>
            <a:r>
              <a:rPr lang="fr-FR" dirty="0" err="1"/>
              <a:t>dymao</a:t>
            </a:r>
            <a:r>
              <a:rPr lang="fr-FR" dirty="0"/>
              <a:t> pour montrer la relativité (et pk pas le monter le glissement quand ce n’est pas assez serré ou la rupture au niveau du mords quand c’est trop serré)</a:t>
            </a:r>
          </a:p>
          <a:p>
            <a:r>
              <a:rPr lang="fr-FR" dirty="0"/>
              <a:t>Garder le plus longtemps possibles valeurs mesurés brutes afin que l’on puisse changer les paramètres (aka section ici ) pour faire des incertitudes par exemple</a:t>
            </a:r>
          </a:p>
          <a:p>
            <a:r>
              <a:rPr lang="fr-FR" dirty="0"/>
              <a:t>Couper tète, couper en deux, installer bien droit, d entre mords 40mm, et serre correctement (rilsan sur la totalité des mords), régler v déplacement( 45mm/min), mettre à 0, lancer acquisition et appui bouton monter exporter courbe en csv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308E15-3F17-716F-6569-015893AD6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43031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A669-59AB-C1DD-1D08-E701DD350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7A0317-A1BA-9539-0D90-D3DC12D3C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45CD5E-CC70-6915-2DF8-8FC5B2CB0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2,3: comment choisir le nombre d’échantillons: est ce que c’est de la qualification de nouveau produit ou alors juste un contrôle qualité habituel: ici contrôle qualité habituel donc échantillon plus petit ( voir même faire 2 essais par échantillon en le coupant en 2) disons 3-5 colliers pour un paquet de 100 il faut être précis de quand date la norme, son nom iso et son nom complet dire vite fait quels critères on choisit (ici S-2, II) la seule variable de notre essai de traction doit être le collier (et pas sont positionnement ou son serrage ou la course initiale)</a:t>
            </a:r>
          </a:p>
          <a:p>
            <a:r>
              <a:rPr lang="fr-FR" dirty="0"/>
              <a:t>Tests traction (RM ou Re), fatigue, résistance aux </a:t>
            </a:r>
            <a:r>
              <a:rPr lang="fr-FR" dirty="0" err="1"/>
              <a:t>UVs</a:t>
            </a:r>
            <a:r>
              <a:rPr lang="fr-FR" dirty="0"/>
              <a:t>, résistance a abrasion</a:t>
            </a:r>
          </a:p>
          <a:p>
            <a:r>
              <a:rPr lang="fr-FR" dirty="0"/>
              <a:t>Regarder le guide équipement officiel d’un labo de si pour le niveau considéré</a:t>
            </a:r>
          </a:p>
          <a:p>
            <a:r>
              <a:rPr lang="fr-FR" dirty="0"/>
              <a:t>Serrer clé </a:t>
            </a:r>
            <a:r>
              <a:rPr lang="fr-FR" dirty="0" err="1"/>
              <a:t>dymao</a:t>
            </a:r>
            <a:r>
              <a:rPr lang="fr-FR" dirty="0"/>
              <a:t> pour montrer la relativité (et pk pas le monter le glissement quand ce n’est pas assez serré ou la rupture au niveau du mords quand c’est trop serré)</a:t>
            </a:r>
          </a:p>
          <a:p>
            <a:r>
              <a:rPr lang="fr-FR" dirty="0"/>
              <a:t>Garder le plus longtemps possibles valeurs mesurés brutes afin que l’on puisse changer les paramètres (aka section ici ) pour faire des incertitudes par exemple</a:t>
            </a:r>
          </a:p>
          <a:p>
            <a:r>
              <a:rPr lang="fr-FR" dirty="0"/>
              <a:t>Couper tète, couper en deux, installer bien droit, d entre mords 40mm, et serre correctement (rilsan sur la totalité des mords), régler v déplacement( 45mm/min), mettre à 0, lancer acquisition et appui bouton monter exporter courbe en csv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DEDF63-E9F6-7C6B-4D58-C9D6C483D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7269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Leur utilité? Apres avoir écrit les compétences en entier une seule fois, on peut juste écrire les numéros. Le jury connait le BO/Référentiel/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6403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2156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44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6DF711-41FE-BC36-2551-915030E6E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73F54A-5A33-D854-8941-37712C755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4476D4-928F-EE23-2208-DCCAE23D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F077C-0008-4FAD-8972-12E23C1C7B88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A77797-E36C-F16F-09CA-B4E03B16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916059-AA0D-B530-BBE5-C71F98C1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81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D296C9-7E6D-4C0B-AB2A-AD2F22AF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6F0445-EC47-CC69-A4DD-DCE620058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E4EC8A-E889-7098-46A5-BBB24C85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5C61-27FA-4AFD-B3B8-3EC1336A9565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67521B-EAA7-C302-0F50-637841A51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0EC2DB-EE08-D441-48A8-3E3204F6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9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174776-5587-F858-2604-354A226A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49EA73-C48A-F2B5-0E08-D683776AF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D039C8-A726-BD26-6FBA-D858D74E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2DE-F47C-48F5-A43C-714ADFE94D8C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06EF1D-F7EB-7B74-AD95-D98391D30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F3C274-D32B-7344-652C-623CF784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08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5BC0A-E2F3-981B-7B0A-EB3083BB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1E34D3-9038-DC73-B4C8-9B0409BDA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4BA138-3D33-5172-5F2D-6571B4916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D29B37-88AE-5D1F-720A-EB6A4795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E023B-5572-4B31-A638-1AC7BE0EC588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2CB28E-189C-2720-7E67-FCB1706D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E1AE9A-E492-3608-CA3E-92F741EC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283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307AF-B24D-51CB-61B6-72864E2D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99181F-8B30-BCC2-B646-83FD69987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640C097-C15A-FC95-866C-9BBCB3EED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65E01B8-585B-AEE4-1C95-3910804D7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6900EC2-CC71-9BE9-DC0A-B486BC5BD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4B5B798-F4C6-C695-7A5A-880C3513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0933-BD22-4462-9260-1F2D8738FE4E}" type="datetime1">
              <a:rPr lang="fr-FR" smtClean="0"/>
              <a:t>07/06/2026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6F0C7EC-0544-73E9-DE29-9632F9D4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E9ED55-4600-4E3C-0DC6-EFE5D7D1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109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15B3D5-8A00-8AD8-1CAF-D23F9379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054F4B-F70C-68AC-1FDC-37D3E0EF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150-7925-41B0-8330-BB99F816AB0B}" type="datetime1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B95A69-C762-41A3-5216-3BC55C07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162E71-4B9B-48DD-BE35-11327B39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54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8F44F57-3A95-4159-DB34-70E5FB23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D940D-B597-4167-BDF1-10B30BF9269C}" type="datetime1">
              <a:rPr lang="fr-FR" smtClean="0"/>
              <a:t>07/06/2026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8F05ACA-7EE0-B81F-E8AE-4CDEE549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7E460B-1F57-4B09-2A71-78CCCCBA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9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DC75D-8E80-7A95-E72E-40B4632B8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B0C44B-C09A-A529-A204-134460066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3512CE-393F-8FE4-F4FA-4B3328D95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428757-884D-D118-79E3-802E5B07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EE46-9CE1-4053-A45B-48090CF6FA38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ACB2A1-6CCC-651B-4E14-BA495A77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A861B9-8372-F0D1-011D-E1F28649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4647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59C4F-673A-ED4D-3B5D-FBA615818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7A36D45-7F70-D116-238E-50A3E0B23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A3A843-10B3-FE89-A865-0187D5C06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4A0979-8D9A-AAE6-7FD8-4333BCDD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DF451-3877-4C1C-99E6-5E05F174E56C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FBFA0C-669A-2FFA-9D90-F020DED99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C3CF3B-3555-AB73-6404-79F7DF4D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992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2D1158-D8BB-8A84-A615-78B0FEC4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CC13670-FA7A-3BE4-9BCB-6FCE413B5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9631FC-316D-692B-2051-0D0A37A6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0C7F-0C72-48A7-9C3C-93C37D69CCFB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E9125E-D720-8585-C7F5-F17B8888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1C4AEC-6A8D-F86A-0707-0E5FCBF9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45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DF9AE4B-2534-568D-B396-F2E647F35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0713E4F-9025-06A8-2D9E-D90F1C0F6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9C4C49-7B8D-3D53-6826-3EEB7425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81B41-49FA-4D03-BF8D-609F3C57F39D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CF3146-EE99-EA97-B96E-D78C9EE2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61CCE9-E162-5478-91C0-456E14F3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1703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9A2220-585D-DA61-19CF-722946D8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41AB91-EA0A-1B3D-30DD-77EE46465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9984C2-764A-08FD-ACA0-4AD7F1D19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F3B65-912E-4A9B-B8D4-C7CCF08025C8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4187E2-F0AC-C3C3-A07C-5CDFAD8CF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N° Arthur PREVISANI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E6EC5D-6FA6-82DD-2D0C-3C11AD87F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610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9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E3A031-9DFD-A1C4-37C2-C1A492BB8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880343"/>
            <a:ext cx="7315200" cy="1325563"/>
          </a:xfrm>
        </p:spPr>
        <p:txBody>
          <a:bodyPr>
            <a:noAutofit/>
          </a:bodyPr>
          <a:lstStyle/>
          <a:p>
            <a:pPr algn="ctr"/>
            <a:r>
              <a:rPr lang="fr-FR" sz="3600" dirty="0"/>
              <a:t>Epreuve d’activité pratique et d’exploitation pédagogique relatives à l’approche spécialisée d’un système pluri technologique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0907E7-C971-AEFA-CFB8-25CD42688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9419" y="3232394"/>
            <a:ext cx="8053161" cy="24796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/>
              <a:t>Etude vibratoire des systèmes à 1 degré de liberté? </a:t>
            </a:r>
          </a:p>
          <a:p>
            <a:pPr marL="0" indent="0" algn="ctr">
              <a:buNone/>
            </a:pPr>
            <a:r>
              <a:rPr lang="fr-FR" dirty="0"/>
              <a:t>BUT 2 Semestre 2, Banc sismique</a:t>
            </a:r>
          </a:p>
          <a:p>
            <a:pPr marL="0" indent="0" algn="ctr">
              <a:buNone/>
            </a:pPr>
            <a:r>
              <a:rPr lang="fr-FR" dirty="0"/>
              <a:t>07/05/2025</a:t>
            </a:r>
          </a:p>
          <a:p>
            <a:pPr marL="0" indent="0" algn="ctr">
              <a:buNone/>
            </a:pPr>
            <a:r>
              <a:rPr lang="fr-FR" dirty="0"/>
              <a:t>Candidat N° PREVISANI Arthur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4811C3-26BC-7A32-D31A-96D937F4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</a:t>
            </a:fld>
            <a:r>
              <a:rPr lang="fr-FR" sz="2000" dirty="0"/>
              <a:t>/21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913FA50-8192-515A-432A-D40308C5B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2421357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7BB3BB-819C-F3A4-89D9-8D156E545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2AC53D-0D7A-E55F-53B9-6B50C25E5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638"/>
            <a:ext cx="10515600" cy="4351338"/>
          </a:xfrm>
        </p:spPr>
        <p:txBody>
          <a:bodyPr>
            <a:normAutofit/>
          </a:bodyPr>
          <a:lstStyle/>
          <a:p>
            <a:r>
              <a:rPr lang="fr-FR" sz="3600" dirty="0"/>
              <a:t>Présentation du banc sismique</a:t>
            </a:r>
          </a:p>
          <a:p>
            <a:r>
              <a:rPr lang="fr-FR" sz="3600" dirty="0"/>
              <a:t>Résultats du TP</a:t>
            </a:r>
          </a:p>
          <a:p>
            <a:r>
              <a:rPr lang="fr-FR" sz="3600" dirty="0"/>
              <a:t>Contexte/progression annuelle</a:t>
            </a:r>
          </a:p>
          <a:p>
            <a:r>
              <a:rPr lang="fr-FR" sz="3600" dirty="0"/>
              <a:t>Prérequis/compétences</a:t>
            </a:r>
          </a:p>
          <a:p>
            <a:r>
              <a:rPr lang="fr-FR" sz="3600" dirty="0"/>
              <a:t>Organisation de la séquence</a:t>
            </a:r>
          </a:p>
          <a:p>
            <a:r>
              <a:rPr lang="fr-FR" sz="3600" dirty="0"/>
              <a:t>Description de la séance à caractère expérimental</a:t>
            </a:r>
          </a:p>
          <a:p>
            <a:r>
              <a:rPr lang="fr-FR" sz="3600" dirty="0"/>
              <a:t>Conclusion </a:t>
            </a:r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CCBB51-CFF7-C4CC-A63F-7F3F6851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400" smtClean="0"/>
              <a:t>2</a:t>
            </a:fld>
            <a:r>
              <a:rPr lang="fr-FR" sz="2400" dirty="0"/>
              <a:t>/21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C15DF8-7A92-D884-5D62-C7D67D67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2939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104568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7E4D-A75C-2180-419E-41EF28C6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E3864-86C4-0B24-790C-B57D78E09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8" y="-169440"/>
            <a:ext cx="10515600" cy="1325563"/>
          </a:xfrm>
        </p:spPr>
        <p:txBody>
          <a:bodyPr/>
          <a:lstStyle/>
          <a:p>
            <a:r>
              <a:rPr lang="fr-FR" dirty="0"/>
              <a:t>Présentation du banc sismique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4CC167F-84B0-2E9E-3500-33080ACF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3</a:t>
            </a:fld>
            <a:r>
              <a:rPr lang="fr-FR" sz="2000" dirty="0"/>
              <a:t>/21</a:t>
            </a:r>
          </a:p>
        </p:txBody>
      </p:sp>
      <p:sp>
        <p:nvSpPr>
          <p:cNvPr id="23" name="Espace réservé du pied de page 22">
            <a:extLst>
              <a:ext uri="{FF2B5EF4-FFF2-40B4-BE49-F238E27FC236}">
                <a16:creationId xmlns:a16="http://schemas.microsoft.com/office/drawing/2014/main" id="{CFA336CD-A7A9-FB94-C41B-84D4D43D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5880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A23A43A0-F5CB-2FA5-6050-6F70AE9EC4F7}"/>
              </a:ext>
            </a:extLst>
          </p:cNvPr>
          <p:cNvGrpSpPr/>
          <p:nvPr/>
        </p:nvGrpSpPr>
        <p:grpSpPr>
          <a:xfrm>
            <a:off x="2325319" y="876367"/>
            <a:ext cx="7541362" cy="5662545"/>
            <a:chOff x="2325319" y="813335"/>
            <a:chExt cx="7541362" cy="5662545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73EA5501-974D-AB4B-7718-F2897D9A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25319" y="813335"/>
              <a:ext cx="7541362" cy="5662545"/>
            </a:xfrm>
            <a:prstGeom prst="rect">
              <a:avLst/>
            </a:prstGeom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288CA22-AA35-DA90-623C-303D82157410}"/>
                </a:ext>
              </a:extLst>
            </p:cNvPr>
            <p:cNvSpPr txBox="1"/>
            <p:nvPr/>
          </p:nvSpPr>
          <p:spPr>
            <a:xfrm>
              <a:off x="7143044" y="5762695"/>
              <a:ext cx="156972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Banc vibrant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A7E42C27-8FFD-B264-C86B-486B87555856}"/>
                </a:ext>
              </a:extLst>
            </p:cNvPr>
            <p:cNvSpPr txBox="1"/>
            <p:nvPr/>
          </p:nvSpPr>
          <p:spPr>
            <a:xfrm>
              <a:off x="2415822" y="993001"/>
              <a:ext cx="178364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Carte acquisition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4CB9961-2349-D83F-0EA8-FDE0CA994125}"/>
                </a:ext>
              </a:extLst>
            </p:cNvPr>
            <p:cNvSpPr txBox="1"/>
            <p:nvPr/>
          </p:nvSpPr>
          <p:spPr>
            <a:xfrm>
              <a:off x="8153400" y="829878"/>
              <a:ext cx="156972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Accéléromètre</a:t>
              </a:r>
            </a:p>
          </p:txBody>
        </p: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57DA4100-C272-9C85-9646-0025078AD732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flipH="1">
              <a:off x="7261860" y="1199210"/>
              <a:ext cx="1676401" cy="55056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143C4DD3-6D5B-D78E-2C70-64D1F32D7848}"/>
                </a:ext>
              </a:extLst>
            </p:cNvPr>
            <p:cNvSpPr txBox="1"/>
            <p:nvPr/>
          </p:nvSpPr>
          <p:spPr>
            <a:xfrm>
              <a:off x="2415822" y="3742746"/>
              <a:ext cx="1388533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Actionneur linéaire</a:t>
              </a:r>
            </a:p>
          </p:txBody>
        </p:sp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5888AB41-4EF6-C697-E9CC-8C0C7CA773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4355" y="3429000"/>
              <a:ext cx="1038578" cy="63691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4D03910B-F347-532A-7AB5-C69C4411A6DE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H="1" flipV="1">
              <a:off x="7097984" y="4728184"/>
              <a:ext cx="829921" cy="103451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40CFBFB7-5A2E-8D6A-9E3A-7AF82D2BC3BE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3307645" y="1362333"/>
              <a:ext cx="730955" cy="98277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22428380-5211-B7EB-9075-7922CD59B865}"/>
                </a:ext>
              </a:extLst>
            </p:cNvPr>
            <p:cNvSpPr txBox="1"/>
            <p:nvPr/>
          </p:nvSpPr>
          <p:spPr>
            <a:xfrm>
              <a:off x="8296959" y="3059668"/>
              <a:ext cx="156972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Une structure</a:t>
              </a:r>
            </a:p>
          </p:txBody>
        </p: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E73017AF-E8F1-01E5-1D29-95D6D4574730}"/>
                </a:ext>
              </a:extLst>
            </p:cNvPr>
            <p:cNvCxnSpPr>
              <a:cxnSpLocks/>
              <a:stCxn id="33" idx="1"/>
            </p:cNvCxnSpPr>
            <p:nvPr/>
          </p:nvCxnSpPr>
          <p:spPr>
            <a:xfrm flipH="1" flipV="1">
              <a:off x="7699022" y="2245547"/>
              <a:ext cx="597937" cy="9987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549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B44E-5CEE-0DB9-0A0A-A7DCE4DA3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4DD263-C29B-DD53-00E2-734D770B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8" y="-169440"/>
            <a:ext cx="10515600" cy="1325563"/>
          </a:xfrm>
        </p:spPr>
        <p:txBody>
          <a:bodyPr/>
          <a:lstStyle/>
          <a:p>
            <a:r>
              <a:rPr lang="fr-FR" dirty="0"/>
              <a:t>Présentation du banc sismique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484CD3E-CF66-C909-6CFD-71D5C0DA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4</a:t>
            </a:fld>
            <a:r>
              <a:rPr lang="fr-FR" sz="2000" dirty="0"/>
              <a:t>/21</a:t>
            </a:r>
          </a:p>
        </p:txBody>
      </p:sp>
      <p:sp>
        <p:nvSpPr>
          <p:cNvPr id="23" name="Espace réservé du pied de page 22">
            <a:extLst>
              <a:ext uri="{FF2B5EF4-FFF2-40B4-BE49-F238E27FC236}">
                <a16:creationId xmlns:a16="http://schemas.microsoft.com/office/drawing/2014/main" id="{9C6C807B-0B11-6392-FA95-1406F850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5880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AB3800D7-95DE-D4DB-64BD-D37D257BD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265" y="1156119"/>
            <a:ext cx="8731126" cy="508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2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00A430-4DDA-48F3-F0A9-4F65C80D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429" y="239554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/>
              <a:t>Logiciel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BB0261-66A8-2937-39DB-E788829A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5</a:t>
            </a:fld>
            <a:r>
              <a:rPr lang="fr-FR" sz="2000" dirty="0"/>
              <a:t>/21</a:t>
            </a:r>
          </a:p>
        </p:txBody>
      </p:sp>
      <p:sp>
        <p:nvSpPr>
          <p:cNvPr id="16" name="Espace réservé du pied de page 15">
            <a:extLst>
              <a:ext uri="{FF2B5EF4-FFF2-40B4-BE49-F238E27FC236}">
                <a16:creationId xmlns:a16="http://schemas.microsoft.com/office/drawing/2014/main" id="{79EFB243-D932-531B-1DDC-C0ADAF92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7851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6CC3449-3B79-2657-4E1C-575815045F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11044" y="0"/>
            <a:ext cx="6999111" cy="406803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1C8E24B-E2C2-B2D2-A207-C8BCEEC101E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789961"/>
            <a:ext cx="7078134" cy="406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54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D10A-6718-1F27-1AEA-1F8D9DA06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D5E2D0-820C-749F-4464-F6E89906C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-14339"/>
            <a:ext cx="10515600" cy="1325563"/>
          </a:xfrm>
        </p:spPr>
        <p:txBody>
          <a:bodyPr/>
          <a:lstStyle/>
          <a:p>
            <a:r>
              <a:rPr lang="fr-FR" dirty="0"/>
              <a:t>Résultats du TP: contexte</a:t>
            </a:r>
          </a:p>
        </p:txBody>
      </p:sp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6C7CAB42-B8A2-B48B-C62A-991BA068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694F845-BCA3-1369-2235-8B02EF72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6</a:t>
            </a:fld>
            <a:r>
              <a:rPr lang="fr-FR" sz="2000" dirty="0"/>
              <a:t>/21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A3DC071-B038-1312-CF57-FC10D4B96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984" y="1590683"/>
            <a:ext cx="8138032" cy="468272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7AAA372-97A4-6ED2-33AB-9409DEA80CD8}"/>
              </a:ext>
            </a:extLst>
          </p:cNvPr>
          <p:cNvSpPr txBox="1"/>
          <p:nvPr/>
        </p:nvSpPr>
        <p:spPr>
          <a:xfrm>
            <a:off x="2705101" y="1132560"/>
            <a:ext cx="9205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Diagramme de blocs internes du banc sismique</a:t>
            </a:r>
          </a:p>
        </p:txBody>
      </p:sp>
    </p:spTree>
    <p:extLst>
      <p:ext uri="{BB962C8B-B14F-4D97-AF65-F5344CB8AC3E}">
        <p14:creationId xmlns:p14="http://schemas.microsoft.com/office/powerpoint/2010/main" val="1967103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B5406-E292-F473-3D29-BC62286B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e 43">
            <a:extLst>
              <a:ext uri="{FF2B5EF4-FFF2-40B4-BE49-F238E27FC236}">
                <a16:creationId xmlns:a16="http://schemas.microsoft.com/office/drawing/2014/main" id="{CF91EDE1-CE2A-3D5F-7E53-081B565597B7}"/>
              </a:ext>
            </a:extLst>
          </p:cNvPr>
          <p:cNvGrpSpPr/>
          <p:nvPr/>
        </p:nvGrpSpPr>
        <p:grpSpPr>
          <a:xfrm>
            <a:off x="8050031" y="1180588"/>
            <a:ext cx="3457047" cy="4853586"/>
            <a:chOff x="8286500" y="1214935"/>
            <a:chExt cx="3457047" cy="4853586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4F269408-9E99-3FC7-2A83-EA176194F37C}"/>
                </a:ext>
              </a:extLst>
            </p:cNvPr>
            <p:cNvGrpSpPr/>
            <p:nvPr/>
          </p:nvGrpSpPr>
          <p:grpSpPr>
            <a:xfrm>
              <a:off x="9825997" y="1214935"/>
              <a:ext cx="1917550" cy="4853586"/>
              <a:chOff x="457200" y="1696309"/>
              <a:chExt cx="1917550" cy="4853586"/>
            </a:xfrm>
          </p:grpSpPr>
          <p:pic>
            <p:nvPicPr>
              <p:cNvPr id="32" name="Image 31">
                <a:extLst>
                  <a:ext uri="{FF2B5EF4-FFF2-40B4-BE49-F238E27FC236}">
                    <a16:creationId xmlns:a16="http://schemas.microsoft.com/office/drawing/2014/main" id="{1341D0F1-E512-DA04-A2FF-51477DA1C7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6200000">
                <a:off x="-1021144" y="3305282"/>
                <a:ext cx="4853586" cy="1635640"/>
              </a:xfrm>
              <a:prstGeom prst="rect">
                <a:avLst/>
              </a:prstGeom>
            </p:spPr>
          </p:pic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E006DDE-9C32-32A1-0316-22E3B328357A}"/>
                  </a:ext>
                </a:extLst>
              </p:cNvPr>
              <p:cNvSpPr/>
              <p:nvPr/>
            </p:nvSpPr>
            <p:spPr>
              <a:xfrm>
                <a:off x="457200" y="2613660"/>
                <a:ext cx="464820" cy="1485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5FD016D-9F93-B627-CBFE-8E552E948799}"/>
                  </a:ext>
                </a:extLst>
              </p:cNvPr>
              <p:cNvSpPr/>
              <p:nvPr/>
            </p:nvSpPr>
            <p:spPr>
              <a:xfrm>
                <a:off x="727994" y="1786558"/>
                <a:ext cx="665049" cy="20349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3BCA859-132B-0341-6986-116C3E65B325}"/>
                  </a:ext>
                </a:extLst>
              </p:cNvPr>
              <p:cNvSpPr/>
              <p:nvPr/>
            </p:nvSpPr>
            <p:spPr>
              <a:xfrm>
                <a:off x="1003150" y="1889760"/>
                <a:ext cx="1371600" cy="6506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36" name="Connecteur droit avec flèche 35">
                <a:extLst>
                  <a:ext uri="{FF2B5EF4-FFF2-40B4-BE49-F238E27FC236}">
                    <a16:creationId xmlns:a16="http://schemas.microsoft.com/office/drawing/2014/main" id="{5A231582-714D-27AD-6508-C3459C71D5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1650" y="2943225"/>
                <a:ext cx="0" cy="324802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2F3C37F3-A4AB-BA1F-5A9A-7A1EBF542A03}"/>
                  </a:ext>
                </a:extLst>
              </p:cNvPr>
              <p:cNvSpPr txBox="1"/>
              <p:nvPr/>
            </p:nvSpPr>
            <p:spPr>
              <a:xfrm>
                <a:off x="1780466" y="4381500"/>
                <a:ext cx="2517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L</a:t>
                </a:r>
              </a:p>
            </p:txBody>
          </p:sp>
        </p:grp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E445B9B8-6711-596F-AB73-465B5308DD56}"/>
                </a:ext>
              </a:extLst>
            </p:cNvPr>
            <p:cNvGrpSpPr/>
            <p:nvPr/>
          </p:nvGrpSpPr>
          <p:grpSpPr>
            <a:xfrm>
              <a:off x="8286500" y="1214935"/>
              <a:ext cx="1917550" cy="4853586"/>
              <a:chOff x="457200" y="1696309"/>
              <a:chExt cx="1917550" cy="4853586"/>
            </a:xfrm>
          </p:grpSpPr>
          <p:pic>
            <p:nvPicPr>
              <p:cNvPr id="24" name="Image 23">
                <a:extLst>
                  <a:ext uri="{FF2B5EF4-FFF2-40B4-BE49-F238E27FC236}">
                    <a16:creationId xmlns:a16="http://schemas.microsoft.com/office/drawing/2014/main" id="{148A506E-C23E-382F-15BA-6414B0BBCD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6200000">
                <a:off x="-1021144" y="3305282"/>
                <a:ext cx="4853586" cy="1635640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6F33618-265D-1CED-0613-3458EAC87A53}"/>
                  </a:ext>
                </a:extLst>
              </p:cNvPr>
              <p:cNvSpPr/>
              <p:nvPr/>
            </p:nvSpPr>
            <p:spPr>
              <a:xfrm>
                <a:off x="457200" y="2613660"/>
                <a:ext cx="464820" cy="1485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6CF9249-602C-831A-40EE-6E571DEFABBE}"/>
                  </a:ext>
                </a:extLst>
              </p:cNvPr>
              <p:cNvSpPr/>
              <p:nvPr/>
            </p:nvSpPr>
            <p:spPr>
              <a:xfrm>
                <a:off x="727994" y="1786558"/>
                <a:ext cx="665049" cy="17682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8B62FB5-17A2-900A-8E65-BC0063121022}"/>
                  </a:ext>
                </a:extLst>
              </p:cNvPr>
              <p:cNvSpPr/>
              <p:nvPr/>
            </p:nvSpPr>
            <p:spPr>
              <a:xfrm>
                <a:off x="1003150" y="1889760"/>
                <a:ext cx="1371600" cy="6506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CBCB457-D9B4-21E9-16E6-6FD29E4665C8}"/>
                </a:ext>
              </a:extLst>
            </p:cNvPr>
            <p:cNvSpPr/>
            <p:nvPr/>
          </p:nvSpPr>
          <p:spPr>
            <a:xfrm rot="16200000">
              <a:off x="10010213" y="1380308"/>
              <a:ext cx="158856" cy="1423418"/>
            </a:xfrm>
            <a:prstGeom prst="rect">
              <a:avLst/>
            </a:prstGeom>
            <a:solidFill>
              <a:srgbClr val="DCDBDB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2B0349DD-E595-2D96-929C-7BAE4B370B37}"/>
                </a:ext>
              </a:extLst>
            </p:cNvPr>
            <p:cNvSpPr/>
            <p:nvPr/>
          </p:nvSpPr>
          <p:spPr>
            <a:xfrm>
              <a:off x="9159204" y="1933703"/>
              <a:ext cx="313799" cy="314108"/>
            </a:xfrm>
            <a:prstGeom prst="ellipse">
              <a:avLst/>
            </a:prstGeom>
            <a:solidFill>
              <a:srgbClr val="DCDBDB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5E47F247-A9B5-9756-3298-E015F00C3558}"/>
                </a:ext>
              </a:extLst>
            </p:cNvPr>
            <p:cNvSpPr/>
            <p:nvPr/>
          </p:nvSpPr>
          <p:spPr>
            <a:xfrm>
              <a:off x="10698087" y="1927016"/>
              <a:ext cx="313799" cy="314108"/>
            </a:xfrm>
            <a:prstGeom prst="ellipse">
              <a:avLst/>
            </a:prstGeom>
            <a:solidFill>
              <a:srgbClr val="DCDBDB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E343EB0-E0EC-8F60-A320-01BAE2E7F1BA}"/>
                </a:ext>
              </a:extLst>
            </p:cNvPr>
            <p:cNvSpPr/>
            <p:nvPr/>
          </p:nvSpPr>
          <p:spPr>
            <a:xfrm>
              <a:off x="9766300" y="2179805"/>
              <a:ext cx="653567" cy="43708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5D219880-7B9F-6462-3F3D-92C25C215D0A}"/>
                </a:ext>
              </a:extLst>
            </p:cNvPr>
            <p:cNvSpPr txBox="1"/>
            <p:nvPr/>
          </p:nvSpPr>
          <p:spPr>
            <a:xfrm>
              <a:off x="9533800" y="2616889"/>
              <a:ext cx="11083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Accéléro</a:t>
              </a:r>
              <a:endParaRPr lang="fr-FR" dirty="0"/>
            </a:p>
            <a:p>
              <a:pPr algn="ctr"/>
              <a:r>
                <a:rPr lang="fr-FR" dirty="0"/>
                <a:t>mètre</a:t>
              </a:r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1BF63023-E410-E779-3A5B-615D52F29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267" y="119520"/>
            <a:ext cx="11353800" cy="1325563"/>
          </a:xfrm>
        </p:spPr>
        <p:txBody>
          <a:bodyPr/>
          <a:lstStyle/>
          <a:p>
            <a:r>
              <a:rPr lang="fr-FR" dirty="0"/>
              <a:t>Résultats du TP: Excitation différentes structures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C53BE6E-62B2-39C0-5F54-175B32A5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7</a:t>
            </a:fld>
            <a:r>
              <a:rPr lang="fr-FR" sz="2000" dirty="0"/>
              <a:t>/21</a:t>
            </a:r>
            <a:endParaRPr lang="fr-FR" dirty="0"/>
          </a:p>
        </p:txBody>
      </p:sp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71E60DF1-4A0E-AF54-B6C0-51F06509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7454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181331AC-2FAE-9420-7B55-0BD13AE043B7}"/>
              </a:ext>
            </a:extLst>
          </p:cNvPr>
          <p:cNvGrpSpPr/>
          <p:nvPr/>
        </p:nvGrpSpPr>
        <p:grpSpPr>
          <a:xfrm>
            <a:off x="-20653" y="1287376"/>
            <a:ext cx="2050650" cy="4853586"/>
            <a:chOff x="324100" y="1696309"/>
            <a:chExt cx="2050650" cy="4853586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4612023A-2197-46C2-C407-5F0CB8098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-1021144" y="3305282"/>
              <a:ext cx="4853586" cy="163564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155EBF-0062-7F2B-9818-46AE95D413C3}"/>
                </a:ext>
              </a:extLst>
            </p:cNvPr>
            <p:cNvSpPr/>
            <p:nvPr/>
          </p:nvSpPr>
          <p:spPr>
            <a:xfrm>
              <a:off x="457200" y="2613660"/>
              <a:ext cx="464820" cy="148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AF5F6D-FD47-1186-A259-8FBF79A61C48}"/>
                </a:ext>
              </a:extLst>
            </p:cNvPr>
            <p:cNvSpPr/>
            <p:nvPr/>
          </p:nvSpPr>
          <p:spPr>
            <a:xfrm>
              <a:off x="689610" y="1797479"/>
              <a:ext cx="464820" cy="148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A56312-D67B-7EA3-9A3C-1C5D4D3EF1E1}"/>
                </a:ext>
              </a:extLst>
            </p:cNvPr>
            <p:cNvSpPr/>
            <p:nvPr/>
          </p:nvSpPr>
          <p:spPr>
            <a:xfrm>
              <a:off x="1003150" y="1889760"/>
              <a:ext cx="1371600" cy="6506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C0010448-BFB8-6A31-6585-5A020CE3E338}"/>
                </a:ext>
              </a:extLst>
            </p:cNvPr>
            <p:cNvCxnSpPr>
              <a:cxnSpLocks/>
            </p:cNvCxnSpPr>
            <p:nvPr/>
          </p:nvCxnSpPr>
          <p:spPr>
            <a:xfrm>
              <a:off x="1771650" y="2943225"/>
              <a:ext cx="0" cy="3248025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D35FB5E1-EFB1-4252-9FCF-1C4DB99FC34D}"/>
                </a:ext>
              </a:extLst>
            </p:cNvPr>
            <p:cNvSpPr txBox="1"/>
            <p:nvPr/>
          </p:nvSpPr>
          <p:spPr>
            <a:xfrm>
              <a:off x="1780466" y="4381500"/>
              <a:ext cx="2517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L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B7E06E12-0279-8BBE-4F8A-2C56ABDBBA0D}"/>
                </a:ext>
              </a:extLst>
            </p:cNvPr>
            <p:cNvSpPr txBox="1"/>
            <p:nvPr/>
          </p:nvSpPr>
          <p:spPr>
            <a:xfrm>
              <a:off x="324100" y="2588738"/>
              <a:ext cx="9214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Masse M</a:t>
              </a:r>
            </a:p>
          </p:txBody>
        </p:sp>
      </p:grpSp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7DB747F3-C29E-5121-B91E-86147163D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836970"/>
              </p:ext>
            </p:extLst>
          </p:nvPr>
        </p:nvGraphicFramePr>
        <p:xfrm>
          <a:off x="2084660" y="2616889"/>
          <a:ext cx="5965371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9523000"/>
                    </a:ext>
                  </a:extLst>
                </a:gridCol>
                <a:gridCol w="1364343">
                  <a:extLst>
                    <a:ext uri="{9D8B030D-6E8A-4147-A177-3AD203B41FA5}">
                      <a16:colId xmlns:a16="http://schemas.microsoft.com/office/drawing/2014/main" val="1816189737"/>
                    </a:ext>
                  </a:extLst>
                </a:gridCol>
                <a:gridCol w="1498121">
                  <a:extLst>
                    <a:ext uri="{9D8B030D-6E8A-4147-A177-3AD203B41FA5}">
                      <a16:colId xmlns:a16="http://schemas.microsoft.com/office/drawing/2014/main" val="1588394557"/>
                    </a:ext>
                  </a:extLst>
                </a:gridCol>
                <a:gridCol w="1941764">
                  <a:extLst>
                    <a:ext uri="{9D8B030D-6E8A-4147-A177-3AD203B41FA5}">
                      <a16:colId xmlns:a16="http://schemas.microsoft.com/office/drawing/2014/main" val="1602859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Matériau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Longueur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Fréquence de résonnance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233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dirty="0"/>
                        <a:t>Barre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Acier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15cm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7-7,5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07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dirty="0"/>
                        <a:t>Barre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15cm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4,5-5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462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dirty="0"/>
                        <a:t>Barre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9cm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9,5-10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837597"/>
                  </a:ext>
                </a:extLst>
              </a:tr>
            </a:tbl>
          </a:graphicData>
        </a:graphic>
      </p:graphicFrame>
      <p:sp>
        <p:nvSpPr>
          <p:cNvPr id="20" name="Titre 1">
            <a:extLst>
              <a:ext uri="{FF2B5EF4-FFF2-40B4-BE49-F238E27FC236}">
                <a16:creationId xmlns:a16="http://schemas.microsoft.com/office/drawing/2014/main" id="{4628DA14-9FFE-3221-84CC-E27C29BE8ABD}"/>
              </a:ext>
            </a:extLst>
          </p:cNvPr>
          <p:cNvSpPr txBox="1">
            <a:spLocks/>
          </p:cNvSpPr>
          <p:nvPr/>
        </p:nvSpPr>
        <p:spPr>
          <a:xfrm>
            <a:off x="438768" y="1085462"/>
            <a:ext cx="2437858" cy="786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/>
              <a:t>Activité 1:</a:t>
            </a: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A594CB6E-042F-5341-F3E3-C11095077158}"/>
              </a:ext>
            </a:extLst>
          </p:cNvPr>
          <p:cNvSpPr txBox="1">
            <a:spLocks/>
          </p:cNvSpPr>
          <p:nvPr/>
        </p:nvSpPr>
        <p:spPr>
          <a:xfrm>
            <a:off x="8417129" y="1104425"/>
            <a:ext cx="2437858" cy="786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/>
              <a:t>Activité 2: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2B284EE9-3179-D696-ADBE-711272F4C2C9}"/>
              </a:ext>
            </a:extLst>
          </p:cNvPr>
          <p:cNvSpPr txBox="1"/>
          <p:nvPr/>
        </p:nvSpPr>
        <p:spPr>
          <a:xfrm>
            <a:off x="9076678" y="6015819"/>
            <a:ext cx="1479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fr</a:t>
            </a:r>
            <a:r>
              <a:rPr lang="fr-FR" sz="2400" dirty="0"/>
              <a:t> = 4,4 Hz      	</a:t>
            </a:r>
          </a:p>
        </p:txBody>
      </p:sp>
    </p:spTree>
    <p:extLst>
      <p:ext uri="{BB962C8B-B14F-4D97-AF65-F5344CB8AC3E}">
        <p14:creationId xmlns:p14="http://schemas.microsoft.com/office/powerpoint/2010/main" val="84609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1817-DEB5-D1E7-4296-B43C4D695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A5F2C-CCF9-F726-9F7F-6093A0CF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du TP: Modèle RDM et vibratoire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EDA94DA-876F-A6C9-06DB-99351372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8</a:t>
            </a:fld>
            <a:r>
              <a:rPr lang="fr-FR" sz="2000" dirty="0"/>
              <a:t>/21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207C9A6-5B77-DB2D-E78E-7E4A3B97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2939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11FF50E9-9E53-FF43-DDFA-5E79447C9F76}"/>
              </a:ext>
            </a:extLst>
          </p:cNvPr>
          <p:cNvGrpSpPr/>
          <p:nvPr/>
        </p:nvGrpSpPr>
        <p:grpSpPr>
          <a:xfrm>
            <a:off x="0" y="1639289"/>
            <a:ext cx="2050650" cy="4853586"/>
            <a:chOff x="324100" y="1696309"/>
            <a:chExt cx="2050650" cy="4853586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9E28151A-F897-4EFB-3417-0A04486F8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-1021144" y="3305282"/>
              <a:ext cx="4853586" cy="163564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07FD4A-A242-FEDA-B63D-AD793285B7EC}"/>
                </a:ext>
              </a:extLst>
            </p:cNvPr>
            <p:cNvSpPr/>
            <p:nvPr/>
          </p:nvSpPr>
          <p:spPr>
            <a:xfrm>
              <a:off x="457200" y="2613660"/>
              <a:ext cx="464820" cy="148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05F24E-6C0C-B10F-B86B-24559ECDE21A}"/>
                </a:ext>
              </a:extLst>
            </p:cNvPr>
            <p:cNvSpPr/>
            <p:nvPr/>
          </p:nvSpPr>
          <p:spPr>
            <a:xfrm>
              <a:off x="689610" y="1797479"/>
              <a:ext cx="464820" cy="148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9E37AA-9209-5730-892B-7602EFE959DC}"/>
                </a:ext>
              </a:extLst>
            </p:cNvPr>
            <p:cNvSpPr/>
            <p:nvPr/>
          </p:nvSpPr>
          <p:spPr>
            <a:xfrm>
              <a:off x="1003150" y="1889760"/>
              <a:ext cx="1371600" cy="6506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EEDB0DB2-2F3F-CC76-1C09-B0ECB88A872C}"/>
                </a:ext>
              </a:extLst>
            </p:cNvPr>
            <p:cNvCxnSpPr>
              <a:cxnSpLocks/>
            </p:cNvCxnSpPr>
            <p:nvPr/>
          </p:nvCxnSpPr>
          <p:spPr>
            <a:xfrm>
              <a:off x="1771650" y="2943225"/>
              <a:ext cx="0" cy="3248025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CC607E93-EE36-28DC-81D7-3C02B489A64E}"/>
                </a:ext>
              </a:extLst>
            </p:cNvPr>
            <p:cNvSpPr txBox="1"/>
            <p:nvPr/>
          </p:nvSpPr>
          <p:spPr>
            <a:xfrm>
              <a:off x="1780466" y="4381500"/>
              <a:ext cx="2517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L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CB5247B1-0E42-0861-8CE1-ED888B95EDAB}"/>
                </a:ext>
              </a:extLst>
            </p:cNvPr>
            <p:cNvSpPr txBox="1"/>
            <p:nvPr/>
          </p:nvSpPr>
          <p:spPr>
            <a:xfrm>
              <a:off x="324100" y="2588738"/>
              <a:ext cx="9214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Masse M</a:t>
              </a: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3973CAFC-4EAE-316E-824D-0F87A7A67C59}"/>
              </a:ext>
            </a:extLst>
          </p:cNvPr>
          <p:cNvGrpSpPr/>
          <p:nvPr/>
        </p:nvGrpSpPr>
        <p:grpSpPr>
          <a:xfrm>
            <a:off x="2163097" y="1884138"/>
            <a:ext cx="1687154" cy="4472212"/>
            <a:chOff x="1893573" y="1884140"/>
            <a:chExt cx="1687154" cy="4472212"/>
          </a:xfrm>
        </p:grpSpPr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D727FB01-D829-DEC2-F9A2-8B2D846AF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501044" y="3276669"/>
              <a:ext cx="4472212" cy="1687153"/>
            </a:xfrm>
            <a:prstGeom prst="rect">
              <a:avLst/>
            </a:prstGeom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CEECDAC2-7456-3FF0-B1D5-7D03BF3AAA66}"/>
                </a:ext>
              </a:extLst>
            </p:cNvPr>
            <p:cNvSpPr txBox="1"/>
            <p:nvPr/>
          </p:nvSpPr>
          <p:spPr>
            <a:xfrm>
              <a:off x="3212106" y="4139814"/>
              <a:ext cx="25179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L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F46FE4A-DE70-7A5A-0FD2-F5ED43593A6E}"/>
                </a:ext>
              </a:extLst>
            </p:cNvPr>
            <p:cNvSpPr/>
            <p:nvPr/>
          </p:nvSpPr>
          <p:spPr>
            <a:xfrm>
              <a:off x="2737150" y="2076450"/>
              <a:ext cx="843577" cy="400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7618F59F-B201-2266-997F-652172A349B5}"/>
                    </a:ext>
                  </a:extLst>
                </p:cNvPr>
                <p:cNvSpPr txBox="1"/>
                <p:nvPr/>
              </p:nvSpPr>
              <p:spPr>
                <a:xfrm>
                  <a:off x="2110599" y="1968100"/>
                  <a:ext cx="409525" cy="40293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7618F59F-B201-2266-997F-652172A34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0599" y="1968100"/>
                  <a:ext cx="409525" cy="4029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3C3A7433-4B80-AD2B-48A7-81F08A15438E}"/>
              </a:ext>
            </a:extLst>
          </p:cNvPr>
          <p:cNvSpPr/>
          <p:nvPr/>
        </p:nvSpPr>
        <p:spPr>
          <a:xfrm>
            <a:off x="1899369" y="3877361"/>
            <a:ext cx="617219" cy="89423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0FF85192-7848-D118-5D5D-7246A438852E}"/>
                  </a:ext>
                </a:extLst>
              </p:cNvPr>
              <p:cNvSpPr txBox="1"/>
              <p:nvPr/>
            </p:nvSpPr>
            <p:spPr>
              <a:xfrm>
                <a:off x="4286965" y="2839775"/>
                <a:ext cx="1268711" cy="1202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/>
                  <a:t>Flèche: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sSup>
                            <m:sSup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𝐸𝐼</m:t>
                          </m:r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0FF85192-7848-D118-5D5D-7246A4388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965" y="2839775"/>
                <a:ext cx="1268711" cy="1202765"/>
              </a:xfrm>
              <a:prstGeom prst="rect">
                <a:avLst/>
              </a:prstGeom>
              <a:blipFill>
                <a:blip r:embed="rId6"/>
                <a:stretch>
                  <a:fillRect l="-6667" t="-351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8B324F33-4368-230F-DA3D-8EE4E4C980DF}"/>
                  </a:ext>
                </a:extLst>
              </p:cNvPr>
              <p:cNvSpPr txBox="1"/>
              <p:nvPr/>
            </p:nvSpPr>
            <p:spPr>
              <a:xfrm>
                <a:off x="3865191" y="4231834"/>
                <a:ext cx="2779587" cy="11555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/>
                  <a:t>Raideur: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𝐸𝐼</m:t>
                          </m:r>
                        </m:num>
                        <m:den>
                          <m:sSup>
                            <m:sSup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8B324F33-4368-230F-DA3D-8EE4E4C98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191" y="4231834"/>
                <a:ext cx="2779587" cy="1155509"/>
              </a:xfrm>
              <a:prstGeom prst="rect">
                <a:avLst/>
              </a:prstGeom>
              <a:blipFill>
                <a:blip r:embed="rId7"/>
                <a:stretch>
                  <a:fillRect l="-3057" t="-364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e 28">
            <a:extLst>
              <a:ext uri="{FF2B5EF4-FFF2-40B4-BE49-F238E27FC236}">
                <a16:creationId xmlns:a16="http://schemas.microsoft.com/office/drawing/2014/main" id="{675966F9-3AC3-46F8-660B-A0F3409A7309}"/>
              </a:ext>
            </a:extLst>
          </p:cNvPr>
          <p:cNvGrpSpPr/>
          <p:nvPr/>
        </p:nvGrpSpPr>
        <p:grpSpPr>
          <a:xfrm>
            <a:off x="5946313" y="1531444"/>
            <a:ext cx="4414174" cy="1624794"/>
            <a:chOff x="6265759" y="1719243"/>
            <a:chExt cx="4414174" cy="1624794"/>
          </a:xfrm>
        </p:grpSpPr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D42A11F6-BC76-9243-4331-3924DCB4D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265759" y="1884136"/>
              <a:ext cx="4414174" cy="1459901"/>
            </a:xfrm>
            <a:prstGeom prst="rect">
              <a:avLst/>
            </a:prstGeom>
          </p:spPr>
        </p:pic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DAF5FDBA-7569-79A9-7471-E333771D8CAC}"/>
                </a:ext>
              </a:extLst>
            </p:cNvPr>
            <p:cNvSpPr txBox="1"/>
            <p:nvPr/>
          </p:nvSpPr>
          <p:spPr>
            <a:xfrm>
              <a:off x="8220632" y="1719243"/>
              <a:ext cx="50442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M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67F57CC-9937-195C-14EC-271BF68EEC2E}"/>
                </a:ext>
              </a:extLst>
            </p:cNvPr>
            <p:cNvSpPr/>
            <p:nvPr/>
          </p:nvSpPr>
          <p:spPr>
            <a:xfrm>
              <a:off x="8994057" y="1792230"/>
              <a:ext cx="1635640" cy="5574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F47058FF-C96C-3C40-B73D-997704A17919}"/>
                  </a:ext>
                </a:extLst>
              </p:cNvPr>
              <p:cNvSpPr txBox="1"/>
              <p:nvPr/>
            </p:nvSpPr>
            <p:spPr>
              <a:xfrm>
                <a:off x="6666166" y="3204579"/>
                <a:ext cx="5073540" cy="12132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/>
                  <a:t>D’où :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𝐵𝑠𝑖𝑛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2400" dirty="0"/>
              </a:p>
              <a:p>
                <a:r>
                  <a:rPr lang="fr-FR" sz="2400" dirty="0"/>
                  <a:t>Avec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fr-F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fr-FR" sz="2400" dirty="0"/>
                  <a:t> donc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ad>
                      <m:radPr>
                        <m:degHide m:val="on"/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F47058FF-C96C-3C40-B73D-997704A17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166" y="3204579"/>
                <a:ext cx="5073540" cy="1213217"/>
              </a:xfrm>
              <a:prstGeom prst="rect">
                <a:avLst/>
              </a:prstGeom>
              <a:blipFill>
                <a:blip r:embed="rId9"/>
                <a:stretch>
                  <a:fillRect l="-1799" t="-3483" r="-48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1AED03B9-994B-E88B-54DB-80DEEAE47A03}"/>
                  </a:ext>
                </a:extLst>
              </p:cNvPr>
              <p:cNvSpPr txBox="1"/>
              <p:nvPr/>
            </p:nvSpPr>
            <p:spPr>
              <a:xfrm>
                <a:off x="7329552" y="4557348"/>
                <a:ext cx="3922736" cy="1552861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fr-FR" sz="2400" dirty="0"/>
                  <a:t>Fréquence propre des barres: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𝐸𝐼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1AED03B9-994B-E88B-54DB-80DEEAE47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552" y="4557348"/>
                <a:ext cx="3922736" cy="1552861"/>
              </a:xfrm>
              <a:prstGeom prst="rect">
                <a:avLst/>
              </a:prstGeom>
              <a:blipFill>
                <a:blip r:embed="rId10"/>
                <a:stretch>
                  <a:fillRect l="-2164" t="-2724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88999D56-7ECC-9DAE-E1A8-E893C38781CB}"/>
                  </a:ext>
                </a:extLst>
              </p:cNvPr>
              <p:cNvSpPr txBox="1"/>
              <p:nvPr/>
            </p:nvSpPr>
            <p:spPr>
              <a:xfrm>
                <a:off x="8859375" y="1775006"/>
                <a:ext cx="327122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400" dirty="0"/>
                  <a:t>Equation masse-ressort: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̈"/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88999D56-7ECC-9DAE-E1A8-E893C3878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9375" y="1775006"/>
                <a:ext cx="3271223" cy="830997"/>
              </a:xfrm>
              <a:prstGeom prst="rect">
                <a:avLst/>
              </a:prstGeom>
              <a:blipFill>
                <a:blip r:embed="rId11"/>
                <a:stretch>
                  <a:fillRect l="-2793" t="-58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917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DFD26-0F3E-3DD3-9EBC-1F3AB2B2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A223F-A8CE-416E-62D8-905B15705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dirty="0"/>
              <a:t>Résultats du TP: Mesures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B87A0CF-D94F-9487-B42C-86F16F43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9</a:t>
            </a:fld>
            <a:r>
              <a:rPr lang="fr-FR" sz="2000" dirty="0"/>
              <a:t>/21</a:t>
            </a:r>
            <a:endParaRPr lang="fr-FR" dirty="0"/>
          </a:p>
        </p:txBody>
      </p:sp>
      <p:sp>
        <p:nvSpPr>
          <p:cNvPr id="18" name="Espace réservé du pied de page 17">
            <a:extLst>
              <a:ext uri="{FF2B5EF4-FFF2-40B4-BE49-F238E27FC236}">
                <a16:creationId xmlns:a16="http://schemas.microsoft.com/office/drawing/2014/main" id="{1869C245-EAF5-EF3A-7285-40706B27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5958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3BB80974-4A46-CE03-D4B1-5D7EB3EC9E98}"/>
              </a:ext>
            </a:extLst>
          </p:cNvPr>
          <p:cNvGrpSpPr/>
          <p:nvPr/>
        </p:nvGrpSpPr>
        <p:grpSpPr>
          <a:xfrm>
            <a:off x="539916" y="1002207"/>
            <a:ext cx="2050650" cy="4853586"/>
            <a:chOff x="324100" y="1696309"/>
            <a:chExt cx="2050650" cy="4853586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EC1B2BF5-F05C-8DAB-DD72-A19F8124C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-1021144" y="3305282"/>
              <a:ext cx="4853586" cy="163564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57467D-C085-8C4E-E404-0B26F82D3AE8}"/>
                </a:ext>
              </a:extLst>
            </p:cNvPr>
            <p:cNvSpPr/>
            <p:nvPr/>
          </p:nvSpPr>
          <p:spPr>
            <a:xfrm>
              <a:off x="457200" y="2613660"/>
              <a:ext cx="464820" cy="148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2BCE94-EBF7-2947-752E-143374DD3CA4}"/>
                </a:ext>
              </a:extLst>
            </p:cNvPr>
            <p:cNvSpPr/>
            <p:nvPr/>
          </p:nvSpPr>
          <p:spPr>
            <a:xfrm>
              <a:off x="689610" y="1797479"/>
              <a:ext cx="464820" cy="148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6FE8A3-729D-90A7-9B65-1C90AC894468}"/>
                </a:ext>
              </a:extLst>
            </p:cNvPr>
            <p:cNvSpPr/>
            <p:nvPr/>
          </p:nvSpPr>
          <p:spPr>
            <a:xfrm>
              <a:off x="1003150" y="1889760"/>
              <a:ext cx="1371600" cy="6506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8FEF7235-8A3D-33FA-47BC-18B77C64259D}"/>
                </a:ext>
              </a:extLst>
            </p:cNvPr>
            <p:cNvCxnSpPr>
              <a:cxnSpLocks/>
            </p:cNvCxnSpPr>
            <p:nvPr/>
          </p:nvCxnSpPr>
          <p:spPr>
            <a:xfrm>
              <a:off x="1771650" y="2943225"/>
              <a:ext cx="0" cy="3248025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3C0B453E-E389-BDE2-062F-286F78A41BD3}"/>
                </a:ext>
              </a:extLst>
            </p:cNvPr>
            <p:cNvSpPr txBox="1"/>
            <p:nvPr/>
          </p:nvSpPr>
          <p:spPr>
            <a:xfrm>
              <a:off x="1780466" y="4381500"/>
              <a:ext cx="2517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L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8E7CF59F-C269-F7CD-C7F2-7BD932311EB9}"/>
                </a:ext>
              </a:extLst>
            </p:cNvPr>
            <p:cNvSpPr txBox="1"/>
            <p:nvPr/>
          </p:nvSpPr>
          <p:spPr>
            <a:xfrm>
              <a:off x="324100" y="2588738"/>
              <a:ext cx="9214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Masse M</a:t>
              </a:r>
            </a:p>
          </p:txBody>
        </p:sp>
      </p:grp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83E36C1C-E632-35DC-715F-FA9633718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925755"/>
              </p:ext>
            </p:extLst>
          </p:nvPr>
        </p:nvGraphicFramePr>
        <p:xfrm>
          <a:off x="2645229" y="2331720"/>
          <a:ext cx="8327572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2884">
                  <a:extLst>
                    <a:ext uri="{9D8B030D-6E8A-4147-A177-3AD203B41FA5}">
                      <a16:colId xmlns:a16="http://schemas.microsoft.com/office/drawing/2014/main" val="219523000"/>
                    </a:ext>
                  </a:extLst>
                </a:gridCol>
                <a:gridCol w="1436888">
                  <a:extLst>
                    <a:ext uri="{9D8B030D-6E8A-4147-A177-3AD203B41FA5}">
                      <a16:colId xmlns:a16="http://schemas.microsoft.com/office/drawing/2014/main" val="1816189737"/>
                    </a:ext>
                  </a:extLst>
                </a:gridCol>
                <a:gridCol w="1577778">
                  <a:extLst>
                    <a:ext uri="{9D8B030D-6E8A-4147-A177-3AD203B41FA5}">
                      <a16:colId xmlns:a16="http://schemas.microsoft.com/office/drawing/2014/main" val="1588394557"/>
                    </a:ext>
                  </a:extLst>
                </a:gridCol>
                <a:gridCol w="2045011">
                  <a:extLst>
                    <a:ext uri="{9D8B030D-6E8A-4147-A177-3AD203B41FA5}">
                      <a16:colId xmlns:a16="http://schemas.microsoft.com/office/drawing/2014/main" val="1602859432"/>
                    </a:ext>
                  </a:extLst>
                </a:gridCol>
                <a:gridCol w="2045011">
                  <a:extLst>
                    <a:ext uri="{9D8B030D-6E8A-4147-A177-3AD203B41FA5}">
                      <a16:colId xmlns:a16="http://schemas.microsoft.com/office/drawing/2014/main" val="262634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Matériau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Longueur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Fréquence de résonnance expérimentale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Fréquence de résonnance calculée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233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dirty="0"/>
                        <a:t>Barre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Acier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15cm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7-7,5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8,8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07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dirty="0"/>
                        <a:t>Barre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15cm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4,5-5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5,1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462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dirty="0"/>
                        <a:t>Barre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9cm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9,5-10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11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83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919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F6EC-3F0C-2AC6-4D84-504BCD49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FD4081-4467-1E72-AF18-42FD9B05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dirty="0"/>
              <a:t>Résultats du TP: Structure type bâtiment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23B5697-0127-B216-A3C3-DA74273C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10</a:t>
            </a:fld>
            <a:r>
              <a:rPr lang="fr-FR" sz="2000" dirty="0"/>
              <a:t>/21</a:t>
            </a:r>
            <a:endParaRPr lang="fr-FR" dirty="0"/>
          </a:p>
        </p:txBody>
      </p:sp>
      <p:sp>
        <p:nvSpPr>
          <p:cNvPr id="18" name="Espace réservé du pied de page 17">
            <a:extLst>
              <a:ext uri="{FF2B5EF4-FFF2-40B4-BE49-F238E27FC236}">
                <a16:creationId xmlns:a16="http://schemas.microsoft.com/office/drawing/2014/main" id="{A3DDD089-C30B-DE70-1A02-79E669AC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5958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9BC17DD-E6EE-2039-3666-824501B721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8200" y="1094014"/>
            <a:ext cx="3410857" cy="51235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7E08826-D4AD-D8DA-12E2-0BA001309436}"/>
                  </a:ext>
                </a:extLst>
              </p:cNvPr>
              <p:cNvSpPr txBox="1"/>
              <p:nvPr/>
            </p:nvSpPr>
            <p:spPr>
              <a:xfrm>
                <a:off x="6409204" y="952154"/>
                <a:ext cx="5475798" cy="2732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400" dirty="0"/>
                  <a:t>Equation masse-ressort-amortisseur: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̈"/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̇"/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²</m:t>
                        </m:r>
                      </m:e>
                    </m:rad>
                  </m:oMath>
                </a14:m>
                <a:r>
                  <a:rPr lang="fr-FR" sz="240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fr-FR" sz="2400" dirty="0"/>
              </a:p>
              <a:p>
                <a:r>
                  <a:rPr lang="fr-FR" sz="2400" dirty="0"/>
                  <a:t>Donc:  </a:t>
                </a:r>
                <a14:m>
                  <m:oMath xmlns:m="http://schemas.openxmlformats.org/officeDocument/2006/math">
                    <m:r>
                      <a:rPr lang="fr-F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fr-F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fr-F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fr-F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𝑘𝑀</m:t>
                            </m:r>
                            <m:r>
                              <a:rPr lang="fr-F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den>
                    </m:f>
                  </m:oMath>
                </a14:m>
                <a:endParaRPr lang="fr-FR" sz="2400" dirty="0"/>
              </a:p>
              <a:p>
                <a:r>
                  <a:rPr lang="fr-FR" sz="2400" dirty="0"/>
                  <a:t>On mesure: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3,1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0,05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=62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fr-FR" sz="2400" dirty="0"/>
                  <a:t>, M = 120g</a:t>
                </a: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7E08826-D4AD-D8DA-12E2-0BA001309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204" y="952154"/>
                <a:ext cx="5475798" cy="2732286"/>
              </a:xfrm>
              <a:prstGeom prst="rect">
                <a:avLst/>
              </a:prstGeom>
              <a:blipFill>
                <a:blip r:embed="rId4"/>
                <a:stretch>
                  <a:fillRect l="-1669" t="-1786" b="-4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e 28">
            <a:extLst>
              <a:ext uri="{FF2B5EF4-FFF2-40B4-BE49-F238E27FC236}">
                <a16:creationId xmlns:a16="http://schemas.microsoft.com/office/drawing/2014/main" id="{FC689983-B576-7BA0-F8B8-A6FFDA72855E}"/>
              </a:ext>
            </a:extLst>
          </p:cNvPr>
          <p:cNvGrpSpPr/>
          <p:nvPr/>
        </p:nvGrpSpPr>
        <p:grpSpPr>
          <a:xfrm>
            <a:off x="4562261" y="860841"/>
            <a:ext cx="1648674" cy="2568159"/>
            <a:chOff x="4562261" y="860841"/>
            <a:chExt cx="1648674" cy="2568159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DD769D29-FB0B-AA56-B5F4-5A2CECD18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62261" y="952154"/>
              <a:ext cx="1533739" cy="2476846"/>
            </a:xfrm>
            <a:prstGeom prst="rect">
              <a:avLst/>
            </a:prstGeom>
          </p:spPr>
        </p:pic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56C21E91-A5E7-EF9C-2FB5-B1BD5466DCC0}"/>
                </a:ext>
              </a:extLst>
            </p:cNvPr>
            <p:cNvSpPr txBox="1"/>
            <p:nvPr/>
          </p:nvSpPr>
          <p:spPr>
            <a:xfrm>
              <a:off x="5181239" y="1140897"/>
              <a:ext cx="504427" cy="369332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M</a:t>
              </a: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CC8FD415-29A1-08E8-E8F4-93185B03BE5E}"/>
                </a:ext>
              </a:extLst>
            </p:cNvPr>
            <p:cNvSpPr txBox="1"/>
            <p:nvPr/>
          </p:nvSpPr>
          <p:spPr>
            <a:xfrm>
              <a:off x="5834948" y="1140897"/>
              <a:ext cx="37598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59F4C621-4EDC-3B00-E23B-BE343A87ADBD}"/>
                </a:ext>
              </a:extLst>
            </p:cNvPr>
            <p:cNvSpPr txBox="1"/>
            <p:nvPr/>
          </p:nvSpPr>
          <p:spPr>
            <a:xfrm>
              <a:off x="5834947" y="2854042"/>
              <a:ext cx="37598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F7F85D44-BD12-123A-5DB3-75654237C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5691977" y="1003813"/>
              <a:ext cx="516406" cy="230462"/>
            </a:xfrm>
            <a:prstGeom prst="rect">
              <a:avLst/>
            </a:prstGeom>
          </p:spPr>
        </p:pic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93D7A996-80C7-5440-C349-C2623508F03C}"/>
              </a:ext>
            </a:extLst>
          </p:cNvPr>
          <p:cNvGrpSpPr/>
          <p:nvPr/>
        </p:nvGrpSpPr>
        <p:grpSpPr>
          <a:xfrm>
            <a:off x="4966392" y="3658930"/>
            <a:ext cx="6387408" cy="2082477"/>
            <a:chOff x="1453967" y="4327071"/>
            <a:chExt cx="6285777" cy="1945030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10921B26-BF2B-2A39-89BE-6040B0A98468}"/>
                </a:ext>
              </a:extLst>
            </p:cNvPr>
            <p:cNvGrpSpPr/>
            <p:nvPr/>
          </p:nvGrpSpPr>
          <p:grpSpPr>
            <a:xfrm>
              <a:off x="1453967" y="4327071"/>
              <a:ext cx="6285777" cy="1945030"/>
              <a:chOff x="1453967" y="4327071"/>
              <a:chExt cx="6285777" cy="1945030"/>
            </a:xfrm>
          </p:grpSpPr>
          <p:pic>
            <p:nvPicPr>
              <p:cNvPr id="31" name="Image 30">
                <a:extLst>
                  <a:ext uri="{FF2B5EF4-FFF2-40B4-BE49-F238E27FC236}">
                    <a16:creationId xmlns:a16="http://schemas.microsoft.com/office/drawing/2014/main" id="{5341F9E6-42D8-7C32-D04C-2AF94D00B8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453967" y="4327071"/>
                <a:ext cx="6285776" cy="1485900"/>
              </a:xfrm>
              <a:prstGeom prst="rect">
                <a:avLst/>
              </a:prstGeom>
            </p:spPr>
          </p:pic>
          <p:pic>
            <p:nvPicPr>
              <p:cNvPr id="32" name="Image 31">
                <a:extLst>
                  <a:ext uri="{FF2B5EF4-FFF2-40B4-BE49-F238E27FC236}">
                    <a16:creationId xmlns:a16="http://schemas.microsoft.com/office/drawing/2014/main" id="{696102EA-179F-D6C7-B7F2-A92B3C667D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453968" y="5810250"/>
                <a:ext cx="6285776" cy="461851"/>
              </a:xfrm>
              <a:prstGeom prst="rect">
                <a:avLst/>
              </a:prstGeom>
            </p:spPr>
          </p:pic>
        </p:grpSp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835FB746-AFF2-CB90-96AC-A980EF9EB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038976" y="4869518"/>
              <a:ext cx="700768" cy="906054"/>
            </a:xfrm>
            <a:prstGeom prst="rect">
              <a:avLst/>
            </a:prstGeom>
          </p:spPr>
        </p:pic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4290F23F-5029-37BD-0C19-5FE611C45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8019" y="4520665"/>
              <a:ext cx="103187" cy="697706"/>
            </a:xfrm>
            <a:prstGeom prst="line">
              <a:avLst/>
            </a:prstGeom>
            <a:ln w="12700">
              <a:solidFill>
                <a:srgbClr val="0197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E7141ACE-EFC4-6C9D-AC68-7C966142B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1206" y="4520665"/>
              <a:ext cx="628537" cy="0"/>
            </a:xfrm>
            <a:prstGeom prst="line">
              <a:avLst/>
            </a:prstGeom>
            <a:ln w="12700">
              <a:solidFill>
                <a:srgbClr val="0197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91A612CE-E375-C119-F8BB-7924693771B8}"/>
                  </a:ext>
                </a:extLst>
              </p:cNvPr>
              <p:cNvSpPr txBox="1"/>
              <p:nvPr/>
            </p:nvSpPr>
            <p:spPr>
              <a:xfrm>
                <a:off x="4562261" y="5805101"/>
                <a:ext cx="7573439" cy="650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400" dirty="0"/>
                  <a:t>D1% : 35% =&gt; 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fr-FR" sz="2400" dirty="0"/>
                  <a:t> = 0,35 =&gt; c =  1,91 </a:t>
                </a:r>
                <a:r>
                  <a:rPr lang="fr-FR" sz="2400" dirty="0" err="1"/>
                  <a:t>N.s</a:t>
                </a:r>
                <a:r>
                  <a:rPr lang="fr-FR" sz="2400" dirty="0"/>
                  <a:t>/m,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7,5</m:t>
                        </m:r>
                      </m:num>
                      <m:den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1,6</m:t>
                        </m:r>
                      </m:den>
                    </m:f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=4,7 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91A612CE-E375-C119-F8BB-792469377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261" y="5805101"/>
                <a:ext cx="7573439" cy="650178"/>
              </a:xfrm>
              <a:prstGeom prst="rect">
                <a:avLst/>
              </a:prstGeom>
              <a:blipFill>
                <a:blip r:embed="rId10"/>
                <a:stretch>
                  <a:fillRect l="-1207" b="-46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687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721221-444B-CB8F-5D46-F61CBF73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dirty="0"/>
              <a:t>Contexte pédagogique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4D3443-A7A0-E1C5-08ED-AE723CB105B3}"/>
              </a:ext>
            </a:extLst>
          </p:cNvPr>
          <p:cNvSpPr txBox="1"/>
          <p:nvPr/>
        </p:nvSpPr>
        <p:spPr>
          <a:xfrm>
            <a:off x="1247264" y="1028343"/>
            <a:ext cx="91169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/>
              <a:t>BUT2 GMP, semestre 2, Promo d’environ 100 élèves </a:t>
            </a:r>
          </a:p>
          <a:p>
            <a:r>
              <a:rPr lang="fr-FR" sz="3000" dirty="0"/>
              <a:t>Répartis en 8 groupes de TP (12 étudiants)  et 4 de TD (24 étudiants) </a:t>
            </a:r>
          </a:p>
          <a:p>
            <a:endParaRPr lang="fr-FR" sz="300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CAA2D67-C65F-EDFD-796B-556AE1BB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11</a:t>
            </a:fld>
            <a:r>
              <a:rPr lang="fr-FR" sz="2000" dirty="0"/>
              <a:t>/21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BAF4A9F7-F718-5065-88CC-12438246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9721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6F46F3D-42AC-5515-DB04-15F502C0313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31576" y="2610401"/>
            <a:ext cx="9822224" cy="374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73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6301CF-D518-5DB8-5F3E-C441216C2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010" y="254623"/>
            <a:ext cx="10927977" cy="659140"/>
          </a:xfrm>
        </p:spPr>
        <p:txBody>
          <a:bodyPr>
            <a:noAutofit/>
          </a:bodyPr>
          <a:lstStyle/>
          <a:p>
            <a:r>
              <a:rPr lang="fr-FR" sz="4400" dirty="0"/>
              <a:t>Progression annuelle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06E0DC1-27C4-CFE6-8E9F-33A97D30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12</a:t>
            </a:fld>
            <a:r>
              <a:rPr lang="fr-FR" sz="2000" dirty="0"/>
              <a:t>/21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2E1C78-AA35-07EA-A647-6DF24302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8" y="6479948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CFE3BE3-D09B-E339-ECD4-9E43C178989D}"/>
              </a:ext>
            </a:extLst>
          </p:cNvPr>
          <p:cNvGrpSpPr/>
          <p:nvPr/>
        </p:nvGrpSpPr>
        <p:grpSpPr>
          <a:xfrm>
            <a:off x="1167761" y="913763"/>
            <a:ext cx="10182408" cy="5240294"/>
            <a:chOff x="1167761" y="913763"/>
            <a:chExt cx="10182408" cy="5240294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AC3FBFE-9A4D-8513-0F3A-17942B831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40570" y="913763"/>
              <a:ext cx="8509599" cy="5240294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8A1636E9-2E5F-9BE8-C56D-08740F8D6899}"/>
                </a:ext>
              </a:extLst>
            </p:cNvPr>
            <p:cNvSpPr txBox="1"/>
            <p:nvPr/>
          </p:nvSpPr>
          <p:spPr>
            <a:xfrm>
              <a:off x="1167761" y="2398442"/>
              <a:ext cx="1672809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2400" dirty="0"/>
                <a:t>1ere année</a:t>
              </a:r>
            </a:p>
            <a:p>
              <a:pPr algn="r"/>
              <a:endParaRPr lang="fr-FR" sz="2400" dirty="0"/>
            </a:p>
            <a:p>
              <a:pPr algn="r"/>
              <a:endParaRPr lang="fr-FR" sz="2400" dirty="0"/>
            </a:p>
            <a:p>
              <a:pPr algn="r"/>
              <a:endParaRPr lang="fr-FR" sz="2400" dirty="0"/>
            </a:p>
            <a:p>
              <a:pPr algn="r"/>
              <a:r>
                <a:rPr lang="fr-FR" sz="2400" dirty="0"/>
                <a:t>2</a:t>
              </a:r>
              <a:r>
                <a:rPr lang="fr-FR" sz="2400" baseline="30000" dirty="0"/>
                <a:t>e</a:t>
              </a:r>
              <a:r>
                <a:rPr lang="fr-FR" sz="2400" dirty="0"/>
                <a:t> année</a:t>
              </a:r>
            </a:p>
            <a:p>
              <a:pPr algn="r"/>
              <a:endParaRPr lang="fr-FR" sz="2400" dirty="0"/>
            </a:p>
            <a:p>
              <a:pPr algn="r"/>
              <a:endParaRPr lang="fr-FR" sz="2400" dirty="0"/>
            </a:p>
            <a:p>
              <a:pPr algn="r"/>
              <a:endParaRPr lang="fr-FR" sz="2400" dirty="0"/>
            </a:p>
            <a:p>
              <a:pPr algn="r"/>
              <a:r>
                <a:rPr lang="fr-FR" sz="2400" dirty="0"/>
                <a:t>3</a:t>
              </a:r>
              <a:r>
                <a:rPr lang="fr-FR" sz="2400" baseline="30000" dirty="0"/>
                <a:t>e</a:t>
              </a:r>
              <a:r>
                <a:rPr lang="fr-FR" sz="2400" dirty="0"/>
                <a:t> année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87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60A1DB-D40E-057B-1868-88FCCF21A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1CB85A-9FD7-1066-DF70-D136BE2F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13</a:t>
            </a:fld>
            <a:r>
              <a:rPr lang="fr-FR" sz="2000" dirty="0"/>
              <a:t>/21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169C04D-595E-B3FA-C102-8E40B769266D}"/>
              </a:ext>
            </a:extLst>
          </p:cNvPr>
          <p:cNvSpPr txBox="1"/>
          <p:nvPr/>
        </p:nvSpPr>
        <p:spPr>
          <a:xfrm>
            <a:off x="628952" y="998650"/>
            <a:ext cx="311573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Séquence qui s’étale </a:t>
            </a:r>
          </a:p>
          <a:p>
            <a:r>
              <a:rPr lang="fr-FR" sz="2400" dirty="0"/>
              <a:t>sur 3 semaines</a:t>
            </a:r>
          </a:p>
          <a:p>
            <a:r>
              <a:rPr lang="fr-FR" sz="2400" dirty="0"/>
              <a:t>Problématique: Etude</a:t>
            </a:r>
          </a:p>
          <a:p>
            <a:r>
              <a:rPr lang="fr-FR" sz="2400" dirty="0"/>
              <a:t> vibratoire des </a:t>
            </a:r>
          </a:p>
          <a:p>
            <a:r>
              <a:rPr lang="fr-FR" sz="2400" dirty="0"/>
              <a:t>systèmes à 1 degré </a:t>
            </a:r>
          </a:p>
          <a:p>
            <a:r>
              <a:rPr lang="fr-FR" sz="2400" dirty="0"/>
              <a:t>de liberté?</a:t>
            </a:r>
          </a:p>
          <a:p>
            <a:endParaRPr lang="fr-FR" sz="2400" dirty="0"/>
          </a:p>
          <a:p>
            <a:r>
              <a:rPr lang="fr-FR" sz="2400" dirty="0"/>
              <a:t>Prérequis:</a:t>
            </a:r>
          </a:p>
          <a:p>
            <a:r>
              <a:rPr lang="fr-FR" sz="2400" dirty="0"/>
              <a:t>R3.01 Mécanique</a:t>
            </a:r>
          </a:p>
          <a:p>
            <a:r>
              <a:rPr lang="fr-FR" sz="2400" dirty="0"/>
              <a:t>R3.04 : Mathématiques Appliquées et Outils Scientifiques</a:t>
            </a:r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74560F90-E217-D34B-CB6B-AEC335D07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5535" y="6491968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30ACF6-8502-ADEC-B42E-0346B13E38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44685" y="998650"/>
            <a:ext cx="8213272" cy="5200197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E795F707-49D9-B766-37FE-43A6AFFBBA78}"/>
              </a:ext>
            </a:extLst>
          </p:cNvPr>
          <p:cNvSpPr txBox="1">
            <a:spLocks/>
          </p:cNvSpPr>
          <p:nvPr/>
        </p:nvSpPr>
        <p:spPr>
          <a:xfrm>
            <a:off x="823686" y="-961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Compétences/savoir faire à transmettre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8817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134281-D53C-AED2-D059-A073CEEE5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686" y="-96137"/>
            <a:ext cx="10515600" cy="1325563"/>
          </a:xfrm>
        </p:spPr>
        <p:txBody>
          <a:bodyPr/>
          <a:lstStyle/>
          <a:p>
            <a:r>
              <a:rPr lang="fr-FR" dirty="0"/>
              <a:t>Architecture de la séquence (UE)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D84530-A3D8-A149-33AE-22D847DF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14</a:t>
            </a:fld>
            <a:r>
              <a:rPr lang="fr-FR" sz="2000" dirty="0"/>
              <a:t>/21</a:t>
            </a:r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642F9AD9-0FDE-845B-5032-5A13ADD7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4086" y="6492875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4E2B43FA-15B4-8727-F8B7-3D93CBB60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063558"/>
              </p:ext>
            </p:extLst>
          </p:nvPr>
        </p:nvGraphicFramePr>
        <p:xfrm>
          <a:off x="1669142" y="1229426"/>
          <a:ext cx="9956799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4700">
                  <a:extLst>
                    <a:ext uri="{9D8B030D-6E8A-4147-A177-3AD203B41FA5}">
                      <a16:colId xmlns:a16="http://schemas.microsoft.com/office/drawing/2014/main" val="2212600508"/>
                    </a:ext>
                  </a:extLst>
                </a:gridCol>
                <a:gridCol w="7912099">
                  <a:extLst>
                    <a:ext uri="{9D8B030D-6E8A-4147-A177-3AD203B41FA5}">
                      <a16:colId xmlns:a16="http://schemas.microsoft.com/office/drawing/2014/main" val="2833368816"/>
                    </a:ext>
                  </a:extLst>
                </a:gridCol>
              </a:tblGrid>
              <a:tr h="432064">
                <a:tc>
                  <a:txBody>
                    <a:bodyPr/>
                    <a:lstStyle/>
                    <a:p>
                      <a:r>
                        <a:rPr lang="fr-FR" sz="2400" dirty="0"/>
                        <a:t>Cours 1 (1H)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Dynamique des systèmes mécaniques (+ rappels), PFD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641569"/>
                  </a:ext>
                </a:extLst>
              </a:tr>
              <a:tr h="432064">
                <a:tc>
                  <a:txBody>
                    <a:bodyPr/>
                    <a:lstStyle/>
                    <a:p>
                      <a:r>
                        <a:rPr lang="fr-FR" sz="2400" dirty="0"/>
                        <a:t>TD 1 (2H)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Rappel sur les notions de dynamique, équations du mouvement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134315"/>
                  </a:ext>
                </a:extLst>
              </a:tr>
              <a:tr h="432064">
                <a:tc>
                  <a:txBody>
                    <a:bodyPr/>
                    <a:lstStyle/>
                    <a:p>
                      <a:r>
                        <a:rPr lang="fr-FR" sz="2400" dirty="0"/>
                        <a:t>TD 2 (2H)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PFD sur des systèmes complexes, méthode de résolution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31174"/>
                  </a:ext>
                </a:extLst>
              </a:tr>
              <a:tr h="432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Cours 2 (1H)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Systèmes oscillants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920690"/>
                  </a:ext>
                </a:extLst>
              </a:tr>
              <a:tr h="432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TD 3 (2H)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Oscillations libres, amorties ou non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684784"/>
                  </a:ext>
                </a:extLst>
              </a:tr>
              <a:tr h="432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Cours 3 (1H)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Equilibrage dynamique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370626"/>
                  </a:ext>
                </a:extLst>
              </a:tr>
              <a:tr h="432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TD 4 (2H)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Equilibrage d’un système en rotation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40374"/>
                  </a:ext>
                </a:extLst>
              </a:tr>
              <a:tr h="432064">
                <a:tc>
                  <a:txBody>
                    <a:bodyPr/>
                    <a:lstStyle/>
                    <a:p>
                      <a:r>
                        <a:rPr lang="fr-FR" sz="2400" dirty="0"/>
                        <a:t>TP 1 (3H)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Observation des phénomènes montrés en TD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206533"/>
                  </a:ext>
                </a:extLst>
              </a:tr>
              <a:tr h="432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TD 5 (2H)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Révision avant le 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178496"/>
                  </a:ext>
                </a:extLst>
              </a:tr>
              <a:tr h="432064">
                <a:tc>
                  <a:txBody>
                    <a:bodyPr/>
                    <a:lstStyle/>
                    <a:p>
                      <a:r>
                        <a:rPr lang="fr-FR" sz="2400" dirty="0"/>
                        <a:t>DS (2H)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735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910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9F7CE-A787-42F7-1D5C-0CFD2E89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23F69-2791-B13F-1A93-7CA4E235D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fr-FR" dirty="0"/>
              <a:t>Cours 1 1h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8AD4A6-DB6A-40B5-3BF9-9D776B93A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15</a:t>
            </a:fld>
            <a:r>
              <a:rPr lang="fr-FR" sz="2000" dirty="0"/>
              <a:t>/21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1B4019A-AA41-8815-B392-C1A378D68CB4}"/>
              </a:ext>
            </a:extLst>
          </p:cNvPr>
          <p:cNvSpPr txBox="1"/>
          <p:nvPr/>
        </p:nvSpPr>
        <p:spPr>
          <a:xfrm>
            <a:off x="780141" y="1196707"/>
            <a:ext cx="107877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En amphi (toute la promo)</a:t>
            </a:r>
          </a:p>
          <a:p>
            <a:r>
              <a:rPr lang="fr-FR" sz="2400" dirty="0"/>
              <a:t>Dynamique des systèmes mécaniques (+ rappels), PFD</a:t>
            </a:r>
          </a:p>
          <a:p>
            <a:r>
              <a:rPr lang="fr-FR" sz="2400" dirty="0"/>
              <a:t>Torseurs Actions mécaniques, Cinématique, dynamique</a:t>
            </a:r>
          </a:p>
          <a:p>
            <a:r>
              <a:rPr lang="fr-FR" sz="2400" dirty="0"/>
              <a:t>En prenant exemple sur la roue sur le plan incliné</a:t>
            </a:r>
          </a:p>
          <a:p>
            <a:r>
              <a:rPr lang="fr-FR" sz="2400" dirty="0"/>
              <a:t>(Cours qui pourraient être convertis en une vidéo)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872F43F-0B41-E34E-24A4-D601765A3749}"/>
              </a:ext>
            </a:extLst>
          </p:cNvPr>
          <p:cNvSpPr txBox="1">
            <a:spLocks/>
          </p:cNvSpPr>
          <p:nvPr/>
        </p:nvSpPr>
        <p:spPr>
          <a:xfrm>
            <a:off x="838200" y="29673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TD1 2h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AC34C6A-4F37-FC66-A9CF-3DDE4AD86748}"/>
              </a:ext>
            </a:extLst>
          </p:cNvPr>
          <p:cNvSpPr txBox="1"/>
          <p:nvPr/>
        </p:nvSpPr>
        <p:spPr>
          <a:xfrm>
            <a:off x="838199" y="4039115"/>
            <a:ext cx="106716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En groupe de TD (24 élèves)</a:t>
            </a:r>
          </a:p>
          <a:p>
            <a:r>
              <a:rPr lang="fr-FR" sz="2400" dirty="0"/>
              <a:t>Exercices simples sur le PFD, masse sur une corde avec renvoi d’une poulie</a:t>
            </a:r>
          </a:p>
          <a:p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A79D4CA8-5A95-45BA-A4F1-2A2F23BA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7454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1393055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81A4C-EC54-BD86-6537-6D17951A3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9B9873-1F9D-C64A-D43B-BFF0DAF8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717"/>
            <a:ext cx="10515600" cy="1325563"/>
          </a:xfrm>
        </p:spPr>
        <p:txBody>
          <a:bodyPr/>
          <a:lstStyle/>
          <a:p>
            <a:r>
              <a:rPr lang="fr-FR" dirty="0"/>
              <a:t>TD2 2h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3E4AB98-6335-18B6-9B55-83B1EB78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16</a:t>
            </a:fld>
            <a:r>
              <a:rPr lang="fr-FR" sz="2000" dirty="0"/>
              <a:t>/21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5D1C3A9-43D6-FE03-9538-4AAE4C719FF6}"/>
              </a:ext>
            </a:extLst>
          </p:cNvPr>
          <p:cNvSpPr txBox="1"/>
          <p:nvPr/>
        </p:nvSpPr>
        <p:spPr>
          <a:xfrm>
            <a:off x="838200" y="1265114"/>
            <a:ext cx="84944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En groupe de TD (24 élèves)</a:t>
            </a:r>
          </a:p>
          <a:p>
            <a:r>
              <a:rPr lang="fr-FR" sz="2400" dirty="0"/>
              <a:t>Quizz sur les notions du Cours1 et du TD1 (AMC QCM)</a:t>
            </a:r>
          </a:p>
          <a:p>
            <a:r>
              <a:rPr lang="fr-FR" sz="2400" dirty="0"/>
              <a:t>Exercices simples sur le PFD, masse sur une corde avec renvoi d’une poulie</a:t>
            </a:r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EBE1CC3-B678-25E1-AE63-8256AEB7E3E4}"/>
              </a:ext>
            </a:extLst>
          </p:cNvPr>
          <p:cNvSpPr txBox="1"/>
          <p:nvPr/>
        </p:nvSpPr>
        <p:spPr>
          <a:xfrm>
            <a:off x="838200" y="4588565"/>
            <a:ext cx="114699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En amphi (toute la promo)</a:t>
            </a:r>
          </a:p>
          <a:p>
            <a:r>
              <a:rPr lang="fr-FR" sz="2400" dirty="0"/>
              <a:t>Vidéo sur le pont de Tacoma (1944)</a:t>
            </a:r>
          </a:p>
          <a:p>
            <a:r>
              <a:rPr lang="fr-FR" sz="2400" dirty="0"/>
              <a:t>Système masse ressort équation du mouvement, fréquence de résonance</a:t>
            </a:r>
          </a:p>
          <a:p>
            <a:r>
              <a:rPr lang="fr-FR" sz="2400" dirty="0"/>
              <a:t>(Cours qui pourraient être convertis en une vidéo)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E0B2FC9-0D54-76F0-D2E3-E1793D693421}"/>
              </a:ext>
            </a:extLst>
          </p:cNvPr>
          <p:cNvSpPr txBox="1">
            <a:spLocks/>
          </p:cNvSpPr>
          <p:nvPr/>
        </p:nvSpPr>
        <p:spPr>
          <a:xfrm>
            <a:off x="838200" y="3772024"/>
            <a:ext cx="10515600" cy="861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Cours 2 1h</a:t>
            </a:r>
          </a:p>
        </p:txBody>
      </p:sp>
      <p:sp>
        <p:nvSpPr>
          <p:cNvPr id="16" name="Espace réservé du pied de page 15">
            <a:extLst>
              <a:ext uri="{FF2B5EF4-FFF2-40B4-BE49-F238E27FC236}">
                <a16:creationId xmlns:a16="http://schemas.microsoft.com/office/drawing/2014/main" id="{1C91ADFD-A443-FB9C-5B88-436ACD69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1683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2259102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28A6-7459-1768-BE5E-A721F82C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660EF3-0B3B-80FA-0A52-32BA2736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17</a:t>
            </a:fld>
            <a:r>
              <a:rPr lang="fr-FR" sz="2000" dirty="0"/>
              <a:t>/21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527844A1-A2FF-9885-BFAF-17F445244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314" y="447636"/>
            <a:ext cx="10515600" cy="1325563"/>
          </a:xfrm>
        </p:spPr>
        <p:txBody>
          <a:bodyPr/>
          <a:lstStyle/>
          <a:p>
            <a:r>
              <a:rPr lang="fr-FR" dirty="0"/>
              <a:t>TD3 2h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A7C0FE1-0B5E-3535-4117-1167EF57D808}"/>
              </a:ext>
            </a:extLst>
          </p:cNvPr>
          <p:cNvSpPr txBox="1"/>
          <p:nvPr/>
        </p:nvSpPr>
        <p:spPr>
          <a:xfrm>
            <a:off x="954314" y="1516817"/>
            <a:ext cx="7493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En groupe de TD (24 élèves)</a:t>
            </a:r>
          </a:p>
          <a:p>
            <a:r>
              <a:rPr lang="fr-FR" sz="2400" dirty="0"/>
              <a:t>Exercices sur un masse-ressort-amortisseur, par exemple en prenant l’exemple d’un immeuble (une poutre vis-à-vis d’un séisme)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7671BD5D-9572-E6F0-7C55-D6C7B4C145EE}"/>
              </a:ext>
            </a:extLst>
          </p:cNvPr>
          <p:cNvSpPr txBox="1">
            <a:spLocks/>
          </p:cNvSpPr>
          <p:nvPr/>
        </p:nvSpPr>
        <p:spPr>
          <a:xfrm>
            <a:off x="954314" y="31264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Cours 3 1h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862862-33E0-6DB6-ABAB-A857F2E86485}"/>
              </a:ext>
            </a:extLst>
          </p:cNvPr>
          <p:cNvSpPr txBox="1"/>
          <p:nvPr/>
        </p:nvSpPr>
        <p:spPr>
          <a:xfrm>
            <a:off x="954314" y="4221133"/>
            <a:ext cx="96556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En amphi (toute la promo)</a:t>
            </a:r>
          </a:p>
          <a:p>
            <a:r>
              <a:rPr lang="fr-FR" sz="2400" dirty="0"/>
              <a:t>Equilibrage dynamique, balourds, matrice d’inertie</a:t>
            </a:r>
          </a:p>
          <a:p>
            <a:r>
              <a:rPr lang="fr-FR" sz="2400" dirty="0"/>
              <a:t>Vidéo sur le rotor de l’hélicoptère chinook, vibration d’une machine outil</a:t>
            </a:r>
          </a:p>
          <a:p>
            <a:r>
              <a:rPr lang="fr-FR" sz="2400" dirty="0"/>
              <a:t>(Cours qui pourraient être convertis en une vidéo)</a:t>
            </a:r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0F4ABBB3-4AC0-4781-417D-9F136CBA6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2939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1571427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93C2D-2749-87CE-02EE-5B2AE7F0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AAF29C-7192-01D5-AF0F-26A662E7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18</a:t>
            </a:fld>
            <a:r>
              <a:rPr lang="fr-FR" sz="2000" dirty="0"/>
              <a:t>/21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CE3DE3-8112-817A-8DEA-8FFA1010425D}"/>
              </a:ext>
            </a:extLst>
          </p:cNvPr>
          <p:cNvSpPr txBox="1"/>
          <p:nvPr/>
        </p:nvSpPr>
        <p:spPr>
          <a:xfrm>
            <a:off x="838199" y="4478280"/>
            <a:ext cx="89734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En groupe de TP (12 élèves)</a:t>
            </a:r>
          </a:p>
          <a:p>
            <a:r>
              <a:rPr lang="fr-FR" sz="2400" dirty="0"/>
              <a:t>Essais sur le banc sismique</a:t>
            </a:r>
          </a:p>
          <a:p>
            <a:r>
              <a:rPr lang="fr-FR" sz="2400" dirty="0"/>
              <a:t>Essais sur l’équilibreuse de roue de voiture</a:t>
            </a:r>
          </a:p>
          <a:p>
            <a:r>
              <a:rPr lang="fr-FR" sz="2400" dirty="0"/>
              <a:t>Séance détaillée après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31897C00-8224-CF47-6A2A-56DC2EB62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5604"/>
            <a:ext cx="10515600" cy="616122"/>
          </a:xfrm>
        </p:spPr>
        <p:txBody>
          <a:bodyPr>
            <a:normAutofit fontScale="90000"/>
          </a:bodyPr>
          <a:lstStyle/>
          <a:p>
            <a:r>
              <a:rPr lang="fr-FR" dirty="0"/>
              <a:t>TP1 3h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7DB0CD1-F86B-0202-255F-E8C4B19854DD}"/>
              </a:ext>
            </a:extLst>
          </p:cNvPr>
          <p:cNvSpPr txBox="1"/>
          <p:nvPr/>
        </p:nvSpPr>
        <p:spPr>
          <a:xfrm>
            <a:off x="838199" y="1265946"/>
            <a:ext cx="9089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En groupe de TD (24 élèves)</a:t>
            </a:r>
          </a:p>
          <a:p>
            <a:r>
              <a:rPr lang="fr-FR" sz="2400" dirty="0"/>
              <a:t>Quizz sur les notions du Cours2 et du TD3</a:t>
            </a:r>
          </a:p>
          <a:p>
            <a:r>
              <a:rPr lang="fr-FR" sz="2400" dirty="0"/>
              <a:t>Exercice sur l’équilibrage dynamique d’une roue de voiture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EDA2B5F4-9E75-BA1A-68A0-C41F5BD36BC3}"/>
              </a:ext>
            </a:extLst>
          </p:cNvPr>
          <p:cNvSpPr txBox="1">
            <a:spLocks/>
          </p:cNvSpPr>
          <p:nvPr/>
        </p:nvSpPr>
        <p:spPr>
          <a:xfrm>
            <a:off x="838200" y="22316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TD4 2h</a:t>
            </a:r>
          </a:p>
        </p:txBody>
      </p:sp>
      <p:sp>
        <p:nvSpPr>
          <p:cNvPr id="20" name="Espace réservé du pied de page 19">
            <a:extLst>
              <a:ext uri="{FF2B5EF4-FFF2-40B4-BE49-F238E27FC236}">
                <a16:creationId xmlns:a16="http://schemas.microsoft.com/office/drawing/2014/main" id="{3FEEBEBB-96DD-A9A4-FB3A-9AE243BF1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2276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829924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44F11-37A0-FCA6-41DC-D295C37D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8C3FDC-8432-4489-FAF9-8A66062F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19</a:t>
            </a:fld>
            <a:r>
              <a:rPr lang="fr-FR" sz="2000" dirty="0"/>
              <a:t>/21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8075DBC-3972-6370-1102-7293C7710DE6}"/>
              </a:ext>
            </a:extLst>
          </p:cNvPr>
          <p:cNvSpPr txBox="1">
            <a:spLocks/>
          </p:cNvSpPr>
          <p:nvPr/>
        </p:nvSpPr>
        <p:spPr>
          <a:xfrm>
            <a:off x="838200" y="3701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TD5 2h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60C5C25C-B762-2C3C-A5F5-73911686C8A3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724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DS 2h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4221A2C-6A7A-5B51-92B4-4D43AFC097AA}"/>
              </a:ext>
            </a:extLst>
          </p:cNvPr>
          <p:cNvSpPr txBox="1"/>
          <p:nvPr/>
        </p:nvSpPr>
        <p:spPr>
          <a:xfrm>
            <a:off x="838199" y="1372229"/>
            <a:ext cx="90460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En groupe de TD (24 élèves)</a:t>
            </a:r>
          </a:p>
          <a:p>
            <a:r>
              <a:rPr lang="fr-FR" sz="2400" dirty="0"/>
              <a:t>Quizz sur les notions du Cours2 et du TD3</a:t>
            </a:r>
          </a:p>
          <a:p>
            <a:r>
              <a:rPr lang="fr-FR" sz="2400" dirty="0"/>
              <a:t>Révision en vu du DS de la séance suivante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1FB749B-092D-B64D-1C22-BD19EB68539B}"/>
              </a:ext>
            </a:extLst>
          </p:cNvPr>
          <p:cNvSpPr txBox="1"/>
          <p:nvPr/>
        </p:nvSpPr>
        <p:spPr>
          <a:xfrm>
            <a:off x="838199" y="4127856"/>
            <a:ext cx="80735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En groupe de TD (24 élèves)</a:t>
            </a:r>
          </a:p>
          <a:p>
            <a:r>
              <a:rPr lang="fr-FR" sz="2400" dirty="0"/>
              <a:t>Exercice balayant les notions vues lors de cette séquence par exemple équilibrage de l’axe d’une machine outil et impact du choc de la fraise sur la pièce usinée ( s’apparente à un masse-ressort)</a:t>
            </a:r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5C455E31-DBC5-B390-E306-1DB1C7C30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1226650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64B26-C642-3223-3D57-939B2149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E49DEA-8AAE-9277-11B4-EBF2B820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20</a:t>
            </a:fld>
            <a:r>
              <a:rPr lang="fr-FR" sz="2000" dirty="0"/>
              <a:t>/21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DD944AD-A040-39A8-0A8D-89DB2689E310}"/>
              </a:ext>
            </a:extLst>
          </p:cNvPr>
          <p:cNvSpPr txBox="1">
            <a:spLocks/>
          </p:cNvSpPr>
          <p:nvPr/>
        </p:nvSpPr>
        <p:spPr>
          <a:xfrm>
            <a:off x="736600" y="2903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Séance à caractère expérimentale: TP1 3h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E17E065-4388-DDA4-FE8C-0EA9CCEA2DAC}"/>
              </a:ext>
            </a:extLst>
          </p:cNvPr>
          <p:cNvSpPr txBox="1"/>
          <p:nvPr/>
        </p:nvSpPr>
        <p:spPr>
          <a:xfrm>
            <a:off x="939800" y="1440722"/>
            <a:ext cx="99241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En groupe de TP (12 élèves) divisés en 4 groupes de 3 élèves</a:t>
            </a:r>
          </a:p>
          <a:p>
            <a:r>
              <a:rPr lang="fr-FR" sz="2400" dirty="0"/>
              <a:t>Problématique: Comment mesurer et visualiser expérimentalement la vibration d’une structure?</a:t>
            </a:r>
          </a:p>
          <a:p>
            <a:endParaRPr lang="fr-FR" sz="2400" dirty="0"/>
          </a:p>
          <a:p>
            <a:r>
              <a:rPr lang="fr-FR" sz="2400" dirty="0"/>
              <a:t>Support d’étude: banc sismique, équilibreuse de roue de voiture</a:t>
            </a:r>
          </a:p>
          <a:p>
            <a:endParaRPr lang="fr-FR" sz="2400" dirty="0"/>
          </a:p>
          <a:p>
            <a:r>
              <a:rPr lang="fr-FR" sz="2400" dirty="0"/>
              <a:t>Organisation: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1h 30: Sur le banc sismique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1h 30: Sur l’équilibreuse de roue de voiture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2EDB8A-B547-EB76-500E-7E025567A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5433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3423622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2B1C9-47AD-0F04-15B4-1EE31CC49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E36484-AF4B-2E26-E7F8-78C1C794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21</a:t>
            </a:fld>
            <a:r>
              <a:rPr lang="fr-FR" sz="2000" dirty="0"/>
              <a:t>/21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3243F53-D949-781A-BE7C-72580E5BCF1E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Séance à caractère expérimentale: TP1 3h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BDD8F3-D7D6-4455-40D9-9B3811EFB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9D1726-A826-BB9E-673C-B5DDD3B5A975}"/>
              </a:ext>
            </a:extLst>
          </p:cNvPr>
          <p:cNvSpPr txBox="1"/>
          <p:nvPr/>
        </p:nvSpPr>
        <p:spPr>
          <a:xfrm>
            <a:off x="838200" y="998934"/>
            <a:ext cx="943791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Protocole expérimental de la mesure expérimentale de la résonance d’une structure:</a:t>
            </a:r>
          </a:p>
          <a:p>
            <a:r>
              <a:rPr lang="fr-FR" sz="2400" dirty="0"/>
              <a:t>Choisissez deux poutres dans la sélection disponible.</a:t>
            </a:r>
          </a:p>
          <a:p>
            <a:r>
              <a:rPr lang="fr-FR" sz="2400" dirty="0"/>
              <a:t>Calculez leur fréquence propre à l’aide des calculs faits dans les </a:t>
            </a:r>
            <a:r>
              <a:rPr lang="fr-FR" sz="2400" dirty="0" err="1"/>
              <a:t>TDs</a:t>
            </a:r>
            <a:r>
              <a:rPr lang="fr-FR" sz="2400" dirty="0"/>
              <a:t> précédents.</a:t>
            </a:r>
          </a:p>
          <a:p>
            <a:r>
              <a:rPr lang="fr-FR" sz="2400" dirty="0"/>
              <a:t>Visser fermement la structure à la base du banc.</a:t>
            </a:r>
          </a:p>
          <a:p>
            <a:r>
              <a:rPr lang="fr-FR" sz="2400" dirty="0"/>
              <a:t>Lancez le logiciel, effectuez la calibration du banc puis exciter la structure en mettant l’amplitude du mouvement à 50% et en faisant varier progressivement la fréquence entre 3 et 10 Hz.</a:t>
            </a:r>
          </a:p>
          <a:p>
            <a:r>
              <a:rPr lang="fr-FR" sz="2400" dirty="0"/>
              <a:t>Relevez la valeur de la fréquence de résonance ( quand vous observez l’augmentation soudaine de la vibration de la structure).</a:t>
            </a:r>
          </a:p>
          <a:p>
            <a:r>
              <a:rPr lang="fr-FR" sz="2400" dirty="0"/>
              <a:t>Refaites la même mesure en plaçant un accéléromètre en haut de la poutre et en excitant manuellement la structure. Veillez a compenser le poids de l’accéléromètre en enlevant de la masse en haut de la poutre. </a:t>
            </a:r>
          </a:p>
          <a:p>
            <a:r>
              <a:rPr lang="fr-FR" sz="2400" dirty="0"/>
              <a:t>Comparez les différents résultats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5947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CFB5-157A-6D3A-9B3B-50CAE2BB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8638A9-2112-6A73-4377-F2E4EAA3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22</a:t>
            </a:fld>
            <a:r>
              <a:rPr lang="fr-FR" sz="2000" dirty="0"/>
              <a:t>/21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57E903E-00D4-ED89-3DC4-A78E510C17DA}"/>
              </a:ext>
            </a:extLst>
          </p:cNvPr>
          <p:cNvSpPr txBox="1">
            <a:spLocks/>
          </p:cNvSpPr>
          <p:nvPr/>
        </p:nvSpPr>
        <p:spPr>
          <a:xfrm>
            <a:off x="736600" y="2903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Séance à caractère expérimentale: TP1 3h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7D6B012-5563-1C5D-45D4-1B2C271C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F027836-73F2-0885-3AB4-2F2DACC6A2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568" y="1411457"/>
            <a:ext cx="8649663" cy="494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28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6B6A07-1F88-7B6A-BCE2-2D8CA9C6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Evaluations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2A5177-4F47-C4BB-B597-5B0421810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2946"/>
            <a:ext cx="10918371" cy="5365054"/>
          </a:xfrm>
        </p:spPr>
        <p:txBody>
          <a:bodyPr>
            <a:normAutofit/>
          </a:bodyPr>
          <a:lstStyle/>
          <a:p>
            <a:r>
              <a:rPr lang="fr-FR" sz="2400" dirty="0"/>
              <a:t>Evaluation formative:</a:t>
            </a:r>
          </a:p>
          <a:p>
            <a:pPr marL="0" indent="0">
              <a:buNone/>
            </a:pPr>
            <a:r>
              <a:rPr lang="fr-FR" sz="2400" dirty="0"/>
              <a:t>	Quizz au TD2 et TD4 sur les notions qui ont étés vues</a:t>
            </a:r>
          </a:p>
          <a:p>
            <a:r>
              <a:rPr lang="fr-FR" sz="2400" dirty="0"/>
              <a:t>Evaluation sommative</a:t>
            </a:r>
          </a:p>
          <a:p>
            <a:pPr marL="0" indent="0">
              <a:buNone/>
            </a:pPr>
            <a:r>
              <a:rPr lang="fr-FR" sz="2400" dirty="0"/>
              <a:t>	DS de 2 heures sur les notions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759126-8373-3231-935F-6340F7DB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23</a:t>
            </a:fld>
            <a:r>
              <a:rPr lang="fr-FR" sz="2000" dirty="0"/>
              <a:t>/21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82F4FE-3C40-5DA5-0267-17577611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2939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4288EC99-C4E6-6E87-4372-ABB6C7ECAAD8}"/>
              </a:ext>
            </a:extLst>
          </p:cNvPr>
          <p:cNvSpPr txBox="1">
            <a:spLocks/>
          </p:cNvSpPr>
          <p:nvPr/>
        </p:nvSpPr>
        <p:spPr>
          <a:xfrm>
            <a:off x="838200" y="35215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Conclusion de la séquence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1757431-1160-1448-6B83-3AB51DAE3AD5}"/>
              </a:ext>
            </a:extLst>
          </p:cNvPr>
          <p:cNvSpPr txBox="1">
            <a:spLocks/>
          </p:cNvSpPr>
          <p:nvPr/>
        </p:nvSpPr>
        <p:spPr>
          <a:xfrm>
            <a:off x="838199" y="4709221"/>
            <a:ext cx="10918371" cy="2012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Apport de connaissances et de compétences sur les apprentissages critiques </a:t>
            </a:r>
          </a:p>
          <a:p>
            <a:r>
              <a:rPr lang="fr-FR" sz="2400" dirty="0"/>
              <a:t>Prépare aux besoins pour les </a:t>
            </a:r>
            <a:r>
              <a:rPr lang="fr-FR" sz="2400" dirty="0" err="1"/>
              <a:t>SAé</a:t>
            </a:r>
            <a:r>
              <a:rPr lang="fr-FR" sz="2400" dirty="0"/>
              <a:t> suivantes et au stage de 2</a:t>
            </a:r>
            <a:r>
              <a:rPr lang="fr-FR" sz="2400" baseline="30000" dirty="0"/>
              <a:t>e</a:t>
            </a:r>
            <a:r>
              <a:rPr lang="fr-FR" sz="2400" dirty="0"/>
              <a:t> année</a:t>
            </a:r>
          </a:p>
          <a:p>
            <a:r>
              <a:rPr lang="fr-FR" sz="2400" dirty="0"/>
              <a:t>Etudiants évalués au cours de la séquence</a:t>
            </a:r>
          </a:p>
        </p:txBody>
      </p:sp>
    </p:spTree>
    <p:extLst>
      <p:ext uri="{BB962C8B-B14F-4D97-AF65-F5344CB8AC3E}">
        <p14:creationId xmlns:p14="http://schemas.microsoft.com/office/powerpoint/2010/main" val="1262361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A787643-F715-ABF4-E899-7C1E1A09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D08F1BD-3814-A841-6094-8333A834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24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544B5CA-96FC-D5AB-49BA-8E6F5259910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385" y="0"/>
            <a:ext cx="10265229" cy="565754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70A3218-CD0A-5B10-F147-98BFAA1414B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" y="5657541"/>
            <a:ext cx="7010400" cy="485335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563B25B-57F6-7EAD-1FEE-9C12FD8368F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6356350"/>
            <a:ext cx="6812197" cy="511084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CE3E42C-BB97-4F83-5EC1-394E637EC8B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3371" y="6666549"/>
            <a:ext cx="7217229" cy="449044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C357DA6-5319-F7C7-4F29-330E55939BD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9363" y="6721475"/>
            <a:ext cx="8213272" cy="539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99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2D4F8E-E076-7164-8746-7F23B86F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411D88-6F69-CA63-20D6-7FF0D7C37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354649B-5347-C7E1-2D65-D91360E8B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4D6D7B-417B-16B2-2324-E2942BDD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488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969E10-8A52-BE84-71F9-CEE19A45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Partie 1.4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502267-B310-52D4-8F4B-1F794E4E8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Moyenne barre en acier : 7-7,5hz</a:t>
            </a:r>
          </a:p>
          <a:p>
            <a:r>
              <a:rPr lang="fr-FR" dirty="0"/>
              <a:t>Moyenne barre en alu : 4,5-5hz</a:t>
            </a:r>
          </a:p>
          <a:p>
            <a:r>
              <a:rPr lang="fr-FR" dirty="0"/>
              <a:t>Petite barre en alu : 9,5-10hz</a:t>
            </a:r>
          </a:p>
          <a:p>
            <a:endParaRPr lang="fr-FR" dirty="0"/>
          </a:p>
          <a:p>
            <a:r>
              <a:rPr lang="fr-FR" dirty="0"/>
              <a:t>Car matériau et longueurs différentes au moins une fois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3C85C8-1ADD-A891-8BC4-E06B3C02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049D889-9A16-3C27-FD11-E4112D75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1119908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12493E-5A77-5443-E5F8-E25B7477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A3C46A-A7E0-DAC9-2E32-4F60AC373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Faire mesure avec tels valeurs qq constatez vous remplir un tableau pour chaque valeur puis a la fin faire tableau récapitulatif</a:t>
            </a:r>
          </a:p>
          <a:p>
            <a:r>
              <a:rPr lang="fr-FR" dirty="0"/>
              <a:t>Mesurer tr 5% es et oscillation </a:t>
            </a:r>
          </a:p>
          <a:p>
            <a:r>
              <a:rPr lang="fr-FR" dirty="0"/>
              <a:t>Aller plus vers l’écran du projecteur: être dynamique</a:t>
            </a:r>
          </a:p>
          <a:p>
            <a:r>
              <a:rPr lang="fr-FR" dirty="0"/>
              <a:t>Pourquoi pas écrire au tableau</a:t>
            </a:r>
          </a:p>
          <a:p>
            <a:r>
              <a:rPr lang="fr-FR" dirty="0"/>
              <a:t>Faire le trace pour la mesure du temps de réponse</a:t>
            </a:r>
          </a:p>
          <a:p>
            <a:r>
              <a:rPr lang="fr-FR" dirty="0"/>
              <a:t>Point clé attention lien BO connaissances compétences illustrer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4B285A-8FBC-444E-FD0B-ED0DD939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27</a:t>
            </a:fld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96F342-07BE-38AB-9C4B-E6D8542FB1C8}"/>
              </a:ext>
            </a:extLst>
          </p:cNvPr>
          <p:cNvSpPr/>
          <p:nvPr/>
        </p:nvSpPr>
        <p:spPr>
          <a:xfrm>
            <a:off x="2361844" y="5835142"/>
            <a:ext cx="965437" cy="521208"/>
          </a:xfrm>
          <a:prstGeom prst="rect">
            <a:avLst/>
          </a:prstGeom>
          <a:solidFill>
            <a:srgbClr val="FFEBB9"/>
          </a:solidFill>
          <a:ln>
            <a:solidFill>
              <a:srgbClr val="FFE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58AD993-A170-31EC-A6B8-B28D5DFCC69D}"/>
              </a:ext>
            </a:extLst>
          </p:cNvPr>
          <p:cNvCxnSpPr>
            <a:cxnSpLocks/>
          </p:cNvCxnSpPr>
          <p:nvPr/>
        </p:nvCxnSpPr>
        <p:spPr>
          <a:xfrm>
            <a:off x="3232031" y="4339971"/>
            <a:ext cx="19050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6A73CAF-AA8F-8A5D-163A-8884BA20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41466008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2638</Words>
  <Application>Microsoft Office PowerPoint</Application>
  <PresentationFormat>Grand écran</PresentationFormat>
  <Paragraphs>363</Paragraphs>
  <Slides>27</Slides>
  <Notes>24</Notes>
  <HiddenSlides>4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Thème Office</vt:lpstr>
      <vt:lpstr>Epreuve d’activité pratique et d’exploitation pédagogique relatives à l’approche spécialisée d’un système pluri technologique</vt:lpstr>
      <vt:lpstr>Sommaire</vt:lpstr>
      <vt:lpstr>Présentation du banc sismique</vt:lpstr>
      <vt:lpstr>Présentation du banc sismique</vt:lpstr>
      <vt:lpstr>Logiciel</vt:lpstr>
      <vt:lpstr>Résultats du TP: contexte</vt:lpstr>
      <vt:lpstr>Résultats du TP: Excitation différentes structures</vt:lpstr>
      <vt:lpstr>Résultats du TP: Modèle RDM et vibratoire</vt:lpstr>
      <vt:lpstr>Résultats du TP: Mesures</vt:lpstr>
      <vt:lpstr>Résultats du TP: Structure type bâtiment</vt:lpstr>
      <vt:lpstr>Contexte pédagogique</vt:lpstr>
      <vt:lpstr>Progression annuelle</vt:lpstr>
      <vt:lpstr>Présentation PowerPoint</vt:lpstr>
      <vt:lpstr>Architecture de la séquence (UE)</vt:lpstr>
      <vt:lpstr>Cours 1 1h</vt:lpstr>
      <vt:lpstr>TD2 2h</vt:lpstr>
      <vt:lpstr>TD3 2h</vt:lpstr>
      <vt:lpstr>TP1 3h</vt:lpstr>
      <vt:lpstr>Présentation PowerPoint</vt:lpstr>
      <vt:lpstr>Présentation PowerPoint</vt:lpstr>
      <vt:lpstr>Présentation PowerPoint</vt:lpstr>
      <vt:lpstr>Présentation PowerPoint</vt:lpstr>
      <vt:lpstr>Evaluations</vt:lpstr>
      <vt:lpstr>Présentation PowerPoint</vt:lpstr>
      <vt:lpstr>Présentation PowerPoint</vt:lpstr>
      <vt:lpstr>Partie 1.4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Previsani Arthur</dc:creator>
  <cp:lastModifiedBy>Hugues Brice</cp:lastModifiedBy>
  <cp:revision>27</cp:revision>
  <dcterms:created xsi:type="dcterms:W3CDTF">2026-03-05T13:15:03Z</dcterms:created>
  <dcterms:modified xsi:type="dcterms:W3CDTF">2026-06-07T12:01:29Z</dcterms:modified>
</cp:coreProperties>
</file>