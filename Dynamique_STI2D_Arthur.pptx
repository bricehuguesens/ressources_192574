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3" r:id="rId2"/>
    <p:sldId id="257" r:id="rId3"/>
    <p:sldId id="275" r:id="rId4"/>
    <p:sldId id="276" r:id="rId5"/>
    <p:sldId id="299" r:id="rId6"/>
    <p:sldId id="256" r:id="rId7"/>
    <p:sldId id="298" r:id="rId8"/>
    <p:sldId id="301" r:id="rId9"/>
    <p:sldId id="302" r:id="rId10"/>
    <p:sldId id="303" r:id="rId11"/>
    <p:sldId id="259" r:id="rId12"/>
    <p:sldId id="290" r:id="rId13"/>
    <p:sldId id="291" r:id="rId14"/>
    <p:sldId id="293" r:id="rId15"/>
    <p:sldId id="292" r:id="rId16"/>
    <p:sldId id="294" r:id="rId17"/>
    <p:sldId id="295" r:id="rId18"/>
    <p:sldId id="296" r:id="rId19"/>
    <p:sldId id="306" r:id="rId20"/>
    <p:sldId id="307" r:id="rId21"/>
    <p:sldId id="282" r:id="rId22"/>
    <p:sldId id="281"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969EC-FD3D-45B5-890C-26D83D6351B8}" v="1" dt="2026-06-07T13:06:2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4660"/>
  </p:normalViewPr>
  <p:slideViewPr>
    <p:cSldViewPr snapToGrid="0">
      <p:cViewPr varScale="1">
        <p:scale>
          <a:sx n="105" d="100"/>
          <a:sy n="105" d="100"/>
        </p:scale>
        <p:origin x="5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026650-3F38-45A7-9F4E-17A1B2572A17}" type="datetimeFigureOut">
              <a:rPr lang="fr-FR" smtClean="0"/>
              <a:t>07/06/2026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4C3094-3272-4618-B716-0D4243FDF9E6}" type="slidenum">
              <a:rPr lang="fr-FR" smtClean="0"/>
              <a:t>‹N°›</a:t>
            </a:fld>
            <a:endParaRPr lang="fr-FR"/>
          </a:p>
        </p:txBody>
      </p:sp>
    </p:spTree>
    <p:extLst>
      <p:ext uri="{BB962C8B-B14F-4D97-AF65-F5344CB8AC3E}">
        <p14:creationId xmlns:p14="http://schemas.microsoft.com/office/powerpoint/2010/main" val="3230837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Mettre diapo 3/23</a:t>
            </a:r>
          </a:p>
          <a:p>
            <a:r>
              <a:rPr lang="fr-FR" dirty="0"/>
              <a:t>Pas de titre généraliste en haut des diapos</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a:t>
            </a:fld>
            <a:endParaRPr lang="fr-FR"/>
          </a:p>
        </p:txBody>
      </p:sp>
    </p:spTree>
    <p:extLst>
      <p:ext uri="{BB962C8B-B14F-4D97-AF65-F5344CB8AC3E}">
        <p14:creationId xmlns:p14="http://schemas.microsoft.com/office/powerpoint/2010/main" val="1230221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Présentation machine, capteur et logiciel, ses possibilités, réglages</a:t>
            </a:r>
          </a:p>
          <a:p>
            <a:r>
              <a:rPr lang="fr-FR" dirty="0"/>
              <a:t>Potentialités didactiques, et même si ce n’est pas didactisé pourquoi c’est quand même intéressant (cas des séries STS (BTS))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Detailler</a:t>
            </a:r>
            <a:r>
              <a:rPr lang="fr-FR" dirty="0"/>
              <a:t> toutes les possibilités du </a:t>
            </a:r>
            <a:r>
              <a:rPr lang="fr-FR" dirty="0" err="1"/>
              <a:t>sys</a:t>
            </a:r>
            <a:r>
              <a:rPr lang="fr-FR" dirty="0"/>
              <a:t> pour chaque filière de sti2d ex pupitre, capteur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1" u="sng" strike="noStrike" kern="1200" dirty="0">
                <a:ln>
                  <a:noFill/>
                </a:ln>
                <a:uFillTx/>
                <a:latin typeface="Arial" pitchFamily="34"/>
                <a:ea typeface="Segoe UI" pitchFamily="2"/>
                <a:cs typeface="Tahoma" pitchFamily="2"/>
              </a:rPr>
              <a:t>EE </a:t>
            </a:r>
            <a:r>
              <a:rPr lang="fr-FR" sz="1200" b="0" i="1" u="none" strike="noStrike" kern="1200" dirty="0">
                <a:ln>
                  <a:noFill/>
                </a:ln>
                <a:latin typeface="Arial" pitchFamily="34"/>
                <a:ea typeface="Segoe UI" pitchFamily="2"/>
                <a:cs typeface="Tahoma" pitchFamily="2"/>
              </a:rPr>
              <a:t>: </a:t>
            </a:r>
            <a:r>
              <a:rPr lang="fr-FR" sz="1200" b="0" i="0" u="none" strike="noStrike" kern="1200" dirty="0">
                <a:ln>
                  <a:noFill/>
                </a:ln>
                <a:latin typeface="Arial" pitchFamily="34"/>
                <a:ea typeface="Segoe UI" pitchFamily="2"/>
                <a:cs typeface="Tahoma" pitchFamily="2"/>
              </a:rPr>
              <a:t>Chaîne d’énergie / Chaîne d’information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SIN: pupitre de commande, capteur de force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ITEC: mors, essai de traction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3</a:t>
            </a:fld>
            <a:endParaRPr lang="fr-FR"/>
          </a:p>
        </p:txBody>
      </p:sp>
    </p:spTree>
    <p:extLst>
      <p:ext uri="{BB962C8B-B14F-4D97-AF65-F5344CB8AC3E}">
        <p14:creationId xmlns:p14="http://schemas.microsoft.com/office/powerpoint/2010/main" val="424751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4</a:t>
            </a:fld>
            <a:endParaRPr lang="fr-FR"/>
          </a:p>
        </p:txBody>
      </p:sp>
    </p:spTree>
    <p:extLst>
      <p:ext uri="{BB962C8B-B14F-4D97-AF65-F5344CB8AC3E}">
        <p14:creationId xmlns:p14="http://schemas.microsoft.com/office/powerpoint/2010/main" val="140214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029BB-C44D-0C22-F70D-9D8BB60018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B32BA2-3680-BE21-F909-65EBFF2C61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180ECE-A90D-D7E9-4692-CD1E9F811BD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1C9014E-438C-395B-5FDC-844D6EC10B9B}"/>
              </a:ext>
            </a:extLst>
          </p:cNvPr>
          <p:cNvSpPr>
            <a:spLocks noGrp="1"/>
          </p:cNvSpPr>
          <p:nvPr>
            <p:ph type="sldNum" sz="quarter" idx="5"/>
          </p:nvPr>
        </p:nvSpPr>
        <p:spPr/>
        <p:txBody>
          <a:bodyPr/>
          <a:lstStyle/>
          <a:p>
            <a:fld id="{B2E731D1-85AE-4366-B364-066FEADE3F45}" type="slidenum">
              <a:rPr lang="fr-FR" smtClean="0"/>
              <a:t>5</a:t>
            </a:fld>
            <a:endParaRPr lang="fr-FR"/>
          </a:p>
        </p:txBody>
      </p:sp>
    </p:spTree>
    <p:extLst>
      <p:ext uri="{BB962C8B-B14F-4D97-AF65-F5344CB8AC3E}">
        <p14:creationId xmlns:p14="http://schemas.microsoft.com/office/powerpoint/2010/main" val="1923950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7F62-D0B4-7492-0502-62981932FE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4AF330-D737-3341-3739-BC0C7D9A2FA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55EB58-FF8E-A763-7526-C737BE23EE95}"/>
              </a:ext>
            </a:extLst>
          </p:cNvPr>
          <p:cNvSpPr>
            <a:spLocks noGrp="1"/>
          </p:cNvSpPr>
          <p:nvPr>
            <p:ph type="body" idx="1"/>
          </p:nvPr>
        </p:nvSpPr>
        <p:spPr/>
        <p:txBody>
          <a:bodyPr/>
          <a:lstStyle/>
          <a:p>
            <a:r>
              <a:rPr lang="fr-FR" dirty="0"/>
              <a:t>Protocole mesure </a:t>
            </a:r>
          </a:p>
          <a:p>
            <a:r>
              <a:rPr lang="fr-FR" dirty="0"/>
              <a:t>K on tire avec un dynamomètre et on regarde</a:t>
            </a:r>
          </a:p>
          <a:p>
            <a:r>
              <a:rPr lang="fr-FR" dirty="0"/>
              <a:t>xi je tire la structure de 4cm puis le la lâche d’un coup (échelon) elle veut revenir a 0, mesure D1% donc xi</a:t>
            </a:r>
          </a:p>
          <a:p>
            <a:r>
              <a:rPr lang="fr-FR" dirty="0"/>
              <a:t>manque une slide ici pour ajouter de la fluidité dans le changement de partie</a:t>
            </a:r>
          </a:p>
        </p:txBody>
      </p:sp>
      <p:sp>
        <p:nvSpPr>
          <p:cNvPr id="4" name="Espace réservé du numéro de diapositive 3">
            <a:extLst>
              <a:ext uri="{FF2B5EF4-FFF2-40B4-BE49-F238E27FC236}">
                <a16:creationId xmlns:a16="http://schemas.microsoft.com/office/drawing/2014/main" id="{CCF2EA04-AD08-D408-D48B-27D3E52B4B93}"/>
              </a:ext>
            </a:extLst>
          </p:cNvPr>
          <p:cNvSpPr>
            <a:spLocks noGrp="1"/>
          </p:cNvSpPr>
          <p:nvPr>
            <p:ph type="sldNum" sz="quarter" idx="5"/>
          </p:nvPr>
        </p:nvSpPr>
        <p:spPr/>
        <p:txBody>
          <a:bodyPr/>
          <a:lstStyle/>
          <a:p>
            <a:fld id="{B2E731D1-85AE-4366-B364-066FEADE3F45}" type="slidenum">
              <a:rPr lang="fr-FR" smtClean="0"/>
              <a:t>7</a:t>
            </a:fld>
            <a:endParaRPr lang="fr-FR"/>
          </a:p>
        </p:txBody>
      </p:sp>
    </p:spTree>
    <p:extLst>
      <p:ext uri="{BB962C8B-B14F-4D97-AF65-F5344CB8AC3E}">
        <p14:creationId xmlns:p14="http://schemas.microsoft.com/office/powerpoint/2010/main" val="2103349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Taille classe nb heure placer séquence dans année</a:t>
            </a:r>
          </a:p>
          <a:p>
            <a:r>
              <a:rPr lang="fr-FR" dirty="0"/>
              <a:t>Pas TP, cours, TD (réservé a la prépa) mais activité pratique et activité dirigée (Cours TD) pour les sti2d</a:t>
            </a:r>
          </a:p>
          <a:p>
            <a:r>
              <a:rPr lang="fr-FR" dirty="0"/>
              <a:t>Objectifs séquence</a:t>
            </a:r>
          </a:p>
          <a:p>
            <a:r>
              <a:rPr lang="fr-FR" dirty="0"/>
              <a:t>Prérequis connaissances a transmettre</a:t>
            </a:r>
          </a:p>
          <a:p>
            <a:r>
              <a:rPr lang="fr-FR" dirty="0"/>
              <a:t>Prog annuelle les grades lignes</a:t>
            </a:r>
          </a:p>
          <a:p>
            <a:r>
              <a:rPr lang="fr-FR" dirty="0"/>
              <a:t>Puis architecture séquence bien détailler chaque module</a:t>
            </a:r>
          </a:p>
          <a:p>
            <a:r>
              <a:rPr lang="fr-FR" dirty="0"/>
              <a:t>Innovation, ingénierie et développement durable</a:t>
            </a:r>
          </a:p>
          <a:p>
            <a:r>
              <a:rPr lang="fr-FR" sz="1200" b="1" i="0" kern="1200" dirty="0">
                <a:solidFill>
                  <a:schemeClr val="tx1"/>
                </a:solidFill>
                <a:effectLst/>
                <a:latin typeface="+mn-lt"/>
                <a:ea typeface="+mn-ea"/>
                <a:cs typeface="+mn-cs"/>
              </a:rPr>
              <a:t>Innovation Technologique et Éco-Conception</a:t>
            </a:r>
            <a:endParaRPr lang="fr-FR" dirty="0"/>
          </a:p>
          <a:p>
            <a:r>
              <a:rPr lang="fr-FR" dirty="0" err="1"/>
              <a:t>Ac</a:t>
            </a:r>
            <a:r>
              <a:rPr lang="fr-FR" dirty="0"/>
              <a:t> </a:t>
            </a:r>
            <a:r>
              <a:rPr lang="fr-FR" dirty="0" err="1"/>
              <a:t>monpelier</a:t>
            </a:r>
            <a:r>
              <a:rPr lang="fr-FR" dirty="0"/>
              <a:t> limoges ou orléans et </a:t>
            </a:r>
            <a:r>
              <a:rPr lang="fr-FR" dirty="0" err="1"/>
              <a:t>éduscol</a:t>
            </a:r>
            <a:endParaRPr lang="fr-FR" dirty="0"/>
          </a:p>
          <a:p>
            <a:r>
              <a:rPr lang="fr-FR" dirty="0" err="1"/>
              <a:t>Preciser</a:t>
            </a:r>
            <a:r>
              <a:rPr lang="fr-FR" dirty="0"/>
              <a:t> </a:t>
            </a:r>
            <a:r>
              <a:rPr lang="fr-FR" dirty="0" err="1"/>
              <a:t>effictif</a:t>
            </a:r>
            <a:r>
              <a:rPr lang="fr-FR" dirty="0"/>
              <a:t> </a:t>
            </a:r>
            <a:r>
              <a:rPr lang="fr-FR" dirty="0" err="1"/>
              <a:t>allége</a:t>
            </a:r>
            <a:r>
              <a:rPr lang="fr-FR" dirty="0"/>
              <a:t> classe </a:t>
            </a:r>
            <a:r>
              <a:rPr lang="fr-FR" dirty="0" err="1"/>
              <a:t>entiere</a:t>
            </a:r>
            <a:endParaRPr lang="fr-FR" dirty="0"/>
          </a:p>
          <a:p>
            <a:r>
              <a:rPr lang="fr-FR" dirty="0"/>
              <a:t>2i2d 3h demi 1h complet spé 6h demi 2h complet</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8</a:t>
            </a:fld>
            <a:endParaRPr lang="fr-FR"/>
          </a:p>
        </p:txBody>
      </p:sp>
    </p:spTree>
    <p:extLst>
      <p:ext uri="{BB962C8B-B14F-4D97-AF65-F5344CB8AC3E}">
        <p14:creationId xmlns:p14="http://schemas.microsoft.com/office/powerpoint/2010/main" val="2330722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Juste discuter du placement de la séquence dans l’année et les grandes idées de la séquence</a:t>
            </a:r>
          </a:p>
          <a:p>
            <a:r>
              <a:rPr lang="fr-FR" dirty="0"/>
              <a:t>Bien progression par thème, évite de faire une compétence/bloc de connaissances par séquence</a:t>
            </a:r>
          </a:p>
          <a:p>
            <a:r>
              <a:rPr lang="fr-FR" dirty="0"/>
              <a:t>Pour de bonnes progressions BTS voir site du lycée </a:t>
            </a:r>
            <a:r>
              <a:rPr lang="fr-FR" dirty="0" err="1"/>
              <a:t>carriat</a:t>
            </a:r>
            <a:r>
              <a:rPr lang="fr-FR" dirty="0"/>
              <a:t> attention BTS tas TD TP mais atelier et </a:t>
            </a:r>
          </a:p>
          <a:p>
            <a:r>
              <a:rPr lang="fr-FR" dirty="0"/>
              <a:t>Toujours associer a un système ou y=un </a:t>
            </a:r>
            <a:r>
              <a:rPr lang="fr-FR" dirty="0" err="1"/>
              <a:t>opoduit</a:t>
            </a:r>
            <a:r>
              <a:rPr lang="fr-FR" dirty="0"/>
              <a:t> industriel / </a:t>
            </a:r>
            <a:r>
              <a:rPr lang="fr-FR" dirty="0" err="1"/>
              <a:t>piece</a:t>
            </a:r>
            <a:r>
              <a:rPr lang="fr-FR" dirty="0"/>
              <a:t> pour </a:t>
            </a:r>
            <a:r>
              <a:rPr lang="fr-FR" dirty="0" err="1"/>
              <a:t>chauqe</a:t>
            </a:r>
            <a:r>
              <a:rPr lang="fr-FR" dirty="0"/>
              <a:t> séance</a:t>
            </a:r>
          </a:p>
          <a:p>
            <a:r>
              <a:rPr lang="fr-FR" dirty="0"/>
              <a:t>Si la progression n’est pas donnée plutôt s’atteler a trouver une bonne problématique et placer la séquence.</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9</a:t>
            </a:fld>
            <a:endParaRPr lang="fr-FR"/>
          </a:p>
        </p:txBody>
      </p:sp>
    </p:spTree>
    <p:extLst>
      <p:ext uri="{BB962C8B-B14F-4D97-AF65-F5344CB8AC3E}">
        <p14:creationId xmlns:p14="http://schemas.microsoft.com/office/powerpoint/2010/main" val="177060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Chap</a:t>
            </a:r>
            <a:r>
              <a:rPr lang="fr-FR" dirty="0"/>
              <a:t> 1 on tourne autour de tous les sujets et o approfondit la partie RDM papier/</a:t>
            </a:r>
            <a:r>
              <a:rPr lang="fr-FR" dirty="0" err="1"/>
              <a:t>expe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Chap</a:t>
            </a:r>
            <a:r>
              <a:rPr lang="fr-FR" dirty="0"/>
              <a:t> 2 on refait une passe la dessus et on fait la partie simu éléments finis</a:t>
            </a:r>
          </a:p>
          <a:p>
            <a:r>
              <a:rPr lang="fr-FR" dirty="0"/>
              <a:t>Détailler plus la séance a </a:t>
            </a:r>
            <a:r>
              <a:rPr lang="fr-FR" dirty="0" err="1"/>
              <a:t>carectere</a:t>
            </a:r>
            <a:r>
              <a:rPr lang="fr-FR" dirty="0"/>
              <a:t> </a:t>
            </a:r>
            <a:r>
              <a:rPr lang="fr-FR" dirty="0" err="1"/>
              <a:t>expe</a:t>
            </a:r>
            <a:r>
              <a:rPr lang="fr-FR" dirty="0"/>
              <a:t> </a:t>
            </a:r>
          </a:p>
          <a:p>
            <a:r>
              <a:rPr lang="fr-FR" dirty="0"/>
              <a:t>Mettre a la fin une vue d’ensemble dans la séquence </a:t>
            </a:r>
          </a:p>
          <a:p>
            <a:r>
              <a:rPr lang="fr-FR" dirty="0"/>
              <a:t>quel logiciel pour faire le quizz repréciser le nombre d’heures pour chaque cours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10</a:t>
            </a:fld>
            <a:endParaRPr lang="fr-FR"/>
          </a:p>
        </p:txBody>
      </p:sp>
    </p:spTree>
    <p:extLst>
      <p:ext uri="{BB962C8B-B14F-4D97-AF65-F5344CB8AC3E}">
        <p14:creationId xmlns:p14="http://schemas.microsoft.com/office/powerpoint/2010/main" val="368429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11</a:t>
            </a:fld>
            <a:endParaRPr lang="fr-FR"/>
          </a:p>
        </p:txBody>
      </p:sp>
    </p:spTree>
    <p:extLst>
      <p:ext uri="{BB962C8B-B14F-4D97-AF65-F5344CB8AC3E}">
        <p14:creationId xmlns:p14="http://schemas.microsoft.com/office/powerpoint/2010/main" val="1498398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ADDD-99D9-35F7-7726-F51F9851B0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F7C728-517C-39FE-6465-F7329B902A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1B7F2F-81FB-8063-C269-6D288F4F05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Rigidité déformations/allongement</a:t>
            </a:r>
          </a:p>
        </p:txBody>
      </p:sp>
      <p:sp>
        <p:nvSpPr>
          <p:cNvPr id="4" name="Espace réservé du numéro de diapositive 3">
            <a:extLst>
              <a:ext uri="{FF2B5EF4-FFF2-40B4-BE49-F238E27FC236}">
                <a16:creationId xmlns:a16="http://schemas.microsoft.com/office/drawing/2014/main" id="{7ED40436-AA9A-A159-A0DE-1903BF42D7A8}"/>
              </a:ext>
            </a:extLst>
          </p:cNvPr>
          <p:cNvSpPr>
            <a:spLocks noGrp="1"/>
          </p:cNvSpPr>
          <p:nvPr>
            <p:ph type="sldNum" sz="quarter" idx="5"/>
          </p:nvPr>
        </p:nvSpPr>
        <p:spPr/>
        <p:txBody>
          <a:bodyPr/>
          <a:lstStyle/>
          <a:p>
            <a:fld id="{B2E731D1-85AE-4366-B364-066FEADE3F45}" type="slidenum">
              <a:rPr lang="fr-FR" smtClean="0"/>
              <a:t>12</a:t>
            </a:fld>
            <a:endParaRPr lang="fr-FR"/>
          </a:p>
        </p:txBody>
      </p:sp>
    </p:spTree>
    <p:extLst>
      <p:ext uri="{BB962C8B-B14F-4D97-AF65-F5344CB8AC3E}">
        <p14:creationId xmlns:p14="http://schemas.microsoft.com/office/powerpoint/2010/main" val="2263816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1244-A1F0-38F6-AEBD-F413F7B975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E928EA-667B-E5CE-0453-781D05D3F5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B21576-FB24-453F-2295-EB93F50B92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Préciser le logiciel du quizz</a:t>
            </a:r>
          </a:p>
        </p:txBody>
      </p:sp>
      <p:sp>
        <p:nvSpPr>
          <p:cNvPr id="4" name="Espace réservé du numéro de diapositive 3">
            <a:extLst>
              <a:ext uri="{FF2B5EF4-FFF2-40B4-BE49-F238E27FC236}">
                <a16:creationId xmlns:a16="http://schemas.microsoft.com/office/drawing/2014/main" id="{186F57F9-592D-6700-F695-76DB03119B06}"/>
              </a:ext>
            </a:extLst>
          </p:cNvPr>
          <p:cNvSpPr>
            <a:spLocks noGrp="1"/>
          </p:cNvSpPr>
          <p:nvPr>
            <p:ph type="sldNum" sz="quarter" idx="5"/>
          </p:nvPr>
        </p:nvSpPr>
        <p:spPr/>
        <p:txBody>
          <a:bodyPr/>
          <a:lstStyle/>
          <a:p>
            <a:fld id="{B2E731D1-85AE-4366-B364-066FEADE3F45}" type="slidenum">
              <a:rPr lang="fr-FR" smtClean="0"/>
              <a:t>13</a:t>
            </a:fld>
            <a:endParaRPr lang="fr-FR"/>
          </a:p>
        </p:txBody>
      </p:sp>
    </p:spTree>
    <p:extLst>
      <p:ext uri="{BB962C8B-B14F-4D97-AF65-F5344CB8AC3E}">
        <p14:creationId xmlns:p14="http://schemas.microsoft.com/office/powerpoint/2010/main" val="823818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6D53-56A9-752D-39D2-4D8DAF5A17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CAFA9D-4563-3A27-2A80-377C5C8DD8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63DED0-4EA3-76B8-6422-1830596C8A30}"/>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A8CD29C5-9050-1A3D-E8A1-0261E4F14F45}"/>
              </a:ext>
            </a:extLst>
          </p:cNvPr>
          <p:cNvSpPr>
            <a:spLocks noGrp="1"/>
          </p:cNvSpPr>
          <p:nvPr>
            <p:ph type="sldNum" sz="quarter" idx="5"/>
          </p:nvPr>
        </p:nvSpPr>
        <p:spPr/>
        <p:txBody>
          <a:bodyPr/>
          <a:lstStyle/>
          <a:p>
            <a:fld id="{B2E731D1-85AE-4366-B364-066FEADE3F45}" type="slidenum">
              <a:rPr lang="fr-FR" smtClean="0"/>
              <a:t>14</a:t>
            </a:fld>
            <a:endParaRPr lang="fr-FR"/>
          </a:p>
        </p:txBody>
      </p:sp>
    </p:spTree>
    <p:extLst>
      <p:ext uri="{BB962C8B-B14F-4D97-AF65-F5344CB8AC3E}">
        <p14:creationId xmlns:p14="http://schemas.microsoft.com/office/powerpoint/2010/main" val="291427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DD35-2939-3B88-A71C-6B0C9CE065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4F8C8B-D5BA-C9D0-19E2-F882D7796A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B259AF-D7A1-7E6F-1FC8-6D3A589A14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7B1EFAEE-1C50-EA86-5D30-9453AEF820B0}"/>
              </a:ext>
            </a:extLst>
          </p:cNvPr>
          <p:cNvSpPr>
            <a:spLocks noGrp="1"/>
          </p:cNvSpPr>
          <p:nvPr>
            <p:ph type="sldNum" sz="quarter" idx="5"/>
          </p:nvPr>
        </p:nvSpPr>
        <p:spPr/>
        <p:txBody>
          <a:bodyPr/>
          <a:lstStyle/>
          <a:p>
            <a:fld id="{B2E731D1-85AE-4366-B364-066FEADE3F45}" type="slidenum">
              <a:rPr lang="fr-FR" smtClean="0"/>
              <a:t>15</a:t>
            </a:fld>
            <a:endParaRPr lang="fr-FR"/>
          </a:p>
        </p:txBody>
      </p:sp>
    </p:spTree>
    <p:extLst>
      <p:ext uri="{BB962C8B-B14F-4D97-AF65-F5344CB8AC3E}">
        <p14:creationId xmlns:p14="http://schemas.microsoft.com/office/powerpoint/2010/main" val="828374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00D2-5951-5EFD-A377-C5A7C8E26E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F88C7-DA28-9DED-CC78-FAA9ECECC9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D6AC76-B23A-DBAC-88B3-50488BC8B8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preciser</a:t>
            </a:r>
            <a:r>
              <a:rPr lang="fr-FR" dirty="0"/>
              <a:t> le type de pont vis a vis des </a:t>
            </a:r>
            <a:r>
              <a:rPr lang="fr-FR" dirty="0" err="1"/>
              <a:t>hypotheses</a:t>
            </a:r>
            <a:endParaRPr lang="fr-FR" dirty="0"/>
          </a:p>
        </p:txBody>
      </p:sp>
      <p:sp>
        <p:nvSpPr>
          <p:cNvPr id="4" name="Espace réservé du numéro de diapositive 3">
            <a:extLst>
              <a:ext uri="{FF2B5EF4-FFF2-40B4-BE49-F238E27FC236}">
                <a16:creationId xmlns:a16="http://schemas.microsoft.com/office/drawing/2014/main" id="{993C7FFF-1CC7-FAF6-3B94-F0C86E8A19E9}"/>
              </a:ext>
            </a:extLst>
          </p:cNvPr>
          <p:cNvSpPr>
            <a:spLocks noGrp="1"/>
          </p:cNvSpPr>
          <p:nvPr>
            <p:ph type="sldNum" sz="quarter" idx="5"/>
          </p:nvPr>
        </p:nvSpPr>
        <p:spPr/>
        <p:txBody>
          <a:bodyPr/>
          <a:lstStyle/>
          <a:p>
            <a:fld id="{B2E731D1-85AE-4366-B364-066FEADE3F45}" type="slidenum">
              <a:rPr lang="fr-FR" smtClean="0"/>
              <a:t>16</a:t>
            </a:fld>
            <a:endParaRPr lang="fr-FR"/>
          </a:p>
        </p:txBody>
      </p:sp>
    </p:spTree>
    <p:extLst>
      <p:ext uri="{BB962C8B-B14F-4D97-AF65-F5344CB8AC3E}">
        <p14:creationId xmlns:p14="http://schemas.microsoft.com/office/powerpoint/2010/main" val="1333416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9CF4-A951-36DE-DE18-5793A894FF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718F63-90E4-D6CA-5175-74E1D91518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C8F986-80D9-474A-5C56-CDE34E26EC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6DE1B40C-27D4-55F9-1EF5-B9D3130C4AD2}"/>
              </a:ext>
            </a:extLst>
          </p:cNvPr>
          <p:cNvSpPr>
            <a:spLocks noGrp="1"/>
          </p:cNvSpPr>
          <p:nvPr>
            <p:ph type="sldNum" sz="quarter" idx="5"/>
          </p:nvPr>
        </p:nvSpPr>
        <p:spPr/>
        <p:txBody>
          <a:bodyPr/>
          <a:lstStyle/>
          <a:p>
            <a:fld id="{B2E731D1-85AE-4366-B364-066FEADE3F45}" type="slidenum">
              <a:rPr lang="fr-FR" smtClean="0"/>
              <a:t>17</a:t>
            </a:fld>
            <a:endParaRPr lang="fr-FR"/>
          </a:p>
        </p:txBody>
      </p:sp>
    </p:spTree>
    <p:extLst>
      <p:ext uri="{BB962C8B-B14F-4D97-AF65-F5344CB8AC3E}">
        <p14:creationId xmlns:p14="http://schemas.microsoft.com/office/powerpoint/2010/main" val="2317955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78C0-4F06-8C8F-43FC-733EEAC79A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9D29FA-E8F9-7BB0-B221-7149472EE2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3227D3-F91A-0836-0524-E21F43F832BF}"/>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p:txBody>
      </p:sp>
      <p:sp>
        <p:nvSpPr>
          <p:cNvPr id="4" name="Espace réservé du numéro de diapositive 3">
            <a:extLst>
              <a:ext uri="{FF2B5EF4-FFF2-40B4-BE49-F238E27FC236}">
                <a16:creationId xmlns:a16="http://schemas.microsoft.com/office/drawing/2014/main" id="{16308E15-3F17-716F-6569-015893AD6111}"/>
              </a:ext>
            </a:extLst>
          </p:cNvPr>
          <p:cNvSpPr>
            <a:spLocks noGrp="1"/>
          </p:cNvSpPr>
          <p:nvPr>
            <p:ph type="sldNum" sz="quarter" idx="5"/>
          </p:nvPr>
        </p:nvSpPr>
        <p:spPr/>
        <p:txBody>
          <a:bodyPr/>
          <a:lstStyle/>
          <a:p>
            <a:fld id="{B2E731D1-85AE-4366-B364-066FEADE3F45}" type="slidenum">
              <a:rPr lang="fr-FR" smtClean="0"/>
              <a:t>18</a:t>
            </a:fld>
            <a:endParaRPr lang="fr-FR"/>
          </a:p>
        </p:txBody>
      </p:sp>
    </p:spTree>
    <p:extLst>
      <p:ext uri="{BB962C8B-B14F-4D97-AF65-F5344CB8AC3E}">
        <p14:creationId xmlns:p14="http://schemas.microsoft.com/office/powerpoint/2010/main" val="604303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0EA09-4E9B-424C-B93A-B408495A7E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2418DAC-A73E-86F7-EC1C-E696811C11F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A480896-ADFA-85A6-ED0C-762D31048C5C}"/>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p:txBody>
      </p:sp>
      <p:sp>
        <p:nvSpPr>
          <p:cNvPr id="4" name="Espace réservé du numéro de diapositive 3">
            <a:extLst>
              <a:ext uri="{FF2B5EF4-FFF2-40B4-BE49-F238E27FC236}">
                <a16:creationId xmlns:a16="http://schemas.microsoft.com/office/drawing/2014/main" id="{D10EFAF7-21E2-282F-4BC4-1EF9E8A7BF62}"/>
              </a:ext>
            </a:extLst>
          </p:cNvPr>
          <p:cNvSpPr>
            <a:spLocks noGrp="1"/>
          </p:cNvSpPr>
          <p:nvPr>
            <p:ph type="sldNum" sz="quarter" idx="5"/>
          </p:nvPr>
        </p:nvSpPr>
        <p:spPr/>
        <p:txBody>
          <a:bodyPr/>
          <a:lstStyle/>
          <a:p>
            <a:fld id="{B2E731D1-85AE-4366-B364-066FEADE3F45}" type="slidenum">
              <a:rPr lang="fr-FR" smtClean="0"/>
              <a:t>19</a:t>
            </a:fld>
            <a:endParaRPr lang="fr-FR"/>
          </a:p>
        </p:txBody>
      </p:sp>
    </p:spTree>
    <p:extLst>
      <p:ext uri="{BB962C8B-B14F-4D97-AF65-F5344CB8AC3E}">
        <p14:creationId xmlns:p14="http://schemas.microsoft.com/office/powerpoint/2010/main" val="1832019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83D33-C115-1318-9FF1-4D1729806F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456F73-9A16-96DB-9F55-ED29685DF3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1786BA-8DC7-3896-7412-E5A90101060D}"/>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p:txBody>
      </p:sp>
      <p:sp>
        <p:nvSpPr>
          <p:cNvPr id="4" name="Espace réservé du numéro de diapositive 3">
            <a:extLst>
              <a:ext uri="{FF2B5EF4-FFF2-40B4-BE49-F238E27FC236}">
                <a16:creationId xmlns:a16="http://schemas.microsoft.com/office/drawing/2014/main" id="{F35E0CB1-3DA1-C701-B371-22B5E1E9889D}"/>
              </a:ext>
            </a:extLst>
          </p:cNvPr>
          <p:cNvSpPr>
            <a:spLocks noGrp="1"/>
          </p:cNvSpPr>
          <p:nvPr>
            <p:ph type="sldNum" sz="quarter" idx="5"/>
          </p:nvPr>
        </p:nvSpPr>
        <p:spPr/>
        <p:txBody>
          <a:bodyPr/>
          <a:lstStyle/>
          <a:p>
            <a:fld id="{B2E731D1-85AE-4366-B364-066FEADE3F45}" type="slidenum">
              <a:rPr lang="fr-FR" smtClean="0"/>
              <a:t>20</a:t>
            </a:fld>
            <a:endParaRPr lang="fr-FR"/>
          </a:p>
        </p:txBody>
      </p:sp>
    </p:spTree>
    <p:extLst>
      <p:ext uri="{BB962C8B-B14F-4D97-AF65-F5344CB8AC3E}">
        <p14:creationId xmlns:p14="http://schemas.microsoft.com/office/powerpoint/2010/main" val="1477544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Leur utilité? Apres avoir écrit les compétences en entier une seule fois, on peut juste écrire les numéros. Le jury connait le BO/Référentiel/ </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21</a:t>
            </a:fld>
            <a:endParaRPr lang="fr-FR"/>
          </a:p>
        </p:txBody>
      </p:sp>
    </p:spTree>
    <p:extLst>
      <p:ext uri="{BB962C8B-B14F-4D97-AF65-F5344CB8AC3E}">
        <p14:creationId xmlns:p14="http://schemas.microsoft.com/office/powerpoint/2010/main" val="3742640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Lourd les compétences a un moment pas de peut être il faut être sur de ses choix</a:t>
            </a:r>
          </a:p>
          <a:p>
            <a:r>
              <a:rPr lang="fr-FR" dirty="0"/>
              <a:t>Faire en sorte que le jury se retrouve toujours a quel endroit on est dans la diapo</a:t>
            </a:r>
          </a:p>
          <a:p>
            <a:r>
              <a:rPr lang="fr-FR" dirty="0"/>
              <a:t>Voir la près éros par mail se faire un plan type et adapter au truc donné bonne idée le jeu</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22</a:t>
            </a:fld>
            <a:endParaRPr lang="fr-FR"/>
          </a:p>
        </p:txBody>
      </p:sp>
    </p:spTree>
    <p:extLst>
      <p:ext uri="{BB962C8B-B14F-4D97-AF65-F5344CB8AC3E}">
        <p14:creationId xmlns:p14="http://schemas.microsoft.com/office/powerpoint/2010/main" val="4079492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E24957-ED97-E62B-A048-E6BB18CB355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D2B4288-82A5-C7AB-6EBA-EF8FB4E77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513CEC0-8F64-6C08-2AEF-0B86C64E14B3}"/>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50B95A60-0F36-555F-25E8-BF032ED056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3D7648-BD0E-7CD0-D27B-AD5E24D9B8F6}"/>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3836033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B04852-F92A-C772-724E-E0F8E926939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FA88C9C-4D35-5500-D1BE-7FAD34825E2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E9A496C-E199-3610-4A12-96CCE5F70566}"/>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256F6EE9-CA62-6B0D-E56A-88DAA90A830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A681BA-22C2-EBB7-FCFB-2B2B4A4CDD62}"/>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132700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B4C52-F928-A892-559C-4613CC0830C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853B109-81CF-D0CB-EDB6-0F3D2C80CF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272EE57-8B55-3E42-ACF7-DB6254F8C17B}"/>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D6572A56-B48C-1E9F-A49F-8B13DC7523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90CF9A-19AF-277C-3DFE-B48C4220FDCE}"/>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4241944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9D3F7-6649-3587-25D5-3DC0497FF4B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362C23C-7AC1-2D9C-7A48-A3FC011D722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E2BC8C7-D18E-1057-D468-A73F761BF2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EACF859-60E3-3BE3-E0AC-A78866C884C2}"/>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824526ED-A4FA-813E-7091-042E04923B5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A1B76AD-4B64-A5FE-3F52-4A708061C2C0}"/>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108885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D6F576-4AF9-A643-19A9-6BA8F790EB1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32ADBE9-1D09-108C-48DD-0EF1893F2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56266CB-DEB7-6563-3602-740F54DB56A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9616319-571F-725A-AF28-DB46F21DC5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FF12276-E03F-8A94-7F57-0B07BD54A80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1118125-FC5D-22FA-8D6B-F4458ADF5626}"/>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8" name="Espace réservé du pied de page 7">
            <a:extLst>
              <a:ext uri="{FF2B5EF4-FFF2-40B4-BE49-F238E27FC236}">
                <a16:creationId xmlns:a16="http://schemas.microsoft.com/office/drawing/2014/main" id="{DA25D566-2748-8ECA-8053-FF685F0804A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8F01B21-1C90-535C-2A9B-D6B022AB18A6}"/>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358886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0B8F16-43C9-B6B1-8649-D8CC034B80A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EB0FC08-355D-29ED-FAAB-DDC4EA8D7789}"/>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4" name="Espace réservé du pied de page 3">
            <a:extLst>
              <a:ext uri="{FF2B5EF4-FFF2-40B4-BE49-F238E27FC236}">
                <a16:creationId xmlns:a16="http://schemas.microsoft.com/office/drawing/2014/main" id="{90F1C9CD-7CCF-6522-04B8-FC9970CD887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7158B9C-1C4F-1F5F-36BB-B211ED5B422C}"/>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398786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4A9FF32-F06E-8AE1-07A8-ABF3B2F0F40C}"/>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3" name="Espace réservé du pied de page 2">
            <a:extLst>
              <a:ext uri="{FF2B5EF4-FFF2-40B4-BE49-F238E27FC236}">
                <a16:creationId xmlns:a16="http://schemas.microsoft.com/office/drawing/2014/main" id="{1CFE2BCE-6DD0-CD6B-79CF-5DD921D8CC9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0258B4C-B3F9-844C-4573-5029D0E4F748}"/>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2957039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B8D193-5C32-608D-924D-CEE30B4FB2F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F8C8279-7B4A-B52C-E1DA-88E2C16AC5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8056B4F-3246-B62C-9F15-D2F2AF34A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92295B-B052-A92F-EF8A-389867B7FE88}"/>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810C2080-784A-AB1B-AD40-084E32CE967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D44EB5-9295-88BD-DE35-BE62EB42085C}"/>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2053245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AE9221-06CE-BA77-23A0-6BDF0B577C9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65BF8F-178C-DA97-C3DE-314CF3FA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9DF690D-9413-8499-B294-44F0AB1C8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0BEE96B-6E64-68C8-8611-54C1DD875611}"/>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2E01C3E8-D303-CFC8-F8EA-00E685E67AF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94E1112-40D9-67B8-97C0-722D62971DEA}"/>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2760357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F92134-4B03-9008-5B19-52B1CE95044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942DF32-AEBA-EB83-2A81-589D00538B4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A56203E-DAD3-B274-FD57-03646FD2A521}"/>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7FE3AA11-9557-8DE9-D8F6-5FF0F0013D7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84F8A7-081A-9430-FD7F-135ED2A0ED30}"/>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3395774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3728BC0-2F12-FC92-3CFF-CD91AE12304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B0E0119-1993-ECFA-607A-6C4FE5A6375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8DAEC7-9450-D597-388D-0F5FCFFC85C1}"/>
              </a:ext>
            </a:extLst>
          </p:cNvPr>
          <p:cNvSpPr>
            <a:spLocks noGrp="1"/>
          </p:cNvSpPr>
          <p:nvPr>
            <p:ph type="dt" sz="half" idx="10"/>
          </p:nvPr>
        </p:nvSpPr>
        <p:spPr/>
        <p:txBody>
          <a:body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1406A27F-52A7-0879-BAE1-87607EC86C8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6FB3976-3D87-AF29-B871-9A635640B1EC}"/>
              </a:ext>
            </a:extLst>
          </p:cNvPr>
          <p:cNvSpPr>
            <a:spLocks noGrp="1"/>
          </p:cNvSpPr>
          <p:nvPr>
            <p:ph type="sldNum" sz="quarter" idx="12"/>
          </p:nvPr>
        </p:nvSpPr>
        <p:spPr/>
        <p:txBody>
          <a:bodyPr/>
          <a:lstStyle/>
          <a:p>
            <a:fld id="{39AA205D-F2C1-4A9D-B25B-8F8D26AFF36E}" type="slidenum">
              <a:rPr lang="fr-FR" smtClean="0"/>
              <a:t>‹N°›</a:t>
            </a:fld>
            <a:endParaRPr lang="fr-FR"/>
          </a:p>
        </p:txBody>
      </p:sp>
    </p:spTree>
    <p:extLst>
      <p:ext uri="{BB962C8B-B14F-4D97-AF65-F5344CB8AC3E}">
        <p14:creationId xmlns:p14="http://schemas.microsoft.com/office/powerpoint/2010/main" val="1006544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BCD0F6D-9DA0-8FDE-1645-0F279383D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F099848-335D-E1E8-9A42-C9443D82E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B44246A-6FAC-E219-BBD6-F6A94F869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A1C06-DE19-4908-9ED2-8865A78F114C}"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21C6CFBD-B56F-0719-18A2-3926892462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4CA9E0A-D610-075C-EF94-0D3A6D7322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A205D-F2C1-4A9D-B25B-8F8D26AFF36E}" type="slidenum">
              <a:rPr lang="fr-FR" smtClean="0"/>
              <a:t>‹N°›</a:t>
            </a:fld>
            <a:endParaRPr lang="fr-FR"/>
          </a:p>
        </p:txBody>
      </p:sp>
    </p:spTree>
    <p:extLst>
      <p:ext uri="{BB962C8B-B14F-4D97-AF65-F5344CB8AC3E}">
        <p14:creationId xmlns:p14="http://schemas.microsoft.com/office/powerpoint/2010/main" val="255197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E3A031-9DFD-A1C4-37C2-C1A492BB8118}"/>
              </a:ext>
            </a:extLst>
          </p:cNvPr>
          <p:cNvSpPr>
            <a:spLocks noGrp="1"/>
          </p:cNvSpPr>
          <p:nvPr>
            <p:ph type="title"/>
          </p:nvPr>
        </p:nvSpPr>
        <p:spPr>
          <a:xfrm>
            <a:off x="4495799" y="846476"/>
            <a:ext cx="7315200" cy="1325563"/>
          </a:xfrm>
        </p:spPr>
        <p:txBody>
          <a:bodyPr>
            <a:noAutofit/>
          </a:bodyPr>
          <a:lstStyle/>
          <a:p>
            <a:pPr algn="ctr"/>
            <a:r>
              <a:rPr lang="fr-FR" sz="3600" dirty="0"/>
              <a:t>Epreuve d’activité pratique et d’exploitation pédagogique relatives à l’approche spécialisée d’un système pluri technologique</a:t>
            </a:r>
          </a:p>
        </p:txBody>
      </p:sp>
      <p:sp>
        <p:nvSpPr>
          <p:cNvPr id="3" name="Espace réservé du contenu 2">
            <a:extLst>
              <a:ext uri="{FF2B5EF4-FFF2-40B4-BE49-F238E27FC236}">
                <a16:creationId xmlns:a16="http://schemas.microsoft.com/office/drawing/2014/main" id="{080907E7-C971-AEFA-CFB8-25CD426883EE}"/>
              </a:ext>
            </a:extLst>
          </p:cNvPr>
          <p:cNvSpPr>
            <a:spLocks noGrp="1"/>
          </p:cNvSpPr>
          <p:nvPr>
            <p:ph idx="1"/>
          </p:nvPr>
        </p:nvSpPr>
        <p:spPr>
          <a:xfrm>
            <a:off x="4440009" y="3024356"/>
            <a:ext cx="7426779" cy="2479676"/>
          </a:xfrm>
        </p:spPr>
        <p:txBody>
          <a:bodyPr>
            <a:normAutofit/>
          </a:bodyPr>
          <a:lstStyle/>
          <a:p>
            <a:pPr marL="0" indent="0" algn="ctr">
              <a:buNone/>
            </a:pPr>
            <a:r>
              <a:rPr lang="fr-FR" dirty="0"/>
              <a:t>Comment améliorer le confort ou l’</a:t>
            </a:r>
            <a:r>
              <a:rPr lang="fr-FR" dirty="0" err="1"/>
              <a:t>érgonomie</a:t>
            </a:r>
            <a:r>
              <a:rPr lang="fr-FR" dirty="0"/>
              <a:t> d’un système? </a:t>
            </a:r>
          </a:p>
          <a:p>
            <a:pPr marL="0" indent="0" algn="ctr">
              <a:buNone/>
            </a:pPr>
            <a:r>
              <a:rPr lang="fr-FR" dirty="0"/>
              <a:t>Bac Technologique STI2D ITEC, équilibreuse</a:t>
            </a:r>
          </a:p>
          <a:p>
            <a:pPr marL="0" indent="0" algn="ctr">
              <a:buNone/>
            </a:pPr>
            <a:r>
              <a:rPr lang="fr-FR" dirty="0"/>
              <a:t>28/05/2025</a:t>
            </a:r>
          </a:p>
          <a:p>
            <a:pPr marL="0" indent="0" algn="ctr">
              <a:buNone/>
            </a:pPr>
            <a:r>
              <a:rPr lang="fr-FR" dirty="0"/>
              <a:t>Candidat N° PREVISANI Arthur</a:t>
            </a:r>
          </a:p>
        </p:txBody>
      </p:sp>
      <p:sp>
        <p:nvSpPr>
          <p:cNvPr id="7" name="Espace réservé du numéro de diapositive 6">
            <a:extLst>
              <a:ext uri="{FF2B5EF4-FFF2-40B4-BE49-F238E27FC236}">
                <a16:creationId xmlns:a16="http://schemas.microsoft.com/office/drawing/2014/main" id="{964811C3-26BC-7A32-D31A-96D937F45B04}"/>
              </a:ext>
            </a:extLst>
          </p:cNvPr>
          <p:cNvSpPr>
            <a:spLocks noGrp="1"/>
          </p:cNvSpPr>
          <p:nvPr>
            <p:ph type="sldNum" sz="quarter" idx="12"/>
          </p:nvPr>
        </p:nvSpPr>
        <p:spPr/>
        <p:txBody>
          <a:bodyPr/>
          <a:lstStyle/>
          <a:p>
            <a:fld id="{201A5C1E-DE71-4D99-BC1E-739595F062E0}" type="slidenum">
              <a:rPr lang="fr-FR" sz="2000" smtClean="0"/>
              <a:t>1</a:t>
            </a:fld>
            <a:r>
              <a:rPr lang="fr-FR" sz="2000" dirty="0"/>
              <a:t>/21</a:t>
            </a:r>
          </a:p>
        </p:txBody>
      </p:sp>
      <p:sp>
        <p:nvSpPr>
          <p:cNvPr id="4" name="Espace réservé du pied de page 3">
            <a:extLst>
              <a:ext uri="{FF2B5EF4-FFF2-40B4-BE49-F238E27FC236}">
                <a16:creationId xmlns:a16="http://schemas.microsoft.com/office/drawing/2014/main" id="{F913FA50-8192-515A-432A-D40308C5BACC}"/>
              </a:ext>
            </a:extLst>
          </p:cNvPr>
          <p:cNvSpPr>
            <a:spLocks noGrp="1"/>
          </p:cNvSpPr>
          <p:nvPr>
            <p:ph type="ftr" sz="quarter" idx="11"/>
          </p:nvPr>
        </p:nvSpPr>
        <p:spPr/>
        <p:txBody>
          <a:bodyPr/>
          <a:lstStyle/>
          <a:p>
            <a:r>
              <a:rPr lang="fr-FR" sz="1600" dirty="0">
                <a:solidFill>
                  <a:schemeClr val="tx1"/>
                </a:solidFill>
              </a:rPr>
              <a:t>N° Arthur PREVISANI</a:t>
            </a:r>
          </a:p>
        </p:txBody>
      </p:sp>
      <p:pic>
        <p:nvPicPr>
          <p:cNvPr id="10" name="Image 9">
            <a:extLst>
              <a:ext uri="{FF2B5EF4-FFF2-40B4-BE49-F238E27FC236}">
                <a16:creationId xmlns:a16="http://schemas.microsoft.com/office/drawing/2014/main" id="{52C94A30-9A8B-208F-8F07-66C4CC6C742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81001" y="1682496"/>
            <a:ext cx="4250267" cy="3712118"/>
          </a:xfrm>
          <a:prstGeom prst="rect">
            <a:avLst/>
          </a:prstGeom>
        </p:spPr>
      </p:pic>
    </p:spTree>
    <p:extLst>
      <p:ext uri="{BB962C8B-B14F-4D97-AF65-F5344CB8AC3E}">
        <p14:creationId xmlns:p14="http://schemas.microsoft.com/office/powerpoint/2010/main" val="2421357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BB3BB-819C-F3A4-89D9-8D156E545E37}"/>
              </a:ext>
            </a:extLst>
          </p:cNvPr>
          <p:cNvSpPr>
            <a:spLocks noGrp="1"/>
          </p:cNvSpPr>
          <p:nvPr>
            <p:ph type="title"/>
          </p:nvPr>
        </p:nvSpPr>
        <p:spPr/>
        <p:txBody>
          <a:bodyPr>
            <a:normAutofit/>
          </a:bodyPr>
          <a:lstStyle/>
          <a:p>
            <a:r>
              <a:rPr lang="fr-FR" sz="5400" dirty="0"/>
              <a:t>Sommaire</a:t>
            </a:r>
          </a:p>
        </p:txBody>
      </p:sp>
      <p:sp>
        <p:nvSpPr>
          <p:cNvPr id="3" name="Espace réservé du contenu 2">
            <a:extLst>
              <a:ext uri="{FF2B5EF4-FFF2-40B4-BE49-F238E27FC236}">
                <a16:creationId xmlns:a16="http://schemas.microsoft.com/office/drawing/2014/main" id="{5B2AC53D-0D7A-E55F-53B9-6B50C25E5113}"/>
              </a:ext>
            </a:extLst>
          </p:cNvPr>
          <p:cNvSpPr>
            <a:spLocks noGrp="1"/>
          </p:cNvSpPr>
          <p:nvPr>
            <p:ph idx="1"/>
          </p:nvPr>
        </p:nvSpPr>
        <p:spPr>
          <a:xfrm>
            <a:off x="838200" y="1798638"/>
            <a:ext cx="10515600" cy="4351338"/>
          </a:xfrm>
        </p:spPr>
        <p:txBody>
          <a:bodyPr>
            <a:normAutofit/>
          </a:bodyPr>
          <a:lstStyle/>
          <a:p>
            <a:r>
              <a:rPr lang="fr-FR" sz="3600" dirty="0"/>
              <a:t>Présentation de l’équilibreuse </a:t>
            </a:r>
          </a:p>
          <a:p>
            <a:r>
              <a:rPr lang="fr-FR" sz="3600" dirty="0"/>
              <a:t>Résultats du TP</a:t>
            </a:r>
          </a:p>
          <a:p>
            <a:r>
              <a:rPr lang="fr-FR" sz="3600" dirty="0"/>
              <a:t>Contexte/progression annuelle</a:t>
            </a:r>
          </a:p>
          <a:p>
            <a:r>
              <a:rPr lang="fr-FR" sz="3600" dirty="0"/>
              <a:t>Prérequis/compétences</a:t>
            </a:r>
          </a:p>
          <a:p>
            <a:r>
              <a:rPr lang="fr-FR" sz="3600" dirty="0"/>
              <a:t>Organisation de la séquence</a:t>
            </a:r>
          </a:p>
          <a:p>
            <a:r>
              <a:rPr lang="fr-FR" sz="3600" dirty="0"/>
              <a:t>Description de la séance à caractère expérimental</a:t>
            </a:r>
          </a:p>
          <a:p>
            <a:r>
              <a:rPr lang="fr-FR" sz="3600" dirty="0"/>
              <a:t>Conclusion </a:t>
            </a:r>
          </a:p>
          <a:p>
            <a:endParaRPr lang="fr-FR" dirty="0"/>
          </a:p>
        </p:txBody>
      </p:sp>
      <p:sp>
        <p:nvSpPr>
          <p:cNvPr id="5" name="Espace réservé du numéro de diapositive 4">
            <a:extLst>
              <a:ext uri="{FF2B5EF4-FFF2-40B4-BE49-F238E27FC236}">
                <a16:creationId xmlns:a16="http://schemas.microsoft.com/office/drawing/2014/main" id="{98CCBB51-CFF7-C4CC-A63F-7F3F6851DCB9}"/>
              </a:ext>
            </a:extLst>
          </p:cNvPr>
          <p:cNvSpPr>
            <a:spLocks noGrp="1"/>
          </p:cNvSpPr>
          <p:nvPr>
            <p:ph type="sldNum" sz="quarter" idx="12"/>
          </p:nvPr>
        </p:nvSpPr>
        <p:spPr/>
        <p:txBody>
          <a:bodyPr/>
          <a:lstStyle/>
          <a:p>
            <a:fld id="{201A5C1E-DE71-4D99-BC1E-739595F062E0}" type="slidenum">
              <a:rPr lang="fr-FR" sz="2400" smtClean="0"/>
              <a:t>2</a:t>
            </a:fld>
            <a:r>
              <a:rPr lang="fr-FR" sz="2400" dirty="0"/>
              <a:t>/21</a:t>
            </a:r>
          </a:p>
        </p:txBody>
      </p:sp>
      <p:sp>
        <p:nvSpPr>
          <p:cNvPr id="4" name="Espace réservé du pied de page 3">
            <a:extLst>
              <a:ext uri="{FF2B5EF4-FFF2-40B4-BE49-F238E27FC236}">
                <a16:creationId xmlns:a16="http://schemas.microsoft.com/office/drawing/2014/main" id="{B8C15DF8-7A92-D884-5D62-C7D67D6755AF}"/>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045683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7E4D-A75C-2180-419E-41EF28C64A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FE3864-86C4-0B24-790C-B57D78E09306}"/>
              </a:ext>
            </a:extLst>
          </p:cNvPr>
          <p:cNvSpPr>
            <a:spLocks noGrp="1"/>
          </p:cNvSpPr>
          <p:nvPr>
            <p:ph type="title"/>
          </p:nvPr>
        </p:nvSpPr>
        <p:spPr>
          <a:xfrm>
            <a:off x="838200" y="-144408"/>
            <a:ext cx="10515600" cy="1325563"/>
          </a:xfrm>
        </p:spPr>
        <p:txBody>
          <a:bodyPr/>
          <a:lstStyle/>
          <a:p>
            <a:r>
              <a:rPr lang="fr-FR" dirty="0"/>
              <a:t>Présentation de l’équilibreuse</a:t>
            </a:r>
          </a:p>
        </p:txBody>
      </p:sp>
      <p:sp>
        <p:nvSpPr>
          <p:cNvPr id="8" name="Espace réservé du numéro de diapositive 7">
            <a:extLst>
              <a:ext uri="{FF2B5EF4-FFF2-40B4-BE49-F238E27FC236}">
                <a16:creationId xmlns:a16="http://schemas.microsoft.com/office/drawing/2014/main" id="{34CC167F-84B0-2E9E-3500-33080ACFB5B1}"/>
              </a:ext>
            </a:extLst>
          </p:cNvPr>
          <p:cNvSpPr>
            <a:spLocks noGrp="1"/>
          </p:cNvSpPr>
          <p:nvPr>
            <p:ph type="sldNum" sz="quarter" idx="12"/>
          </p:nvPr>
        </p:nvSpPr>
        <p:spPr/>
        <p:txBody>
          <a:bodyPr/>
          <a:lstStyle/>
          <a:p>
            <a:fld id="{201A5C1E-DE71-4D99-BC1E-739595F062E0}" type="slidenum">
              <a:rPr lang="fr-FR" sz="2000" smtClean="0"/>
              <a:t>3</a:t>
            </a:fld>
            <a:r>
              <a:rPr lang="fr-FR" sz="2000" dirty="0"/>
              <a:t>/21</a:t>
            </a:r>
          </a:p>
        </p:txBody>
      </p:sp>
      <p:sp>
        <p:nvSpPr>
          <p:cNvPr id="23" name="Espace réservé du pied de page 22">
            <a:extLst>
              <a:ext uri="{FF2B5EF4-FFF2-40B4-BE49-F238E27FC236}">
                <a16:creationId xmlns:a16="http://schemas.microsoft.com/office/drawing/2014/main" id="{CFA336CD-A7A9-FB94-C41B-84D4D43DA90D}"/>
              </a:ext>
            </a:extLst>
          </p:cNvPr>
          <p:cNvSpPr>
            <a:spLocks noGrp="1"/>
          </p:cNvSpPr>
          <p:nvPr>
            <p:ph type="ftr" sz="quarter" idx="11"/>
          </p:nvPr>
        </p:nvSpPr>
        <p:spPr>
          <a:xfrm>
            <a:off x="4038600" y="6475880"/>
            <a:ext cx="4114800" cy="365125"/>
          </a:xfrm>
        </p:spPr>
        <p:txBody>
          <a:bodyPr/>
          <a:lstStyle/>
          <a:p>
            <a:r>
              <a:rPr lang="fr-FR" sz="1600" dirty="0">
                <a:solidFill>
                  <a:schemeClr val="tx1"/>
                </a:solidFill>
              </a:rPr>
              <a:t>N° Arthur PREVISANI</a:t>
            </a:r>
          </a:p>
        </p:txBody>
      </p:sp>
      <p:pic>
        <p:nvPicPr>
          <p:cNvPr id="5" name="Image 4">
            <a:extLst>
              <a:ext uri="{FF2B5EF4-FFF2-40B4-BE49-F238E27FC236}">
                <a16:creationId xmlns:a16="http://schemas.microsoft.com/office/drawing/2014/main" id="{B29FA62E-BFFB-5A2B-D760-5A50D769AE27}"/>
              </a:ext>
            </a:extLst>
          </p:cNvPr>
          <p:cNvPicPr>
            <a:picLocks noChangeAspect="1"/>
          </p:cNvPicPr>
          <p:nvPr/>
        </p:nvPicPr>
        <p:blipFill>
          <a:blip r:embed="rId3" cstate="email">
            <a:extLst>
              <a:ext uri="{28A0092B-C50C-407E-A947-70E740481C1C}">
                <a14:useLocalDpi xmlns:a14="http://schemas.microsoft.com/office/drawing/2010/main"/>
              </a:ext>
            </a:extLst>
          </a:blip>
          <a:srcRect l="-982"/>
          <a:stretch>
            <a:fillRect/>
          </a:stretch>
        </p:blipFill>
        <p:spPr>
          <a:xfrm>
            <a:off x="228789" y="1327660"/>
            <a:ext cx="5411825" cy="3440680"/>
          </a:xfrm>
          <a:prstGeom prst="rect">
            <a:avLst/>
          </a:prstGeom>
        </p:spPr>
      </p:pic>
      <p:pic>
        <p:nvPicPr>
          <p:cNvPr id="15" name="Image 14">
            <a:extLst>
              <a:ext uri="{FF2B5EF4-FFF2-40B4-BE49-F238E27FC236}">
                <a16:creationId xmlns:a16="http://schemas.microsoft.com/office/drawing/2014/main" id="{B75DFDE8-5509-3A6D-3AE3-5E9522480CDF}"/>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035883" y="1327660"/>
            <a:ext cx="5149433" cy="3314700"/>
          </a:xfrm>
          <a:prstGeom prst="rect">
            <a:avLst/>
          </a:prstGeom>
        </p:spPr>
      </p:pic>
    </p:spTree>
    <p:extLst>
      <p:ext uri="{BB962C8B-B14F-4D97-AF65-F5344CB8AC3E}">
        <p14:creationId xmlns:p14="http://schemas.microsoft.com/office/powerpoint/2010/main" val="4015499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00A430-4DDA-48F3-F0A9-4F65C80DED4C}"/>
              </a:ext>
            </a:extLst>
          </p:cNvPr>
          <p:cNvSpPr>
            <a:spLocks noGrp="1"/>
          </p:cNvSpPr>
          <p:nvPr>
            <p:ph type="title"/>
          </p:nvPr>
        </p:nvSpPr>
        <p:spPr>
          <a:xfrm>
            <a:off x="689429" y="239554"/>
            <a:ext cx="10515600" cy="1325563"/>
          </a:xfrm>
        </p:spPr>
        <p:txBody>
          <a:bodyPr>
            <a:normAutofit/>
          </a:bodyPr>
          <a:lstStyle/>
          <a:p>
            <a:r>
              <a:rPr lang="fr-FR" dirty="0"/>
              <a:t>Logiciel</a:t>
            </a:r>
          </a:p>
        </p:txBody>
      </p:sp>
      <p:sp>
        <p:nvSpPr>
          <p:cNvPr id="7" name="Espace réservé du numéro de diapositive 6">
            <a:extLst>
              <a:ext uri="{FF2B5EF4-FFF2-40B4-BE49-F238E27FC236}">
                <a16:creationId xmlns:a16="http://schemas.microsoft.com/office/drawing/2014/main" id="{48BB0261-66A8-2937-39DB-E788829AFD3C}"/>
              </a:ext>
            </a:extLst>
          </p:cNvPr>
          <p:cNvSpPr>
            <a:spLocks noGrp="1"/>
          </p:cNvSpPr>
          <p:nvPr>
            <p:ph type="sldNum" sz="quarter" idx="12"/>
          </p:nvPr>
        </p:nvSpPr>
        <p:spPr/>
        <p:txBody>
          <a:bodyPr/>
          <a:lstStyle/>
          <a:p>
            <a:fld id="{201A5C1E-DE71-4D99-BC1E-739595F062E0}" type="slidenum">
              <a:rPr lang="fr-FR" sz="2000" smtClean="0"/>
              <a:t>4</a:t>
            </a:fld>
            <a:r>
              <a:rPr lang="fr-FR" sz="2000" dirty="0"/>
              <a:t>/21</a:t>
            </a:r>
          </a:p>
        </p:txBody>
      </p:sp>
      <p:sp>
        <p:nvSpPr>
          <p:cNvPr id="13" name="ZoneTexte 12">
            <a:extLst>
              <a:ext uri="{FF2B5EF4-FFF2-40B4-BE49-F238E27FC236}">
                <a16:creationId xmlns:a16="http://schemas.microsoft.com/office/drawing/2014/main" id="{7E1B95B4-B180-4791-ABAF-9EB2D643E4E0}"/>
              </a:ext>
            </a:extLst>
          </p:cNvPr>
          <p:cNvSpPr txBox="1"/>
          <p:nvPr/>
        </p:nvSpPr>
        <p:spPr>
          <a:xfrm>
            <a:off x="5947229" y="4448960"/>
            <a:ext cx="6981372" cy="830997"/>
          </a:xfrm>
          <a:prstGeom prst="rect">
            <a:avLst/>
          </a:prstGeom>
          <a:noFill/>
        </p:spPr>
        <p:txBody>
          <a:bodyPr wrap="square" rtlCol="0">
            <a:spAutoFit/>
          </a:bodyPr>
          <a:lstStyle/>
          <a:p>
            <a:pPr algn="ctr"/>
            <a:r>
              <a:rPr lang="fr-FR" sz="2400" dirty="0"/>
              <a:t>Script Matlab associé à l’équilibreuse</a:t>
            </a:r>
          </a:p>
          <a:p>
            <a:pPr algn="ctr"/>
            <a:r>
              <a:rPr lang="fr-FR" sz="2400" dirty="0"/>
              <a:t>Jumeau numérique de l’équilibreuse</a:t>
            </a:r>
          </a:p>
        </p:txBody>
      </p:sp>
      <p:sp>
        <p:nvSpPr>
          <p:cNvPr id="14" name="ZoneTexte 13">
            <a:extLst>
              <a:ext uri="{FF2B5EF4-FFF2-40B4-BE49-F238E27FC236}">
                <a16:creationId xmlns:a16="http://schemas.microsoft.com/office/drawing/2014/main" id="{D3E80EC3-97BD-41A1-42D6-F4315C1D1CA6}"/>
              </a:ext>
            </a:extLst>
          </p:cNvPr>
          <p:cNvSpPr txBox="1"/>
          <p:nvPr/>
        </p:nvSpPr>
        <p:spPr>
          <a:xfrm>
            <a:off x="7794171" y="1400409"/>
            <a:ext cx="3853894" cy="2677656"/>
          </a:xfrm>
          <a:prstGeom prst="rect">
            <a:avLst/>
          </a:prstGeom>
          <a:noFill/>
        </p:spPr>
        <p:txBody>
          <a:bodyPr wrap="square" rtlCol="0">
            <a:spAutoFit/>
          </a:bodyPr>
          <a:lstStyle/>
          <a:p>
            <a:r>
              <a:rPr lang="fr-FR" sz="2400" dirty="0"/>
              <a:t>Essais possibles:</a:t>
            </a:r>
          </a:p>
          <a:p>
            <a:r>
              <a:rPr lang="fr-FR" sz="2400" dirty="0"/>
              <a:t>Mesure sur les deux pieds: des accéléromètres 3 axes et jauge de contraintes a fil résistif</a:t>
            </a:r>
          </a:p>
          <a:p>
            <a:r>
              <a:rPr lang="fr-FR" sz="2400" dirty="0"/>
              <a:t>Sur l’axe compte tours=&gt; la vitesse de rotation.</a:t>
            </a:r>
          </a:p>
        </p:txBody>
      </p:sp>
      <p:sp>
        <p:nvSpPr>
          <p:cNvPr id="16" name="Espace réservé du pied de page 15">
            <a:extLst>
              <a:ext uri="{FF2B5EF4-FFF2-40B4-BE49-F238E27FC236}">
                <a16:creationId xmlns:a16="http://schemas.microsoft.com/office/drawing/2014/main" id="{79EFB243-D932-531B-1DDC-C0ADAF92FD3A}"/>
              </a:ext>
            </a:extLst>
          </p:cNvPr>
          <p:cNvSpPr>
            <a:spLocks noGrp="1"/>
          </p:cNvSpPr>
          <p:nvPr>
            <p:ph type="ftr" sz="quarter" idx="11"/>
          </p:nvPr>
        </p:nvSpPr>
        <p:spPr>
          <a:xfrm>
            <a:off x="4038600" y="6507851"/>
            <a:ext cx="4114800" cy="365125"/>
          </a:xfrm>
        </p:spPr>
        <p:txBody>
          <a:bodyPr/>
          <a:lstStyle/>
          <a:p>
            <a:r>
              <a:rPr lang="fr-FR" sz="1600" dirty="0">
                <a:solidFill>
                  <a:schemeClr val="tx1"/>
                </a:solidFill>
              </a:rPr>
              <a:t>N° Arthur PREVISANI</a:t>
            </a:r>
          </a:p>
        </p:txBody>
      </p:sp>
      <p:pic>
        <p:nvPicPr>
          <p:cNvPr id="3" name="Image 2">
            <a:extLst>
              <a:ext uri="{FF2B5EF4-FFF2-40B4-BE49-F238E27FC236}">
                <a16:creationId xmlns:a16="http://schemas.microsoft.com/office/drawing/2014/main" id="{0010C093-645C-4D33-7625-CA9D119756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3934" y="1365250"/>
            <a:ext cx="6136265" cy="4794416"/>
          </a:xfrm>
          <a:prstGeom prst="rect">
            <a:avLst/>
          </a:prstGeom>
        </p:spPr>
      </p:pic>
    </p:spTree>
    <p:extLst>
      <p:ext uri="{BB962C8B-B14F-4D97-AF65-F5344CB8AC3E}">
        <p14:creationId xmlns:p14="http://schemas.microsoft.com/office/powerpoint/2010/main" val="3733354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1817-DEB5-D1E7-4296-B43C4D695CA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7A5F2C-CCF9-F726-9F7F-6093A0CF2816}"/>
              </a:ext>
            </a:extLst>
          </p:cNvPr>
          <p:cNvSpPr>
            <a:spLocks noGrp="1"/>
          </p:cNvSpPr>
          <p:nvPr>
            <p:ph type="title"/>
          </p:nvPr>
        </p:nvSpPr>
        <p:spPr/>
        <p:txBody>
          <a:bodyPr/>
          <a:lstStyle/>
          <a:p>
            <a:r>
              <a:rPr lang="fr-FR" dirty="0"/>
              <a:t>Calcul pour un système masse ressort simple</a:t>
            </a:r>
            <a:br>
              <a:rPr lang="fr-FR" dirty="0"/>
            </a:br>
            <a:r>
              <a:rPr lang="fr-FR" dirty="0"/>
              <a:t>de la fréquence propre.</a:t>
            </a:r>
          </a:p>
        </p:txBody>
      </p:sp>
      <p:sp>
        <p:nvSpPr>
          <p:cNvPr id="8" name="Espace réservé du numéro de diapositive 7">
            <a:extLst>
              <a:ext uri="{FF2B5EF4-FFF2-40B4-BE49-F238E27FC236}">
                <a16:creationId xmlns:a16="http://schemas.microsoft.com/office/drawing/2014/main" id="{DEDA94DA-876F-A6C9-06DB-9935137271BB}"/>
              </a:ext>
            </a:extLst>
          </p:cNvPr>
          <p:cNvSpPr>
            <a:spLocks noGrp="1"/>
          </p:cNvSpPr>
          <p:nvPr>
            <p:ph type="sldNum" sz="quarter" idx="12"/>
          </p:nvPr>
        </p:nvSpPr>
        <p:spPr/>
        <p:txBody>
          <a:bodyPr/>
          <a:lstStyle/>
          <a:p>
            <a:fld id="{201A5C1E-DE71-4D99-BC1E-739595F062E0}" type="slidenum">
              <a:rPr lang="fr-FR" sz="2000" smtClean="0"/>
              <a:t>5</a:t>
            </a:fld>
            <a:r>
              <a:rPr lang="fr-FR" sz="2000" dirty="0"/>
              <a:t>/21</a:t>
            </a:r>
            <a:endParaRPr lang="fr-FR" dirty="0"/>
          </a:p>
        </p:txBody>
      </p:sp>
      <p:sp>
        <p:nvSpPr>
          <p:cNvPr id="3" name="Espace réservé du pied de page 2">
            <a:extLst>
              <a:ext uri="{FF2B5EF4-FFF2-40B4-BE49-F238E27FC236}">
                <a16:creationId xmlns:a16="http://schemas.microsoft.com/office/drawing/2014/main" id="{3207C9A6-5B77-DB2D-E78E-7E4A3B97F86E}"/>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grpSp>
        <p:nvGrpSpPr>
          <p:cNvPr id="29" name="Groupe 28">
            <a:extLst>
              <a:ext uri="{FF2B5EF4-FFF2-40B4-BE49-F238E27FC236}">
                <a16:creationId xmlns:a16="http://schemas.microsoft.com/office/drawing/2014/main" id="{675966F9-3AC3-46F8-660B-A0F3409A7309}"/>
              </a:ext>
            </a:extLst>
          </p:cNvPr>
          <p:cNvGrpSpPr/>
          <p:nvPr/>
        </p:nvGrpSpPr>
        <p:grpSpPr>
          <a:xfrm>
            <a:off x="996941" y="1845410"/>
            <a:ext cx="4414174" cy="1624794"/>
            <a:chOff x="6265759" y="1719243"/>
            <a:chExt cx="4414174" cy="1624794"/>
          </a:xfrm>
        </p:grpSpPr>
        <p:pic>
          <p:nvPicPr>
            <p:cNvPr id="25" name="Image 24">
              <a:extLst>
                <a:ext uri="{FF2B5EF4-FFF2-40B4-BE49-F238E27FC236}">
                  <a16:creationId xmlns:a16="http://schemas.microsoft.com/office/drawing/2014/main" id="{D42A11F6-BC76-9243-4331-3924DCB4DB1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265759" y="1884136"/>
              <a:ext cx="4414174" cy="1459901"/>
            </a:xfrm>
            <a:prstGeom prst="rect">
              <a:avLst/>
            </a:prstGeom>
          </p:spPr>
        </p:pic>
        <p:sp>
          <p:nvSpPr>
            <p:cNvPr id="26" name="ZoneTexte 25">
              <a:extLst>
                <a:ext uri="{FF2B5EF4-FFF2-40B4-BE49-F238E27FC236}">
                  <a16:creationId xmlns:a16="http://schemas.microsoft.com/office/drawing/2014/main" id="{DAF5FDBA-7569-79A9-7471-E333771D8CAC}"/>
                </a:ext>
              </a:extLst>
            </p:cNvPr>
            <p:cNvSpPr txBox="1"/>
            <p:nvPr/>
          </p:nvSpPr>
          <p:spPr>
            <a:xfrm>
              <a:off x="8220632" y="1719243"/>
              <a:ext cx="504427" cy="369332"/>
            </a:xfrm>
            <a:prstGeom prst="rect">
              <a:avLst/>
            </a:prstGeom>
            <a:solidFill>
              <a:schemeClr val="bg1"/>
            </a:solidFill>
            <a:ln>
              <a:solidFill>
                <a:schemeClr val="bg1"/>
              </a:solidFill>
            </a:ln>
          </p:spPr>
          <p:txBody>
            <a:bodyPr wrap="square" rtlCol="0">
              <a:spAutoFit/>
            </a:bodyPr>
            <a:lstStyle/>
            <a:p>
              <a:r>
                <a:rPr lang="fr-FR" dirty="0"/>
                <a:t>M</a:t>
              </a:r>
            </a:p>
          </p:txBody>
        </p:sp>
        <p:sp>
          <p:nvSpPr>
            <p:cNvPr id="27" name="Rectangle 26">
              <a:extLst>
                <a:ext uri="{FF2B5EF4-FFF2-40B4-BE49-F238E27FC236}">
                  <a16:creationId xmlns:a16="http://schemas.microsoft.com/office/drawing/2014/main" id="{D67F57CC-9937-195C-14EC-271BF68EEC2E}"/>
                </a:ext>
              </a:extLst>
            </p:cNvPr>
            <p:cNvSpPr/>
            <p:nvPr/>
          </p:nvSpPr>
          <p:spPr>
            <a:xfrm>
              <a:off x="8994057" y="1792230"/>
              <a:ext cx="1635640" cy="5574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F47058FF-C96C-3C40-B73D-997704A17919}"/>
                  </a:ext>
                </a:extLst>
              </p:cNvPr>
              <p:cNvSpPr txBox="1"/>
              <p:nvPr/>
            </p:nvSpPr>
            <p:spPr>
              <a:xfrm>
                <a:off x="6491995" y="2030076"/>
                <a:ext cx="5073540" cy="1213217"/>
              </a:xfrm>
              <a:prstGeom prst="rect">
                <a:avLst/>
              </a:prstGeom>
              <a:solidFill>
                <a:schemeClr val="bg1"/>
              </a:solidFill>
              <a:ln>
                <a:solidFill>
                  <a:schemeClr val="bg1"/>
                </a:solidFill>
              </a:ln>
            </p:spPr>
            <p:txBody>
              <a:bodyPr wrap="square" rtlCol="0">
                <a:spAutoFit/>
              </a:bodyPr>
              <a:lstStyle/>
              <a:p>
                <a:r>
                  <a:rPr lang="fr-FR" sz="2400" dirty="0"/>
                  <a:t>D’où : </a:t>
                </a:r>
                <a14:m>
                  <m:oMath xmlns:m="http://schemas.openxmlformats.org/officeDocument/2006/math">
                    <m:r>
                      <a:rPr lang="fr-FR" sz="2400" b="0" i="1" smtClean="0">
                        <a:latin typeface="Cambria Math" panose="02040503050406030204" pitchFamily="18" charset="0"/>
                      </a:rPr>
                      <m:t>𝑥</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𝑡</m:t>
                        </m:r>
                      </m:e>
                    </m:d>
                    <m:r>
                      <a:rPr lang="fr-FR" sz="2400" b="0" i="1" smtClean="0">
                        <a:latin typeface="Cambria Math" panose="02040503050406030204" pitchFamily="18" charset="0"/>
                      </a:rPr>
                      <m:t>=</m:t>
                    </m:r>
                    <m:r>
                      <a:rPr lang="fr-FR" sz="2400" b="0" i="1" smtClean="0">
                        <a:latin typeface="Cambria Math" panose="02040503050406030204" pitchFamily="18" charset="0"/>
                      </a:rPr>
                      <m:t>𝐴</m:t>
                    </m:r>
                    <m:func>
                      <m:funcPr>
                        <m:ctrlPr>
                          <a:rPr lang="fr-FR" sz="2400" b="0" i="1" smtClean="0">
                            <a:latin typeface="Cambria Math" panose="02040503050406030204" pitchFamily="18" charset="0"/>
                          </a:rPr>
                        </m:ctrlPr>
                      </m:funcPr>
                      <m:fName>
                        <m:r>
                          <m:rPr>
                            <m:sty m:val="p"/>
                          </m:rPr>
                          <a:rPr lang="fr-FR" sz="2400" b="0" i="0" smtClean="0">
                            <a:latin typeface="Cambria Math" panose="02040503050406030204" pitchFamily="18" charset="0"/>
                          </a:rPr>
                          <m:t>cos</m:t>
                        </m:r>
                      </m:fName>
                      <m:e>
                        <m:d>
                          <m:dPr>
                            <m:ctrlPr>
                              <a:rPr lang="fr-FR" sz="2400" b="0" i="1" smtClean="0">
                                <a:latin typeface="Cambria Math" panose="02040503050406030204" pitchFamily="18" charset="0"/>
                              </a:rPr>
                            </m:ctrlPr>
                          </m:dPr>
                          <m:e>
                            <m:sSub>
                              <m:sSubPr>
                                <m:ctrlPr>
                                  <a:rPr lang="fr-FR" sz="2400" b="0" i="1" smtClean="0">
                                    <a:latin typeface="Cambria Math" panose="02040503050406030204" pitchFamily="18" charset="0"/>
                                    <a:ea typeface="Cambria Math" panose="02040503050406030204" pitchFamily="18" charset="0"/>
                                  </a:rPr>
                                </m:ctrlPr>
                              </m:sSubPr>
                              <m:e>
                                <m:r>
                                  <a:rPr lang="fr-FR" sz="2400" b="0" i="1" smtClean="0">
                                    <a:latin typeface="Cambria Math" panose="02040503050406030204" pitchFamily="18" charset="0"/>
                                    <a:ea typeface="Cambria Math" panose="02040503050406030204" pitchFamily="18" charset="0"/>
                                  </a:rPr>
                                  <m:t>𝜔</m:t>
                                </m:r>
                              </m:e>
                              <m:sub>
                                <m:r>
                                  <a:rPr lang="fr-FR" sz="2400" b="0" i="1" smtClean="0">
                                    <a:latin typeface="Cambria Math" panose="02040503050406030204" pitchFamily="18" charset="0"/>
                                    <a:ea typeface="Cambria Math" panose="02040503050406030204" pitchFamily="18" charset="0"/>
                                  </a:rPr>
                                  <m:t>0</m:t>
                                </m:r>
                              </m:sub>
                            </m:sSub>
                            <m:r>
                              <a:rPr lang="fr-FR" sz="2400" b="0" i="1" smtClean="0">
                                <a:latin typeface="Cambria Math" panose="02040503050406030204" pitchFamily="18" charset="0"/>
                              </a:rPr>
                              <m:t>𝑡</m:t>
                            </m:r>
                          </m:e>
                        </m:d>
                      </m:e>
                    </m:func>
                    <m:r>
                      <a:rPr lang="fr-FR" sz="2400" b="0" i="1" smtClean="0">
                        <a:latin typeface="Cambria Math" panose="02040503050406030204" pitchFamily="18" charset="0"/>
                      </a:rPr>
                      <m:t>+</m:t>
                    </m:r>
                    <m:r>
                      <a:rPr lang="fr-FR" sz="2400" b="0" i="1" smtClean="0">
                        <a:latin typeface="Cambria Math" panose="02040503050406030204" pitchFamily="18" charset="0"/>
                      </a:rPr>
                      <m:t>𝐵𝑠𝑖𝑛</m:t>
                    </m:r>
                    <m:r>
                      <a:rPr lang="fr-FR" sz="2400" b="0" i="1" smtClean="0">
                        <a:latin typeface="Cambria Math" panose="02040503050406030204" pitchFamily="18" charset="0"/>
                      </a:rPr>
                      <m:t>(</m:t>
                    </m:r>
                    <m:sSub>
                      <m:sSubPr>
                        <m:ctrlPr>
                          <a:rPr lang="fr-FR" sz="2400" b="0" i="1" smtClean="0">
                            <a:latin typeface="Cambria Math" panose="02040503050406030204" pitchFamily="18" charset="0"/>
                            <a:ea typeface="Cambria Math" panose="02040503050406030204" pitchFamily="18" charset="0"/>
                          </a:rPr>
                        </m:ctrlPr>
                      </m:sSubPr>
                      <m:e>
                        <m:r>
                          <a:rPr lang="fr-FR" sz="2400" b="0" i="1" smtClean="0">
                            <a:latin typeface="Cambria Math" panose="02040503050406030204" pitchFamily="18" charset="0"/>
                            <a:ea typeface="Cambria Math" panose="02040503050406030204" pitchFamily="18" charset="0"/>
                          </a:rPr>
                          <m:t>𝜔</m:t>
                        </m:r>
                      </m:e>
                      <m:sub>
                        <m:r>
                          <a:rPr lang="fr-FR" sz="2400" b="0" i="1" smtClean="0">
                            <a:latin typeface="Cambria Math" panose="02040503050406030204" pitchFamily="18" charset="0"/>
                            <a:ea typeface="Cambria Math" panose="02040503050406030204" pitchFamily="18" charset="0"/>
                          </a:rPr>
                          <m:t>0</m:t>
                        </m:r>
                      </m:sub>
                    </m:sSub>
                    <m:r>
                      <a:rPr lang="fr-FR" sz="2400" b="0" i="1" smtClean="0">
                        <a:latin typeface="Cambria Math" panose="02040503050406030204" pitchFamily="18" charset="0"/>
                      </a:rPr>
                      <m:t>𝑡</m:t>
                    </m:r>
                    <m:r>
                      <a:rPr lang="fr-FR" sz="2400" b="0" i="1" smtClean="0">
                        <a:latin typeface="Cambria Math" panose="02040503050406030204" pitchFamily="18" charset="0"/>
                      </a:rPr>
                      <m:t>)</m:t>
                    </m:r>
                  </m:oMath>
                </a14:m>
                <a:endParaRPr lang="fr-FR" sz="2400" dirty="0"/>
              </a:p>
              <a:p>
                <a:r>
                  <a:rPr lang="fr-FR" sz="2400" dirty="0"/>
                  <a:t>Avec : </a:t>
                </a:r>
                <a14:m>
                  <m:oMath xmlns:m="http://schemas.openxmlformats.org/officeDocument/2006/math">
                    <m:sSub>
                      <m:sSubPr>
                        <m:ctrlPr>
                          <a:rPr lang="fr-FR" sz="2400" b="0" i="1" smtClean="0">
                            <a:latin typeface="Cambria Math" panose="02040503050406030204" pitchFamily="18" charset="0"/>
                            <a:ea typeface="Cambria Math" panose="02040503050406030204" pitchFamily="18" charset="0"/>
                          </a:rPr>
                        </m:ctrlPr>
                      </m:sSubPr>
                      <m:e>
                        <m:r>
                          <a:rPr lang="fr-FR" sz="2400" i="1" smtClean="0">
                            <a:latin typeface="Cambria Math" panose="02040503050406030204" pitchFamily="18" charset="0"/>
                            <a:ea typeface="Cambria Math" panose="02040503050406030204" pitchFamily="18" charset="0"/>
                          </a:rPr>
                          <m:t>𝜔</m:t>
                        </m:r>
                      </m:e>
                      <m:sub>
                        <m:r>
                          <a:rPr lang="fr-FR" sz="2400" b="0" i="1" smtClean="0">
                            <a:latin typeface="Cambria Math" panose="02040503050406030204" pitchFamily="18" charset="0"/>
                            <a:ea typeface="Cambria Math" panose="02040503050406030204" pitchFamily="18" charset="0"/>
                          </a:rPr>
                          <m:t>0</m:t>
                        </m:r>
                      </m:sub>
                    </m:sSub>
                    <m:r>
                      <a:rPr lang="fr-FR" sz="2400" b="0" i="1" smtClean="0">
                        <a:latin typeface="Cambria Math" panose="02040503050406030204" pitchFamily="18" charset="0"/>
                        <a:ea typeface="Cambria Math" panose="02040503050406030204" pitchFamily="18" charset="0"/>
                      </a:rPr>
                      <m:t>=</m:t>
                    </m:r>
                    <m:rad>
                      <m:radPr>
                        <m:degHide m:val="on"/>
                        <m:ctrlPr>
                          <a:rPr lang="fr-FR" sz="2400" b="0" i="1" smtClean="0">
                            <a:latin typeface="Cambria Math" panose="02040503050406030204" pitchFamily="18" charset="0"/>
                            <a:ea typeface="Cambria Math" panose="02040503050406030204" pitchFamily="18" charset="0"/>
                          </a:rPr>
                        </m:ctrlPr>
                      </m:radPr>
                      <m:deg/>
                      <m:e>
                        <m:f>
                          <m:fPr>
                            <m:ctrlPr>
                              <a:rPr lang="fr-FR" sz="2400" b="0" i="1" smtClean="0">
                                <a:latin typeface="Cambria Math" panose="02040503050406030204" pitchFamily="18" charset="0"/>
                                <a:ea typeface="Cambria Math" panose="02040503050406030204" pitchFamily="18" charset="0"/>
                              </a:rPr>
                            </m:ctrlPr>
                          </m:fPr>
                          <m:num>
                            <m:r>
                              <a:rPr lang="fr-FR" sz="2400" b="0" i="1" smtClean="0">
                                <a:latin typeface="Cambria Math" panose="02040503050406030204" pitchFamily="18" charset="0"/>
                                <a:ea typeface="Cambria Math" panose="02040503050406030204" pitchFamily="18" charset="0"/>
                              </a:rPr>
                              <m:t>𝑘</m:t>
                            </m:r>
                          </m:num>
                          <m:den>
                            <m:r>
                              <a:rPr lang="fr-FR" sz="2400" b="0" i="1" smtClean="0">
                                <a:latin typeface="Cambria Math" panose="02040503050406030204" pitchFamily="18" charset="0"/>
                                <a:ea typeface="Cambria Math" panose="02040503050406030204" pitchFamily="18" charset="0"/>
                              </a:rPr>
                              <m:t>𝑀</m:t>
                            </m:r>
                          </m:den>
                        </m:f>
                        <m:r>
                          <a:rPr lang="fr-FR" sz="2400" b="0" i="1" smtClean="0">
                            <a:latin typeface="Cambria Math" panose="02040503050406030204" pitchFamily="18" charset="0"/>
                            <a:ea typeface="Cambria Math" panose="02040503050406030204" pitchFamily="18" charset="0"/>
                          </a:rPr>
                          <m:t> </m:t>
                        </m:r>
                      </m:e>
                    </m:rad>
                  </m:oMath>
                </a14:m>
                <a:r>
                  <a:rPr lang="fr-FR" sz="2400" dirty="0"/>
                  <a:t> donc </a:t>
                </a:r>
                <a14:m>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𝑓</m:t>
                        </m:r>
                      </m:e>
                      <m:sub>
                        <m:r>
                          <a:rPr lang="fr-FR" sz="2400" b="0" i="1" smtClean="0">
                            <a:latin typeface="Cambria Math" panose="02040503050406030204" pitchFamily="18" charset="0"/>
                          </a:rPr>
                          <m:t>0</m:t>
                        </m:r>
                      </m:sub>
                    </m:sSub>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1</m:t>
                        </m:r>
                      </m:num>
                      <m:den>
                        <m:r>
                          <a:rPr lang="fr-FR" sz="2400" b="0" i="1" smtClean="0">
                            <a:latin typeface="Cambria Math" panose="02040503050406030204" pitchFamily="18" charset="0"/>
                          </a:rPr>
                          <m:t>2</m:t>
                        </m:r>
                        <m:r>
                          <a:rPr lang="fr-FR" sz="2400" b="0" i="1" smtClean="0">
                            <a:latin typeface="Cambria Math" panose="02040503050406030204" pitchFamily="18" charset="0"/>
                            <a:ea typeface="Cambria Math" panose="02040503050406030204" pitchFamily="18" charset="0"/>
                          </a:rPr>
                          <m:t>𝜋</m:t>
                        </m:r>
                      </m:den>
                    </m:f>
                    <m:rad>
                      <m:radPr>
                        <m:degHide m:val="on"/>
                        <m:ctrlPr>
                          <a:rPr lang="fr-FR" sz="2400" i="1">
                            <a:latin typeface="Cambria Math" panose="02040503050406030204" pitchFamily="18" charset="0"/>
                            <a:ea typeface="Cambria Math" panose="02040503050406030204" pitchFamily="18" charset="0"/>
                          </a:rPr>
                        </m:ctrlPr>
                      </m:radPr>
                      <m:deg/>
                      <m:e>
                        <m:f>
                          <m:fPr>
                            <m:ctrlPr>
                              <a:rPr lang="fr-FR" sz="2400" i="1">
                                <a:latin typeface="Cambria Math" panose="02040503050406030204" pitchFamily="18" charset="0"/>
                                <a:ea typeface="Cambria Math" panose="02040503050406030204" pitchFamily="18" charset="0"/>
                              </a:rPr>
                            </m:ctrlPr>
                          </m:fPr>
                          <m:num>
                            <m:r>
                              <a:rPr lang="fr-FR" sz="2400" i="1">
                                <a:latin typeface="Cambria Math" panose="02040503050406030204" pitchFamily="18" charset="0"/>
                                <a:ea typeface="Cambria Math" panose="02040503050406030204" pitchFamily="18" charset="0"/>
                              </a:rPr>
                              <m:t>𝑘</m:t>
                            </m:r>
                          </m:num>
                          <m:den>
                            <m:r>
                              <a:rPr lang="fr-FR" sz="2400" i="1">
                                <a:latin typeface="Cambria Math" panose="02040503050406030204" pitchFamily="18" charset="0"/>
                                <a:ea typeface="Cambria Math" panose="02040503050406030204" pitchFamily="18" charset="0"/>
                              </a:rPr>
                              <m:t>𝑀</m:t>
                            </m:r>
                          </m:den>
                        </m:f>
                        <m:r>
                          <a:rPr lang="fr-FR" sz="2400" i="1">
                            <a:latin typeface="Cambria Math" panose="02040503050406030204" pitchFamily="18" charset="0"/>
                            <a:ea typeface="Cambria Math" panose="02040503050406030204" pitchFamily="18" charset="0"/>
                          </a:rPr>
                          <m:t> </m:t>
                        </m:r>
                      </m:e>
                    </m:rad>
                  </m:oMath>
                </a14:m>
                <a:endParaRPr lang="fr-FR" sz="2400" dirty="0"/>
              </a:p>
            </p:txBody>
          </p:sp>
        </mc:Choice>
        <mc:Fallback xmlns="">
          <p:sp>
            <p:nvSpPr>
              <p:cNvPr id="28" name="ZoneTexte 27">
                <a:extLst>
                  <a:ext uri="{FF2B5EF4-FFF2-40B4-BE49-F238E27FC236}">
                    <a16:creationId xmlns:a16="http://schemas.microsoft.com/office/drawing/2014/main" id="{F47058FF-C96C-3C40-B73D-997704A17919}"/>
                  </a:ext>
                </a:extLst>
              </p:cNvPr>
              <p:cNvSpPr txBox="1">
                <a:spLocks noRot="1" noChangeAspect="1" noMove="1" noResize="1" noEditPoints="1" noAdjustHandles="1" noChangeArrowheads="1" noChangeShapeType="1" noTextEdit="1"/>
              </p:cNvSpPr>
              <p:nvPr/>
            </p:nvSpPr>
            <p:spPr>
              <a:xfrm>
                <a:off x="6491995" y="2030076"/>
                <a:ext cx="5073540" cy="1213217"/>
              </a:xfrm>
              <a:prstGeom prst="rect">
                <a:avLst/>
              </a:prstGeom>
              <a:blipFill>
                <a:blip r:embed="rId4"/>
                <a:stretch>
                  <a:fillRect l="-1799" t="-3483" r="-480"/>
                </a:stretch>
              </a:blipFill>
              <a:ln>
                <a:solidFill>
                  <a:schemeClr val="bg1"/>
                </a:solid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88999D56-7ECC-9DAE-E1A8-E893C38781CB}"/>
                  </a:ext>
                </a:extLst>
              </p:cNvPr>
              <p:cNvSpPr txBox="1"/>
              <p:nvPr/>
            </p:nvSpPr>
            <p:spPr>
              <a:xfrm>
                <a:off x="7038206" y="1199079"/>
                <a:ext cx="3271223" cy="830997"/>
              </a:xfrm>
              <a:prstGeom prst="rect">
                <a:avLst/>
              </a:prstGeom>
              <a:noFill/>
            </p:spPr>
            <p:txBody>
              <a:bodyPr wrap="square">
                <a:spAutoFit/>
              </a:bodyPr>
              <a:lstStyle/>
              <a:p>
                <a:r>
                  <a:rPr lang="fr-FR" sz="2400" dirty="0"/>
                  <a:t>Equation masse-ressort:</a:t>
                </a:r>
              </a:p>
              <a:p>
                <a:pPr/>
                <a14:m>
                  <m:oMathPara xmlns:m="http://schemas.openxmlformats.org/officeDocument/2006/math">
                    <m:oMathParaPr>
                      <m:jc m:val="centerGroup"/>
                    </m:oMathParaPr>
                    <m:oMath xmlns:m="http://schemas.openxmlformats.org/officeDocument/2006/math">
                      <m:r>
                        <a:rPr lang="fr-FR" sz="2400" b="0" i="1" smtClean="0">
                          <a:latin typeface="Cambria Math" panose="02040503050406030204" pitchFamily="18" charset="0"/>
                        </a:rPr>
                        <m:t>𝑀</m:t>
                      </m:r>
                      <m:acc>
                        <m:accPr>
                          <m:chr m:val="̈"/>
                          <m:ctrlPr>
                            <a:rPr lang="fr-FR" sz="2400" i="1" smtClean="0">
                              <a:latin typeface="Cambria Math" panose="02040503050406030204" pitchFamily="18" charset="0"/>
                            </a:rPr>
                          </m:ctrlPr>
                        </m:accPr>
                        <m:e>
                          <m:r>
                            <a:rPr lang="fr-FR" sz="2400" b="0" i="1" smtClean="0">
                              <a:latin typeface="Cambria Math" panose="02040503050406030204" pitchFamily="18" charset="0"/>
                            </a:rPr>
                            <m:t>𝑥</m:t>
                          </m:r>
                        </m:e>
                      </m:acc>
                      <m:r>
                        <a:rPr lang="fr-FR" sz="2400" b="0" i="1" smtClean="0">
                          <a:latin typeface="Cambria Math" panose="02040503050406030204" pitchFamily="18" charset="0"/>
                        </a:rPr>
                        <m:t>+</m:t>
                      </m:r>
                      <m:r>
                        <a:rPr lang="fr-FR" sz="2400" b="0" i="1" smtClean="0">
                          <a:latin typeface="Cambria Math" panose="02040503050406030204" pitchFamily="18" charset="0"/>
                        </a:rPr>
                        <m:t>𝑘𝑥</m:t>
                      </m:r>
                      <m:r>
                        <a:rPr lang="fr-FR" sz="2400" b="0" i="1" smtClean="0">
                          <a:latin typeface="Cambria Math" panose="02040503050406030204" pitchFamily="18" charset="0"/>
                        </a:rPr>
                        <m:t>=0</m:t>
                      </m:r>
                    </m:oMath>
                  </m:oMathPara>
                </a14:m>
                <a:endParaRPr lang="fr-FR" sz="2400" dirty="0"/>
              </a:p>
            </p:txBody>
          </p:sp>
        </mc:Choice>
        <mc:Fallback xmlns="">
          <p:sp>
            <p:nvSpPr>
              <p:cNvPr id="32" name="ZoneTexte 31">
                <a:extLst>
                  <a:ext uri="{FF2B5EF4-FFF2-40B4-BE49-F238E27FC236}">
                    <a16:creationId xmlns:a16="http://schemas.microsoft.com/office/drawing/2014/main" id="{88999D56-7ECC-9DAE-E1A8-E893C38781CB}"/>
                  </a:ext>
                </a:extLst>
              </p:cNvPr>
              <p:cNvSpPr txBox="1">
                <a:spLocks noRot="1" noChangeAspect="1" noMove="1" noResize="1" noEditPoints="1" noAdjustHandles="1" noChangeArrowheads="1" noChangeShapeType="1" noTextEdit="1"/>
              </p:cNvSpPr>
              <p:nvPr/>
            </p:nvSpPr>
            <p:spPr>
              <a:xfrm>
                <a:off x="7038206" y="1199079"/>
                <a:ext cx="3271223" cy="830997"/>
              </a:xfrm>
              <a:prstGeom prst="rect">
                <a:avLst/>
              </a:prstGeom>
              <a:blipFill>
                <a:blip r:embed="rId5"/>
                <a:stretch>
                  <a:fillRect l="-2985" t="-5882"/>
                </a:stretch>
              </a:blipFill>
            </p:spPr>
            <p:txBody>
              <a:bodyPr/>
              <a:lstStyle/>
              <a:p>
                <a:r>
                  <a:rPr lang="fr-FR">
                    <a:noFill/>
                  </a:rPr>
                  <a:t> </a:t>
                </a:r>
              </a:p>
            </p:txBody>
          </p:sp>
        </mc:Fallback>
      </mc:AlternateContent>
      <p:pic>
        <p:nvPicPr>
          <p:cNvPr id="13" name="Image 12">
            <a:extLst>
              <a:ext uri="{FF2B5EF4-FFF2-40B4-BE49-F238E27FC236}">
                <a16:creationId xmlns:a16="http://schemas.microsoft.com/office/drawing/2014/main" id="{A96B3C6A-9873-A66A-F643-A4BBF98849A7}"/>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29310" y="4004104"/>
            <a:ext cx="5149433" cy="2086094"/>
          </a:xfrm>
          <a:prstGeom prst="rect">
            <a:avLst/>
          </a:prstGeom>
        </p:spPr>
      </p:pic>
      <p:pic>
        <p:nvPicPr>
          <p:cNvPr id="24" name="Image 23">
            <a:extLst>
              <a:ext uri="{FF2B5EF4-FFF2-40B4-BE49-F238E27FC236}">
                <a16:creationId xmlns:a16="http://schemas.microsoft.com/office/drawing/2014/main" id="{BC8DF4B2-0D6F-E38C-751B-CF9842C860E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946241" y="4131914"/>
            <a:ext cx="3455151" cy="1692217"/>
          </a:xfrm>
          <a:prstGeom prst="rect">
            <a:avLst/>
          </a:prstGeom>
        </p:spPr>
      </p:pic>
      <p:sp>
        <p:nvSpPr>
          <p:cNvPr id="31" name="ZoneTexte 30">
            <a:extLst>
              <a:ext uri="{FF2B5EF4-FFF2-40B4-BE49-F238E27FC236}">
                <a16:creationId xmlns:a16="http://schemas.microsoft.com/office/drawing/2014/main" id="{7BCF4588-73E4-9333-6978-BBA5D980B6E6}"/>
              </a:ext>
            </a:extLst>
          </p:cNvPr>
          <p:cNvSpPr txBox="1"/>
          <p:nvPr/>
        </p:nvSpPr>
        <p:spPr>
          <a:xfrm>
            <a:off x="6780887" y="3420436"/>
            <a:ext cx="4114800" cy="461665"/>
          </a:xfrm>
          <a:prstGeom prst="rect">
            <a:avLst/>
          </a:prstGeom>
          <a:noFill/>
        </p:spPr>
        <p:txBody>
          <a:bodyPr wrap="square">
            <a:spAutoFit/>
          </a:bodyPr>
          <a:lstStyle/>
          <a:p>
            <a:r>
              <a:rPr lang="fr-FR" sz="2400" dirty="0"/>
              <a:t>Réponse à un échelon de 5mm</a:t>
            </a:r>
          </a:p>
        </p:txBody>
      </p:sp>
    </p:spTree>
    <p:extLst>
      <p:ext uri="{BB962C8B-B14F-4D97-AF65-F5344CB8AC3E}">
        <p14:creationId xmlns:p14="http://schemas.microsoft.com/office/powerpoint/2010/main" val="1029225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ABB53211-8BD8-700C-E858-F757EC587E88}"/>
              </a:ext>
            </a:extLst>
          </p:cNvPr>
          <p:cNvGrpSpPr/>
          <p:nvPr/>
        </p:nvGrpSpPr>
        <p:grpSpPr>
          <a:xfrm>
            <a:off x="420037" y="1635946"/>
            <a:ext cx="1648674" cy="2568159"/>
            <a:chOff x="4562261" y="860841"/>
            <a:chExt cx="1648674" cy="2568159"/>
          </a:xfrm>
        </p:grpSpPr>
        <p:pic>
          <p:nvPicPr>
            <p:cNvPr id="15" name="Image 14">
              <a:extLst>
                <a:ext uri="{FF2B5EF4-FFF2-40B4-BE49-F238E27FC236}">
                  <a16:creationId xmlns:a16="http://schemas.microsoft.com/office/drawing/2014/main" id="{C714B52E-7BDC-DEDE-8352-9193A01189DB}"/>
                </a:ext>
              </a:extLst>
            </p:cNvPr>
            <p:cNvPicPr>
              <a:picLocks noChangeAspect="1"/>
            </p:cNvPicPr>
            <p:nvPr/>
          </p:nvPicPr>
          <p:blipFill>
            <a:blip r:embed="rId2"/>
            <a:stretch>
              <a:fillRect/>
            </a:stretch>
          </p:blipFill>
          <p:spPr>
            <a:xfrm>
              <a:off x="4562261" y="952154"/>
              <a:ext cx="1533739" cy="2476846"/>
            </a:xfrm>
            <a:prstGeom prst="rect">
              <a:avLst/>
            </a:prstGeom>
          </p:spPr>
        </p:pic>
        <p:sp>
          <p:nvSpPr>
            <p:cNvPr id="16" name="ZoneTexte 15">
              <a:extLst>
                <a:ext uri="{FF2B5EF4-FFF2-40B4-BE49-F238E27FC236}">
                  <a16:creationId xmlns:a16="http://schemas.microsoft.com/office/drawing/2014/main" id="{0F950419-5FB9-B3D1-D0DD-0451C17DE031}"/>
                </a:ext>
              </a:extLst>
            </p:cNvPr>
            <p:cNvSpPr txBox="1"/>
            <p:nvPr/>
          </p:nvSpPr>
          <p:spPr>
            <a:xfrm>
              <a:off x="5181239" y="1140897"/>
              <a:ext cx="504427" cy="369332"/>
            </a:xfrm>
            <a:prstGeom prst="rect">
              <a:avLst/>
            </a:prstGeom>
            <a:solidFill>
              <a:srgbClr val="DDDDDD"/>
            </a:solidFill>
            <a:ln>
              <a:noFill/>
            </a:ln>
          </p:spPr>
          <p:txBody>
            <a:bodyPr wrap="square" rtlCol="0">
              <a:spAutoFit/>
            </a:bodyPr>
            <a:lstStyle/>
            <a:p>
              <a:r>
                <a:rPr lang="fr-FR" dirty="0"/>
                <a:t>M</a:t>
              </a:r>
            </a:p>
          </p:txBody>
        </p:sp>
        <p:sp>
          <p:nvSpPr>
            <p:cNvPr id="17" name="ZoneTexte 16">
              <a:extLst>
                <a:ext uri="{FF2B5EF4-FFF2-40B4-BE49-F238E27FC236}">
                  <a16:creationId xmlns:a16="http://schemas.microsoft.com/office/drawing/2014/main" id="{A0C6BF91-A1D4-A020-6980-C0B346D8F1AD}"/>
                </a:ext>
              </a:extLst>
            </p:cNvPr>
            <p:cNvSpPr txBox="1"/>
            <p:nvPr/>
          </p:nvSpPr>
          <p:spPr>
            <a:xfrm>
              <a:off x="5834948" y="1140897"/>
              <a:ext cx="375987" cy="369332"/>
            </a:xfrm>
            <a:prstGeom prst="rect">
              <a:avLst/>
            </a:prstGeom>
            <a:solidFill>
              <a:schemeClr val="bg1"/>
            </a:solidFill>
            <a:ln>
              <a:solidFill>
                <a:schemeClr val="bg1"/>
              </a:solidFill>
            </a:ln>
          </p:spPr>
          <p:txBody>
            <a:bodyPr wrap="square" rtlCol="0">
              <a:spAutoFit/>
            </a:bodyPr>
            <a:lstStyle/>
            <a:p>
              <a:endParaRPr lang="fr-FR" dirty="0"/>
            </a:p>
          </p:txBody>
        </p:sp>
        <p:sp>
          <p:nvSpPr>
            <p:cNvPr id="18" name="ZoneTexte 17">
              <a:extLst>
                <a:ext uri="{FF2B5EF4-FFF2-40B4-BE49-F238E27FC236}">
                  <a16:creationId xmlns:a16="http://schemas.microsoft.com/office/drawing/2014/main" id="{24253CF0-AC67-BCB6-47D4-67C48CB40D1A}"/>
                </a:ext>
              </a:extLst>
            </p:cNvPr>
            <p:cNvSpPr txBox="1"/>
            <p:nvPr/>
          </p:nvSpPr>
          <p:spPr>
            <a:xfrm>
              <a:off x="5834947" y="2854042"/>
              <a:ext cx="375987" cy="369332"/>
            </a:xfrm>
            <a:prstGeom prst="rect">
              <a:avLst/>
            </a:prstGeom>
            <a:solidFill>
              <a:schemeClr val="bg1"/>
            </a:solidFill>
            <a:ln>
              <a:solidFill>
                <a:schemeClr val="bg1"/>
              </a:solidFill>
            </a:ln>
          </p:spPr>
          <p:txBody>
            <a:bodyPr wrap="square" rtlCol="0">
              <a:spAutoFit/>
            </a:bodyPr>
            <a:lstStyle/>
            <a:p>
              <a:endParaRPr lang="fr-FR" dirty="0"/>
            </a:p>
          </p:txBody>
        </p:sp>
        <p:pic>
          <p:nvPicPr>
            <p:cNvPr id="19" name="Image 18">
              <a:extLst>
                <a:ext uri="{FF2B5EF4-FFF2-40B4-BE49-F238E27FC236}">
                  <a16:creationId xmlns:a16="http://schemas.microsoft.com/office/drawing/2014/main" id="{C8AB3F19-F09A-CCA1-19FA-E8F655112B7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6200000">
              <a:off x="5691977" y="1003813"/>
              <a:ext cx="516406" cy="230462"/>
            </a:xfrm>
            <a:prstGeom prst="rect">
              <a:avLst/>
            </a:prstGeom>
          </p:spPr>
        </p:pic>
      </p:grp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5FFB5841-D214-432C-8414-3D856974B662}"/>
                  </a:ext>
                </a:extLst>
              </p:cNvPr>
              <p:cNvSpPr txBox="1"/>
              <p:nvPr/>
            </p:nvSpPr>
            <p:spPr>
              <a:xfrm>
                <a:off x="7491398" y="1377247"/>
                <a:ext cx="3922736" cy="192219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400" dirty="0"/>
                  <a:t>Fréquence propre du système de barres:</a:t>
                </a:r>
              </a:p>
              <a:p>
                <a:pPr/>
                <a14:m>
                  <m:oMathPara xmlns:m="http://schemas.openxmlformats.org/officeDocument/2006/math">
                    <m:oMathParaPr>
                      <m:jc m:val="centerGroup"/>
                    </m:oMathParaPr>
                    <m:oMath xmlns:m="http://schemas.openxmlformats.org/officeDocument/2006/math">
                      <m:sSub>
                        <m:sSubPr>
                          <m:ctrlPr>
                            <a:rPr lang="fr-FR" sz="2400" i="1">
                              <a:latin typeface="Cambria Math" panose="02040503050406030204" pitchFamily="18" charset="0"/>
                            </a:rPr>
                          </m:ctrlPr>
                        </m:sSubPr>
                        <m:e>
                          <m:r>
                            <a:rPr lang="fr-FR" sz="2400" i="1">
                              <a:latin typeface="Cambria Math" panose="02040503050406030204" pitchFamily="18" charset="0"/>
                            </a:rPr>
                            <m:t>𝑓</m:t>
                          </m:r>
                        </m:e>
                        <m:sub>
                          <m:r>
                            <a:rPr lang="fr-FR" sz="2400" i="1">
                              <a:latin typeface="Cambria Math" panose="02040503050406030204" pitchFamily="18" charset="0"/>
                            </a:rPr>
                            <m:t>0</m:t>
                          </m:r>
                        </m:sub>
                      </m:sSub>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1</m:t>
                          </m:r>
                        </m:num>
                        <m:den>
                          <m:r>
                            <a:rPr lang="fr-FR" sz="2400" i="1">
                              <a:latin typeface="Cambria Math" panose="02040503050406030204" pitchFamily="18" charset="0"/>
                            </a:rPr>
                            <m:t>2</m:t>
                          </m:r>
                          <m:r>
                            <a:rPr lang="fr-FR" sz="2400" i="1">
                              <a:latin typeface="Cambria Math" panose="02040503050406030204" pitchFamily="18" charset="0"/>
                              <a:ea typeface="Cambria Math" panose="02040503050406030204" pitchFamily="18" charset="0"/>
                            </a:rPr>
                            <m:t>𝜋</m:t>
                          </m:r>
                        </m:den>
                      </m:f>
                      <m:rad>
                        <m:radPr>
                          <m:degHide m:val="on"/>
                          <m:ctrlPr>
                            <a:rPr lang="fr-FR" sz="2400" i="1">
                              <a:latin typeface="Cambria Math" panose="02040503050406030204" pitchFamily="18" charset="0"/>
                              <a:ea typeface="Cambria Math" panose="02040503050406030204" pitchFamily="18" charset="0"/>
                            </a:rPr>
                          </m:ctrlPr>
                        </m:radPr>
                        <m:deg/>
                        <m:e>
                          <m:f>
                            <m:fPr>
                              <m:ctrlPr>
                                <a:rPr lang="fr-FR" sz="2400" i="1">
                                  <a:latin typeface="Cambria Math" panose="02040503050406030204" pitchFamily="18" charset="0"/>
                                  <a:ea typeface="Cambria Math" panose="02040503050406030204" pitchFamily="18" charset="0"/>
                                </a:rPr>
                              </m:ctrlPr>
                            </m:fPr>
                            <m:num>
                              <m:r>
                                <a:rPr lang="fr-FR" sz="2400" b="0" i="1" smtClean="0">
                                  <a:latin typeface="Cambria Math" panose="02040503050406030204" pitchFamily="18" charset="0"/>
                                  <a:ea typeface="Cambria Math" panose="02040503050406030204" pitchFamily="18" charset="0"/>
                                </a:rPr>
                                <m:t>3</m:t>
                              </m:r>
                              <m:r>
                                <a:rPr lang="fr-FR" sz="2400" b="0" i="1" smtClean="0">
                                  <a:latin typeface="Cambria Math" panose="02040503050406030204" pitchFamily="18" charset="0"/>
                                  <a:ea typeface="Cambria Math" panose="02040503050406030204" pitchFamily="18" charset="0"/>
                                </a:rPr>
                                <m:t>𝐸𝐼</m:t>
                              </m:r>
                            </m:num>
                            <m:den>
                              <m:sSup>
                                <m:sSupPr>
                                  <m:ctrlPr>
                                    <a:rPr lang="fr-FR" sz="2400" b="0" i="1" smtClean="0">
                                      <a:latin typeface="Cambria Math" panose="02040503050406030204" pitchFamily="18" charset="0"/>
                                      <a:ea typeface="Cambria Math" panose="02040503050406030204" pitchFamily="18" charset="0"/>
                                    </a:rPr>
                                  </m:ctrlPr>
                                </m:sSupPr>
                                <m:e>
                                  <m:r>
                                    <a:rPr lang="fr-FR" sz="2400" b="0" i="1" smtClean="0">
                                      <a:latin typeface="Cambria Math" panose="02040503050406030204" pitchFamily="18" charset="0"/>
                                      <a:ea typeface="Cambria Math" panose="02040503050406030204" pitchFamily="18" charset="0"/>
                                    </a:rPr>
                                    <m:t>𝐿</m:t>
                                  </m:r>
                                </m:e>
                                <m:sup>
                                  <m:r>
                                    <a:rPr lang="fr-FR" sz="2400" b="0" i="1" smtClean="0">
                                      <a:latin typeface="Cambria Math" panose="02040503050406030204" pitchFamily="18" charset="0"/>
                                      <a:ea typeface="Cambria Math" panose="02040503050406030204" pitchFamily="18" charset="0"/>
                                    </a:rPr>
                                    <m:t>3</m:t>
                                  </m:r>
                                </m:sup>
                              </m:sSup>
                              <m:r>
                                <a:rPr lang="fr-FR" sz="2400" i="1">
                                  <a:latin typeface="Cambria Math" panose="02040503050406030204" pitchFamily="18" charset="0"/>
                                  <a:ea typeface="Cambria Math" panose="02040503050406030204" pitchFamily="18" charset="0"/>
                                </a:rPr>
                                <m:t>𝑀</m:t>
                              </m:r>
                            </m:den>
                          </m:f>
                          <m:r>
                            <a:rPr lang="fr-FR" sz="2400" i="1">
                              <a:latin typeface="Cambria Math" panose="02040503050406030204" pitchFamily="18" charset="0"/>
                              <a:ea typeface="Cambria Math" panose="02040503050406030204" pitchFamily="18" charset="0"/>
                            </a:rPr>
                            <m:t> </m:t>
                          </m:r>
                        </m:e>
                      </m:rad>
                    </m:oMath>
                  </m:oMathPara>
                </a14:m>
                <a:endParaRPr lang="fr-FR" sz="2400" dirty="0"/>
              </a:p>
            </p:txBody>
          </p:sp>
        </mc:Choice>
        <mc:Fallback xmlns="">
          <p:sp>
            <p:nvSpPr>
              <p:cNvPr id="24" name="ZoneTexte 23">
                <a:extLst>
                  <a:ext uri="{FF2B5EF4-FFF2-40B4-BE49-F238E27FC236}">
                    <a16:creationId xmlns:a16="http://schemas.microsoft.com/office/drawing/2014/main" id="{5FFB5841-D214-432C-8414-3D856974B662}"/>
                  </a:ext>
                </a:extLst>
              </p:cNvPr>
              <p:cNvSpPr txBox="1">
                <a:spLocks noRot="1" noChangeAspect="1" noMove="1" noResize="1" noEditPoints="1" noAdjustHandles="1" noChangeArrowheads="1" noChangeShapeType="1" noTextEdit="1"/>
              </p:cNvSpPr>
              <p:nvPr/>
            </p:nvSpPr>
            <p:spPr>
              <a:xfrm>
                <a:off x="7491398" y="1377247"/>
                <a:ext cx="3922736" cy="1922193"/>
              </a:xfrm>
              <a:prstGeom prst="rect">
                <a:avLst/>
              </a:prstGeom>
              <a:blipFill>
                <a:blip r:embed="rId4"/>
                <a:stretch>
                  <a:fillRect l="-2322" t="-2201" r="-2322"/>
                </a:stretch>
              </a:blipFill>
              <a:ln w="19050">
                <a:solidFill>
                  <a:srgbClr val="FF0000"/>
                </a:solidFill>
              </a:ln>
            </p:spPr>
            <p:txBody>
              <a:bodyPr/>
              <a:lstStyle/>
              <a:p>
                <a:r>
                  <a:rPr lang="fr-FR">
                    <a:noFill/>
                  </a:rPr>
                  <a:t> </a:t>
                </a:r>
              </a:p>
            </p:txBody>
          </p:sp>
        </mc:Fallback>
      </mc:AlternateContent>
      <p:sp>
        <p:nvSpPr>
          <p:cNvPr id="25" name="ZoneTexte 24">
            <a:extLst>
              <a:ext uri="{FF2B5EF4-FFF2-40B4-BE49-F238E27FC236}">
                <a16:creationId xmlns:a16="http://schemas.microsoft.com/office/drawing/2014/main" id="{C9A5CF77-B6D8-D5F0-65C2-CC8C76604C09}"/>
              </a:ext>
            </a:extLst>
          </p:cNvPr>
          <p:cNvSpPr txBox="1"/>
          <p:nvPr/>
        </p:nvSpPr>
        <p:spPr>
          <a:xfrm>
            <a:off x="3352758" y="2448230"/>
            <a:ext cx="4169229" cy="1569660"/>
          </a:xfrm>
          <a:prstGeom prst="rect">
            <a:avLst/>
          </a:prstGeom>
          <a:noFill/>
        </p:spPr>
        <p:txBody>
          <a:bodyPr wrap="square" rtlCol="0">
            <a:spAutoFit/>
          </a:bodyPr>
          <a:lstStyle/>
          <a:p>
            <a:r>
              <a:rPr lang="fr-FR" sz="2400" dirty="0"/>
              <a:t>On suppose que les barres sont en acier donc E=210GPA, I=bh^3/12=4*10*2^3/12= 26,67 , L=180mm</a:t>
            </a:r>
          </a:p>
        </p:txBody>
      </p: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F9ACD52-5756-6777-C770-CE9A7B408385}"/>
                  </a:ext>
                </a:extLst>
              </p:cNvPr>
              <p:cNvSpPr txBox="1"/>
              <p:nvPr/>
            </p:nvSpPr>
            <p:spPr>
              <a:xfrm>
                <a:off x="3655206" y="4536051"/>
                <a:ext cx="6517230" cy="1922193"/>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400" dirty="0"/>
                  <a:t>Donc M= </a:t>
                </a:r>
              </a:p>
              <a:p>
                <a:pPr/>
                <a14:m>
                  <m:oMathPara xmlns:m="http://schemas.openxmlformats.org/officeDocument/2006/math">
                    <m:oMathParaPr>
                      <m:jc m:val="centerGroup"/>
                    </m:oMathParaPr>
                    <m:oMath xmlns:m="http://schemas.openxmlformats.org/officeDocument/2006/math">
                      <m:sSub>
                        <m:sSubPr>
                          <m:ctrlPr>
                            <a:rPr lang="fr-FR" sz="2400" i="1">
                              <a:latin typeface="Cambria Math" panose="02040503050406030204" pitchFamily="18" charset="0"/>
                            </a:rPr>
                          </m:ctrlPr>
                        </m:sSubPr>
                        <m:e>
                          <m:r>
                            <a:rPr lang="fr-FR" sz="2400" b="0" i="1" smtClean="0">
                              <a:latin typeface="Cambria Math" panose="02040503050406030204" pitchFamily="18" charset="0"/>
                            </a:rPr>
                            <m:t>7=</m:t>
                          </m:r>
                          <m:r>
                            <a:rPr lang="fr-FR" sz="2400" i="1">
                              <a:latin typeface="Cambria Math" panose="02040503050406030204" pitchFamily="18" charset="0"/>
                            </a:rPr>
                            <m:t>𝑓</m:t>
                          </m:r>
                        </m:e>
                        <m:sub>
                          <m:r>
                            <a:rPr lang="fr-FR" sz="2400" i="1">
                              <a:latin typeface="Cambria Math" panose="02040503050406030204" pitchFamily="18" charset="0"/>
                            </a:rPr>
                            <m:t>0</m:t>
                          </m:r>
                        </m:sub>
                      </m:sSub>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1</m:t>
                          </m:r>
                        </m:num>
                        <m:den>
                          <m:r>
                            <a:rPr lang="fr-FR" sz="2400" i="1">
                              <a:latin typeface="Cambria Math" panose="02040503050406030204" pitchFamily="18" charset="0"/>
                            </a:rPr>
                            <m:t>2</m:t>
                          </m:r>
                          <m:r>
                            <a:rPr lang="fr-FR" sz="2400" i="1">
                              <a:latin typeface="Cambria Math" panose="02040503050406030204" pitchFamily="18" charset="0"/>
                              <a:ea typeface="Cambria Math" panose="02040503050406030204" pitchFamily="18" charset="0"/>
                            </a:rPr>
                            <m:t>𝜋</m:t>
                          </m:r>
                        </m:den>
                      </m:f>
                      <m:rad>
                        <m:radPr>
                          <m:degHide m:val="on"/>
                          <m:ctrlPr>
                            <a:rPr lang="fr-FR" sz="2400" i="1">
                              <a:latin typeface="Cambria Math" panose="02040503050406030204" pitchFamily="18" charset="0"/>
                              <a:ea typeface="Cambria Math" panose="02040503050406030204" pitchFamily="18" charset="0"/>
                            </a:rPr>
                          </m:ctrlPr>
                        </m:radPr>
                        <m:deg/>
                        <m:e>
                          <m:f>
                            <m:fPr>
                              <m:ctrlPr>
                                <a:rPr lang="fr-FR" sz="2400" i="1">
                                  <a:latin typeface="Cambria Math" panose="02040503050406030204" pitchFamily="18" charset="0"/>
                                  <a:ea typeface="Cambria Math" panose="02040503050406030204" pitchFamily="18" charset="0"/>
                                </a:rPr>
                              </m:ctrlPr>
                            </m:fPr>
                            <m:num>
                              <m:r>
                                <a:rPr lang="fr-FR" sz="2400" b="0" i="1" smtClean="0">
                                  <a:latin typeface="Cambria Math" panose="02040503050406030204" pitchFamily="18" charset="0"/>
                                  <a:ea typeface="Cambria Math" panose="02040503050406030204" pitchFamily="18" charset="0"/>
                                </a:rPr>
                                <m:t>3</m:t>
                              </m:r>
                              <m:r>
                                <a:rPr lang="fr-FR" sz="2400" b="0" i="1" smtClean="0">
                                  <a:latin typeface="Cambria Math" panose="02040503050406030204" pitchFamily="18" charset="0"/>
                                  <a:ea typeface="Cambria Math" panose="02040503050406030204" pitchFamily="18" charset="0"/>
                                </a:rPr>
                                <m:t>𝐸𝐼</m:t>
                              </m:r>
                            </m:num>
                            <m:den>
                              <m:sSup>
                                <m:sSupPr>
                                  <m:ctrlPr>
                                    <a:rPr lang="fr-FR" sz="2400" b="0" i="1" smtClean="0">
                                      <a:latin typeface="Cambria Math" panose="02040503050406030204" pitchFamily="18" charset="0"/>
                                      <a:ea typeface="Cambria Math" panose="02040503050406030204" pitchFamily="18" charset="0"/>
                                    </a:rPr>
                                  </m:ctrlPr>
                                </m:sSupPr>
                                <m:e>
                                  <m:r>
                                    <a:rPr lang="fr-FR" sz="2400" b="0" i="1" smtClean="0">
                                      <a:latin typeface="Cambria Math" panose="02040503050406030204" pitchFamily="18" charset="0"/>
                                      <a:ea typeface="Cambria Math" panose="02040503050406030204" pitchFamily="18" charset="0"/>
                                    </a:rPr>
                                    <m:t>𝐿</m:t>
                                  </m:r>
                                </m:e>
                                <m:sup>
                                  <m:r>
                                    <a:rPr lang="fr-FR" sz="2400" b="0" i="1" smtClean="0">
                                      <a:latin typeface="Cambria Math" panose="02040503050406030204" pitchFamily="18" charset="0"/>
                                      <a:ea typeface="Cambria Math" panose="02040503050406030204" pitchFamily="18" charset="0"/>
                                    </a:rPr>
                                    <m:t>3</m:t>
                                  </m:r>
                                </m:sup>
                              </m:sSup>
                              <m:r>
                                <a:rPr lang="fr-FR" sz="2400" i="1">
                                  <a:latin typeface="Cambria Math" panose="02040503050406030204" pitchFamily="18" charset="0"/>
                                  <a:ea typeface="Cambria Math" panose="02040503050406030204" pitchFamily="18" charset="0"/>
                                </a:rPr>
                                <m:t>𝑀</m:t>
                              </m:r>
                            </m:den>
                          </m:f>
                        </m:e>
                      </m:rad>
                      <m:r>
                        <a:rPr lang="fr-FR" sz="2400" b="0" i="1" smtClean="0">
                          <a:latin typeface="Cambria Math" panose="02040503050406030204" pitchFamily="18" charset="0"/>
                          <a:ea typeface="Cambria Math" panose="02040503050406030204" pitchFamily="18" charset="0"/>
                        </a:rPr>
                        <m:t>⇒</m:t>
                      </m:r>
                      <m:sSup>
                        <m:sSupPr>
                          <m:ctrlPr>
                            <a:rPr lang="fr-FR" sz="2400" b="0" i="1" smtClean="0">
                              <a:latin typeface="Cambria Math" panose="02040503050406030204" pitchFamily="18" charset="0"/>
                              <a:ea typeface="Cambria Math" panose="02040503050406030204" pitchFamily="18" charset="0"/>
                            </a:rPr>
                          </m:ctrlPr>
                        </m:sSupPr>
                        <m:e>
                          <m:d>
                            <m:dPr>
                              <m:ctrlPr>
                                <a:rPr lang="fr-FR" sz="2400" b="0" i="1" smtClean="0">
                                  <a:latin typeface="Cambria Math" panose="02040503050406030204" pitchFamily="18" charset="0"/>
                                  <a:ea typeface="Cambria Math" panose="02040503050406030204" pitchFamily="18" charset="0"/>
                                </a:rPr>
                              </m:ctrlPr>
                            </m:dPr>
                            <m:e>
                              <m:r>
                                <a:rPr lang="fr-FR" sz="2400" b="0" i="1" smtClean="0">
                                  <a:latin typeface="Cambria Math" panose="02040503050406030204" pitchFamily="18" charset="0"/>
                                  <a:ea typeface="Cambria Math" panose="02040503050406030204" pitchFamily="18" charset="0"/>
                                </a:rPr>
                                <m:t>2</m:t>
                              </m:r>
                              <m:sSub>
                                <m:sSubPr>
                                  <m:ctrlPr>
                                    <a:rPr lang="fr-FR" sz="2400" b="0" i="1" smtClean="0">
                                      <a:latin typeface="Cambria Math" panose="02040503050406030204" pitchFamily="18" charset="0"/>
                                      <a:ea typeface="Cambria Math" panose="02040503050406030204" pitchFamily="18" charset="0"/>
                                    </a:rPr>
                                  </m:ctrlPr>
                                </m:sSubPr>
                                <m:e>
                                  <m:r>
                                    <a:rPr lang="fr-FR" sz="2400" b="0" i="1" smtClean="0">
                                      <a:latin typeface="Cambria Math" panose="02040503050406030204" pitchFamily="18" charset="0"/>
                                      <a:ea typeface="Cambria Math" panose="02040503050406030204" pitchFamily="18" charset="0"/>
                                    </a:rPr>
                                    <m:t>𝜋</m:t>
                                  </m:r>
                                  <m:r>
                                    <a:rPr lang="fr-FR" sz="2400" b="0" i="1" smtClean="0">
                                      <a:latin typeface="Cambria Math" panose="02040503050406030204" pitchFamily="18" charset="0"/>
                                      <a:ea typeface="Cambria Math" panose="02040503050406030204" pitchFamily="18" charset="0"/>
                                    </a:rPr>
                                    <m:t>𝑓</m:t>
                                  </m:r>
                                </m:e>
                                <m:sub>
                                  <m:r>
                                    <a:rPr lang="fr-FR" sz="2400" b="0" i="0" smtClean="0">
                                      <a:latin typeface="Cambria Math" panose="02040503050406030204" pitchFamily="18" charset="0"/>
                                      <a:ea typeface="Cambria Math" panose="02040503050406030204" pitchFamily="18" charset="0"/>
                                    </a:rPr>
                                    <m:t>0</m:t>
                                  </m:r>
                                </m:sub>
                              </m:sSub>
                            </m:e>
                          </m:d>
                        </m:e>
                        <m:sup>
                          <m:r>
                            <a:rPr lang="fr-FR" sz="2400" b="0" i="0" smtClean="0">
                              <a:latin typeface="Cambria Math" panose="02040503050406030204" pitchFamily="18" charset="0"/>
                              <a:ea typeface="Cambria Math" panose="02040503050406030204" pitchFamily="18" charset="0"/>
                            </a:rPr>
                            <m:t>2</m:t>
                          </m:r>
                        </m:sup>
                      </m:sSup>
                      <m:r>
                        <a:rPr lang="fr-FR" sz="2400" b="0" i="0" smtClean="0">
                          <a:latin typeface="Cambria Math" panose="02040503050406030204" pitchFamily="18" charset="0"/>
                          <a:ea typeface="Cambria Math" panose="02040503050406030204" pitchFamily="18" charset="0"/>
                        </a:rPr>
                        <m:t>∗</m:t>
                      </m:r>
                      <m:f>
                        <m:fPr>
                          <m:ctrlPr>
                            <a:rPr lang="fr-FR" sz="2400" b="0" i="1" smtClean="0">
                              <a:latin typeface="Cambria Math" panose="02040503050406030204" pitchFamily="18" charset="0"/>
                              <a:ea typeface="Cambria Math" panose="02040503050406030204" pitchFamily="18" charset="0"/>
                            </a:rPr>
                          </m:ctrlPr>
                        </m:fPr>
                        <m:num>
                          <m:sSup>
                            <m:sSupPr>
                              <m:ctrlPr>
                                <a:rPr lang="fr-FR" sz="2400" b="0" i="1" smtClean="0">
                                  <a:latin typeface="Cambria Math" panose="02040503050406030204" pitchFamily="18" charset="0"/>
                                  <a:ea typeface="Cambria Math" panose="02040503050406030204" pitchFamily="18" charset="0"/>
                                </a:rPr>
                              </m:ctrlPr>
                            </m:sSupPr>
                            <m:e>
                              <m:r>
                                <m:rPr>
                                  <m:sty m:val="p"/>
                                </m:rPr>
                                <a:rPr lang="fr-FR" sz="2400" b="0" i="0" smtClean="0">
                                  <a:latin typeface="Cambria Math" panose="02040503050406030204" pitchFamily="18" charset="0"/>
                                  <a:ea typeface="Cambria Math" panose="02040503050406030204" pitchFamily="18" charset="0"/>
                                </a:rPr>
                                <m:t>L</m:t>
                              </m:r>
                            </m:e>
                            <m:sup>
                              <m:r>
                                <a:rPr lang="fr-FR" sz="2400" b="0" i="0" smtClean="0">
                                  <a:latin typeface="Cambria Math" panose="02040503050406030204" pitchFamily="18" charset="0"/>
                                  <a:ea typeface="Cambria Math" panose="02040503050406030204" pitchFamily="18" charset="0"/>
                                </a:rPr>
                                <m:t>3</m:t>
                              </m:r>
                            </m:sup>
                          </m:sSup>
                        </m:num>
                        <m:den>
                          <m:r>
                            <a:rPr lang="fr-FR" sz="2400" b="0" i="0" smtClean="0">
                              <a:latin typeface="Cambria Math" panose="02040503050406030204" pitchFamily="18" charset="0"/>
                              <a:ea typeface="Cambria Math" panose="02040503050406030204" pitchFamily="18" charset="0"/>
                            </a:rPr>
                            <m:t>3</m:t>
                          </m:r>
                          <m:r>
                            <m:rPr>
                              <m:sty m:val="p"/>
                            </m:rPr>
                            <a:rPr lang="fr-FR" sz="2400" b="0" i="0" smtClean="0">
                              <a:latin typeface="Cambria Math" panose="02040503050406030204" pitchFamily="18" charset="0"/>
                              <a:ea typeface="Cambria Math" panose="02040503050406030204" pitchFamily="18" charset="0"/>
                            </a:rPr>
                            <m:t>EI</m:t>
                          </m:r>
                        </m:den>
                      </m:f>
                      <m:r>
                        <a:rPr lang="fr-FR" sz="2400" b="0" i="0" smtClean="0">
                          <a:latin typeface="Cambria Math" panose="02040503050406030204" pitchFamily="18" charset="0"/>
                          <a:ea typeface="Cambria Math" panose="02040503050406030204" pitchFamily="18" charset="0"/>
                        </a:rPr>
                        <m:t>=</m:t>
                      </m:r>
                      <m:f>
                        <m:fPr>
                          <m:ctrlPr>
                            <a:rPr lang="fr-FR" sz="2400" b="0" i="1" smtClean="0">
                              <a:latin typeface="Cambria Math" panose="02040503050406030204" pitchFamily="18" charset="0"/>
                              <a:ea typeface="Cambria Math" panose="02040503050406030204" pitchFamily="18" charset="0"/>
                            </a:rPr>
                          </m:ctrlPr>
                        </m:fPr>
                        <m:num>
                          <m:r>
                            <a:rPr lang="fr-FR" sz="2400" b="0" i="0" smtClean="0">
                              <a:latin typeface="Cambria Math" panose="02040503050406030204" pitchFamily="18" charset="0"/>
                              <a:ea typeface="Cambria Math" panose="02040503050406030204" pitchFamily="18" charset="0"/>
                            </a:rPr>
                            <m:t>1</m:t>
                          </m:r>
                        </m:num>
                        <m:den>
                          <m:r>
                            <m:rPr>
                              <m:sty m:val="p"/>
                            </m:rPr>
                            <a:rPr lang="fr-FR" sz="2400" b="0" i="0" smtClean="0">
                              <a:latin typeface="Cambria Math" panose="02040503050406030204" pitchFamily="18" charset="0"/>
                              <a:ea typeface="Cambria Math" panose="02040503050406030204" pitchFamily="18" charset="0"/>
                            </a:rPr>
                            <m:t>M</m:t>
                          </m:r>
                        </m:den>
                      </m:f>
                      <m:r>
                        <a:rPr lang="fr-FR" sz="2400" b="0" i="0" smtClean="0">
                          <a:latin typeface="Cambria Math" panose="02040503050406030204" pitchFamily="18" charset="0"/>
                          <a:ea typeface="Cambria Math" panose="02040503050406030204" pitchFamily="18" charset="0"/>
                        </a:rPr>
                        <m:t>⇒</m:t>
                      </m:r>
                      <m:r>
                        <m:rPr>
                          <m:sty m:val="p"/>
                        </m:rPr>
                        <a:rPr lang="fr-FR" sz="2400" b="0" i="0" smtClean="0">
                          <a:latin typeface="Cambria Math" panose="02040503050406030204" pitchFamily="18" charset="0"/>
                          <a:ea typeface="Cambria Math" panose="02040503050406030204" pitchFamily="18" charset="0"/>
                        </a:rPr>
                        <m:t>m</m:t>
                      </m:r>
                      <m:r>
                        <a:rPr lang="fr-FR" sz="2400" b="0" i="0" smtClean="0">
                          <a:latin typeface="Cambria Math" panose="02040503050406030204" pitchFamily="18" charset="0"/>
                          <a:ea typeface="Cambria Math" panose="02040503050406030204" pitchFamily="18" charset="0"/>
                        </a:rPr>
                        <m:t>=1,15</m:t>
                      </m:r>
                      <m:r>
                        <m:rPr>
                          <m:sty m:val="p"/>
                        </m:rPr>
                        <a:rPr lang="fr-FR" sz="2400" b="0" i="0" smtClean="0">
                          <a:latin typeface="Cambria Math" panose="02040503050406030204" pitchFamily="18" charset="0"/>
                          <a:ea typeface="Cambria Math" panose="02040503050406030204" pitchFamily="18" charset="0"/>
                        </a:rPr>
                        <m:t>kg</m:t>
                      </m:r>
                    </m:oMath>
                  </m:oMathPara>
                </a14:m>
                <a:endParaRPr lang="fr-FR" sz="2400" dirty="0"/>
              </a:p>
            </p:txBody>
          </p:sp>
        </mc:Choice>
        <mc:Fallback xmlns="">
          <p:sp>
            <p:nvSpPr>
              <p:cNvPr id="26" name="ZoneTexte 25">
                <a:extLst>
                  <a:ext uri="{FF2B5EF4-FFF2-40B4-BE49-F238E27FC236}">
                    <a16:creationId xmlns:a16="http://schemas.microsoft.com/office/drawing/2014/main" id="{2F9ACD52-5756-6777-C770-CE9A7B408385}"/>
                  </a:ext>
                </a:extLst>
              </p:cNvPr>
              <p:cNvSpPr txBox="1">
                <a:spLocks noRot="1" noChangeAspect="1" noMove="1" noResize="1" noEditPoints="1" noAdjustHandles="1" noChangeArrowheads="1" noChangeShapeType="1" noTextEdit="1"/>
              </p:cNvSpPr>
              <p:nvPr/>
            </p:nvSpPr>
            <p:spPr>
              <a:xfrm>
                <a:off x="3655206" y="4536051"/>
                <a:ext cx="6517230" cy="1922193"/>
              </a:xfrm>
              <a:prstGeom prst="rect">
                <a:avLst/>
              </a:prstGeom>
              <a:blipFill>
                <a:blip r:embed="rId5"/>
                <a:stretch>
                  <a:fillRect l="-1399" t="-2201" b="-3145"/>
                </a:stretch>
              </a:blipFill>
              <a:ln w="19050">
                <a:solidFill>
                  <a:srgbClr val="FF0000"/>
                </a:solidFill>
              </a:ln>
            </p:spPr>
            <p:txBody>
              <a:bodyPr/>
              <a:lstStyle/>
              <a:p>
                <a:r>
                  <a:rPr lang="fr-FR">
                    <a:noFill/>
                  </a:rPr>
                  <a:t> </a:t>
                </a:r>
              </a:p>
            </p:txBody>
          </p:sp>
        </mc:Fallback>
      </mc:AlternateContent>
      <p:sp>
        <p:nvSpPr>
          <p:cNvPr id="28" name="ZoneTexte 27">
            <a:extLst>
              <a:ext uri="{FF2B5EF4-FFF2-40B4-BE49-F238E27FC236}">
                <a16:creationId xmlns:a16="http://schemas.microsoft.com/office/drawing/2014/main" id="{A35A39BE-C615-CD55-3B23-2762796A4DFD}"/>
              </a:ext>
            </a:extLst>
          </p:cNvPr>
          <p:cNvSpPr txBox="1"/>
          <p:nvPr/>
        </p:nvSpPr>
        <p:spPr>
          <a:xfrm>
            <a:off x="653141" y="134401"/>
            <a:ext cx="10406743" cy="1077218"/>
          </a:xfrm>
          <a:prstGeom prst="rect">
            <a:avLst/>
          </a:prstGeom>
          <a:noFill/>
        </p:spPr>
        <p:txBody>
          <a:bodyPr wrap="square">
            <a:spAutoFit/>
          </a:bodyPr>
          <a:lstStyle/>
          <a:p>
            <a:pPr algn="ctr"/>
            <a:r>
              <a:rPr lang="fr-FR" sz="3200" dirty="0"/>
              <a:t>Calcul pour un système masse ressort amortisseur simple</a:t>
            </a:r>
            <a:br>
              <a:rPr lang="fr-FR" sz="3200" dirty="0"/>
            </a:br>
            <a:r>
              <a:rPr lang="fr-FR" sz="3200" dirty="0"/>
              <a:t>de la fréquence propre</a:t>
            </a:r>
          </a:p>
        </p:txBody>
      </p:sp>
    </p:spTree>
    <p:extLst>
      <p:ext uri="{BB962C8B-B14F-4D97-AF65-F5344CB8AC3E}">
        <p14:creationId xmlns:p14="http://schemas.microsoft.com/office/powerpoint/2010/main" val="245003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F6EC-3F0C-2AC6-4D84-504BCD49BC39}"/>
            </a:ext>
          </a:extLst>
        </p:cNvPr>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E23B5697-0127-B216-A3C3-DA74273C75B5}"/>
              </a:ext>
            </a:extLst>
          </p:cNvPr>
          <p:cNvSpPr>
            <a:spLocks noGrp="1"/>
          </p:cNvSpPr>
          <p:nvPr>
            <p:ph type="sldNum" sz="quarter" idx="12"/>
          </p:nvPr>
        </p:nvSpPr>
        <p:spPr/>
        <p:txBody>
          <a:bodyPr/>
          <a:lstStyle/>
          <a:p>
            <a:fld id="{201A5C1E-DE71-4D99-BC1E-739595F062E0}" type="slidenum">
              <a:rPr lang="fr-FR" sz="2000" smtClean="0"/>
              <a:t>7</a:t>
            </a:fld>
            <a:r>
              <a:rPr lang="fr-FR" sz="2000" dirty="0"/>
              <a:t>/21</a:t>
            </a:r>
            <a:endParaRPr lang="fr-FR" dirty="0"/>
          </a:p>
        </p:txBody>
      </p:sp>
      <p:sp>
        <p:nvSpPr>
          <p:cNvPr id="18" name="Espace réservé du pied de page 17">
            <a:extLst>
              <a:ext uri="{FF2B5EF4-FFF2-40B4-BE49-F238E27FC236}">
                <a16:creationId xmlns:a16="http://schemas.microsoft.com/office/drawing/2014/main" id="{A3DDD089-C30B-DE70-1A02-79E669AC7847}"/>
              </a:ext>
            </a:extLst>
          </p:cNvPr>
          <p:cNvSpPr>
            <a:spLocks noGrp="1"/>
          </p:cNvSpPr>
          <p:nvPr>
            <p:ph type="ftr" sz="quarter" idx="11"/>
          </p:nvPr>
        </p:nvSpPr>
        <p:spPr>
          <a:xfrm>
            <a:off x="4038600" y="6485958"/>
            <a:ext cx="4114800" cy="365125"/>
          </a:xfrm>
        </p:spPr>
        <p:txBody>
          <a:bodyPr/>
          <a:lstStyle/>
          <a:p>
            <a:r>
              <a:rPr lang="fr-FR" sz="1600" dirty="0">
                <a:solidFill>
                  <a:schemeClr val="tx1"/>
                </a:solidFill>
              </a:rPr>
              <a:t>N° Arthur PREVISANI</a:t>
            </a:r>
          </a:p>
        </p:txBody>
      </p: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17E08826-D4AD-D8DA-12E2-0BA001309436}"/>
                  </a:ext>
                </a:extLst>
              </p:cNvPr>
              <p:cNvSpPr txBox="1"/>
              <p:nvPr/>
            </p:nvSpPr>
            <p:spPr>
              <a:xfrm>
                <a:off x="5204595" y="136525"/>
                <a:ext cx="5475798" cy="3101618"/>
              </a:xfrm>
              <a:prstGeom prst="rect">
                <a:avLst/>
              </a:prstGeom>
              <a:noFill/>
            </p:spPr>
            <p:txBody>
              <a:bodyPr wrap="square">
                <a:spAutoFit/>
              </a:bodyPr>
              <a:lstStyle/>
              <a:p>
                <a:r>
                  <a:rPr lang="fr-FR" sz="2400" dirty="0"/>
                  <a:t>Equation masse-ressort-amortisseur:</a:t>
                </a:r>
              </a:p>
              <a:p>
                <a:pPr/>
                <a14:m>
                  <m:oMathPara xmlns:m="http://schemas.openxmlformats.org/officeDocument/2006/math">
                    <m:oMathParaPr>
                      <m:jc m:val="centerGroup"/>
                    </m:oMathParaPr>
                    <m:oMath xmlns:m="http://schemas.openxmlformats.org/officeDocument/2006/math">
                      <m:r>
                        <a:rPr lang="fr-FR" sz="2400" b="0" i="1" smtClean="0">
                          <a:latin typeface="Cambria Math" panose="02040503050406030204" pitchFamily="18" charset="0"/>
                        </a:rPr>
                        <m:t>𝑀</m:t>
                      </m:r>
                      <m:acc>
                        <m:accPr>
                          <m:chr m:val="̈"/>
                          <m:ctrlPr>
                            <a:rPr lang="fr-FR" sz="2400" i="1" smtClean="0">
                              <a:latin typeface="Cambria Math" panose="02040503050406030204" pitchFamily="18" charset="0"/>
                            </a:rPr>
                          </m:ctrlPr>
                        </m:accPr>
                        <m:e>
                          <m:r>
                            <a:rPr lang="fr-FR" sz="2400" b="0" i="1" smtClean="0">
                              <a:latin typeface="Cambria Math" panose="02040503050406030204" pitchFamily="18" charset="0"/>
                            </a:rPr>
                            <m:t>𝑥</m:t>
                          </m:r>
                        </m:e>
                      </m:acc>
                      <m:r>
                        <a:rPr lang="fr-FR" sz="2400" b="0" i="1" smtClean="0">
                          <a:latin typeface="Cambria Math" panose="02040503050406030204" pitchFamily="18" charset="0"/>
                        </a:rPr>
                        <m:t>+</m:t>
                      </m:r>
                      <m:r>
                        <a:rPr lang="fr-FR" sz="2400" b="0" i="1" smtClean="0">
                          <a:latin typeface="Cambria Math" panose="02040503050406030204" pitchFamily="18" charset="0"/>
                        </a:rPr>
                        <m:t>𝑐</m:t>
                      </m:r>
                      <m:acc>
                        <m:accPr>
                          <m:chr m:val="̇"/>
                          <m:ctrlPr>
                            <a:rPr lang="fr-FR" sz="2400" b="0" i="1" smtClean="0">
                              <a:latin typeface="Cambria Math" panose="02040503050406030204" pitchFamily="18" charset="0"/>
                            </a:rPr>
                          </m:ctrlPr>
                        </m:accPr>
                        <m:e>
                          <m:r>
                            <a:rPr lang="fr-FR" sz="2400" b="0" i="1" smtClean="0">
                              <a:latin typeface="Cambria Math" panose="02040503050406030204" pitchFamily="18" charset="0"/>
                            </a:rPr>
                            <m:t>𝑥</m:t>
                          </m:r>
                        </m:e>
                      </m:acc>
                      <m:r>
                        <a:rPr lang="fr-FR" sz="2400" b="0" i="1" smtClean="0">
                          <a:latin typeface="Cambria Math" panose="02040503050406030204" pitchFamily="18" charset="0"/>
                        </a:rPr>
                        <m:t>+</m:t>
                      </m:r>
                      <m:r>
                        <a:rPr lang="fr-FR" sz="2400" b="0" i="1" smtClean="0">
                          <a:latin typeface="Cambria Math" panose="02040503050406030204" pitchFamily="18" charset="0"/>
                        </a:rPr>
                        <m:t>𝑘𝑥</m:t>
                      </m:r>
                      <m:r>
                        <a:rPr lang="fr-FR" sz="2400" b="0" i="1" smtClean="0">
                          <a:latin typeface="Cambria Math" panose="02040503050406030204" pitchFamily="18" charset="0"/>
                        </a:rPr>
                        <m:t>=0</m:t>
                      </m:r>
                    </m:oMath>
                  </m:oMathPara>
                </a14:m>
                <a:endParaRPr lang="fr-FR" sz="2400" dirty="0"/>
              </a:p>
              <a:p>
                <a14:m>
                  <m:oMath xmlns:m="http://schemas.openxmlformats.org/officeDocument/2006/math">
                    <m:sSub>
                      <m:sSubPr>
                        <m:ctrlPr>
                          <a:rPr lang="fr-FR" sz="2400" i="1">
                            <a:latin typeface="Cambria Math" panose="02040503050406030204" pitchFamily="18" charset="0"/>
                            <a:ea typeface="Cambria Math" panose="02040503050406030204" pitchFamily="18" charset="0"/>
                          </a:rPr>
                        </m:ctrlPr>
                      </m:sSubPr>
                      <m:e>
                        <m:r>
                          <a:rPr lang="fr-FR" sz="2400" i="1">
                            <a:latin typeface="Cambria Math" panose="02040503050406030204" pitchFamily="18" charset="0"/>
                            <a:ea typeface="Cambria Math" panose="02040503050406030204" pitchFamily="18" charset="0"/>
                          </a:rPr>
                          <m:t>𝜔</m:t>
                        </m:r>
                      </m:e>
                      <m:sub>
                        <m:r>
                          <a:rPr lang="fr-FR" sz="2400" b="0" i="1" smtClean="0">
                            <a:latin typeface="Cambria Math" panose="02040503050406030204" pitchFamily="18" charset="0"/>
                            <a:ea typeface="Cambria Math" panose="02040503050406030204" pitchFamily="18" charset="0"/>
                          </a:rPr>
                          <m:t>𝑑</m:t>
                        </m:r>
                      </m:sub>
                    </m:sSub>
                    <m:r>
                      <a:rPr lang="fr-FR" sz="2400" i="1">
                        <a:latin typeface="Cambria Math" panose="02040503050406030204" pitchFamily="18" charset="0"/>
                        <a:ea typeface="Cambria Math" panose="02040503050406030204" pitchFamily="18" charset="0"/>
                      </a:rPr>
                      <m:t>=</m:t>
                    </m:r>
                    <m:sSub>
                      <m:sSubPr>
                        <m:ctrlPr>
                          <a:rPr lang="fr-FR" sz="2400" i="1">
                            <a:latin typeface="Cambria Math" panose="02040503050406030204" pitchFamily="18" charset="0"/>
                            <a:ea typeface="Cambria Math" panose="02040503050406030204" pitchFamily="18" charset="0"/>
                          </a:rPr>
                        </m:ctrlPr>
                      </m:sSubPr>
                      <m:e>
                        <m:r>
                          <a:rPr lang="fr-FR" sz="2400" i="1">
                            <a:latin typeface="Cambria Math" panose="02040503050406030204" pitchFamily="18" charset="0"/>
                            <a:ea typeface="Cambria Math" panose="02040503050406030204" pitchFamily="18" charset="0"/>
                          </a:rPr>
                          <m:t>𝜔</m:t>
                        </m:r>
                      </m:e>
                      <m:sub>
                        <m:r>
                          <a:rPr lang="fr-FR" sz="2400" i="1">
                            <a:latin typeface="Cambria Math" panose="02040503050406030204" pitchFamily="18" charset="0"/>
                            <a:ea typeface="Cambria Math" panose="02040503050406030204" pitchFamily="18" charset="0"/>
                          </a:rPr>
                          <m:t>0</m:t>
                        </m:r>
                      </m:sub>
                    </m:sSub>
                    <m:rad>
                      <m:radPr>
                        <m:degHide m:val="on"/>
                        <m:ctrlPr>
                          <a:rPr lang="fr-FR" sz="2400" i="1">
                            <a:latin typeface="Cambria Math" panose="02040503050406030204" pitchFamily="18" charset="0"/>
                            <a:ea typeface="Cambria Math" panose="02040503050406030204" pitchFamily="18" charset="0"/>
                          </a:rPr>
                        </m:ctrlPr>
                      </m:radPr>
                      <m:deg/>
                      <m:e>
                        <m:r>
                          <a:rPr lang="fr-FR" sz="2400" b="0" i="1" smtClean="0">
                            <a:latin typeface="Cambria Math" panose="02040503050406030204" pitchFamily="18" charset="0"/>
                            <a:ea typeface="Cambria Math" panose="02040503050406030204" pitchFamily="18" charset="0"/>
                          </a:rPr>
                          <m:t>1−</m:t>
                        </m:r>
                        <m:r>
                          <a:rPr lang="fr-FR" sz="2400" b="0" i="1" smtClean="0">
                            <a:latin typeface="Cambria Math" panose="02040503050406030204" pitchFamily="18" charset="0"/>
                            <a:ea typeface="Cambria Math" panose="02040503050406030204" pitchFamily="18" charset="0"/>
                          </a:rPr>
                          <m:t>𝜉</m:t>
                        </m:r>
                        <m:r>
                          <a:rPr lang="fr-FR" sz="2400" b="0" i="1" smtClean="0">
                            <a:latin typeface="Cambria Math" panose="02040503050406030204" pitchFamily="18" charset="0"/>
                            <a:ea typeface="Cambria Math" panose="02040503050406030204" pitchFamily="18" charset="0"/>
                          </a:rPr>
                          <m:t>²</m:t>
                        </m:r>
                      </m:e>
                    </m:rad>
                  </m:oMath>
                </a14:m>
                <a:r>
                  <a:rPr lang="fr-FR" sz="2400" dirty="0">
                    <a:ea typeface="Cambria Math" panose="02040503050406030204" pitchFamily="18" charset="0"/>
                  </a:rPr>
                  <a:t>, </a:t>
                </a:r>
                <a14:m>
                  <m:oMath xmlns:m="http://schemas.openxmlformats.org/officeDocument/2006/math">
                    <m:sSub>
                      <m:sSubPr>
                        <m:ctrlPr>
                          <a:rPr lang="fr-FR" sz="2400" i="1">
                            <a:latin typeface="Cambria Math" panose="02040503050406030204" pitchFamily="18" charset="0"/>
                            <a:ea typeface="Cambria Math" panose="02040503050406030204" pitchFamily="18" charset="0"/>
                          </a:rPr>
                        </m:ctrlPr>
                      </m:sSubPr>
                      <m:e>
                        <m:r>
                          <a:rPr lang="fr-FR" sz="2400" i="1">
                            <a:latin typeface="Cambria Math" panose="02040503050406030204" pitchFamily="18" charset="0"/>
                            <a:ea typeface="Cambria Math" panose="02040503050406030204" pitchFamily="18" charset="0"/>
                          </a:rPr>
                          <m:t>𝜔</m:t>
                        </m:r>
                      </m:e>
                      <m:sub>
                        <m:r>
                          <a:rPr lang="fr-FR" sz="2400" i="1">
                            <a:latin typeface="Cambria Math" panose="02040503050406030204" pitchFamily="18" charset="0"/>
                            <a:ea typeface="Cambria Math" panose="02040503050406030204" pitchFamily="18" charset="0"/>
                          </a:rPr>
                          <m:t>0</m:t>
                        </m:r>
                      </m:sub>
                    </m:sSub>
                    <m:r>
                      <a:rPr lang="fr-FR" sz="2400" i="1">
                        <a:latin typeface="Cambria Math" panose="02040503050406030204" pitchFamily="18" charset="0"/>
                        <a:ea typeface="Cambria Math" panose="02040503050406030204" pitchFamily="18" charset="0"/>
                      </a:rPr>
                      <m:t>=</m:t>
                    </m:r>
                    <m:rad>
                      <m:radPr>
                        <m:degHide m:val="on"/>
                        <m:ctrlPr>
                          <a:rPr lang="fr-FR" sz="2400" i="1" smtClean="0">
                            <a:latin typeface="Cambria Math" panose="02040503050406030204" pitchFamily="18" charset="0"/>
                            <a:ea typeface="Cambria Math" panose="02040503050406030204" pitchFamily="18" charset="0"/>
                          </a:rPr>
                        </m:ctrlPr>
                      </m:radPr>
                      <m:deg/>
                      <m:e>
                        <m:f>
                          <m:fPr>
                            <m:ctrlPr>
                              <a:rPr lang="fr-FR" sz="2400" i="1">
                                <a:latin typeface="Cambria Math" panose="02040503050406030204" pitchFamily="18" charset="0"/>
                                <a:ea typeface="Cambria Math" panose="02040503050406030204" pitchFamily="18" charset="0"/>
                              </a:rPr>
                            </m:ctrlPr>
                          </m:fPr>
                          <m:num>
                            <m:r>
                              <a:rPr lang="fr-FR" sz="2400" i="1">
                                <a:latin typeface="Cambria Math" panose="02040503050406030204" pitchFamily="18" charset="0"/>
                                <a:ea typeface="Cambria Math" panose="02040503050406030204" pitchFamily="18" charset="0"/>
                              </a:rPr>
                              <m:t>𝑘</m:t>
                            </m:r>
                          </m:num>
                          <m:den>
                            <m:r>
                              <a:rPr lang="fr-FR" sz="2400" i="1">
                                <a:latin typeface="Cambria Math" panose="02040503050406030204" pitchFamily="18" charset="0"/>
                                <a:ea typeface="Cambria Math" panose="02040503050406030204" pitchFamily="18" charset="0"/>
                              </a:rPr>
                              <m:t>𝑀</m:t>
                            </m:r>
                          </m:den>
                        </m:f>
                        <m:r>
                          <a:rPr lang="fr-FR" sz="2400" i="1">
                            <a:latin typeface="Cambria Math" panose="02040503050406030204" pitchFamily="18" charset="0"/>
                            <a:ea typeface="Cambria Math" panose="02040503050406030204" pitchFamily="18" charset="0"/>
                          </a:rPr>
                          <m:t> </m:t>
                        </m:r>
                      </m:e>
                    </m:rad>
                  </m:oMath>
                </a14:m>
                <a:endParaRPr lang="fr-FR" sz="2400" dirty="0"/>
              </a:p>
              <a:p>
                <a:r>
                  <a:rPr lang="fr-FR" sz="2400" dirty="0"/>
                  <a:t>Donc:  </a:t>
                </a:r>
                <a14:m>
                  <m:oMath xmlns:m="http://schemas.openxmlformats.org/officeDocument/2006/math">
                    <m:r>
                      <a:rPr lang="fr-FR" sz="2800" i="1">
                        <a:latin typeface="Cambria Math" panose="02040503050406030204" pitchFamily="18" charset="0"/>
                        <a:ea typeface="Cambria Math" panose="02040503050406030204" pitchFamily="18" charset="0"/>
                      </a:rPr>
                      <m:t>𝜉</m:t>
                    </m:r>
                    <m:r>
                      <a:rPr lang="fr-FR" sz="2800" b="0" i="1" smtClean="0">
                        <a:latin typeface="Cambria Math" panose="02040503050406030204" pitchFamily="18" charset="0"/>
                        <a:ea typeface="Cambria Math" panose="02040503050406030204" pitchFamily="18" charset="0"/>
                      </a:rPr>
                      <m:t>=</m:t>
                    </m:r>
                    <m:f>
                      <m:fPr>
                        <m:ctrlPr>
                          <a:rPr lang="fr-FR" sz="2800" b="0" i="1" smtClean="0">
                            <a:latin typeface="Cambria Math" panose="02040503050406030204" pitchFamily="18" charset="0"/>
                            <a:ea typeface="Cambria Math" panose="02040503050406030204" pitchFamily="18" charset="0"/>
                          </a:rPr>
                        </m:ctrlPr>
                      </m:fPr>
                      <m:num>
                        <m:r>
                          <a:rPr lang="fr-FR" sz="2800" b="0" i="1" smtClean="0">
                            <a:latin typeface="Cambria Math" panose="02040503050406030204" pitchFamily="18" charset="0"/>
                            <a:ea typeface="Cambria Math" panose="02040503050406030204" pitchFamily="18" charset="0"/>
                          </a:rPr>
                          <m:t>𝑐</m:t>
                        </m:r>
                      </m:num>
                      <m:den>
                        <m:r>
                          <a:rPr lang="fr-FR" sz="2800" b="0" i="1" smtClean="0">
                            <a:latin typeface="Cambria Math" panose="02040503050406030204" pitchFamily="18" charset="0"/>
                            <a:ea typeface="Cambria Math" panose="02040503050406030204" pitchFamily="18" charset="0"/>
                          </a:rPr>
                          <m:t>2</m:t>
                        </m:r>
                        <m:rad>
                          <m:radPr>
                            <m:degHide m:val="on"/>
                            <m:ctrlPr>
                              <a:rPr lang="fr-FR" sz="2800" i="1">
                                <a:latin typeface="Cambria Math" panose="02040503050406030204" pitchFamily="18" charset="0"/>
                                <a:ea typeface="Cambria Math" panose="02040503050406030204" pitchFamily="18" charset="0"/>
                              </a:rPr>
                            </m:ctrlPr>
                          </m:radPr>
                          <m:deg/>
                          <m:e>
                            <m:r>
                              <a:rPr lang="fr-FR" sz="2800" b="0" i="1" smtClean="0">
                                <a:latin typeface="Cambria Math" panose="02040503050406030204" pitchFamily="18" charset="0"/>
                                <a:ea typeface="Cambria Math" panose="02040503050406030204" pitchFamily="18" charset="0"/>
                              </a:rPr>
                              <m:t>𝑘𝑀</m:t>
                            </m:r>
                            <m:r>
                              <a:rPr lang="fr-FR" sz="2800" i="1">
                                <a:latin typeface="Cambria Math" panose="02040503050406030204" pitchFamily="18" charset="0"/>
                                <a:ea typeface="Cambria Math" panose="02040503050406030204" pitchFamily="18" charset="0"/>
                              </a:rPr>
                              <m:t> </m:t>
                            </m:r>
                          </m:e>
                        </m:rad>
                      </m:den>
                    </m:f>
                  </m:oMath>
                </a14:m>
                <a:endParaRPr lang="fr-FR" sz="2400" dirty="0"/>
              </a:p>
              <a:p>
                <a:r>
                  <a:rPr lang="fr-FR" sz="2400" dirty="0"/>
                  <a:t>On mesure: </a:t>
                </a:r>
                <a14:m>
                  <m:oMath xmlns:m="http://schemas.openxmlformats.org/officeDocument/2006/math">
                    <m:r>
                      <a:rPr lang="fr-FR" sz="2400" b="0" i="1" smtClean="0">
                        <a:latin typeface="Cambria Math" panose="02040503050406030204" pitchFamily="18" charset="0"/>
                      </a:rPr>
                      <m:t>𝑘</m:t>
                    </m:r>
                    <m:r>
                      <a:rPr lang="fr-FR" sz="2400" b="0" i="1"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1" smtClean="0">
                            <a:latin typeface="Cambria Math" panose="02040503050406030204" pitchFamily="18" charset="0"/>
                          </a:rPr>
                          <m:t>10</m:t>
                        </m:r>
                      </m:num>
                      <m:den>
                        <m:r>
                          <a:rPr lang="fr-FR" sz="2400" b="0" i="1" smtClean="0">
                            <a:latin typeface="Cambria Math" panose="02040503050406030204" pitchFamily="18" charset="0"/>
                          </a:rPr>
                          <m:t>0,0011</m:t>
                        </m:r>
                      </m:den>
                    </m:f>
                    <m:r>
                      <a:rPr lang="fr-FR" sz="2400" b="0" i="1" smtClean="0">
                        <a:latin typeface="Cambria Math" panose="02040503050406030204" pitchFamily="18" charset="0"/>
                      </a:rPr>
                      <m:t>=9100</m:t>
                    </m:r>
                    <m:r>
                      <a:rPr lang="fr-FR" sz="2400" b="0" i="1" smtClean="0">
                        <a:latin typeface="Cambria Math" panose="02040503050406030204" pitchFamily="18" charset="0"/>
                      </a:rPr>
                      <m:t>𝑁</m:t>
                    </m:r>
                    <m:r>
                      <a:rPr lang="fr-FR" sz="2400" b="0" i="1" smtClean="0">
                        <a:latin typeface="Cambria Math" panose="02040503050406030204" pitchFamily="18" charset="0"/>
                      </a:rPr>
                      <m:t>/</m:t>
                    </m:r>
                    <m:r>
                      <a:rPr lang="fr-FR" sz="2400" b="0" i="1" smtClean="0">
                        <a:latin typeface="Cambria Math" panose="02040503050406030204" pitchFamily="18" charset="0"/>
                      </a:rPr>
                      <m:t>𝑚</m:t>
                    </m:r>
                  </m:oMath>
                </a14:m>
                <a:r>
                  <a:rPr lang="fr-FR" sz="2400" dirty="0"/>
                  <a:t>, M =1,15kg</a:t>
                </a:r>
              </a:p>
            </p:txBody>
          </p:sp>
        </mc:Choice>
        <mc:Fallback xmlns="">
          <p:sp>
            <p:nvSpPr>
              <p:cNvPr id="14" name="ZoneTexte 13">
                <a:extLst>
                  <a:ext uri="{FF2B5EF4-FFF2-40B4-BE49-F238E27FC236}">
                    <a16:creationId xmlns:a16="http://schemas.microsoft.com/office/drawing/2014/main" id="{17E08826-D4AD-D8DA-12E2-0BA001309436}"/>
                  </a:ext>
                </a:extLst>
              </p:cNvPr>
              <p:cNvSpPr txBox="1">
                <a:spLocks noRot="1" noChangeAspect="1" noMove="1" noResize="1" noEditPoints="1" noAdjustHandles="1" noChangeArrowheads="1" noChangeShapeType="1" noTextEdit="1"/>
              </p:cNvSpPr>
              <p:nvPr/>
            </p:nvSpPr>
            <p:spPr>
              <a:xfrm>
                <a:off x="5204595" y="136525"/>
                <a:ext cx="5475798" cy="3101618"/>
              </a:xfrm>
              <a:prstGeom prst="rect">
                <a:avLst/>
              </a:prstGeom>
              <a:blipFill>
                <a:blip r:embed="rId3"/>
                <a:stretch>
                  <a:fillRect l="-1782" t="-1572" b="-353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91A612CE-E375-C119-F8BB-7924693771B8}"/>
                  </a:ext>
                </a:extLst>
              </p:cNvPr>
              <p:cNvSpPr txBox="1"/>
              <p:nvPr/>
            </p:nvSpPr>
            <p:spPr>
              <a:xfrm>
                <a:off x="4562261" y="5805101"/>
                <a:ext cx="7573439" cy="614655"/>
              </a:xfrm>
              <a:prstGeom prst="rect">
                <a:avLst/>
              </a:prstGeom>
              <a:noFill/>
            </p:spPr>
            <p:txBody>
              <a:bodyPr wrap="square">
                <a:spAutoFit/>
              </a:bodyPr>
              <a:lstStyle/>
              <a:p>
                <a:r>
                  <a:rPr lang="fr-FR" sz="2400" dirty="0"/>
                  <a:t>D1% : 35% =&gt; </a:t>
                </a:r>
                <a14:m>
                  <m:oMath xmlns:m="http://schemas.openxmlformats.org/officeDocument/2006/math">
                    <m:r>
                      <a:rPr lang="fr-FR" sz="2400" i="1">
                        <a:latin typeface="Cambria Math" panose="02040503050406030204" pitchFamily="18" charset="0"/>
                        <a:ea typeface="Cambria Math" panose="02040503050406030204" pitchFamily="18" charset="0"/>
                      </a:rPr>
                      <m:t>𝜉</m:t>
                    </m:r>
                  </m:oMath>
                </a14:m>
                <a:r>
                  <a:rPr lang="fr-FR" sz="2400" dirty="0"/>
                  <a:t> = 0,35 =&gt; c =  5,12 </a:t>
                </a:r>
                <a:r>
                  <a:rPr lang="fr-FR" sz="2400" dirty="0" err="1"/>
                  <a:t>N.s</a:t>
                </a:r>
                <a:r>
                  <a:rPr lang="fr-FR" sz="2400" dirty="0"/>
                  <a:t>/m, </a:t>
                </a:r>
                <a14:m>
                  <m:oMath xmlns:m="http://schemas.openxmlformats.org/officeDocument/2006/math">
                    <m:sSub>
                      <m:sSubPr>
                        <m:ctrlPr>
                          <a:rPr lang="fr-FR" sz="2400" i="1">
                            <a:latin typeface="Cambria Math" panose="02040503050406030204" pitchFamily="18" charset="0"/>
                          </a:rPr>
                        </m:ctrlPr>
                      </m:sSubPr>
                      <m:e>
                        <m:r>
                          <a:rPr lang="fr-FR" sz="2400" i="1">
                            <a:latin typeface="Cambria Math" panose="02040503050406030204" pitchFamily="18" charset="0"/>
                          </a:rPr>
                          <m:t>𝑓</m:t>
                        </m:r>
                      </m:e>
                      <m:sub>
                        <m:r>
                          <a:rPr lang="fr-FR" sz="2400" i="1">
                            <a:latin typeface="Cambria Math" panose="02040503050406030204" pitchFamily="18" charset="0"/>
                          </a:rPr>
                          <m:t>0</m:t>
                        </m:r>
                      </m:sub>
                    </m:sSub>
                    <m:r>
                      <a:rPr lang="fr-FR" sz="2400" b="0" i="0" smtClean="0">
                        <a:latin typeface="Cambria Math" panose="02040503050406030204" pitchFamily="18" charset="0"/>
                      </a:rPr>
                      <m:t>=</m:t>
                    </m:r>
                    <m:f>
                      <m:fPr>
                        <m:ctrlPr>
                          <a:rPr lang="fr-FR" sz="2400" b="0" i="1" smtClean="0">
                            <a:latin typeface="Cambria Math" panose="02040503050406030204" pitchFamily="18" charset="0"/>
                          </a:rPr>
                        </m:ctrlPr>
                      </m:fPr>
                      <m:num>
                        <m:r>
                          <a:rPr lang="fr-FR" sz="2400" b="0" i="0" smtClean="0">
                            <a:latin typeface="Cambria Math" panose="02040503050406030204" pitchFamily="18" charset="0"/>
                          </a:rPr>
                          <m:t>8</m:t>
                        </m:r>
                      </m:num>
                      <m:den>
                        <m:r>
                          <a:rPr lang="fr-FR" sz="2400" b="0" i="0" smtClean="0">
                            <a:latin typeface="Cambria Math" panose="02040503050406030204" pitchFamily="18" charset="0"/>
                          </a:rPr>
                          <m:t>1</m:t>
                        </m:r>
                      </m:den>
                    </m:f>
                    <m:r>
                      <a:rPr lang="fr-FR" sz="2400" b="0" i="0" smtClean="0">
                        <a:latin typeface="Cambria Math" panose="02040503050406030204" pitchFamily="18" charset="0"/>
                      </a:rPr>
                      <m:t>=8 </m:t>
                    </m:r>
                    <m:r>
                      <m:rPr>
                        <m:sty m:val="p"/>
                      </m:rPr>
                      <a:rPr lang="fr-FR" sz="2400" b="0" i="0" smtClean="0">
                        <a:latin typeface="Cambria Math" panose="02040503050406030204" pitchFamily="18" charset="0"/>
                      </a:rPr>
                      <m:t>Hz</m:t>
                    </m:r>
                  </m:oMath>
                </a14:m>
                <a:endParaRPr lang="fr-FR" sz="2400" dirty="0"/>
              </a:p>
            </p:txBody>
          </p:sp>
        </mc:Choice>
        <mc:Fallback xmlns="">
          <p:sp>
            <p:nvSpPr>
              <p:cNvPr id="44" name="ZoneTexte 43">
                <a:extLst>
                  <a:ext uri="{FF2B5EF4-FFF2-40B4-BE49-F238E27FC236}">
                    <a16:creationId xmlns:a16="http://schemas.microsoft.com/office/drawing/2014/main" id="{91A612CE-E375-C119-F8BB-7924693771B8}"/>
                  </a:ext>
                </a:extLst>
              </p:cNvPr>
              <p:cNvSpPr txBox="1">
                <a:spLocks noRot="1" noChangeAspect="1" noMove="1" noResize="1" noEditPoints="1" noAdjustHandles="1" noChangeArrowheads="1" noChangeShapeType="1" noTextEdit="1"/>
              </p:cNvSpPr>
              <p:nvPr/>
            </p:nvSpPr>
            <p:spPr>
              <a:xfrm>
                <a:off x="4562261" y="5805101"/>
                <a:ext cx="7573439" cy="614655"/>
              </a:xfrm>
              <a:prstGeom prst="rect">
                <a:avLst/>
              </a:prstGeom>
              <a:blipFill>
                <a:blip r:embed="rId4"/>
                <a:stretch>
                  <a:fillRect l="-1207" b="-990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8DC42C8B-2BB1-80BD-8002-37FFB1B18C33}"/>
                  </a:ext>
                </a:extLst>
              </p:cNvPr>
              <p:cNvSpPr txBox="1"/>
              <p:nvPr/>
            </p:nvSpPr>
            <p:spPr>
              <a:xfrm>
                <a:off x="605894" y="4304515"/>
                <a:ext cx="3978653"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2400" b="0" i="1" smtClean="0">
                          <a:latin typeface="Cambria Math" panose="02040503050406030204" pitchFamily="18" charset="0"/>
                        </a:rPr>
                        <m:t>𝐷</m:t>
                      </m:r>
                      <m:r>
                        <a:rPr lang="fr-FR" sz="2400" b="0" i="1" smtClean="0">
                          <a:latin typeface="Cambria Math" panose="02040503050406030204" pitchFamily="18" charset="0"/>
                        </a:rPr>
                        <m:t>1%=95% </m:t>
                      </m:r>
                      <m:r>
                        <a:rPr lang="fr-FR" sz="2400" b="0" i="1" smtClean="0">
                          <a:latin typeface="Cambria Math" panose="02040503050406030204" pitchFamily="18" charset="0"/>
                        </a:rPr>
                        <m:t>𝑑𝑜𝑛𝑐</m:t>
                      </m:r>
                      <m:r>
                        <a:rPr lang="fr-FR" sz="2400" b="0" i="1" smtClean="0">
                          <a:latin typeface="Cambria Math" panose="02040503050406030204" pitchFamily="18" charset="0"/>
                        </a:rPr>
                        <m:t> </m:t>
                      </m:r>
                      <m:r>
                        <a:rPr lang="fr-FR" sz="2400" b="0" i="1" smtClean="0">
                          <a:latin typeface="Cambria Math" panose="02040503050406030204" pitchFamily="18" charset="0"/>
                        </a:rPr>
                        <m:t>𝑥𝑖</m:t>
                      </m:r>
                      <m:r>
                        <a:rPr lang="fr-FR" sz="2400" b="0" i="1" smtClean="0">
                          <a:latin typeface="Cambria Math" panose="02040503050406030204" pitchFamily="18" charset="0"/>
                        </a:rPr>
                        <m:t>=0,05</m:t>
                      </m:r>
                    </m:oMath>
                  </m:oMathPara>
                </a14:m>
                <a:endParaRPr lang="fr-FR" sz="2400" b="0" dirty="0"/>
              </a:p>
              <a:p>
                <a:r>
                  <a:rPr lang="fr-FR" sz="2400" dirty="0"/>
                  <a:t>Donc c=0,05x2*</a:t>
                </a:r>
                <a:r>
                  <a:rPr lang="fr-FR" sz="2400" dirty="0" err="1"/>
                  <a:t>sqrt</a:t>
                </a:r>
                <a:r>
                  <a:rPr lang="fr-FR" sz="2400" dirty="0"/>
                  <a:t>(1,15*9100)</a:t>
                </a:r>
              </a:p>
            </p:txBody>
          </p:sp>
        </mc:Choice>
        <mc:Fallback xmlns="">
          <p:sp>
            <p:nvSpPr>
              <p:cNvPr id="7" name="ZoneTexte 6">
                <a:extLst>
                  <a:ext uri="{FF2B5EF4-FFF2-40B4-BE49-F238E27FC236}">
                    <a16:creationId xmlns:a16="http://schemas.microsoft.com/office/drawing/2014/main" id="{8DC42C8B-2BB1-80BD-8002-37FFB1B18C33}"/>
                  </a:ext>
                </a:extLst>
              </p:cNvPr>
              <p:cNvSpPr txBox="1">
                <a:spLocks noRot="1" noChangeAspect="1" noMove="1" noResize="1" noEditPoints="1" noAdjustHandles="1" noChangeArrowheads="1" noChangeShapeType="1" noTextEdit="1"/>
              </p:cNvSpPr>
              <p:nvPr/>
            </p:nvSpPr>
            <p:spPr>
              <a:xfrm>
                <a:off x="605894" y="4304515"/>
                <a:ext cx="3978653" cy="738664"/>
              </a:xfrm>
              <a:prstGeom prst="rect">
                <a:avLst/>
              </a:prstGeom>
              <a:blipFill>
                <a:blip r:embed="rId5"/>
                <a:stretch>
                  <a:fillRect l="-4594" r="-3216" b="-24793"/>
                </a:stretch>
              </a:blipFill>
            </p:spPr>
            <p:txBody>
              <a:bodyPr/>
              <a:lstStyle/>
              <a:p>
                <a:r>
                  <a:rPr lang="fr-FR">
                    <a:noFill/>
                  </a:rPr>
                  <a:t> </a:t>
                </a:r>
              </a:p>
            </p:txBody>
          </p:sp>
        </mc:Fallback>
      </mc:AlternateContent>
      <p:pic>
        <p:nvPicPr>
          <p:cNvPr id="10" name="Image 9">
            <a:extLst>
              <a:ext uri="{FF2B5EF4-FFF2-40B4-BE49-F238E27FC236}">
                <a16:creationId xmlns:a16="http://schemas.microsoft.com/office/drawing/2014/main" id="{8CA838BD-FBCD-D7F4-0194-F46425324B0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rot="16200000">
            <a:off x="536682" y="-423482"/>
            <a:ext cx="4117079" cy="5096101"/>
          </a:xfrm>
          <a:prstGeom prst="rect">
            <a:avLst/>
          </a:prstGeom>
        </p:spPr>
      </p:pic>
      <p:pic>
        <p:nvPicPr>
          <p:cNvPr id="12" name="Image 11">
            <a:extLst>
              <a:ext uri="{FF2B5EF4-FFF2-40B4-BE49-F238E27FC236}">
                <a16:creationId xmlns:a16="http://schemas.microsoft.com/office/drawing/2014/main" id="{6EECDF3C-2C80-E9B1-687C-B90F4E6C2DC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471822" y="2870131"/>
            <a:ext cx="5389309" cy="2868768"/>
          </a:xfrm>
          <a:prstGeom prst="rect">
            <a:avLst/>
          </a:prstGeom>
        </p:spPr>
      </p:pic>
    </p:spTree>
    <p:extLst>
      <p:ext uri="{BB962C8B-B14F-4D97-AF65-F5344CB8AC3E}">
        <p14:creationId xmlns:p14="http://schemas.microsoft.com/office/powerpoint/2010/main" val="3287687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721221-444B-CB8F-5D46-F61CBF738D5C}"/>
              </a:ext>
            </a:extLst>
          </p:cNvPr>
          <p:cNvSpPr>
            <a:spLocks noGrp="1"/>
          </p:cNvSpPr>
          <p:nvPr>
            <p:ph type="title"/>
          </p:nvPr>
        </p:nvSpPr>
        <p:spPr>
          <a:xfrm>
            <a:off x="838200" y="0"/>
            <a:ext cx="10515600" cy="1325563"/>
          </a:xfrm>
        </p:spPr>
        <p:txBody>
          <a:bodyPr/>
          <a:lstStyle/>
          <a:p>
            <a:r>
              <a:rPr lang="fr-FR" dirty="0"/>
              <a:t>Contexte pédagogique</a:t>
            </a:r>
          </a:p>
        </p:txBody>
      </p:sp>
      <p:sp>
        <p:nvSpPr>
          <p:cNvPr id="6" name="ZoneTexte 5">
            <a:extLst>
              <a:ext uri="{FF2B5EF4-FFF2-40B4-BE49-F238E27FC236}">
                <a16:creationId xmlns:a16="http://schemas.microsoft.com/office/drawing/2014/main" id="{C44D3443-A7A0-E1C5-08ED-AE723CB105B3}"/>
              </a:ext>
            </a:extLst>
          </p:cNvPr>
          <p:cNvSpPr txBox="1"/>
          <p:nvPr/>
        </p:nvSpPr>
        <p:spPr>
          <a:xfrm>
            <a:off x="1247264" y="1028343"/>
            <a:ext cx="9116901" cy="2400657"/>
          </a:xfrm>
          <a:prstGeom prst="rect">
            <a:avLst/>
          </a:prstGeom>
          <a:noFill/>
        </p:spPr>
        <p:txBody>
          <a:bodyPr wrap="square" rtlCol="0">
            <a:spAutoFit/>
          </a:bodyPr>
          <a:lstStyle/>
          <a:p>
            <a:r>
              <a:rPr lang="fr-FR" sz="3000" dirty="0"/>
              <a:t>Terminale STI2D spécialité ITEC</a:t>
            </a:r>
          </a:p>
          <a:p>
            <a:r>
              <a:rPr lang="fr-FR" sz="3000" dirty="0"/>
              <a:t>Classe de 36 élèves</a:t>
            </a:r>
          </a:p>
          <a:p>
            <a:r>
              <a:rPr lang="fr-FR" sz="3000" dirty="0"/>
              <a:t>12h de cours hebdomadaire:</a:t>
            </a:r>
          </a:p>
          <a:p>
            <a:r>
              <a:rPr lang="fr-FR" sz="3000" dirty="0"/>
              <a:t>8h ITEC + 4h 2I2D  avec 8h en demi groupe</a:t>
            </a:r>
          </a:p>
          <a:p>
            <a:endParaRPr lang="fr-FR" sz="3000" dirty="0"/>
          </a:p>
        </p:txBody>
      </p:sp>
      <p:sp>
        <p:nvSpPr>
          <p:cNvPr id="8" name="Espace réservé du numéro de diapositive 7">
            <a:extLst>
              <a:ext uri="{FF2B5EF4-FFF2-40B4-BE49-F238E27FC236}">
                <a16:creationId xmlns:a16="http://schemas.microsoft.com/office/drawing/2014/main" id="{8CAA2D67-C65F-EDFD-796B-556AE1BB5E98}"/>
              </a:ext>
            </a:extLst>
          </p:cNvPr>
          <p:cNvSpPr>
            <a:spLocks noGrp="1"/>
          </p:cNvSpPr>
          <p:nvPr>
            <p:ph type="sldNum" sz="quarter" idx="12"/>
          </p:nvPr>
        </p:nvSpPr>
        <p:spPr/>
        <p:txBody>
          <a:bodyPr/>
          <a:lstStyle/>
          <a:p>
            <a:fld id="{201A5C1E-DE71-4D99-BC1E-739595F062E0}" type="slidenum">
              <a:rPr lang="fr-FR" sz="2000" smtClean="0"/>
              <a:t>8</a:t>
            </a:fld>
            <a:r>
              <a:rPr lang="fr-FR" sz="2000" dirty="0"/>
              <a:t>/21</a:t>
            </a:r>
          </a:p>
        </p:txBody>
      </p:sp>
      <p:graphicFrame>
        <p:nvGraphicFramePr>
          <p:cNvPr id="7" name="Tableau 6">
            <a:extLst>
              <a:ext uri="{FF2B5EF4-FFF2-40B4-BE49-F238E27FC236}">
                <a16:creationId xmlns:a16="http://schemas.microsoft.com/office/drawing/2014/main" id="{5439FABA-719A-637E-66E1-4BD1AE973ADB}"/>
              </a:ext>
            </a:extLst>
          </p:cNvPr>
          <p:cNvGraphicFramePr>
            <a:graphicFrameLocks noGrp="1"/>
          </p:cNvGraphicFramePr>
          <p:nvPr/>
        </p:nvGraphicFramePr>
        <p:xfrm>
          <a:off x="2031999" y="3035119"/>
          <a:ext cx="8128002" cy="333756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018625712"/>
                    </a:ext>
                  </a:extLst>
                </a:gridCol>
                <a:gridCol w="1354667">
                  <a:extLst>
                    <a:ext uri="{9D8B030D-6E8A-4147-A177-3AD203B41FA5}">
                      <a16:colId xmlns:a16="http://schemas.microsoft.com/office/drawing/2014/main" val="4108680489"/>
                    </a:ext>
                  </a:extLst>
                </a:gridCol>
                <a:gridCol w="1354667">
                  <a:extLst>
                    <a:ext uri="{9D8B030D-6E8A-4147-A177-3AD203B41FA5}">
                      <a16:colId xmlns:a16="http://schemas.microsoft.com/office/drawing/2014/main" val="1212889447"/>
                    </a:ext>
                  </a:extLst>
                </a:gridCol>
                <a:gridCol w="1354667">
                  <a:extLst>
                    <a:ext uri="{9D8B030D-6E8A-4147-A177-3AD203B41FA5}">
                      <a16:colId xmlns:a16="http://schemas.microsoft.com/office/drawing/2014/main" val="410268703"/>
                    </a:ext>
                  </a:extLst>
                </a:gridCol>
                <a:gridCol w="1354667">
                  <a:extLst>
                    <a:ext uri="{9D8B030D-6E8A-4147-A177-3AD203B41FA5}">
                      <a16:colId xmlns:a16="http://schemas.microsoft.com/office/drawing/2014/main" val="892389463"/>
                    </a:ext>
                  </a:extLst>
                </a:gridCol>
                <a:gridCol w="1354667">
                  <a:extLst>
                    <a:ext uri="{9D8B030D-6E8A-4147-A177-3AD203B41FA5}">
                      <a16:colId xmlns:a16="http://schemas.microsoft.com/office/drawing/2014/main" val="1090072327"/>
                    </a:ext>
                  </a:extLst>
                </a:gridCol>
              </a:tblGrid>
              <a:tr h="370840">
                <a:tc>
                  <a:txBody>
                    <a:bodyPr/>
                    <a:lstStyle/>
                    <a:p>
                      <a:pPr algn="ctr"/>
                      <a:endParaRPr lang="fr-FR" dirty="0"/>
                    </a:p>
                  </a:txBody>
                  <a:tcPr anchor="ctr"/>
                </a:tc>
                <a:tc>
                  <a:txBody>
                    <a:bodyPr/>
                    <a:lstStyle/>
                    <a:p>
                      <a:pPr algn="ctr"/>
                      <a:r>
                        <a:rPr lang="fr-FR" dirty="0"/>
                        <a:t>Lundi</a:t>
                      </a:r>
                    </a:p>
                  </a:txBody>
                  <a:tcPr anchor="ctr"/>
                </a:tc>
                <a:tc>
                  <a:txBody>
                    <a:bodyPr/>
                    <a:lstStyle/>
                    <a:p>
                      <a:pPr algn="ctr"/>
                      <a:r>
                        <a:rPr lang="fr-FR" dirty="0"/>
                        <a:t>Mardi</a:t>
                      </a:r>
                    </a:p>
                  </a:txBody>
                  <a:tcPr anchor="ctr"/>
                </a:tc>
                <a:tc>
                  <a:txBody>
                    <a:bodyPr/>
                    <a:lstStyle/>
                    <a:p>
                      <a:pPr algn="ctr"/>
                      <a:r>
                        <a:rPr lang="fr-FR" dirty="0"/>
                        <a:t>Mercredi</a:t>
                      </a:r>
                    </a:p>
                  </a:txBody>
                  <a:tcPr anchor="ctr"/>
                </a:tc>
                <a:tc>
                  <a:txBody>
                    <a:bodyPr/>
                    <a:lstStyle/>
                    <a:p>
                      <a:pPr algn="ctr"/>
                      <a:r>
                        <a:rPr lang="fr-FR" dirty="0"/>
                        <a:t>Jeudi</a:t>
                      </a:r>
                    </a:p>
                  </a:txBody>
                  <a:tcPr anchor="ctr"/>
                </a:tc>
                <a:tc>
                  <a:txBody>
                    <a:bodyPr/>
                    <a:lstStyle/>
                    <a:p>
                      <a:pPr algn="ctr"/>
                      <a:r>
                        <a:rPr lang="fr-FR" dirty="0"/>
                        <a:t>Vendredi</a:t>
                      </a:r>
                    </a:p>
                  </a:txBody>
                  <a:tcPr anchor="ctr"/>
                </a:tc>
                <a:extLst>
                  <a:ext uri="{0D108BD9-81ED-4DB2-BD59-A6C34878D82A}">
                    <a16:rowId xmlns:a16="http://schemas.microsoft.com/office/drawing/2014/main" val="2658959332"/>
                  </a:ext>
                </a:extLst>
              </a:tr>
              <a:tr h="370840">
                <a:tc>
                  <a:txBody>
                    <a:bodyPr/>
                    <a:lstStyle/>
                    <a:p>
                      <a:pPr algn="ctr"/>
                      <a:r>
                        <a:rPr lang="fr-FR" dirty="0"/>
                        <a:t>8-9H</a:t>
                      </a: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extLst>
                  <a:ext uri="{0D108BD9-81ED-4DB2-BD59-A6C34878D82A}">
                    <a16:rowId xmlns:a16="http://schemas.microsoft.com/office/drawing/2014/main" val="2953442098"/>
                  </a:ext>
                </a:extLst>
              </a:tr>
              <a:tr h="370840">
                <a:tc>
                  <a:txBody>
                    <a:bodyPr/>
                    <a:lstStyle/>
                    <a:p>
                      <a:pPr algn="ctr"/>
                      <a:r>
                        <a:rPr lang="fr-FR" dirty="0"/>
                        <a:t>9-10H</a:t>
                      </a:r>
                    </a:p>
                  </a:txBody>
                  <a:tcPr anchor="ct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ITEC</a:t>
                      </a:r>
                    </a:p>
                  </a:txBody>
                  <a:tcPr anchor="ctr">
                    <a:solidFill>
                      <a:srgbClr val="FFEBB9"/>
                    </a:solidFill>
                  </a:tcPr>
                </a:tc>
                <a:tc>
                  <a:txBody>
                    <a:bodyPr/>
                    <a:lstStyle/>
                    <a:p>
                      <a:pPr algn="ctr"/>
                      <a:endParaRPr lang="fr-FR"/>
                    </a:p>
                  </a:txBody>
                  <a:tcPr anchor="ctr"/>
                </a:tc>
                <a:tc>
                  <a:txBody>
                    <a:bodyPr/>
                    <a:lstStyle/>
                    <a:p>
                      <a:pPr algn="ctr"/>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extLst>
                  <a:ext uri="{0D108BD9-81ED-4DB2-BD59-A6C34878D82A}">
                    <a16:rowId xmlns:a16="http://schemas.microsoft.com/office/drawing/2014/main" val="2199027498"/>
                  </a:ext>
                </a:extLst>
              </a:tr>
              <a:tr h="370840">
                <a:tc>
                  <a:txBody>
                    <a:bodyPr/>
                    <a:lstStyle/>
                    <a:p>
                      <a:pPr algn="ctr"/>
                      <a:r>
                        <a:rPr lang="fr-FR" dirty="0"/>
                        <a:t>10-11H</a:t>
                      </a:r>
                    </a:p>
                  </a:txBody>
                  <a:tcPr anchor="ctr"/>
                </a:tc>
                <a:tc>
                  <a:txBody>
                    <a:bodyPr/>
                    <a:lstStyle/>
                    <a:p>
                      <a:pPr algn="ctr"/>
                      <a:endParaRPr lang="fr-FR"/>
                    </a:p>
                  </a:txBody>
                  <a:tcPr anchor="ctr"/>
                </a:tc>
                <a:tc vMerge="1">
                  <a:txBody>
                    <a:bodyPr/>
                    <a:lstStyle/>
                    <a:p>
                      <a:endParaRP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2I2D</a:t>
                      </a:r>
                    </a:p>
                  </a:txBody>
                  <a:tcPr anchor="ctr">
                    <a:solidFill>
                      <a:srgbClr val="FFEBB9"/>
                    </a:solidFill>
                  </a:tcPr>
                </a:tc>
                <a:tc>
                  <a:txBody>
                    <a:bodyPr/>
                    <a:lstStyle/>
                    <a:p>
                      <a:pPr algn="ctr"/>
                      <a:endParaRPr lang="fr-FR" dirty="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ITEC</a:t>
                      </a:r>
                    </a:p>
                  </a:txBody>
                  <a:tcPr anchor="ctr">
                    <a:solidFill>
                      <a:srgbClr val="FFEBB9"/>
                    </a:solidFill>
                  </a:tcPr>
                </a:tc>
                <a:extLst>
                  <a:ext uri="{0D108BD9-81ED-4DB2-BD59-A6C34878D82A}">
                    <a16:rowId xmlns:a16="http://schemas.microsoft.com/office/drawing/2014/main" val="3438670470"/>
                  </a:ext>
                </a:extLst>
              </a:tr>
              <a:tr h="370840">
                <a:tc>
                  <a:txBody>
                    <a:bodyPr/>
                    <a:lstStyle/>
                    <a:p>
                      <a:pPr algn="ctr"/>
                      <a:r>
                        <a:rPr lang="fr-FR" dirty="0"/>
                        <a:t>11H-12H</a:t>
                      </a:r>
                    </a:p>
                  </a:txBody>
                  <a:tcPr anchor="ctr"/>
                </a:tc>
                <a:tc>
                  <a:txBody>
                    <a:bodyPr/>
                    <a:lstStyle/>
                    <a:p>
                      <a:pPr algn="ctr"/>
                      <a:endParaRPr lang="fr-FR"/>
                    </a:p>
                  </a:txBody>
                  <a:tcPr anchor="ctr"/>
                </a:tc>
                <a:tc vMerge="1">
                  <a:txBody>
                    <a:bodyPr/>
                    <a:lstStyle/>
                    <a:p>
                      <a:endParaRPr lang="fr-FR" dirty="0"/>
                    </a:p>
                  </a:txBody>
                  <a:tcPr/>
                </a:tc>
                <a:tc vMerge="1">
                  <a:txBody>
                    <a:bodyPr/>
                    <a:lstStyle/>
                    <a:p>
                      <a:endParaRPr lang="fr-FR" dirty="0"/>
                    </a:p>
                  </a:txBody>
                  <a:tcPr/>
                </a:tc>
                <a:tc>
                  <a:txBody>
                    <a:bodyPr/>
                    <a:lstStyle/>
                    <a:p>
                      <a:pPr algn="ctr"/>
                      <a:endParaRPr lang="fr-F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rgbClr val="FFEBB9"/>
                    </a:solidFill>
                  </a:tcPr>
                </a:tc>
                <a:extLst>
                  <a:ext uri="{0D108BD9-81ED-4DB2-BD59-A6C34878D82A}">
                    <a16:rowId xmlns:a16="http://schemas.microsoft.com/office/drawing/2014/main" val="59387983"/>
                  </a:ext>
                </a:extLst>
              </a:tr>
              <a:tr h="370840">
                <a:tc>
                  <a:txBody>
                    <a:bodyPr/>
                    <a:lstStyle/>
                    <a:p>
                      <a:pPr algn="ctr"/>
                      <a:endParaRPr lang="fr-FR" dirty="0"/>
                    </a:p>
                  </a:txBody>
                  <a:tcPr anchor="ctr"/>
                </a:tc>
                <a:tc>
                  <a:txBody>
                    <a:bodyPr/>
                    <a:lstStyle/>
                    <a:p>
                      <a:pPr algn="ctr"/>
                      <a:endParaRPr lang="fr-FR" dirty="0"/>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dirty="0"/>
                    </a:p>
                  </a:txBody>
                  <a:tcPr anchor="ctr"/>
                </a:tc>
                <a:tc>
                  <a:txBody>
                    <a:bodyPr/>
                    <a:lstStyle/>
                    <a:p>
                      <a:pPr algn="ctr"/>
                      <a:endParaRPr lang="fr-FR" dirty="0"/>
                    </a:p>
                  </a:txBody>
                  <a:tcPr anchor="ctr"/>
                </a:tc>
                <a:extLst>
                  <a:ext uri="{0D108BD9-81ED-4DB2-BD59-A6C34878D82A}">
                    <a16:rowId xmlns:a16="http://schemas.microsoft.com/office/drawing/2014/main" val="3481300047"/>
                  </a:ext>
                </a:extLst>
              </a:tr>
              <a:tr h="370840">
                <a:tc>
                  <a:txBody>
                    <a:bodyPr/>
                    <a:lstStyle/>
                    <a:p>
                      <a:pPr algn="ctr"/>
                      <a:r>
                        <a:rPr lang="fr-FR" dirty="0"/>
                        <a:t>14-15H</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2I2D</a:t>
                      </a:r>
                    </a:p>
                  </a:txBody>
                  <a:tcPr anchor="ctr">
                    <a:solidFill>
                      <a:srgbClr val="FFEBB9"/>
                    </a:solidFill>
                  </a:tcPr>
                </a:tc>
                <a:tc>
                  <a:txBody>
                    <a:bodyPr/>
                    <a:lstStyle/>
                    <a:p>
                      <a:pPr algn="ctr"/>
                      <a:endParaRPr lang="fr-FR"/>
                    </a:p>
                  </a:txBody>
                  <a:tcPr anchor="ct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ITEC</a:t>
                      </a:r>
                    </a:p>
                  </a:txBody>
                  <a:tcPr anchor="ctr">
                    <a:solidFill>
                      <a:srgbClr val="FFEBB9"/>
                    </a:solidFill>
                  </a:tcPr>
                </a:tc>
                <a:tc>
                  <a:txBody>
                    <a:bodyPr/>
                    <a:lstStyle/>
                    <a:p>
                      <a:pPr algn="ctr"/>
                      <a:endParaRPr lang="fr-FR" dirty="0"/>
                    </a:p>
                  </a:txBody>
                  <a:tcPr anchor="ctr"/>
                </a:tc>
                <a:extLst>
                  <a:ext uri="{0D108BD9-81ED-4DB2-BD59-A6C34878D82A}">
                    <a16:rowId xmlns:a16="http://schemas.microsoft.com/office/drawing/2014/main" val="5938423"/>
                  </a:ext>
                </a:extLst>
              </a:tr>
              <a:tr h="370840">
                <a:tc>
                  <a:txBody>
                    <a:bodyPr/>
                    <a:lstStyle/>
                    <a:p>
                      <a:pPr algn="ctr"/>
                      <a:r>
                        <a:rPr lang="fr-FR" dirty="0"/>
                        <a:t>15-16H</a:t>
                      </a:r>
                    </a:p>
                  </a:txBody>
                  <a:tcPr anchor="ctr"/>
                </a:tc>
                <a:tc vMerge="1">
                  <a:txBody>
                    <a:bodyPr/>
                    <a:lstStyle/>
                    <a:p>
                      <a:endParaRPr dirty="0"/>
                    </a:p>
                  </a:txBody>
                  <a:tcPr/>
                </a:tc>
                <a:tc>
                  <a:txBody>
                    <a:bodyPr/>
                    <a:lstStyle/>
                    <a:p>
                      <a:pPr algn="ctr"/>
                      <a:endParaRPr lang="fr-FR"/>
                    </a:p>
                  </a:txBody>
                  <a:tcPr anchor="ctr"/>
                </a:tc>
                <a:tc>
                  <a:txBody>
                    <a:bodyPr/>
                    <a:lstStyle/>
                    <a:p>
                      <a:pPr algn="ctr"/>
                      <a:endParaRPr lang="fr-FR"/>
                    </a:p>
                  </a:txBody>
                  <a:tcPr anchor="ctr"/>
                </a:tc>
                <a:tc vMerge="1">
                  <a:txBody>
                    <a:bodyPr/>
                    <a:lstStyle/>
                    <a:p>
                      <a:endParaRPr/>
                    </a:p>
                  </a:txBody>
                  <a:tcPr/>
                </a:tc>
                <a:tc>
                  <a:txBody>
                    <a:bodyPr/>
                    <a:lstStyle/>
                    <a:p>
                      <a:pPr algn="ctr"/>
                      <a:endParaRPr lang="fr-FR" dirty="0"/>
                    </a:p>
                  </a:txBody>
                  <a:tcPr anchor="ctr"/>
                </a:tc>
                <a:extLst>
                  <a:ext uri="{0D108BD9-81ED-4DB2-BD59-A6C34878D82A}">
                    <a16:rowId xmlns:a16="http://schemas.microsoft.com/office/drawing/2014/main" val="1327619118"/>
                  </a:ext>
                </a:extLst>
              </a:tr>
              <a:tr h="370840">
                <a:tc>
                  <a:txBody>
                    <a:bodyPr/>
                    <a:lstStyle/>
                    <a:p>
                      <a:pPr algn="ctr"/>
                      <a:r>
                        <a:rPr lang="fr-FR" dirty="0"/>
                        <a:t>16-17H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tc>
                <a:tc>
                  <a:txBody>
                    <a:bodyPr/>
                    <a:lstStyle/>
                    <a:p>
                      <a:pPr algn="ctr"/>
                      <a:endParaRPr lang="fr-FR"/>
                    </a:p>
                  </a:txBody>
                  <a:tcPr anchor="ctr"/>
                </a:tc>
                <a:tc>
                  <a:txBody>
                    <a:bodyPr/>
                    <a:lstStyle/>
                    <a:p>
                      <a:pPr algn="ctr"/>
                      <a:endParaRPr lang="fr-F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pPr algn="ctr"/>
                      <a:endParaRPr lang="fr-FR" dirty="0"/>
                    </a:p>
                  </a:txBody>
                  <a:tcPr anchor="ctr"/>
                </a:tc>
                <a:extLst>
                  <a:ext uri="{0D108BD9-81ED-4DB2-BD59-A6C34878D82A}">
                    <a16:rowId xmlns:a16="http://schemas.microsoft.com/office/drawing/2014/main" val="2008134226"/>
                  </a:ext>
                </a:extLst>
              </a:tr>
            </a:tbl>
          </a:graphicData>
        </a:graphic>
      </p:graphicFrame>
      <p:sp>
        <p:nvSpPr>
          <p:cNvPr id="9" name="Espace réservé du pied de page 8">
            <a:extLst>
              <a:ext uri="{FF2B5EF4-FFF2-40B4-BE49-F238E27FC236}">
                <a16:creationId xmlns:a16="http://schemas.microsoft.com/office/drawing/2014/main" id="{BAF4A9F7-F718-5065-88CC-124382460765}"/>
              </a:ext>
            </a:extLst>
          </p:cNvPr>
          <p:cNvSpPr>
            <a:spLocks noGrp="1"/>
          </p:cNvSpPr>
          <p:nvPr>
            <p:ph type="ftr" sz="quarter" idx="11"/>
          </p:nvPr>
        </p:nvSpPr>
        <p:spPr>
          <a:xfrm>
            <a:off x="4038600" y="6479721"/>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805133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6301CF-D518-5DB8-5F3E-C441216C236F}"/>
              </a:ext>
            </a:extLst>
          </p:cNvPr>
          <p:cNvSpPr>
            <a:spLocks noGrp="1"/>
          </p:cNvSpPr>
          <p:nvPr>
            <p:ph type="ctrTitle"/>
          </p:nvPr>
        </p:nvSpPr>
        <p:spPr>
          <a:xfrm>
            <a:off x="632010" y="254623"/>
            <a:ext cx="10927977" cy="659140"/>
          </a:xfrm>
        </p:spPr>
        <p:txBody>
          <a:bodyPr>
            <a:noAutofit/>
          </a:bodyPr>
          <a:lstStyle/>
          <a:p>
            <a:r>
              <a:rPr lang="fr-FR" sz="4400" dirty="0"/>
              <a:t>Progression annuelle</a:t>
            </a:r>
          </a:p>
        </p:txBody>
      </p:sp>
      <p:sp>
        <p:nvSpPr>
          <p:cNvPr id="9" name="Espace réservé du numéro de diapositive 8">
            <a:extLst>
              <a:ext uri="{FF2B5EF4-FFF2-40B4-BE49-F238E27FC236}">
                <a16:creationId xmlns:a16="http://schemas.microsoft.com/office/drawing/2014/main" id="{906E0DC1-27C4-CFE6-8E9F-33A97D309693}"/>
              </a:ext>
            </a:extLst>
          </p:cNvPr>
          <p:cNvSpPr>
            <a:spLocks noGrp="1"/>
          </p:cNvSpPr>
          <p:nvPr>
            <p:ph type="sldNum" sz="quarter" idx="12"/>
          </p:nvPr>
        </p:nvSpPr>
        <p:spPr/>
        <p:txBody>
          <a:bodyPr/>
          <a:lstStyle/>
          <a:p>
            <a:fld id="{201A5C1E-DE71-4D99-BC1E-739595F062E0}" type="slidenum">
              <a:rPr lang="fr-FR" sz="2000" smtClean="0"/>
              <a:t>9</a:t>
            </a:fld>
            <a:r>
              <a:rPr lang="fr-FR" sz="2000" dirty="0"/>
              <a:t>/21</a:t>
            </a:r>
          </a:p>
        </p:txBody>
      </p:sp>
      <p:graphicFrame>
        <p:nvGraphicFramePr>
          <p:cNvPr id="3" name="Tableau 2">
            <a:extLst>
              <a:ext uri="{FF2B5EF4-FFF2-40B4-BE49-F238E27FC236}">
                <a16:creationId xmlns:a16="http://schemas.microsoft.com/office/drawing/2014/main" id="{E3DFE076-BBFC-AFF8-5280-0D59931E19F5}"/>
              </a:ext>
            </a:extLst>
          </p:cNvPr>
          <p:cNvGraphicFramePr>
            <a:graphicFrameLocks noGrp="1"/>
          </p:cNvGraphicFramePr>
          <p:nvPr>
            <p:extLst>
              <p:ext uri="{D42A27DB-BD31-4B8C-83A1-F6EECF244321}">
                <p14:modId xmlns:p14="http://schemas.microsoft.com/office/powerpoint/2010/main" val="1848829719"/>
              </p:ext>
            </p:extLst>
          </p:nvPr>
        </p:nvGraphicFramePr>
        <p:xfrm>
          <a:off x="123587" y="1000849"/>
          <a:ext cx="11944825" cy="5099837"/>
        </p:xfrm>
        <a:graphic>
          <a:graphicData uri="http://schemas.openxmlformats.org/drawingml/2006/table">
            <a:tbl>
              <a:tblPr firstRow="1" bandRow="1">
                <a:tableStyleId>{C083E6E3-FA7D-4D7B-A595-EF9225AFEA82}</a:tableStyleId>
              </a:tblPr>
              <a:tblGrid>
                <a:gridCol w="1451001">
                  <a:extLst>
                    <a:ext uri="{9D8B030D-6E8A-4147-A177-3AD203B41FA5}">
                      <a16:colId xmlns:a16="http://schemas.microsoft.com/office/drawing/2014/main" val="830447667"/>
                    </a:ext>
                  </a:extLst>
                </a:gridCol>
                <a:gridCol w="3585024">
                  <a:extLst>
                    <a:ext uri="{9D8B030D-6E8A-4147-A177-3AD203B41FA5}">
                      <a16:colId xmlns:a16="http://schemas.microsoft.com/office/drawing/2014/main" val="925519965"/>
                    </a:ext>
                  </a:extLst>
                </a:gridCol>
                <a:gridCol w="3367314">
                  <a:extLst>
                    <a:ext uri="{9D8B030D-6E8A-4147-A177-3AD203B41FA5}">
                      <a16:colId xmlns:a16="http://schemas.microsoft.com/office/drawing/2014/main" val="2285352266"/>
                    </a:ext>
                  </a:extLst>
                </a:gridCol>
                <a:gridCol w="1378857">
                  <a:extLst>
                    <a:ext uri="{9D8B030D-6E8A-4147-A177-3AD203B41FA5}">
                      <a16:colId xmlns:a16="http://schemas.microsoft.com/office/drawing/2014/main" val="4246726365"/>
                    </a:ext>
                  </a:extLst>
                </a:gridCol>
                <a:gridCol w="2162629">
                  <a:extLst>
                    <a:ext uri="{9D8B030D-6E8A-4147-A177-3AD203B41FA5}">
                      <a16:colId xmlns:a16="http://schemas.microsoft.com/office/drawing/2014/main" val="145018786"/>
                    </a:ext>
                  </a:extLst>
                </a:gridCol>
              </a:tblGrid>
              <a:tr h="224482">
                <a:tc>
                  <a:txBody>
                    <a:bodyPr/>
                    <a:lstStyle/>
                    <a:p>
                      <a:r>
                        <a:rPr lang="fr-FR" dirty="0"/>
                        <a:t>Séquence 1 </a:t>
                      </a:r>
                    </a:p>
                  </a:txBody>
                  <a:tcPr/>
                </a:tc>
                <a:tc>
                  <a:txBody>
                    <a:bodyPr/>
                    <a:lstStyle/>
                    <a:p>
                      <a:r>
                        <a:rPr lang="fr-FR" dirty="0"/>
                        <a:t>Gérer la ville du futur</a:t>
                      </a:r>
                    </a:p>
                  </a:txBody>
                  <a:tcPr/>
                </a:tc>
                <a:tc>
                  <a:txBody>
                    <a:bodyPr/>
                    <a:lstStyle/>
                    <a:p>
                      <a:r>
                        <a:rPr lang="fr-FR" dirty="0"/>
                        <a:t>Etude statique d’un lampadaire</a:t>
                      </a:r>
                    </a:p>
                  </a:txBody>
                  <a:tcPr/>
                </a:tc>
                <a:tc>
                  <a:txBody>
                    <a:bodyPr/>
                    <a:lstStyle/>
                    <a:p>
                      <a:r>
                        <a:rPr lang="fr-FR" dirty="0"/>
                        <a:t>3 semaines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Début septembre</a:t>
                      </a:r>
                    </a:p>
                    <a:p>
                      <a:endParaRPr lang="fr-FR" dirty="0"/>
                    </a:p>
                  </a:txBody>
                  <a:tcPr/>
                </a:tc>
                <a:extLst>
                  <a:ext uri="{0D108BD9-81ED-4DB2-BD59-A6C34878D82A}">
                    <a16:rowId xmlns:a16="http://schemas.microsoft.com/office/drawing/2014/main" val="36934490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2</a:t>
                      </a:r>
                    </a:p>
                  </a:txBody>
                  <a:tcPr/>
                </a:tc>
                <a:tc>
                  <a:txBody>
                    <a:bodyPr/>
                    <a:lstStyle/>
                    <a:p>
                      <a:r>
                        <a:rPr lang="fr-FR" dirty="0"/>
                        <a:t>Préserver la santé</a:t>
                      </a:r>
                    </a:p>
                  </a:txBody>
                  <a:tcPr/>
                </a:tc>
                <a:tc>
                  <a:txBody>
                    <a:bodyPr/>
                    <a:lstStyle/>
                    <a:p>
                      <a:r>
                        <a:rPr lang="fr-FR" dirty="0"/>
                        <a:t>Transmettre la puissance mécanique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4 semaines</a:t>
                      </a:r>
                    </a:p>
                    <a:p>
                      <a:endParaRPr lang="fr-FR" dirty="0"/>
                    </a:p>
                  </a:txBody>
                  <a:tcPr/>
                </a:tc>
                <a:tc>
                  <a:txBody>
                    <a:bodyPr/>
                    <a:lstStyle/>
                    <a:p>
                      <a:endParaRPr lang="fr-FR" dirty="0"/>
                    </a:p>
                  </a:txBody>
                  <a:tcPr/>
                </a:tc>
                <a:extLst>
                  <a:ext uri="{0D108BD9-81ED-4DB2-BD59-A6C34878D82A}">
                    <a16:rowId xmlns:a16="http://schemas.microsoft.com/office/drawing/2014/main" val="1319325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3 </a:t>
                      </a:r>
                    </a:p>
                  </a:txBody>
                  <a:tcPr/>
                </a:tc>
                <a:tc>
                  <a:txBody>
                    <a:bodyPr/>
                    <a:lstStyle/>
                    <a:p>
                      <a:r>
                        <a:rPr lang="fr-FR" dirty="0"/>
                        <a:t>Assister l’homme</a:t>
                      </a:r>
                    </a:p>
                  </a:txBody>
                  <a:tcPr/>
                </a:tc>
                <a:tc>
                  <a:txBody>
                    <a:bodyPr/>
                    <a:lstStyle/>
                    <a:p>
                      <a:r>
                        <a:rPr lang="fr-FR" dirty="0"/>
                        <a:t>Modélisation d’un produit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4 semaines</a:t>
                      </a:r>
                    </a:p>
                    <a:p>
                      <a:endParaRPr lang="fr-FR" dirty="0"/>
                    </a:p>
                  </a:txBody>
                  <a:tcPr/>
                </a:tc>
                <a:tc>
                  <a:txBody>
                    <a:bodyPr/>
                    <a:lstStyle/>
                    <a:p>
                      <a:endParaRPr lang="fr-FR"/>
                    </a:p>
                  </a:txBody>
                  <a:tcPr/>
                </a:tc>
                <a:extLst>
                  <a:ext uri="{0D108BD9-81ED-4DB2-BD59-A6C34878D82A}">
                    <a16:rowId xmlns:a16="http://schemas.microsoft.com/office/drawing/2014/main" val="866322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4 </a:t>
                      </a:r>
                    </a:p>
                  </a:txBody>
                  <a:tcPr>
                    <a:solidFill>
                      <a:schemeClr val="accent4">
                        <a:lumMod val="75000"/>
                        <a:alpha val="20000"/>
                      </a:schemeClr>
                    </a:solidFill>
                  </a:tcPr>
                </a:tc>
                <a:tc>
                  <a:txBody>
                    <a:bodyPr/>
                    <a:lstStyle/>
                    <a:p>
                      <a:r>
                        <a:rPr lang="fr-FR" dirty="0"/>
                        <a:t>Concevoir l’habitat de demain</a:t>
                      </a:r>
                    </a:p>
                  </a:txBody>
                  <a:tcPr>
                    <a:solidFill>
                      <a:schemeClr val="accent4">
                        <a:lumMod val="75000"/>
                        <a:alpha val="20000"/>
                      </a:schemeClr>
                    </a:solidFill>
                  </a:tcPr>
                </a:tc>
                <a:tc>
                  <a:txBody>
                    <a:bodyPr/>
                    <a:lstStyle/>
                    <a:p>
                      <a:r>
                        <a:rPr lang="fr-FR" dirty="0"/>
                        <a:t>Forces appliquées aux poutres (RDM), choix de matériau</a:t>
                      </a:r>
                    </a:p>
                  </a:txBody>
                  <a:tcPr>
                    <a:solidFill>
                      <a:schemeClr val="accent4">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solidFill>
                      <a:schemeClr val="accent4">
                        <a:lumMod val="75000"/>
                        <a:alpha val="20000"/>
                      </a:schemeClr>
                    </a:solidFill>
                  </a:tcPr>
                </a:tc>
                <a:tc>
                  <a:txBody>
                    <a:bodyPr/>
                    <a:lstStyle/>
                    <a:p>
                      <a:endParaRPr lang="fr-FR" dirty="0"/>
                    </a:p>
                  </a:txBody>
                  <a:tcPr>
                    <a:solidFill>
                      <a:schemeClr val="accent4">
                        <a:lumMod val="75000"/>
                        <a:alpha val="20000"/>
                      </a:schemeClr>
                    </a:solidFill>
                  </a:tcPr>
                </a:tc>
                <a:extLst>
                  <a:ext uri="{0D108BD9-81ED-4DB2-BD59-A6C34878D82A}">
                    <a16:rowId xmlns:a16="http://schemas.microsoft.com/office/drawing/2014/main" val="23285255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Lancement projet grand oral</a:t>
                      </a:r>
                    </a:p>
                  </a:txBody>
                  <a:tcPr/>
                </a:tc>
                <a:tc>
                  <a:txBody>
                    <a:bodyPr/>
                    <a:lstStyle/>
                    <a:p>
                      <a:endParaRPr lang="fr-FR" dirty="0"/>
                    </a:p>
                  </a:txBody>
                  <a:tcPr/>
                </a:tc>
                <a:tc>
                  <a:txBody>
                    <a:bodyPr/>
                    <a:lstStyle/>
                    <a:p>
                      <a:endParaRPr lang="fr-FR" dirty="0"/>
                    </a:p>
                  </a:txBody>
                  <a:tcPr/>
                </a:tc>
                <a:tc>
                  <a:txBody>
                    <a:bodyPr/>
                    <a:lstStyle/>
                    <a:p>
                      <a:r>
                        <a:rPr lang="fr-FR" dirty="0"/>
                        <a:t>Début janvier</a:t>
                      </a:r>
                    </a:p>
                  </a:txBody>
                  <a:tcPr/>
                </a:tc>
                <a:extLst>
                  <a:ext uri="{0D108BD9-81ED-4DB2-BD59-A6C34878D82A}">
                    <a16:rowId xmlns:a16="http://schemas.microsoft.com/office/drawing/2014/main" val="2887470768"/>
                  </a:ext>
                </a:extLst>
              </a:tr>
              <a:tr h="416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5</a:t>
                      </a:r>
                    </a:p>
                  </a:txBody>
                  <a:tcPr/>
                </a:tc>
                <a:tc>
                  <a:txBody>
                    <a:bodyPr/>
                    <a:lstStyle/>
                    <a:p>
                      <a:r>
                        <a:rPr lang="fr-FR" dirty="0"/>
                        <a:t>Assister l’homme</a:t>
                      </a:r>
                    </a:p>
                  </a:txBody>
                  <a:tcPr/>
                </a:tc>
                <a:tc>
                  <a:txBody>
                    <a:bodyPr/>
                    <a:lstStyle/>
                    <a:p>
                      <a:r>
                        <a:rPr lang="fr-FR" dirty="0"/>
                        <a:t>Conception d’un produit</a:t>
                      </a:r>
                    </a:p>
                  </a:txBody>
                  <a:tcPr/>
                </a:tc>
                <a:tc>
                  <a:txBody>
                    <a:bodyPr/>
                    <a:lstStyle/>
                    <a:p>
                      <a:r>
                        <a:rPr lang="fr-FR" dirty="0"/>
                        <a:t>4 semaines</a:t>
                      </a:r>
                    </a:p>
                  </a:txBody>
                  <a:tcPr/>
                </a:tc>
                <a:tc>
                  <a:txBody>
                    <a:bodyPr/>
                    <a:lstStyle/>
                    <a:p>
                      <a:endParaRPr lang="fr-FR" dirty="0"/>
                    </a:p>
                  </a:txBody>
                  <a:tcPr/>
                </a:tc>
                <a:extLst>
                  <a:ext uri="{0D108BD9-81ED-4DB2-BD59-A6C34878D82A}">
                    <a16:rowId xmlns:a16="http://schemas.microsoft.com/office/drawing/2014/main" val="1458943850"/>
                  </a:ext>
                </a:extLst>
              </a:tr>
              <a:tr h="416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6</a:t>
                      </a:r>
                    </a:p>
                  </a:txBody>
                  <a:tcPr>
                    <a:solidFill>
                      <a:schemeClr val="bg1"/>
                    </a:solidFill>
                  </a:tcPr>
                </a:tc>
                <a:tc>
                  <a:txBody>
                    <a:bodyPr/>
                    <a:lstStyle/>
                    <a:p>
                      <a:r>
                        <a:rPr lang="fr-FR" dirty="0"/>
                        <a:t>Améliorer l’efficacité énergétique d’un produit</a:t>
                      </a:r>
                    </a:p>
                  </a:txBody>
                  <a:tcPr>
                    <a:solidFill>
                      <a:schemeClr val="bg1"/>
                    </a:solidFill>
                  </a:tcPr>
                </a:tc>
                <a:tc>
                  <a:txBody>
                    <a:bodyPr/>
                    <a:lstStyle/>
                    <a:p>
                      <a:r>
                        <a:rPr lang="fr-FR" dirty="0"/>
                        <a:t>Rendement, liaisons mécaniques</a:t>
                      </a:r>
                    </a:p>
                  </a:txBody>
                  <a:tcPr>
                    <a:solidFill>
                      <a:schemeClr val="bg1"/>
                    </a:solidFill>
                  </a:tcPr>
                </a:tc>
                <a:tc>
                  <a:txBody>
                    <a:bodyPr/>
                    <a:lstStyle/>
                    <a:p>
                      <a:r>
                        <a:rPr lang="fr-FR" dirty="0"/>
                        <a:t>3 semaines</a:t>
                      </a:r>
                    </a:p>
                  </a:txBody>
                  <a:tcPr>
                    <a:solidFill>
                      <a:schemeClr val="bg1"/>
                    </a:solidFill>
                  </a:tcPr>
                </a:tc>
                <a:tc>
                  <a:txBody>
                    <a:bodyPr/>
                    <a:lstStyle/>
                    <a:p>
                      <a:endParaRPr lang="fr-FR" dirty="0"/>
                    </a:p>
                  </a:txBody>
                  <a:tcPr>
                    <a:solidFill>
                      <a:schemeClr val="bg1"/>
                    </a:solidFill>
                  </a:tcPr>
                </a:tc>
                <a:extLst>
                  <a:ext uri="{0D108BD9-81ED-4DB2-BD59-A6C34878D82A}">
                    <a16:rowId xmlns:a16="http://schemas.microsoft.com/office/drawing/2014/main" val="21645103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Épreuve écrite</a:t>
                      </a:r>
                    </a:p>
                  </a:txBody>
                  <a:tcPr/>
                </a:tc>
                <a:tc>
                  <a:txBody>
                    <a:bodyPr/>
                    <a:lstStyle/>
                    <a:p>
                      <a:endParaRPr lang="fr-FR" dirty="0"/>
                    </a:p>
                  </a:txBody>
                  <a:tcPr/>
                </a:tc>
                <a:tc>
                  <a:txBody>
                    <a:bodyPr/>
                    <a:lstStyle/>
                    <a:p>
                      <a:endParaRPr lang="fr-FR" dirty="0"/>
                    </a:p>
                  </a:txBody>
                  <a:tcPr/>
                </a:tc>
                <a:tc>
                  <a:txBody>
                    <a:bodyPr/>
                    <a:lstStyle/>
                    <a:p>
                      <a:r>
                        <a:rPr lang="fr-FR" dirty="0"/>
                        <a:t>Fin mars/début avril</a:t>
                      </a:r>
                    </a:p>
                  </a:txBody>
                  <a:tcPr/>
                </a:tc>
                <a:extLst>
                  <a:ext uri="{0D108BD9-81ED-4DB2-BD59-A6C34878D82A}">
                    <a16:rowId xmlns:a16="http://schemas.microsoft.com/office/drawing/2014/main" val="16654869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7</a:t>
                      </a:r>
                    </a:p>
                  </a:txBody>
                  <a:tcPr/>
                </a:tc>
                <a:tc>
                  <a:txBody>
                    <a:bodyPr/>
                    <a:lstStyle/>
                    <a:p>
                      <a:r>
                        <a:rPr lang="fr-FR" dirty="0"/>
                        <a:t>Construire les ouvrages de demain</a:t>
                      </a:r>
                    </a:p>
                  </a:txBody>
                  <a:tcPr/>
                </a:tc>
                <a:tc>
                  <a:txBody>
                    <a:bodyPr/>
                    <a:lstStyle/>
                    <a:p>
                      <a:r>
                        <a:rPr lang="fr-FR" dirty="0"/>
                        <a:t>Choix de matériau, résistance </a:t>
                      </a:r>
                    </a:p>
                  </a:txBody>
                  <a:tcPr/>
                </a:tc>
                <a:tc>
                  <a:txBody>
                    <a:bodyPr/>
                    <a:lstStyle/>
                    <a:p>
                      <a:r>
                        <a:rPr lang="fr-FR" dirty="0"/>
                        <a:t>3 semaines</a:t>
                      </a:r>
                    </a:p>
                  </a:txBody>
                  <a:tcPr/>
                </a:tc>
                <a:tc>
                  <a:txBody>
                    <a:bodyPr/>
                    <a:lstStyle/>
                    <a:p>
                      <a:endParaRPr lang="fr-FR" dirty="0"/>
                    </a:p>
                  </a:txBody>
                  <a:tcPr/>
                </a:tc>
                <a:extLst>
                  <a:ext uri="{0D108BD9-81ED-4DB2-BD59-A6C34878D82A}">
                    <a16:rowId xmlns:a16="http://schemas.microsoft.com/office/drawing/2014/main" val="6422572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8</a:t>
                      </a:r>
                    </a:p>
                  </a:txBody>
                  <a:tcPr/>
                </a:tc>
                <a:tc>
                  <a:txBody>
                    <a:bodyPr/>
                    <a:lstStyle/>
                    <a:p>
                      <a:r>
                        <a:rPr lang="fr-FR" dirty="0"/>
                        <a:t>Projet</a:t>
                      </a:r>
                    </a:p>
                  </a:txBody>
                  <a:tcPr/>
                </a:tc>
                <a:tc>
                  <a:txBody>
                    <a:bodyPr/>
                    <a:lstStyle/>
                    <a:p>
                      <a:endParaRPr lang="fr-FR" dirty="0"/>
                    </a:p>
                  </a:txBody>
                  <a:tcPr/>
                </a:tc>
                <a:tc>
                  <a:txBody>
                    <a:bodyPr/>
                    <a:lstStyle/>
                    <a:p>
                      <a:r>
                        <a:rPr lang="fr-FR" dirty="0"/>
                        <a:t>8 semaines</a:t>
                      </a:r>
                    </a:p>
                  </a:txBody>
                  <a:tcPr/>
                </a:tc>
                <a:tc>
                  <a:txBody>
                    <a:bodyPr/>
                    <a:lstStyle/>
                    <a:p>
                      <a:r>
                        <a:rPr lang="fr-FR" dirty="0"/>
                        <a:t>Mai/juin</a:t>
                      </a:r>
                    </a:p>
                  </a:txBody>
                  <a:tcPr/>
                </a:tc>
                <a:extLst>
                  <a:ext uri="{0D108BD9-81ED-4DB2-BD59-A6C34878D82A}">
                    <a16:rowId xmlns:a16="http://schemas.microsoft.com/office/drawing/2014/main" val="634317777"/>
                  </a:ext>
                </a:extLst>
              </a:tr>
            </a:tbl>
          </a:graphicData>
        </a:graphic>
      </p:graphicFrame>
      <p:sp>
        <p:nvSpPr>
          <p:cNvPr id="6" name="Espace réservé du pied de page 5">
            <a:extLst>
              <a:ext uri="{FF2B5EF4-FFF2-40B4-BE49-F238E27FC236}">
                <a16:creationId xmlns:a16="http://schemas.microsoft.com/office/drawing/2014/main" id="{D12E1C78-AA35-07EA-A647-6DF243021229}"/>
              </a:ext>
            </a:extLst>
          </p:cNvPr>
          <p:cNvSpPr>
            <a:spLocks noGrp="1"/>
          </p:cNvSpPr>
          <p:nvPr>
            <p:ph type="ftr" sz="quarter" idx="11"/>
          </p:nvPr>
        </p:nvSpPr>
        <p:spPr>
          <a:xfrm>
            <a:off x="4038598" y="6479948"/>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7143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E65452-D626-344E-4E54-203BE6CB15C7}"/>
              </a:ext>
            </a:extLst>
          </p:cNvPr>
          <p:cNvSpPr>
            <a:spLocks noGrp="1"/>
          </p:cNvSpPr>
          <p:nvPr>
            <p:ph type="title"/>
          </p:nvPr>
        </p:nvSpPr>
        <p:spPr>
          <a:xfrm>
            <a:off x="838200" y="-232244"/>
            <a:ext cx="10515600" cy="1325563"/>
          </a:xfrm>
        </p:spPr>
        <p:txBody>
          <a:bodyPr/>
          <a:lstStyle/>
          <a:p>
            <a:r>
              <a:rPr lang="fr-FR" dirty="0"/>
              <a:t>Organisation de la séquence 4</a:t>
            </a:r>
          </a:p>
        </p:txBody>
      </p:sp>
      <p:sp>
        <p:nvSpPr>
          <p:cNvPr id="3" name="Espace réservé du contenu 2">
            <a:extLst>
              <a:ext uri="{FF2B5EF4-FFF2-40B4-BE49-F238E27FC236}">
                <a16:creationId xmlns:a16="http://schemas.microsoft.com/office/drawing/2014/main" id="{6660A1DB-D40E-057B-1868-88FCCF21AD8F}"/>
              </a:ext>
            </a:extLst>
          </p:cNvPr>
          <p:cNvSpPr>
            <a:spLocks noGrp="1"/>
          </p:cNvSpPr>
          <p:nvPr>
            <p:ph idx="1"/>
          </p:nvPr>
        </p:nvSpPr>
        <p:spPr/>
        <p:txBody>
          <a:bodyPr/>
          <a:lstStyle/>
          <a:p>
            <a:endParaRPr lang="fr-FR" dirty="0"/>
          </a:p>
          <a:p>
            <a:endParaRPr lang="fr-FR" dirty="0"/>
          </a:p>
        </p:txBody>
      </p:sp>
      <p:sp>
        <p:nvSpPr>
          <p:cNvPr id="7" name="Espace réservé du numéro de diapositive 6">
            <a:extLst>
              <a:ext uri="{FF2B5EF4-FFF2-40B4-BE49-F238E27FC236}">
                <a16:creationId xmlns:a16="http://schemas.microsoft.com/office/drawing/2014/main" id="{6B1CB85A-9FD7-1066-DF70-D136BE2F5186}"/>
              </a:ext>
            </a:extLst>
          </p:cNvPr>
          <p:cNvSpPr>
            <a:spLocks noGrp="1"/>
          </p:cNvSpPr>
          <p:nvPr>
            <p:ph type="sldNum" sz="quarter" idx="12"/>
          </p:nvPr>
        </p:nvSpPr>
        <p:spPr/>
        <p:txBody>
          <a:bodyPr/>
          <a:lstStyle/>
          <a:p>
            <a:fld id="{201A5C1E-DE71-4D99-BC1E-739595F062E0}" type="slidenum">
              <a:rPr lang="fr-FR" sz="2000" smtClean="0"/>
              <a:t>10</a:t>
            </a:fld>
            <a:r>
              <a:rPr lang="fr-FR" sz="2000" dirty="0"/>
              <a:t>/21</a:t>
            </a:r>
          </a:p>
        </p:txBody>
      </p:sp>
      <p:sp>
        <p:nvSpPr>
          <p:cNvPr id="8" name="ZoneTexte 7">
            <a:extLst>
              <a:ext uri="{FF2B5EF4-FFF2-40B4-BE49-F238E27FC236}">
                <a16:creationId xmlns:a16="http://schemas.microsoft.com/office/drawing/2014/main" id="{E169C04D-595E-B3FA-C102-8E40B769266D}"/>
              </a:ext>
            </a:extLst>
          </p:cNvPr>
          <p:cNvSpPr txBox="1"/>
          <p:nvPr/>
        </p:nvSpPr>
        <p:spPr>
          <a:xfrm>
            <a:off x="939801" y="705754"/>
            <a:ext cx="9205685" cy="1200329"/>
          </a:xfrm>
          <a:prstGeom prst="rect">
            <a:avLst/>
          </a:prstGeom>
          <a:noFill/>
        </p:spPr>
        <p:txBody>
          <a:bodyPr wrap="square">
            <a:spAutoFit/>
          </a:bodyPr>
          <a:lstStyle/>
          <a:p>
            <a:r>
              <a:rPr lang="fr-FR" sz="2400" dirty="0"/>
              <a:t>Séquence de 4 semaines découpée en deux chapitres de 2 semaines</a:t>
            </a:r>
          </a:p>
          <a:p>
            <a:r>
              <a:rPr lang="fr-FR" sz="2400" dirty="0"/>
              <a:t>Problématique: Comment mesurer, comparer et améliorer les caractéristiques d’une poutre (bastaing, linteau) dans une maison?</a:t>
            </a:r>
          </a:p>
        </p:txBody>
      </p:sp>
      <p:sp>
        <p:nvSpPr>
          <p:cNvPr id="9" name="Titre 1">
            <a:extLst>
              <a:ext uri="{FF2B5EF4-FFF2-40B4-BE49-F238E27FC236}">
                <a16:creationId xmlns:a16="http://schemas.microsoft.com/office/drawing/2014/main" id="{82FE3995-A956-BD05-F4E4-35890856FC31}"/>
              </a:ext>
            </a:extLst>
          </p:cNvPr>
          <p:cNvSpPr txBox="1">
            <a:spLocks/>
          </p:cNvSpPr>
          <p:nvPr/>
        </p:nvSpPr>
        <p:spPr>
          <a:xfrm>
            <a:off x="939801" y="3459491"/>
            <a:ext cx="10515600"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Prérequis</a:t>
            </a:r>
          </a:p>
        </p:txBody>
      </p:sp>
      <p:sp>
        <p:nvSpPr>
          <p:cNvPr id="10" name="Espace réservé du contenu 2">
            <a:extLst>
              <a:ext uri="{FF2B5EF4-FFF2-40B4-BE49-F238E27FC236}">
                <a16:creationId xmlns:a16="http://schemas.microsoft.com/office/drawing/2014/main" id="{0077DD3C-8F2C-F50A-D7FB-1191E1FA6653}"/>
              </a:ext>
            </a:extLst>
          </p:cNvPr>
          <p:cNvSpPr txBox="1">
            <a:spLocks/>
          </p:cNvSpPr>
          <p:nvPr/>
        </p:nvSpPr>
        <p:spPr>
          <a:xfrm>
            <a:off x="1278465" y="4220878"/>
            <a:ext cx="10515600" cy="247579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Savoirs:</a:t>
            </a:r>
          </a:p>
          <a:p>
            <a:r>
              <a:rPr lang="fr-FR" dirty="0"/>
              <a:t>1.2.2. Ingénierie système</a:t>
            </a:r>
          </a:p>
          <a:p>
            <a:r>
              <a:rPr lang="fr-FR" dirty="0"/>
              <a:t>3.1.1. Progiciels de simulation</a:t>
            </a:r>
          </a:p>
          <a:p>
            <a:r>
              <a:rPr lang="fr-FR" dirty="0"/>
              <a:t>3.2. Comportement mécanique de produits</a:t>
            </a:r>
          </a:p>
          <a:p>
            <a:r>
              <a:rPr lang="fr-FR" dirty="0"/>
              <a:t>6.2. Expérimentations et essais </a:t>
            </a:r>
          </a:p>
          <a:p>
            <a:endParaRPr lang="fr-FR" dirty="0"/>
          </a:p>
        </p:txBody>
      </p:sp>
      <p:graphicFrame>
        <p:nvGraphicFramePr>
          <p:cNvPr id="11" name="Tableau 10">
            <a:extLst>
              <a:ext uri="{FF2B5EF4-FFF2-40B4-BE49-F238E27FC236}">
                <a16:creationId xmlns:a16="http://schemas.microsoft.com/office/drawing/2014/main" id="{39AB1C13-3BA5-0C10-C7BF-D1FA05C4B340}"/>
              </a:ext>
            </a:extLst>
          </p:cNvPr>
          <p:cNvGraphicFramePr>
            <a:graphicFrameLocks noGrp="1"/>
          </p:cNvGraphicFramePr>
          <p:nvPr>
            <p:extLst>
              <p:ext uri="{D42A27DB-BD31-4B8C-83A1-F6EECF244321}">
                <p14:modId xmlns:p14="http://schemas.microsoft.com/office/powerpoint/2010/main" val="1008202896"/>
              </p:ext>
            </p:extLst>
          </p:nvPr>
        </p:nvGraphicFramePr>
        <p:xfrm>
          <a:off x="1278465" y="1914234"/>
          <a:ext cx="9838272" cy="1504381"/>
        </p:xfrm>
        <a:graphic>
          <a:graphicData uri="http://schemas.openxmlformats.org/drawingml/2006/table">
            <a:tbl>
              <a:tblPr firstRow="1" bandRow="1">
                <a:tableStyleId>{2D5ABB26-0587-4C30-8999-92F81FD0307C}</a:tableStyleId>
              </a:tblPr>
              <a:tblGrid>
                <a:gridCol w="1639712">
                  <a:extLst>
                    <a:ext uri="{9D8B030D-6E8A-4147-A177-3AD203B41FA5}">
                      <a16:colId xmlns:a16="http://schemas.microsoft.com/office/drawing/2014/main" val="510414834"/>
                    </a:ext>
                  </a:extLst>
                </a:gridCol>
                <a:gridCol w="1668336">
                  <a:extLst>
                    <a:ext uri="{9D8B030D-6E8A-4147-A177-3AD203B41FA5}">
                      <a16:colId xmlns:a16="http://schemas.microsoft.com/office/drawing/2014/main" val="477646523"/>
                    </a:ext>
                  </a:extLst>
                </a:gridCol>
                <a:gridCol w="1611088">
                  <a:extLst>
                    <a:ext uri="{9D8B030D-6E8A-4147-A177-3AD203B41FA5}">
                      <a16:colId xmlns:a16="http://schemas.microsoft.com/office/drawing/2014/main" val="2362536329"/>
                    </a:ext>
                  </a:extLst>
                </a:gridCol>
                <a:gridCol w="1683655">
                  <a:extLst>
                    <a:ext uri="{9D8B030D-6E8A-4147-A177-3AD203B41FA5}">
                      <a16:colId xmlns:a16="http://schemas.microsoft.com/office/drawing/2014/main" val="1517061753"/>
                    </a:ext>
                  </a:extLst>
                </a:gridCol>
                <a:gridCol w="1595769">
                  <a:extLst>
                    <a:ext uri="{9D8B030D-6E8A-4147-A177-3AD203B41FA5}">
                      <a16:colId xmlns:a16="http://schemas.microsoft.com/office/drawing/2014/main" val="3565309784"/>
                    </a:ext>
                  </a:extLst>
                </a:gridCol>
                <a:gridCol w="1639712">
                  <a:extLst>
                    <a:ext uri="{9D8B030D-6E8A-4147-A177-3AD203B41FA5}">
                      <a16:colId xmlns:a16="http://schemas.microsoft.com/office/drawing/2014/main" val="4233430214"/>
                    </a:ext>
                  </a:extLst>
                </a:gridCol>
              </a:tblGrid>
              <a:tr h="589981">
                <a:tc>
                  <a:txBody>
                    <a:bodyPr/>
                    <a:lstStyle/>
                    <a:p>
                      <a:pPr algn="ctr"/>
                      <a:r>
                        <a:rPr lang="fr-FR" sz="2400" b="0"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 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TP1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TP2 +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55802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17568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TD4 + </a:t>
                      </a:r>
                      <a:r>
                        <a:rPr lang="fr-FR" sz="2400" dirty="0" err="1"/>
                        <a:t>eval</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6526591"/>
                  </a:ext>
                </a:extLst>
              </a:tr>
            </a:tbl>
          </a:graphicData>
        </a:graphic>
      </p:graphicFrame>
      <p:sp>
        <p:nvSpPr>
          <p:cNvPr id="12" name="Espace réservé du pied de page 11">
            <a:extLst>
              <a:ext uri="{FF2B5EF4-FFF2-40B4-BE49-F238E27FC236}">
                <a16:creationId xmlns:a16="http://schemas.microsoft.com/office/drawing/2014/main" id="{74560F90-E217-D34B-CB6B-AEC335D0708A}"/>
              </a:ext>
            </a:extLst>
          </p:cNvPr>
          <p:cNvSpPr>
            <a:spLocks noGrp="1"/>
          </p:cNvSpPr>
          <p:nvPr>
            <p:ph type="ftr" sz="quarter" idx="11"/>
          </p:nvPr>
        </p:nvSpPr>
        <p:spPr>
          <a:xfrm>
            <a:off x="4055535" y="6491968"/>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12680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e 9">
            <a:extLst>
              <a:ext uri="{FF2B5EF4-FFF2-40B4-BE49-F238E27FC236}">
                <a16:creationId xmlns:a16="http://schemas.microsoft.com/office/drawing/2014/main" id="{C759BBF8-091C-BDAE-3099-C15A6EB02C9C}"/>
              </a:ext>
            </a:extLst>
          </p:cNvPr>
          <p:cNvGrpSpPr/>
          <p:nvPr/>
        </p:nvGrpSpPr>
        <p:grpSpPr>
          <a:xfrm>
            <a:off x="4857035" y="4318732"/>
            <a:ext cx="5172797" cy="1657582"/>
            <a:chOff x="4857035" y="4318732"/>
            <a:chExt cx="5172797" cy="1657582"/>
          </a:xfrm>
        </p:grpSpPr>
        <p:pic>
          <p:nvPicPr>
            <p:cNvPr id="6" name="Image 5">
              <a:extLst>
                <a:ext uri="{FF2B5EF4-FFF2-40B4-BE49-F238E27FC236}">
                  <a16:creationId xmlns:a16="http://schemas.microsoft.com/office/drawing/2014/main" id="{3086E158-1665-D30B-41C4-476227018C73}"/>
                </a:ext>
              </a:extLst>
            </p:cNvPr>
            <p:cNvPicPr>
              <a:picLocks noChangeAspect="1"/>
            </p:cNvPicPr>
            <p:nvPr/>
          </p:nvPicPr>
          <p:blipFill>
            <a:blip r:embed="rId3"/>
            <a:stretch>
              <a:fillRect/>
            </a:stretch>
          </p:blipFill>
          <p:spPr>
            <a:xfrm>
              <a:off x="4857035" y="4566417"/>
              <a:ext cx="5125165" cy="1409897"/>
            </a:xfrm>
            <a:prstGeom prst="rect">
              <a:avLst/>
            </a:prstGeom>
          </p:spPr>
        </p:pic>
        <p:pic>
          <p:nvPicPr>
            <p:cNvPr id="9" name="Image 8">
              <a:extLst>
                <a:ext uri="{FF2B5EF4-FFF2-40B4-BE49-F238E27FC236}">
                  <a16:creationId xmlns:a16="http://schemas.microsoft.com/office/drawing/2014/main" id="{5D6A399A-41B3-25D5-9D24-BBDFF3DF1DAF}"/>
                </a:ext>
              </a:extLst>
            </p:cNvPr>
            <p:cNvPicPr>
              <a:picLocks noChangeAspect="1"/>
            </p:cNvPicPr>
            <p:nvPr/>
          </p:nvPicPr>
          <p:blipFill>
            <a:blip r:embed="rId4"/>
            <a:stretch>
              <a:fillRect/>
            </a:stretch>
          </p:blipFill>
          <p:spPr>
            <a:xfrm>
              <a:off x="4857035" y="4318732"/>
              <a:ext cx="5172797" cy="247685"/>
            </a:xfrm>
            <a:prstGeom prst="rect">
              <a:avLst/>
            </a:prstGeom>
          </p:spPr>
        </p:pic>
      </p:grpSp>
      <p:pic>
        <p:nvPicPr>
          <p:cNvPr id="5" name="Image 4">
            <a:extLst>
              <a:ext uri="{FF2B5EF4-FFF2-40B4-BE49-F238E27FC236}">
                <a16:creationId xmlns:a16="http://schemas.microsoft.com/office/drawing/2014/main" id="{1CF83E36-A9B2-E444-D6C7-4ED2153F5EA2}"/>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9559906" y="4021966"/>
            <a:ext cx="2632094" cy="2235560"/>
          </a:xfrm>
          <a:prstGeom prst="rect">
            <a:avLst/>
          </a:prstGeom>
        </p:spPr>
      </p:pic>
      <p:sp>
        <p:nvSpPr>
          <p:cNvPr id="2" name="Titre 1">
            <a:extLst>
              <a:ext uri="{FF2B5EF4-FFF2-40B4-BE49-F238E27FC236}">
                <a16:creationId xmlns:a16="http://schemas.microsoft.com/office/drawing/2014/main" id="{D1134281-D53C-AED2-D059-A073CEEE58E8}"/>
              </a:ext>
            </a:extLst>
          </p:cNvPr>
          <p:cNvSpPr>
            <a:spLocks noGrp="1"/>
          </p:cNvSpPr>
          <p:nvPr>
            <p:ph type="title"/>
          </p:nvPr>
        </p:nvSpPr>
        <p:spPr>
          <a:xfrm>
            <a:off x="823686" y="-368128"/>
            <a:ext cx="10515600" cy="1325563"/>
          </a:xfrm>
        </p:spPr>
        <p:txBody>
          <a:bodyPr/>
          <a:lstStyle/>
          <a:p>
            <a:r>
              <a:rPr lang="fr-FR" dirty="0"/>
              <a:t>Compétences/savoir faire à transmettre</a:t>
            </a:r>
          </a:p>
        </p:txBody>
      </p:sp>
      <p:sp>
        <p:nvSpPr>
          <p:cNvPr id="3" name="Espace réservé du contenu 2">
            <a:extLst>
              <a:ext uri="{FF2B5EF4-FFF2-40B4-BE49-F238E27FC236}">
                <a16:creationId xmlns:a16="http://schemas.microsoft.com/office/drawing/2014/main" id="{7085431F-D716-B5C0-31F3-7A322631315D}"/>
              </a:ext>
            </a:extLst>
          </p:cNvPr>
          <p:cNvSpPr>
            <a:spLocks noGrp="1"/>
          </p:cNvSpPr>
          <p:nvPr>
            <p:ph idx="1"/>
          </p:nvPr>
        </p:nvSpPr>
        <p:spPr>
          <a:xfrm>
            <a:off x="823686" y="600474"/>
            <a:ext cx="10515600" cy="6486114"/>
          </a:xfrm>
        </p:spPr>
        <p:txBody>
          <a:bodyPr>
            <a:normAutofit fontScale="40000" lnSpcReduction="20000"/>
          </a:bodyPr>
          <a:lstStyle/>
          <a:p>
            <a:pPr marL="0" indent="0">
              <a:buNone/>
            </a:pPr>
            <a:r>
              <a:rPr lang="fr-FR" sz="5000" dirty="0"/>
              <a:t>Compétences:</a:t>
            </a:r>
          </a:p>
          <a:p>
            <a:pPr marL="0" indent="0">
              <a:buNone/>
            </a:pPr>
            <a:r>
              <a:rPr lang="fr-FR" sz="5000" dirty="0"/>
              <a:t>CO1.1. Justifier les choix des structures matérielles et/ou logicielles d’un produit, identifier les flux mis en œuvre dans une approche de développement durable. </a:t>
            </a:r>
          </a:p>
          <a:p>
            <a:pPr marL="0" indent="0">
              <a:buNone/>
            </a:pPr>
            <a:r>
              <a:rPr lang="fr-FR" sz="5000" dirty="0"/>
              <a:t>CO5.8. Concevoir </a:t>
            </a:r>
          </a:p>
          <a:p>
            <a:pPr marL="0" indent="0">
              <a:buNone/>
            </a:pPr>
            <a:r>
              <a:rPr lang="fr-FR" sz="5000" dirty="0"/>
              <a:t>Définir à l’aide d’un modeleur numérique, les formes et dimensions d’une pièce d’un produit à partir des contraintes fonctionnelles, de son procédé de réalisation et de son matériau. </a:t>
            </a:r>
          </a:p>
          <a:p>
            <a:pPr marL="0" indent="0">
              <a:buNone/>
            </a:pPr>
            <a:r>
              <a:rPr lang="fr-FR" sz="5000" dirty="0"/>
              <a:t>CO6.5. Interpréter les résultats d’une simulation et conclure sur la </a:t>
            </a:r>
          </a:p>
          <a:p>
            <a:pPr marL="0" indent="0">
              <a:buNone/>
            </a:pPr>
            <a:r>
              <a:rPr lang="fr-FR" sz="5000" dirty="0"/>
              <a:t>performance de la solution. </a:t>
            </a:r>
          </a:p>
          <a:p>
            <a:pPr marL="0" indent="0">
              <a:buNone/>
            </a:pPr>
            <a:r>
              <a:rPr lang="fr-FR" sz="5000" dirty="0"/>
              <a:t>CO6.3. Évaluer un écart entre le comportement du réel et les résultats </a:t>
            </a:r>
          </a:p>
          <a:p>
            <a:pPr marL="0" indent="0">
              <a:buNone/>
            </a:pPr>
            <a:r>
              <a:rPr lang="fr-FR" sz="5000" dirty="0"/>
              <a:t>fournis par le modèle en fonction des paramètres proposés, conclure </a:t>
            </a:r>
          </a:p>
          <a:p>
            <a:pPr marL="0" indent="0">
              <a:buNone/>
            </a:pPr>
            <a:r>
              <a:rPr lang="fr-FR" sz="5000" dirty="0"/>
              <a:t>sur la validité du modèle. </a:t>
            </a:r>
            <a:endParaRPr lang="fr-FR" sz="4500" dirty="0"/>
          </a:p>
          <a:p>
            <a:pPr marL="0" indent="0">
              <a:buNone/>
            </a:pPr>
            <a:r>
              <a:rPr lang="fr-FR" sz="5000" dirty="0"/>
              <a:t>CO7.6. Expérimenter</a:t>
            </a:r>
          </a:p>
          <a:p>
            <a:pPr marL="0" indent="0">
              <a:buNone/>
            </a:pPr>
            <a:r>
              <a:rPr lang="fr-FR" sz="5000" dirty="0"/>
              <a:t>Mesurer des performances d’un constituant </a:t>
            </a:r>
          </a:p>
          <a:p>
            <a:pPr marL="0" indent="0">
              <a:buNone/>
            </a:pPr>
            <a:r>
              <a:rPr lang="fr-FR" sz="5000" dirty="0"/>
              <a:t>ou d’un sous-ensemble d’un produit. </a:t>
            </a:r>
          </a:p>
          <a:p>
            <a:pPr marL="0" indent="0">
              <a:buNone/>
            </a:pPr>
            <a:r>
              <a:rPr lang="fr-FR" sz="5000" dirty="0"/>
              <a:t>Savoirs:</a:t>
            </a:r>
          </a:p>
          <a:p>
            <a:pPr marL="0" indent="0">
              <a:buNone/>
            </a:pPr>
            <a:r>
              <a:rPr lang="fr-FR" sz="5000" dirty="0"/>
              <a:t>3.1.1. Progiciels de simulation </a:t>
            </a:r>
          </a:p>
          <a:p>
            <a:pPr marL="0" indent="0">
              <a:buNone/>
            </a:pPr>
            <a:r>
              <a:rPr lang="fr-FR" sz="5000" dirty="0"/>
              <a:t>3.1.2. Paramétrage d’un modèle</a:t>
            </a:r>
          </a:p>
          <a:p>
            <a:pPr marL="0" indent="0">
              <a:buNone/>
            </a:pPr>
            <a:r>
              <a:rPr lang="fr-FR" sz="5000" dirty="0"/>
              <a:t>4.2.2. Choix des matériaux</a:t>
            </a:r>
          </a:p>
          <a:p>
            <a:pPr marL="0" indent="0">
              <a:buNone/>
            </a:pPr>
            <a:r>
              <a:rPr lang="fr-FR" sz="5000" dirty="0"/>
              <a:t>6.2. </a:t>
            </a:r>
            <a:r>
              <a:rPr lang="fr-FR" sz="5400" dirty="0"/>
              <a:t>Expérimentation sur les matériaux et sur les structures.</a:t>
            </a:r>
            <a:endParaRPr lang="fr-FR" sz="5000" dirty="0"/>
          </a:p>
          <a:p>
            <a:pPr marL="0" indent="0">
              <a:buNone/>
            </a:pPr>
            <a:endParaRPr lang="fr-FR" dirty="0"/>
          </a:p>
          <a:p>
            <a:pPr marL="0" indent="0">
              <a:buNone/>
            </a:pPr>
            <a:endParaRPr lang="fr-FR" dirty="0"/>
          </a:p>
        </p:txBody>
      </p:sp>
      <p:sp>
        <p:nvSpPr>
          <p:cNvPr id="7" name="Espace réservé du numéro de diapositive 6">
            <a:extLst>
              <a:ext uri="{FF2B5EF4-FFF2-40B4-BE49-F238E27FC236}">
                <a16:creationId xmlns:a16="http://schemas.microsoft.com/office/drawing/2014/main" id="{4BD84530-A3D8-A149-33AE-22D847DF02D2}"/>
              </a:ext>
            </a:extLst>
          </p:cNvPr>
          <p:cNvSpPr>
            <a:spLocks noGrp="1"/>
          </p:cNvSpPr>
          <p:nvPr>
            <p:ph type="sldNum" sz="quarter" idx="12"/>
          </p:nvPr>
        </p:nvSpPr>
        <p:spPr/>
        <p:txBody>
          <a:bodyPr/>
          <a:lstStyle/>
          <a:p>
            <a:fld id="{201A5C1E-DE71-4D99-BC1E-739595F062E0}" type="slidenum">
              <a:rPr lang="fr-FR" sz="2000" smtClean="0"/>
              <a:t>11</a:t>
            </a:fld>
            <a:r>
              <a:rPr lang="fr-FR" sz="2000" dirty="0"/>
              <a:t>/21</a:t>
            </a:r>
          </a:p>
        </p:txBody>
      </p:sp>
      <p:pic>
        <p:nvPicPr>
          <p:cNvPr id="18" name="Image 17">
            <a:extLst>
              <a:ext uri="{FF2B5EF4-FFF2-40B4-BE49-F238E27FC236}">
                <a16:creationId xmlns:a16="http://schemas.microsoft.com/office/drawing/2014/main" id="{974D8CC5-53E4-5DB4-5E1C-C866F547D1B1}"/>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8736220" y="2445532"/>
            <a:ext cx="2632094" cy="1525851"/>
          </a:xfrm>
          <a:prstGeom prst="rect">
            <a:avLst/>
          </a:prstGeom>
        </p:spPr>
      </p:pic>
      <p:sp>
        <p:nvSpPr>
          <p:cNvPr id="19" name="Espace réservé du pied de page 18">
            <a:extLst>
              <a:ext uri="{FF2B5EF4-FFF2-40B4-BE49-F238E27FC236}">
                <a16:creationId xmlns:a16="http://schemas.microsoft.com/office/drawing/2014/main" id="{642F9AD9-0FDE-845B-5032-5A13ADD7C46A}"/>
              </a:ext>
            </a:extLst>
          </p:cNvPr>
          <p:cNvSpPr>
            <a:spLocks noGrp="1"/>
          </p:cNvSpPr>
          <p:nvPr>
            <p:ph type="ftr" sz="quarter" idx="11"/>
          </p:nvPr>
        </p:nvSpPr>
        <p:spPr>
          <a:xfrm>
            <a:off x="4024086" y="6492875"/>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767910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F7CE-A787-42F7-1D5C-0CFD2E8940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723F69-2791-B13F-1A93-7CA4E235D01B}"/>
              </a:ext>
            </a:extLst>
          </p:cNvPr>
          <p:cNvSpPr>
            <a:spLocks noGrp="1"/>
          </p:cNvSpPr>
          <p:nvPr>
            <p:ph type="title"/>
          </p:nvPr>
        </p:nvSpPr>
        <p:spPr>
          <a:xfrm>
            <a:off x="838200" y="136525"/>
            <a:ext cx="10515600" cy="1325563"/>
          </a:xfrm>
        </p:spPr>
        <p:txBody>
          <a:bodyPr/>
          <a:lstStyle/>
          <a:p>
            <a:r>
              <a:rPr lang="fr-FR" dirty="0"/>
              <a:t>Cours 1 2h</a:t>
            </a:r>
          </a:p>
        </p:txBody>
      </p:sp>
      <p:sp>
        <p:nvSpPr>
          <p:cNvPr id="7" name="Espace réservé du numéro de diapositive 6">
            <a:extLst>
              <a:ext uri="{FF2B5EF4-FFF2-40B4-BE49-F238E27FC236}">
                <a16:creationId xmlns:a16="http://schemas.microsoft.com/office/drawing/2014/main" id="{678AD4A6-DB6A-40B5-3BF9-9D776B93AEA8}"/>
              </a:ext>
            </a:extLst>
          </p:cNvPr>
          <p:cNvSpPr>
            <a:spLocks noGrp="1"/>
          </p:cNvSpPr>
          <p:nvPr>
            <p:ph type="sldNum" sz="quarter" idx="12"/>
          </p:nvPr>
        </p:nvSpPr>
        <p:spPr/>
        <p:txBody>
          <a:bodyPr/>
          <a:lstStyle/>
          <a:p>
            <a:fld id="{201A5C1E-DE71-4D99-BC1E-739595F062E0}" type="slidenum">
              <a:rPr lang="fr-FR" sz="2000" smtClean="0"/>
              <a:t>12</a:t>
            </a:fld>
            <a:r>
              <a:rPr lang="fr-FR" sz="2000" dirty="0"/>
              <a:t>/21</a:t>
            </a:r>
          </a:p>
        </p:txBody>
      </p:sp>
      <p:sp>
        <p:nvSpPr>
          <p:cNvPr id="3" name="ZoneTexte 2">
            <a:extLst>
              <a:ext uri="{FF2B5EF4-FFF2-40B4-BE49-F238E27FC236}">
                <a16:creationId xmlns:a16="http://schemas.microsoft.com/office/drawing/2014/main" id="{E1B4019A-AA41-8815-B392-C1A378D68CB4}"/>
              </a:ext>
            </a:extLst>
          </p:cNvPr>
          <p:cNvSpPr txBox="1"/>
          <p:nvPr/>
        </p:nvSpPr>
        <p:spPr>
          <a:xfrm>
            <a:off x="838199" y="1138922"/>
            <a:ext cx="10787743" cy="1938992"/>
          </a:xfrm>
          <a:prstGeom prst="rect">
            <a:avLst/>
          </a:prstGeom>
          <a:noFill/>
        </p:spPr>
        <p:txBody>
          <a:bodyPr wrap="square" rtlCol="0">
            <a:spAutoFit/>
          </a:bodyPr>
          <a:lstStyle/>
          <a:p>
            <a:r>
              <a:rPr lang="fr-FR" sz="2400" dirty="0"/>
              <a:t>Découverte du concept de résistance:</a:t>
            </a:r>
          </a:p>
          <a:p>
            <a:r>
              <a:rPr lang="fr-FR" sz="2400" dirty="0"/>
              <a:t>Comment peut-on mesurer la résistance d’un matériau, quels pourraient être les critères pour quantifier ces performances</a:t>
            </a:r>
          </a:p>
          <a:p>
            <a:r>
              <a:rPr lang="fr-FR" sz="2400" dirty="0"/>
              <a:t>Démarche inductive, essayer de leur faire correspondre avec une situation que les élèves auraient déjà vécue.</a:t>
            </a:r>
          </a:p>
        </p:txBody>
      </p:sp>
      <p:sp>
        <p:nvSpPr>
          <p:cNvPr id="4" name="Titre 1">
            <a:extLst>
              <a:ext uri="{FF2B5EF4-FFF2-40B4-BE49-F238E27FC236}">
                <a16:creationId xmlns:a16="http://schemas.microsoft.com/office/drawing/2014/main" id="{B872F43F-0B41-E34E-24A4-D601765A3749}"/>
              </a:ext>
            </a:extLst>
          </p:cNvPr>
          <p:cNvSpPr txBox="1">
            <a:spLocks/>
          </p:cNvSpPr>
          <p:nvPr/>
        </p:nvSpPr>
        <p:spPr>
          <a:xfrm>
            <a:off x="838200" y="29673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TP1 3h</a:t>
            </a:r>
          </a:p>
        </p:txBody>
      </p:sp>
      <p:sp>
        <p:nvSpPr>
          <p:cNvPr id="6" name="ZoneTexte 5">
            <a:extLst>
              <a:ext uri="{FF2B5EF4-FFF2-40B4-BE49-F238E27FC236}">
                <a16:creationId xmlns:a16="http://schemas.microsoft.com/office/drawing/2014/main" id="{2AC34C6A-4F37-FC66-A9CF-3DDE4AD86748}"/>
              </a:ext>
            </a:extLst>
          </p:cNvPr>
          <p:cNvSpPr txBox="1"/>
          <p:nvPr/>
        </p:nvSpPr>
        <p:spPr>
          <a:xfrm>
            <a:off x="838199" y="4039115"/>
            <a:ext cx="10671629" cy="2215991"/>
          </a:xfrm>
          <a:prstGeom prst="rect">
            <a:avLst/>
          </a:prstGeom>
          <a:noFill/>
        </p:spPr>
        <p:txBody>
          <a:bodyPr wrap="square" rtlCol="0">
            <a:spAutoFit/>
          </a:bodyPr>
          <a:lstStyle/>
          <a:p>
            <a:r>
              <a:rPr lang="fr-FR" sz="2400" dirty="0"/>
              <a:t>En demi-groupe , 6 groupes de 3 élèves</a:t>
            </a:r>
          </a:p>
          <a:p>
            <a:r>
              <a:rPr lang="fr-FR" sz="2400" dirty="0"/>
              <a:t>Découverte de la notion de résistance mécanique, résistance élastique:</a:t>
            </a:r>
          </a:p>
          <a:p>
            <a:r>
              <a:rPr lang="fr-FR" sz="2400" dirty="0"/>
              <a:t>Comment peut-on mesurer la résistance d’un matériau</a:t>
            </a:r>
          </a:p>
          <a:p>
            <a:r>
              <a:rPr lang="fr-FR" sz="2400" dirty="0"/>
              <a:t>Essai de traction, on obtient une courbe, à quoi peut elle correspondre? </a:t>
            </a:r>
          </a:p>
          <a:p>
            <a:r>
              <a:rPr lang="fr-FR" sz="2400" dirty="0"/>
              <a:t>Simulation d’un essai de traction sous SolidWorks</a:t>
            </a:r>
          </a:p>
          <a:p>
            <a:endParaRPr lang="fr-FR" dirty="0"/>
          </a:p>
        </p:txBody>
      </p:sp>
      <p:graphicFrame>
        <p:nvGraphicFramePr>
          <p:cNvPr id="8" name="Tableau 7">
            <a:extLst>
              <a:ext uri="{FF2B5EF4-FFF2-40B4-BE49-F238E27FC236}">
                <a16:creationId xmlns:a16="http://schemas.microsoft.com/office/drawing/2014/main" id="{04ED6B27-CCDC-2050-8C8F-A7FE1D27D37C}"/>
              </a:ext>
            </a:extLst>
          </p:cNvPr>
          <p:cNvGraphicFramePr>
            <a:graphicFrameLocks noGrp="1"/>
          </p:cNvGraphicFramePr>
          <p:nvPr/>
        </p:nvGraphicFramePr>
        <p:xfrm>
          <a:off x="3617684" y="60289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9" name="Tableau 8">
            <a:extLst>
              <a:ext uri="{FF2B5EF4-FFF2-40B4-BE49-F238E27FC236}">
                <a16:creationId xmlns:a16="http://schemas.microsoft.com/office/drawing/2014/main" id="{1368E37F-65AC-4B09-9AEA-7CBD1E558BB1}"/>
              </a:ext>
            </a:extLst>
          </p:cNvPr>
          <p:cNvGraphicFramePr>
            <a:graphicFrameLocks noGrp="1"/>
          </p:cNvGraphicFramePr>
          <p:nvPr/>
        </p:nvGraphicFramePr>
        <p:xfrm>
          <a:off x="3617684" y="3429000"/>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10" name="Espace réservé du pied de page 9">
            <a:extLst>
              <a:ext uri="{FF2B5EF4-FFF2-40B4-BE49-F238E27FC236}">
                <a16:creationId xmlns:a16="http://schemas.microsoft.com/office/drawing/2014/main" id="{A79D4CA8-5A95-45BA-A4F1-2A2F23BA9B57}"/>
              </a:ext>
            </a:extLst>
          </p:cNvPr>
          <p:cNvSpPr>
            <a:spLocks noGrp="1"/>
          </p:cNvSpPr>
          <p:nvPr>
            <p:ph type="ftr" sz="quarter" idx="11"/>
          </p:nvPr>
        </p:nvSpPr>
        <p:spPr>
          <a:xfrm>
            <a:off x="4038600" y="6477454"/>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393055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81A4C-EC54-BD86-6537-6D17951A38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89B9873-1F9D-C64A-D43B-BFF0DAF8E626}"/>
              </a:ext>
            </a:extLst>
          </p:cNvPr>
          <p:cNvSpPr>
            <a:spLocks noGrp="1"/>
          </p:cNvSpPr>
          <p:nvPr>
            <p:ph type="title"/>
          </p:nvPr>
        </p:nvSpPr>
        <p:spPr>
          <a:xfrm>
            <a:off x="838200" y="262717"/>
            <a:ext cx="10515600" cy="1325563"/>
          </a:xfrm>
        </p:spPr>
        <p:txBody>
          <a:bodyPr/>
          <a:lstStyle/>
          <a:p>
            <a:r>
              <a:rPr lang="fr-FR" dirty="0"/>
              <a:t>TD1 2h</a:t>
            </a:r>
          </a:p>
        </p:txBody>
      </p:sp>
      <p:sp>
        <p:nvSpPr>
          <p:cNvPr id="7" name="Espace réservé du numéro de diapositive 6">
            <a:extLst>
              <a:ext uri="{FF2B5EF4-FFF2-40B4-BE49-F238E27FC236}">
                <a16:creationId xmlns:a16="http://schemas.microsoft.com/office/drawing/2014/main" id="{23E4AB98-6335-18B6-9B55-83B1EB782B2E}"/>
              </a:ext>
            </a:extLst>
          </p:cNvPr>
          <p:cNvSpPr>
            <a:spLocks noGrp="1"/>
          </p:cNvSpPr>
          <p:nvPr>
            <p:ph type="sldNum" sz="quarter" idx="12"/>
          </p:nvPr>
        </p:nvSpPr>
        <p:spPr/>
        <p:txBody>
          <a:bodyPr/>
          <a:lstStyle/>
          <a:p>
            <a:fld id="{201A5C1E-DE71-4D99-BC1E-739595F062E0}" type="slidenum">
              <a:rPr lang="fr-FR" sz="2000" smtClean="0"/>
              <a:t>13</a:t>
            </a:fld>
            <a:r>
              <a:rPr lang="fr-FR" sz="2000" dirty="0"/>
              <a:t>/21</a:t>
            </a:r>
          </a:p>
        </p:txBody>
      </p:sp>
      <p:sp>
        <p:nvSpPr>
          <p:cNvPr id="5" name="ZoneTexte 4">
            <a:extLst>
              <a:ext uri="{FF2B5EF4-FFF2-40B4-BE49-F238E27FC236}">
                <a16:creationId xmlns:a16="http://schemas.microsoft.com/office/drawing/2014/main" id="{D5D1C3A9-43D6-FE03-9538-4AAE4C719FF6}"/>
              </a:ext>
            </a:extLst>
          </p:cNvPr>
          <p:cNvSpPr txBox="1"/>
          <p:nvPr/>
        </p:nvSpPr>
        <p:spPr>
          <a:xfrm>
            <a:off x="838200" y="1265114"/>
            <a:ext cx="8494486" cy="2308324"/>
          </a:xfrm>
          <a:prstGeom prst="rect">
            <a:avLst/>
          </a:prstGeom>
          <a:noFill/>
        </p:spPr>
        <p:txBody>
          <a:bodyPr wrap="square" rtlCol="0">
            <a:spAutoFit/>
          </a:bodyPr>
          <a:lstStyle/>
          <a:p>
            <a:r>
              <a:rPr lang="fr-FR" sz="2400" dirty="0"/>
              <a:t>Quizz Klaxoon sur les notions vues au départ</a:t>
            </a:r>
          </a:p>
          <a:p>
            <a:r>
              <a:rPr lang="fr-FR" sz="2400" dirty="0"/>
              <a:t>Lecture de courbes d’essai normalisés, comparaison des caractéristiques de différentes matériaux. </a:t>
            </a:r>
          </a:p>
          <a:p>
            <a:r>
              <a:rPr lang="fr-FR" sz="2400" dirty="0"/>
              <a:t>Exemple sur une règle en plastique souple, une en fer et une en plastique. Et autre système si les élèves ont des idées plus intéressantes selon eux.</a:t>
            </a:r>
          </a:p>
        </p:txBody>
      </p:sp>
      <p:sp>
        <p:nvSpPr>
          <p:cNvPr id="10" name="ZoneTexte 9">
            <a:extLst>
              <a:ext uri="{FF2B5EF4-FFF2-40B4-BE49-F238E27FC236}">
                <a16:creationId xmlns:a16="http://schemas.microsoft.com/office/drawing/2014/main" id="{DEBE1CC3-B678-25E1-AE63-8256AEB7E3E4}"/>
              </a:ext>
            </a:extLst>
          </p:cNvPr>
          <p:cNvSpPr txBox="1"/>
          <p:nvPr/>
        </p:nvSpPr>
        <p:spPr>
          <a:xfrm>
            <a:off x="838200" y="4254058"/>
            <a:ext cx="10426700" cy="2677656"/>
          </a:xfrm>
          <a:prstGeom prst="rect">
            <a:avLst/>
          </a:prstGeom>
          <a:noFill/>
        </p:spPr>
        <p:txBody>
          <a:bodyPr wrap="square" rtlCol="0">
            <a:spAutoFit/>
          </a:bodyPr>
          <a:lstStyle/>
          <a:p>
            <a:r>
              <a:rPr lang="fr-FR" sz="2400" dirty="0"/>
              <a:t>En demi-groupe , 6 groupes de 3 élèves</a:t>
            </a:r>
          </a:p>
          <a:p>
            <a:r>
              <a:rPr lang="fr-FR" sz="2400" dirty="0"/>
              <a:t>Comment quantifier l’influence du matériau sur les caractéristiques d’un produit </a:t>
            </a:r>
          </a:p>
          <a:p>
            <a:r>
              <a:rPr lang="fr-FR" sz="2400" dirty="0"/>
              <a:t>Essais de traction sur 3 éprouvettes de traction: une découpée au laser dans du bois (sens fibre et perpendiculaire à fibre) une imprimée en 3D, et une en plexiglass puis comparaison des résultats dans un tableau.</a:t>
            </a:r>
          </a:p>
          <a:p>
            <a:r>
              <a:rPr lang="fr-FR" sz="2400" dirty="0"/>
              <a:t>Compte rendu en fin de séance</a:t>
            </a:r>
          </a:p>
          <a:p>
            <a:endParaRPr lang="fr-FR" sz="2400" dirty="0"/>
          </a:p>
        </p:txBody>
      </p:sp>
      <p:sp>
        <p:nvSpPr>
          <p:cNvPr id="11" name="Titre 1">
            <a:extLst>
              <a:ext uri="{FF2B5EF4-FFF2-40B4-BE49-F238E27FC236}">
                <a16:creationId xmlns:a16="http://schemas.microsoft.com/office/drawing/2014/main" id="{0E0B2FC9-0D54-76F0-D2E3-E1793D693421}"/>
              </a:ext>
            </a:extLst>
          </p:cNvPr>
          <p:cNvSpPr txBox="1">
            <a:spLocks/>
          </p:cNvSpPr>
          <p:nvPr/>
        </p:nvSpPr>
        <p:spPr>
          <a:xfrm>
            <a:off x="838200" y="3573438"/>
            <a:ext cx="10515600" cy="861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TP2 3h</a:t>
            </a:r>
          </a:p>
        </p:txBody>
      </p:sp>
      <p:graphicFrame>
        <p:nvGraphicFramePr>
          <p:cNvPr id="12" name="Tableau 11">
            <a:extLst>
              <a:ext uri="{FF2B5EF4-FFF2-40B4-BE49-F238E27FC236}">
                <a16:creationId xmlns:a16="http://schemas.microsoft.com/office/drawing/2014/main" id="{1451EC03-F103-8645-C7CC-A8B21FDDC155}"/>
              </a:ext>
            </a:extLst>
          </p:cNvPr>
          <p:cNvGraphicFramePr>
            <a:graphicFrameLocks noGrp="1"/>
          </p:cNvGraphicFramePr>
          <p:nvPr/>
        </p:nvGraphicFramePr>
        <p:xfrm>
          <a:off x="2799442" y="72983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13" name="Tableau 12">
            <a:extLst>
              <a:ext uri="{FF2B5EF4-FFF2-40B4-BE49-F238E27FC236}">
                <a16:creationId xmlns:a16="http://schemas.microsoft.com/office/drawing/2014/main" id="{E07FFB79-2907-836F-2F6B-A44F9F05C302}"/>
              </a:ext>
            </a:extLst>
          </p:cNvPr>
          <p:cNvGraphicFramePr>
            <a:graphicFrameLocks noGrp="1"/>
          </p:cNvGraphicFramePr>
          <p:nvPr>
            <p:extLst>
              <p:ext uri="{D42A27DB-BD31-4B8C-83A1-F6EECF244321}">
                <p14:modId xmlns:p14="http://schemas.microsoft.com/office/powerpoint/2010/main" val="4213601268"/>
              </p:ext>
            </p:extLst>
          </p:nvPr>
        </p:nvGraphicFramePr>
        <p:xfrm>
          <a:off x="2799442" y="3820553"/>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16" name="Espace réservé du pied de page 15">
            <a:extLst>
              <a:ext uri="{FF2B5EF4-FFF2-40B4-BE49-F238E27FC236}">
                <a16:creationId xmlns:a16="http://schemas.microsoft.com/office/drawing/2014/main" id="{1C91ADFD-A443-FB9C-5B88-436ACD697260}"/>
              </a:ext>
            </a:extLst>
          </p:cNvPr>
          <p:cNvSpPr>
            <a:spLocks noGrp="1"/>
          </p:cNvSpPr>
          <p:nvPr>
            <p:ph type="ftr" sz="quarter" idx="11"/>
          </p:nvPr>
        </p:nvSpPr>
        <p:spPr>
          <a:xfrm>
            <a:off x="4038600" y="6451683"/>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225910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28A6-7459-1768-BE5E-A721F82CA1A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5660EF3-0B3B-80FA-0A52-32BA2736A317}"/>
              </a:ext>
            </a:extLst>
          </p:cNvPr>
          <p:cNvSpPr>
            <a:spLocks noGrp="1"/>
          </p:cNvSpPr>
          <p:nvPr>
            <p:ph type="sldNum" sz="quarter" idx="12"/>
          </p:nvPr>
        </p:nvSpPr>
        <p:spPr/>
        <p:txBody>
          <a:bodyPr/>
          <a:lstStyle/>
          <a:p>
            <a:fld id="{201A5C1E-DE71-4D99-BC1E-739595F062E0}" type="slidenum">
              <a:rPr lang="fr-FR" sz="2000" smtClean="0"/>
              <a:t>14</a:t>
            </a:fld>
            <a:r>
              <a:rPr lang="fr-FR" sz="2000" dirty="0"/>
              <a:t>/21</a:t>
            </a:r>
          </a:p>
        </p:txBody>
      </p:sp>
      <p:sp>
        <p:nvSpPr>
          <p:cNvPr id="9" name="Titre 1">
            <a:extLst>
              <a:ext uri="{FF2B5EF4-FFF2-40B4-BE49-F238E27FC236}">
                <a16:creationId xmlns:a16="http://schemas.microsoft.com/office/drawing/2014/main" id="{527844A1-A2FF-9885-BFAF-17F445244CAC}"/>
              </a:ext>
            </a:extLst>
          </p:cNvPr>
          <p:cNvSpPr>
            <a:spLocks noGrp="1"/>
          </p:cNvSpPr>
          <p:nvPr>
            <p:ph type="title"/>
          </p:nvPr>
        </p:nvSpPr>
        <p:spPr>
          <a:xfrm>
            <a:off x="954314" y="447636"/>
            <a:ext cx="10515600" cy="1325563"/>
          </a:xfrm>
        </p:spPr>
        <p:txBody>
          <a:bodyPr/>
          <a:lstStyle/>
          <a:p>
            <a:r>
              <a:rPr lang="fr-FR" dirty="0"/>
              <a:t>TP3 2h</a:t>
            </a:r>
          </a:p>
        </p:txBody>
      </p:sp>
      <p:sp>
        <p:nvSpPr>
          <p:cNvPr id="10" name="ZoneTexte 9">
            <a:extLst>
              <a:ext uri="{FF2B5EF4-FFF2-40B4-BE49-F238E27FC236}">
                <a16:creationId xmlns:a16="http://schemas.microsoft.com/office/drawing/2014/main" id="{2A7C0FE1-0B5E-3535-4117-1167EF57D808}"/>
              </a:ext>
            </a:extLst>
          </p:cNvPr>
          <p:cNvSpPr txBox="1"/>
          <p:nvPr/>
        </p:nvSpPr>
        <p:spPr>
          <a:xfrm>
            <a:off x="954314" y="1516817"/>
            <a:ext cx="7493000" cy="1200329"/>
          </a:xfrm>
          <a:prstGeom prst="rect">
            <a:avLst/>
          </a:prstGeom>
          <a:noFill/>
        </p:spPr>
        <p:txBody>
          <a:bodyPr wrap="square">
            <a:spAutoFit/>
          </a:bodyPr>
          <a:lstStyle/>
          <a:p>
            <a:r>
              <a:rPr lang="fr-FR" sz="2400" dirty="0"/>
              <a:t>En demi-groupe , 3 groupes de 6 élèves</a:t>
            </a:r>
          </a:p>
          <a:p>
            <a:r>
              <a:rPr lang="fr-FR" sz="2400" dirty="0"/>
              <a:t>Finalisation du TP3 et préparation d’un petit diaporama pour présenter aux autres élèves en vue du grand oral</a:t>
            </a:r>
          </a:p>
        </p:txBody>
      </p:sp>
      <p:sp>
        <p:nvSpPr>
          <p:cNvPr id="11" name="Titre 1">
            <a:extLst>
              <a:ext uri="{FF2B5EF4-FFF2-40B4-BE49-F238E27FC236}">
                <a16:creationId xmlns:a16="http://schemas.microsoft.com/office/drawing/2014/main" id="{7671BD5D-9572-E6F0-7C55-D6C7B4C145EE}"/>
              </a:ext>
            </a:extLst>
          </p:cNvPr>
          <p:cNvSpPr txBox="1">
            <a:spLocks/>
          </p:cNvSpPr>
          <p:nvPr/>
        </p:nvSpPr>
        <p:spPr>
          <a:xfrm>
            <a:off x="954314" y="31264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Cours 2 2h</a:t>
            </a:r>
          </a:p>
        </p:txBody>
      </p:sp>
      <p:sp>
        <p:nvSpPr>
          <p:cNvPr id="14" name="ZoneTexte 13">
            <a:extLst>
              <a:ext uri="{FF2B5EF4-FFF2-40B4-BE49-F238E27FC236}">
                <a16:creationId xmlns:a16="http://schemas.microsoft.com/office/drawing/2014/main" id="{7E862862-33E0-6DB6-ABAB-A857F2E86485}"/>
              </a:ext>
            </a:extLst>
          </p:cNvPr>
          <p:cNvSpPr txBox="1"/>
          <p:nvPr/>
        </p:nvSpPr>
        <p:spPr>
          <a:xfrm>
            <a:off x="954314" y="4221133"/>
            <a:ext cx="9655629" cy="1200329"/>
          </a:xfrm>
          <a:prstGeom prst="rect">
            <a:avLst/>
          </a:prstGeom>
          <a:noFill/>
        </p:spPr>
        <p:txBody>
          <a:bodyPr wrap="square">
            <a:spAutoFit/>
          </a:bodyPr>
          <a:lstStyle/>
          <a:p>
            <a:r>
              <a:rPr lang="fr-FR" sz="2400" dirty="0"/>
              <a:t>Cours sur les sollicitations qui ont pu être observés lors des </a:t>
            </a:r>
            <a:r>
              <a:rPr lang="fr-FR" sz="2400" dirty="0" err="1"/>
              <a:t>TPs</a:t>
            </a:r>
            <a:r>
              <a:rPr lang="fr-FR" sz="2400" dirty="0"/>
              <a:t> précédents</a:t>
            </a:r>
          </a:p>
          <a:p>
            <a:r>
              <a:rPr lang="fr-FR" sz="2400" dirty="0"/>
              <a:t>Sollicitations: flexion, loi de Hooke, résistance élastique, résistance mécanique, hypothèses.</a:t>
            </a:r>
          </a:p>
        </p:txBody>
      </p:sp>
      <p:graphicFrame>
        <p:nvGraphicFramePr>
          <p:cNvPr id="12" name="Tableau 11">
            <a:extLst>
              <a:ext uri="{FF2B5EF4-FFF2-40B4-BE49-F238E27FC236}">
                <a16:creationId xmlns:a16="http://schemas.microsoft.com/office/drawing/2014/main" id="{6D7CC1A4-97EC-0A85-0D4F-E9EC4FC9D4E1}"/>
              </a:ext>
            </a:extLst>
          </p:cNvPr>
          <p:cNvGraphicFramePr>
            <a:graphicFrameLocks noGrp="1"/>
          </p:cNvGraphicFramePr>
          <p:nvPr/>
        </p:nvGraphicFramePr>
        <p:xfrm>
          <a:off x="3617684" y="914005"/>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665967402"/>
                  </a:ext>
                </a:extLst>
              </a:tr>
            </a:tbl>
          </a:graphicData>
        </a:graphic>
      </p:graphicFrame>
      <p:graphicFrame>
        <p:nvGraphicFramePr>
          <p:cNvPr id="13" name="Tableau 12">
            <a:extLst>
              <a:ext uri="{FF2B5EF4-FFF2-40B4-BE49-F238E27FC236}">
                <a16:creationId xmlns:a16="http://schemas.microsoft.com/office/drawing/2014/main" id="{2010B5F4-ABF7-D3FA-97A2-D27D7F19CDD7}"/>
              </a:ext>
            </a:extLst>
          </p:cNvPr>
          <p:cNvGraphicFramePr>
            <a:graphicFrameLocks noGrp="1"/>
          </p:cNvGraphicFramePr>
          <p:nvPr/>
        </p:nvGraphicFramePr>
        <p:xfrm>
          <a:off x="3617684" y="360376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
        <p:nvSpPr>
          <p:cNvPr id="15" name="Espace réservé du pied de page 14">
            <a:extLst>
              <a:ext uri="{FF2B5EF4-FFF2-40B4-BE49-F238E27FC236}">
                <a16:creationId xmlns:a16="http://schemas.microsoft.com/office/drawing/2014/main" id="{0F4ABBB3-4AC0-4781-417D-9F136CBA6770}"/>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571427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3C2D-2749-87CE-02EE-5B2AE7F0ADE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0AAF29C-7192-01D5-AF0F-26A662E705B0}"/>
              </a:ext>
            </a:extLst>
          </p:cNvPr>
          <p:cNvSpPr>
            <a:spLocks noGrp="1"/>
          </p:cNvSpPr>
          <p:nvPr>
            <p:ph type="sldNum" sz="quarter" idx="12"/>
          </p:nvPr>
        </p:nvSpPr>
        <p:spPr/>
        <p:txBody>
          <a:bodyPr/>
          <a:lstStyle/>
          <a:p>
            <a:fld id="{201A5C1E-DE71-4D99-BC1E-739595F062E0}" type="slidenum">
              <a:rPr lang="fr-FR" sz="2000" smtClean="0"/>
              <a:t>15</a:t>
            </a:fld>
            <a:r>
              <a:rPr lang="fr-FR" sz="2000" dirty="0"/>
              <a:t>/21</a:t>
            </a:r>
          </a:p>
        </p:txBody>
      </p:sp>
      <p:sp>
        <p:nvSpPr>
          <p:cNvPr id="11" name="ZoneTexte 10">
            <a:extLst>
              <a:ext uri="{FF2B5EF4-FFF2-40B4-BE49-F238E27FC236}">
                <a16:creationId xmlns:a16="http://schemas.microsoft.com/office/drawing/2014/main" id="{AACE3DE3-8112-817A-8DEA-8FFA1010425D}"/>
              </a:ext>
            </a:extLst>
          </p:cNvPr>
          <p:cNvSpPr txBox="1"/>
          <p:nvPr/>
        </p:nvSpPr>
        <p:spPr>
          <a:xfrm>
            <a:off x="838199" y="4792469"/>
            <a:ext cx="8973457" cy="1200329"/>
          </a:xfrm>
          <a:prstGeom prst="rect">
            <a:avLst/>
          </a:prstGeom>
          <a:noFill/>
        </p:spPr>
        <p:txBody>
          <a:bodyPr wrap="square" rtlCol="0">
            <a:spAutoFit/>
          </a:bodyPr>
          <a:lstStyle/>
          <a:p>
            <a:r>
              <a:rPr lang="fr-FR" sz="2400" dirty="0"/>
              <a:t>Remédiation grâce au quizz et au compte rendu de TP précédent, analyse de simulations par éléments finis, comparaison aux essais réels menés dans les </a:t>
            </a:r>
            <a:r>
              <a:rPr lang="fr-FR" sz="2400" dirty="0" err="1"/>
              <a:t>TPs</a:t>
            </a:r>
            <a:r>
              <a:rPr lang="fr-FR" sz="2400" dirty="0"/>
              <a:t> précédents, analyse de sollicitations.</a:t>
            </a:r>
          </a:p>
        </p:txBody>
      </p:sp>
      <p:sp>
        <p:nvSpPr>
          <p:cNvPr id="12" name="Titre 1">
            <a:extLst>
              <a:ext uri="{FF2B5EF4-FFF2-40B4-BE49-F238E27FC236}">
                <a16:creationId xmlns:a16="http://schemas.microsoft.com/office/drawing/2014/main" id="{31897C00-8224-CF47-6A2A-56DC2EB624C6}"/>
              </a:ext>
            </a:extLst>
          </p:cNvPr>
          <p:cNvSpPr>
            <a:spLocks noGrp="1"/>
          </p:cNvSpPr>
          <p:nvPr>
            <p:ph type="title"/>
          </p:nvPr>
        </p:nvSpPr>
        <p:spPr>
          <a:xfrm>
            <a:off x="838200" y="4084014"/>
            <a:ext cx="10515600" cy="616122"/>
          </a:xfrm>
        </p:spPr>
        <p:txBody>
          <a:bodyPr>
            <a:normAutofit fontScale="90000"/>
          </a:bodyPr>
          <a:lstStyle/>
          <a:p>
            <a:r>
              <a:rPr lang="fr-FR" dirty="0"/>
              <a:t>TD2 2h</a:t>
            </a:r>
          </a:p>
        </p:txBody>
      </p:sp>
      <p:sp>
        <p:nvSpPr>
          <p:cNvPr id="16" name="ZoneTexte 15">
            <a:extLst>
              <a:ext uri="{FF2B5EF4-FFF2-40B4-BE49-F238E27FC236}">
                <a16:creationId xmlns:a16="http://schemas.microsoft.com/office/drawing/2014/main" id="{67DB0CD1-F86B-0202-255F-E8C4B19854DD}"/>
              </a:ext>
            </a:extLst>
          </p:cNvPr>
          <p:cNvSpPr txBox="1"/>
          <p:nvPr/>
        </p:nvSpPr>
        <p:spPr>
          <a:xfrm>
            <a:off x="838199" y="1265946"/>
            <a:ext cx="9089572" cy="2308324"/>
          </a:xfrm>
          <a:prstGeom prst="rect">
            <a:avLst/>
          </a:prstGeom>
          <a:noFill/>
        </p:spPr>
        <p:txBody>
          <a:bodyPr wrap="square">
            <a:spAutoFit/>
          </a:bodyPr>
          <a:lstStyle/>
          <a:p>
            <a:r>
              <a:rPr lang="fr-FR" sz="2400" dirty="0"/>
              <a:t>En demi-groupe , 6 groupes de 3 élèves</a:t>
            </a:r>
          </a:p>
          <a:p>
            <a:r>
              <a:rPr lang="fr-FR" sz="2400" dirty="0"/>
              <a:t>Comment quantifier la rigidité d’un produit</a:t>
            </a:r>
          </a:p>
          <a:p>
            <a:r>
              <a:rPr lang="fr-FR" sz="2400" dirty="0"/>
              <a:t>Essai de traction</a:t>
            </a:r>
          </a:p>
          <a:p>
            <a:r>
              <a:rPr lang="fr-FR" sz="2400" dirty="0"/>
              <a:t>Découverte du module d’Young</a:t>
            </a:r>
          </a:p>
          <a:p>
            <a:r>
              <a:rPr lang="fr-FR" sz="2400" dirty="0"/>
              <a:t>Compréhension de l’impact d’une mauvaise rigidité: ex cadre de vélo ou pont.</a:t>
            </a:r>
          </a:p>
        </p:txBody>
      </p:sp>
      <p:sp>
        <p:nvSpPr>
          <p:cNvPr id="17" name="Titre 1">
            <a:extLst>
              <a:ext uri="{FF2B5EF4-FFF2-40B4-BE49-F238E27FC236}">
                <a16:creationId xmlns:a16="http://schemas.microsoft.com/office/drawing/2014/main" id="{EDA2B5F4-9E75-BA1A-68A0-C41F5BD36BC3}"/>
              </a:ext>
            </a:extLst>
          </p:cNvPr>
          <p:cNvSpPr txBox="1">
            <a:spLocks/>
          </p:cNvSpPr>
          <p:nvPr/>
        </p:nvSpPr>
        <p:spPr>
          <a:xfrm>
            <a:off x="838200" y="2231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TP4 3h</a:t>
            </a:r>
          </a:p>
        </p:txBody>
      </p:sp>
      <p:graphicFrame>
        <p:nvGraphicFramePr>
          <p:cNvPr id="18" name="Tableau 17">
            <a:extLst>
              <a:ext uri="{FF2B5EF4-FFF2-40B4-BE49-F238E27FC236}">
                <a16:creationId xmlns:a16="http://schemas.microsoft.com/office/drawing/2014/main" id="{0B64518D-C3B9-F041-BA36-87F3913DC05D}"/>
              </a:ext>
            </a:extLst>
          </p:cNvPr>
          <p:cNvGraphicFramePr>
            <a:graphicFrameLocks noGrp="1"/>
          </p:cNvGraphicFramePr>
          <p:nvPr/>
        </p:nvGraphicFramePr>
        <p:xfrm>
          <a:off x="2877455" y="679782"/>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graphicFrame>
        <p:nvGraphicFramePr>
          <p:cNvPr id="19" name="Tableau 18">
            <a:extLst>
              <a:ext uri="{FF2B5EF4-FFF2-40B4-BE49-F238E27FC236}">
                <a16:creationId xmlns:a16="http://schemas.microsoft.com/office/drawing/2014/main" id="{EDFF347C-A209-F512-EBFA-D05938AF2CD7}"/>
              </a:ext>
            </a:extLst>
          </p:cNvPr>
          <p:cNvGraphicFramePr>
            <a:graphicFrameLocks noGrp="1"/>
          </p:cNvGraphicFramePr>
          <p:nvPr/>
        </p:nvGraphicFramePr>
        <p:xfrm>
          <a:off x="3240312" y="4206655"/>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
        <p:nvSpPr>
          <p:cNvPr id="20" name="Espace réservé du pied de page 19">
            <a:extLst>
              <a:ext uri="{FF2B5EF4-FFF2-40B4-BE49-F238E27FC236}">
                <a16:creationId xmlns:a16="http://schemas.microsoft.com/office/drawing/2014/main" id="{3FEEBEBB-96DD-A9A4-FB3A-9AE243BF1F3D}"/>
              </a:ext>
            </a:extLst>
          </p:cNvPr>
          <p:cNvSpPr>
            <a:spLocks noGrp="1"/>
          </p:cNvSpPr>
          <p:nvPr>
            <p:ph type="ftr" sz="quarter" idx="11"/>
          </p:nvPr>
        </p:nvSpPr>
        <p:spPr>
          <a:xfrm>
            <a:off x="4038600" y="6452276"/>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829924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44F11-37A0-FCA6-41DC-D295C37DECBC}"/>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A8C3FDC-8432-4489-FAF9-8A66062FB3BA}"/>
              </a:ext>
            </a:extLst>
          </p:cNvPr>
          <p:cNvSpPr>
            <a:spLocks noGrp="1"/>
          </p:cNvSpPr>
          <p:nvPr>
            <p:ph type="sldNum" sz="quarter" idx="12"/>
          </p:nvPr>
        </p:nvSpPr>
        <p:spPr/>
        <p:txBody>
          <a:bodyPr/>
          <a:lstStyle/>
          <a:p>
            <a:fld id="{201A5C1E-DE71-4D99-BC1E-739595F062E0}" type="slidenum">
              <a:rPr lang="fr-FR" sz="2000" smtClean="0"/>
              <a:t>16</a:t>
            </a:fld>
            <a:r>
              <a:rPr lang="fr-FR" sz="2000" dirty="0"/>
              <a:t>/21</a:t>
            </a:r>
          </a:p>
        </p:txBody>
      </p:sp>
      <p:sp>
        <p:nvSpPr>
          <p:cNvPr id="4" name="Titre 1">
            <a:extLst>
              <a:ext uri="{FF2B5EF4-FFF2-40B4-BE49-F238E27FC236}">
                <a16:creationId xmlns:a16="http://schemas.microsoft.com/office/drawing/2014/main" id="{68075DBC-3972-6370-1102-7293C7710DE6}"/>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TP5 3h</a:t>
            </a:r>
          </a:p>
        </p:txBody>
      </p:sp>
      <p:sp>
        <p:nvSpPr>
          <p:cNvPr id="3" name="Titre 1">
            <a:extLst>
              <a:ext uri="{FF2B5EF4-FFF2-40B4-BE49-F238E27FC236}">
                <a16:creationId xmlns:a16="http://schemas.microsoft.com/office/drawing/2014/main" id="{60C5C25C-B762-2C3C-A5F5-73911686C8A3}"/>
              </a:ext>
            </a:extLst>
          </p:cNvPr>
          <p:cNvSpPr txBox="1">
            <a:spLocks/>
          </p:cNvSpPr>
          <p:nvPr/>
        </p:nvSpPr>
        <p:spPr>
          <a:xfrm>
            <a:off x="838200" y="4497172"/>
            <a:ext cx="10515600" cy="7246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TD3 + éval 1h+1h </a:t>
            </a:r>
          </a:p>
        </p:txBody>
      </p:sp>
      <p:sp>
        <p:nvSpPr>
          <p:cNvPr id="9" name="ZoneTexte 8">
            <a:extLst>
              <a:ext uri="{FF2B5EF4-FFF2-40B4-BE49-F238E27FC236}">
                <a16:creationId xmlns:a16="http://schemas.microsoft.com/office/drawing/2014/main" id="{C4221A2C-6A7A-5B51-92B4-4D43AFC097AA}"/>
              </a:ext>
            </a:extLst>
          </p:cNvPr>
          <p:cNvSpPr txBox="1"/>
          <p:nvPr/>
        </p:nvSpPr>
        <p:spPr>
          <a:xfrm>
            <a:off x="838199" y="1232617"/>
            <a:ext cx="9046030" cy="1569660"/>
          </a:xfrm>
          <a:prstGeom prst="rect">
            <a:avLst/>
          </a:prstGeom>
          <a:noFill/>
        </p:spPr>
        <p:txBody>
          <a:bodyPr wrap="square">
            <a:spAutoFit/>
          </a:bodyPr>
          <a:lstStyle/>
          <a:p>
            <a:r>
              <a:rPr lang="fr-FR" sz="2400" dirty="0"/>
              <a:t>En demi-groupe , 6 groupes de 3 élèves</a:t>
            </a:r>
          </a:p>
          <a:p>
            <a:r>
              <a:rPr lang="fr-FR" sz="2400" dirty="0"/>
              <a:t>Comment le chargement d’un pont peut il faire varier sa déformation et ses déplacements?</a:t>
            </a:r>
          </a:p>
          <a:p>
            <a:r>
              <a:rPr lang="fr-FR" sz="2400" dirty="0"/>
              <a:t>Détaillée après</a:t>
            </a:r>
          </a:p>
        </p:txBody>
      </p:sp>
      <p:sp>
        <p:nvSpPr>
          <p:cNvPr id="12" name="ZoneTexte 11">
            <a:extLst>
              <a:ext uri="{FF2B5EF4-FFF2-40B4-BE49-F238E27FC236}">
                <a16:creationId xmlns:a16="http://schemas.microsoft.com/office/drawing/2014/main" id="{21FB749B-092D-B64D-1C22-BD19EB68539B}"/>
              </a:ext>
            </a:extLst>
          </p:cNvPr>
          <p:cNvSpPr txBox="1"/>
          <p:nvPr/>
        </p:nvSpPr>
        <p:spPr>
          <a:xfrm>
            <a:off x="838200" y="5098083"/>
            <a:ext cx="6096000" cy="1200329"/>
          </a:xfrm>
          <a:prstGeom prst="rect">
            <a:avLst/>
          </a:prstGeom>
          <a:noFill/>
        </p:spPr>
        <p:txBody>
          <a:bodyPr wrap="square">
            <a:spAutoFit/>
          </a:bodyPr>
          <a:lstStyle/>
          <a:p>
            <a:r>
              <a:rPr lang="fr-FR" sz="2400" dirty="0"/>
              <a:t>Faire correctement comprendre la différence entre traction/compression et flexion.</a:t>
            </a:r>
          </a:p>
          <a:p>
            <a:endParaRPr lang="fr-FR" sz="2400" dirty="0"/>
          </a:p>
        </p:txBody>
      </p:sp>
      <p:graphicFrame>
        <p:nvGraphicFramePr>
          <p:cNvPr id="13" name="Tableau 12">
            <a:extLst>
              <a:ext uri="{FF2B5EF4-FFF2-40B4-BE49-F238E27FC236}">
                <a16:creationId xmlns:a16="http://schemas.microsoft.com/office/drawing/2014/main" id="{DFB63CA6-CDA7-1048-5E4D-E6679F8FF89C}"/>
              </a:ext>
            </a:extLst>
          </p:cNvPr>
          <p:cNvGraphicFramePr>
            <a:graphicFrameLocks noGrp="1"/>
          </p:cNvGraphicFramePr>
          <p:nvPr/>
        </p:nvGraphicFramePr>
        <p:xfrm>
          <a:off x="2752268" y="767759"/>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graphicFrame>
        <p:nvGraphicFramePr>
          <p:cNvPr id="14" name="Tableau 13">
            <a:extLst>
              <a:ext uri="{FF2B5EF4-FFF2-40B4-BE49-F238E27FC236}">
                <a16:creationId xmlns:a16="http://schemas.microsoft.com/office/drawing/2014/main" id="{DDC1768F-FCCF-29E8-A755-14E85F292E64}"/>
              </a:ext>
            </a:extLst>
          </p:cNvPr>
          <p:cNvGraphicFramePr>
            <a:graphicFrameLocks noGrp="1"/>
          </p:cNvGraphicFramePr>
          <p:nvPr/>
        </p:nvGraphicFramePr>
        <p:xfrm>
          <a:off x="5038269" y="4674078"/>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665967402"/>
                  </a:ext>
                </a:extLst>
              </a:tr>
            </a:tbl>
          </a:graphicData>
        </a:graphic>
      </p:graphicFrame>
      <p:sp>
        <p:nvSpPr>
          <p:cNvPr id="15" name="Espace réservé du pied de page 14">
            <a:extLst>
              <a:ext uri="{FF2B5EF4-FFF2-40B4-BE49-F238E27FC236}">
                <a16:creationId xmlns:a16="http://schemas.microsoft.com/office/drawing/2014/main" id="{5C455E31-DBC5-B390-E306-1DB1C7C304B6}"/>
              </a:ext>
            </a:extLst>
          </p:cNvPr>
          <p:cNvSpPr>
            <a:spLocks noGrp="1"/>
          </p:cNvSpPr>
          <p:nvPr>
            <p:ph type="ftr" sz="quarter" idx="11"/>
          </p:nvPr>
        </p:nvSpPr>
        <p:spPr>
          <a:xfrm>
            <a:off x="4038600" y="6492875"/>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226650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64B26-C642-3223-3D57-939B21492A8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E6E49DEA-8AAE-9277-11B4-EBF2B8200E80}"/>
              </a:ext>
            </a:extLst>
          </p:cNvPr>
          <p:cNvSpPr>
            <a:spLocks noGrp="1"/>
          </p:cNvSpPr>
          <p:nvPr>
            <p:ph type="sldNum" sz="quarter" idx="12"/>
          </p:nvPr>
        </p:nvSpPr>
        <p:spPr/>
        <p:txBody>
          <a:bodyPr/>
          <a:lstStyle/>
          <a:p>
            <a:fld id="{201A5C1E-DE71-4D99-BC1E-739595F062E0}" type="slidenum">
              <a:rPr lang="fr-FR" sz="2000" smtClean="0"/>
              <a:t>17</a:t>
            </a:fld>
            <a:r>
              <a:rPr lang="fr-FR" sz="2000" dirty="0"/>
              <a:t>/21</a:t>
            </a:r>
          </a:p>
        </p:txBody>
      </p:sp>
      <p:sp>
        <p:nvSpPr>
          <p:cNvPr id="4" name="Titre 1">
            <a:extLst>
              <a:ext uri="{FF2B5EF4-FFF2-40B4-BE49-F238E27FC236}">
                <a16:creationId xmlns:a16="http://schemas.microsoft.com/office/drawing/2014/main" id="{CDD944AD-A040-39A8-0A8D-89DB2689E310}"/>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 : TP5 3h</a:t>
            </a:r>
          </a:p>
        </p:txBody>
      </p:sp>
      <p:sp>
        <p:nvSpPr>
          <p:cNvPr id="15" name="ZoneTexte 14">
            <a:extLst>
              <a:ext uri="{FF2B5EF4-FFF2-40B4-BE49-F238E27FC236}">
                <a16:creationId xmlns:a16="http://schemas.microsoft.com/office/drawing/2014/main" id="{8E17E065-4388-DDA4-FE8C-0EA9CCEA2DAC}"/>
              </a:ext>
            </a:extLst>
          </p:cNvPr>
          <p:cNvSpPr txBox="1"/>
          <p:nvPr/>
        </p:nvSpPr>
        <p:spPr>
          <a:xfrm>
            <a:off x="939800" y="1424873"/>
            <a:ext cx="9924142" cy="3046988"/>
          </a:xfrm>
          <a:prstGeom prst="rect">
            <a:avLst/>
          </a:prstGeom>
          <a:noFill/>
        </p:spPr>
        <p:txBody>
          <a:bodyPr wrap="square">
            <a:spAutoFit/>
          </a:bodyPr>
          <a:lstStyle/>
          <a:p>
            <a:r>
              <a:rPr lang="fr-FR" sz="2400" dirty="0"/>
              <a:t>Comment le chargement d’un pont peut il faire varier sa déformation et ses déplacements?</a:t>
            </a:r>
          </a:p>
          <a:p>
            <a:r>
              <a:rPr lang="fr-FR" sz="2400" dirty="0"/>
              <a:t>Support d’étude: 4 barres de section identique mais de matières différentes: alu, acier, plastique (ABS) et bois</a:t>
            </a:r>
          </a:p>
          <a:p>
            <a:r>
              <a:rPr lang="fr-FR" sz="2400" dirty="0"/>
              <a:t>En demi-groupe , 6 groupes de 3 élèves</a:t>
            </a:r>
          </a:p>
          <a:p>
            <a:pPr marL="342900" indent="-342900">
              <a:buFont typeface="Arial" panose="020B0604020202020204" pitchFamily="34" charset="0"/>
              <a:buChar char="•"/>
            </a:pPr>
            <a:r>
              <a:rPr lang="fr-FR" sz="2400" dirty="0"/>
              <a:t>1 élève chef de groupe, en charge de la présentation et du compte rendu</a:t>
            </a:r>
          </a:p>
          <a:p>
            <a:pPr marL="342900" indent="-342900">
              <a:buFont typeface="Arial" panose="020B0604020202020204" pitchFamily="34" charset="0"/>
              <a:buChar char="•"/>
            </a:pPr>
            <a:r>
              <a:rPr lang="fr-FR" sz="2400" dirty="0"/>
              <a:t>1 élève en charge de la simulation</a:t>
            </a:r>
          </a:p>
          <a:p>
            <a:pPr marL="342900" indent="-342900">
              <a:buFont typeface="Arial" panose="020B0604020202020204" pitchFamily="34" charset="0"/>
              <a:buChar char="•"/>
            </a:pPr>
            <a:r>
              <a:rPr lang="fr-FR" sz="2400" dirty="0"/>
              <a:t>1 élève en charge de l’expérimentation</a:t>
            </a:r>
          </a:p>
        </p:txBody>
      </p:sp>
      <p:sp>
        <p:nvSpPr>
          <p:cNvPr id="5" name="Espace réservé du pied de page 4">
            <a:extLst>
              <a:ext uri="{FF2B5EF4-FFF2-40B4-BE49-F238E27FC236}">
                <a16:creationId xmlns:a16="http://schemas.microsoft.com/office/drawing/2014/main" id="{362EDB8A-B547-EB76-500E-7E025567A761}"/>
              </a:ext>
            </a:extLst>
          </p:cNvPr>
          <p:cNvSpPr>
            <a:spLocks noGrp="1"/>
          </p:cNvSpPr>
          <p:nvPr>
            <p:ph type="ftr" sz="quarter" idx="11"/>
          </p:nvPr>
        </p:nvSpPr>
        <p:spPr>
          <a:xfrm>
            <a:off x="4038600" y="6465433"/>
            <a:ext cx="4114800" cy="365125"/>
          </a:xfrm>
        </p:spPr>
        <p:txBody>
          <a:bodyPr/>
          <a:lstStyle/>
          <a:p>
            <a:r>
              <a:rPr lang="fr-FR" sz="1600" dirty="0">
                <a:solidFill>
                  <a:schemeClr val="tx1"/>
                </a:solidFill>
              </a:rPr>
              <a:t>N° Arthur PREVISANI</a:t>
            </a:r>
          </a:p>
        </p:txBody>
      </p:sp>
      <p:graphicFrame>
        <p:nvGraphicFramePr>
          <p:cNvPr id="2" name="Tableau 1">
            <a:extLst>
              <a:ext uri="{FF2B5EF4-FFF2-40B4-BE49-F238E27FC236}">
                <a16:creationId xmlns:a16="http://schemas.microsoft.com/office/drawing/2014/main" id="{1859278F-9A80-3E92-B379-4C63A77DE964}"/>
              </a:ext>
            </a:extLst>
          </p:cNvPr>
          <p:cNvGraphicFramePr>
            <a:graphicFrameLocks noGrp="1"/>
          </p:cNvGraphicFramePr>
          <p:nvPr>
            <p:extLst>
              <p:ext uri="{D42A27DB-BD31-4B8C-83A1-F6EECF244321}">
                <p14:modId xmlns:p14="http://schemas.microsoft.com/office/powerpoint/2010/main" val="1390357566"/>
              </p:ext>
            </p:extLst>
          </p:nvPr>
        </p:nvGraphicFramePr>
        <p:xfrm>
          <a:off x="5410198" y="152791"/>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3423622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2B1C9-47AD-0F04-15B4-1EE31CC495AB}"/>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53E36484-AF4B-2E26-E7F8-78C1C7944DBF}"/>
              </a:ext>
            </a:extLst>
          </p:cNvPr>
          <p:cNvSpPr>
            <a:spLocks noGrp="1"/>
          </p:cNvSpPr>
          <p:nvPr>
            <p:ph type="sldNum" sz="quarter" idx="12"/>
          </p:nvPr>
        </p:nvSpPr>
        <p:spPr/>
        <p:txBody>
          <a:bodyPr/>
          <a:lstStyle/>
          <a:p>
            <a:fld id="{201A5C1E-DE71-4D99-BC1E-739595F062E0}" type="slidenum">
              <a:rPr lang="fr-FR" sz="2000" smtClean="0"/>
              <a:t>18</a:t>
            </a:fld>
            <a:r>
              <a:rPr lang="fr-FR" sz="2000" dirty="0"/>
              <a:t>/21</a:t>
            </a:r>
          </a:p>
        </p:txBody>
      </p:sp>
      <p:sp>
        <p:nvSpPr>
          <p:cNvPr id="4" name="Titre 1">
            <a:extLst>
              <a:ext uri="{FF2B5EF4-FFF2-40B4-BE49-F238E27FC236}">
                <a16:creationId xmlns:a16="http://schemas.microsoft.com/office/drawing/2014/main" id="{63243F53-D949-781A-BE7C-72580E5BCF1E}"/>
              </a:ext>
            </a:extLst>
          </p:cNvPr>
          <p:cNvSpPr txBox="1">
            <a:spLocks/>
          </p:cNvSpPr>
          <p:nvPr/>
        </p:nvSpPr>
        <p:spPr>
          <a:xfrm>
            <a:off x="711200" y="52363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 : TP5 3h</a:t>
            </a:r>
          </a:p>
        </p:txBody>
      </p:sp>
      <p:sp>
        <p:nvSpPr>
          <p:cNvPr id="3" name="Espace réservé du pied de page 2">
            <a:extLst>
              <a:ext uri="{FF2B5EF4-FFF2-40B4-BE49-F238E27FC236}">
                <a16:creationId xmlns:a16="http://schemas.microsoft.com/office/drawing/2014/main" id="{A9BDD8F3-D7D6-4455-40D9-9B3811EFBFF3}"/>
              </a:ext>
            </a:extLst>
          </p:cNvPr>
          <p:cNvSpPr>
            <a:spLocks noGrp="1"/>
          </p:cNvSpPr>
          <p:nvPr>
            <p:ph type="ftr" sz="quarter" idx="11"/>
          </p:nvPr>
        </p:nvSpPr>
        <p:spPr/>
        <p:txBody>
          <a:bodyPr/>
          <a:lstStyle/>
          <a:p>
            <a:r>
              <a:rPr lang="fr-FR" sz="1600" dirty="0">
                <a:solidFill>
                  <a:schemeClr val="tx1"/>
                </a:solidFill>
              </a:rPr>
              <a:t>N° Arthur PREVISANI</a:t>
            </a:r>
          </a:p>
        </p:txBody>
      </p:sp>
      <p:sp>
        <p:nvSpPr>
          <p:cNvPr id="8" name="ZoneTexte 7">
            <a:extLst>
              <a:ext uri="{FF2B5EF4-FFF2-40B4-BE49-F238E27FC236}">
                <a16:creationId xmlns:a16="http://schemas.microsoft.com/office/drawing/2014/main" id="{099D1726-A826-BB9E-673C-B5DDD3B5A975}"/>
              </a:ext>
            </a:extLst>
          </p:cNvPr>
          <p:cNvSpPr txBox="1"/>
          <p:nvPr/>
        </p:nvSpPr>
        <p:spPr>
          <a:xfrm>
            <a:off x="838200" y="1451457"/>
            <a:ext cx="9437914" cy="3323987"/>
          </a:xfrm>
          <a:prstGeom prst="rect">
            <a:avLst/>
          </a:prstGeom>
          <a:noFill/>
        </p:spPr>
        <p:txBody>
          <a:bodyPr wrap="square">
            <a:spAutoFit/>
          </a:bodyPr>
          <a:lstStyle/>
          <a:p>
            <a:r>
              <a:rPr lang="fr-FR" sz="2400" dirty="0"/>
              <a:t>Organisation:</a:t>
            </a:r>
          </a:p>
          <a:p>
            <a:pPr marL="342900" indent="-342900">
              <a:buFont typeface="Arial" panose="020B0604020202020204" pitchFamily="34" charset="0"/>
              <a:buChar char="•"/>
            </a:pPr>
            <a:r>
              <a:rPr lang="fr-FR" sz="2400" dirty="0"/>
              <a:t>30 min: Préparation, Analyse du besoin: quels sont les critères de performance qui permettent de caractériser un pont</a:t>
            </a:r>
          </a:p>
          <a:p>
            <a:pPr marL="342900" indent="-342900">
              <a:buFont typeface="Arial" panose="020B0604020202020204" pitchFamily="34" charset="0"/>
              <a:buChar char="•"/>
            </a:pPr>
            <a:r>
              <a:rPr lang="fr-FR" sz="2400" dirty="0"/>
              <a:t>1h: Manip relevé de la flèche pour une poutre bi-appuyée</a:t>
            </a:r>
          </a:p>
          <a:p>
            <a:pPr marL="342900" indent="-342900">
              <a:buFont typeface="Arial" panose="020B0604020202020204" pitchFamily="34" charset="0"/>
              <a:buChar char="•"/>
            </a:pPr>
            <a:r>
              <a:rPr lang="fr-FR" sz="2400" dirty="0"/>
              <a:t>1h : Réalisation des simulations SolidWorks et comparaison</a:t>
            </a:r>
          </a:p>
          <a:p>
            <a:pPr marL="342900" indent="-342900">
              <a:buFont typeface="Arial" panose="020B0604020202020204" pitchFamily="34" charset="0"/>
              <a:buChar char="•"/>
            </a:pPr>
            <a:r>
              <a:rPr lang="fr-FR" sz="2400" dirty="0"/>
              <a:t>30 min: ouverture sur la vibration et la résonance par une mesure sur l’équilibreuse et le visionnage de vidéos sur le pont de Tacoma et l’hélicoptère chinook</a:t>
            </a:r>
          </a:p>
          <a:p>
            <a:endParaRPr lang="fr-FR" dirty="0"/>
          </a:p>
        </p:txBody>
      </p:sp>
      <p:graphicFrame>
        <p:nvGraphicFramePr>
          <p:cNvPr id="5" name="Tableau 4">
            <a:extLst>
              <a:ext uri="{FF2B5EF4-FFF2-40B4-BE49-F238E27FC236}">
                <a16:creationId xmlns:a16="http://schemas.microsoft.com/office/drawing/2014/main" id="{763D52B3-EA39-15CC-F918-3975C19536CD}"/>
              </a:ext>
            </a:extLst>
          </p:cNvPr>
          <p:cNvGraphicFramePr>
            <a:graphicFrameLocks noGrp="1"/>
          </p:cNvGraphicFramePr>
          <p:nvPr>
            <p:extLst>
              <p:ext uri="{D42A27DB-BD31-4B8C-83A1-F6EECF244321}">
                <p14:modId xmlns:p14="http://schemas.microsoft.com/office/powerpoint/2010/main" val="2972390555"/>
              </p:ext>
            </p:extLst>
          </p:nvPr>
        </p:nvGraphicFramePr>
        <p:xfrm>
          <a:off x="5410198" y="152791"/>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2955947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C9C09-5BD0-1E12-0360-D003BA11032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1DD455F-AE99-C14D-D629-CAFCB625264E}"/>
              </a:ext>
            </a:extLst>
          </p:cNvPr>
          <p:cNvSpPr>
            <a:spLocks noGrp="1"/>
          </p:cNvSpPr>
          <p:nvPr>
            <p:ph type="sldNum" sz="quarter" idx="12"/>
          </p:nvPr>
        </p:nvSpPr>
        <p:spPr/>
        <p:txBody>
          <a:bodyPr/>
          <a:lstStyle/>
          <a:p>
            <a:fld id="{201A5C1E-DE71-4D99-BC1E-739595F062E0}" type="slidenum">
              <a:rPr lang="fr-FR" sz="2000" smtClean="0"/>
              <a:t>19</a:t>
            </a:fld>
            <a:r>
              <a:rPr lang="fr-FR" sz="2000" dirty="0"/>
              <a:t>/21</a:t>
            </a:r>
          </a:p>
        </p:txBody>
      </p:sp>
      <p:sp>
        <p:nvSpPr>
          <p:cNvPr id="4" name="Titre 1">
            <a:extLst>
              <a:ext uri="{FF2B5EF4-FFF2-40B4-BE49-F238E27FC236}">
                <a16:creationId xmlns:a16="http://schemas.microsoft.com/office/drawing/2014/main" id="{3E6C3376-0C84-278D-1789-6FE213B3DE6F}"/>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 : TP5 3h</a:t>
            </a:r>
          </a:p>
        </p:txBody>
      </p:sp>
      <p:sp>
        <p:nvSpPr>
          <p:cNvPr id="3" name="Espace réservé du pied de page 2">
            <a:extLst>
              <a:ext uri="{FF2B5EF4-FFF2-40B4-BE49-F238E27FC236}">
                <a16:creationId xmlns:a16="http://schemas.microsoft.com/office/drawing/2014/main" id="{39221D84-294C-27C8-E452-06287B15B385}"/>
              </a:ext>
            </a:extLst>
          </p:cNvPr>
          <p:cNvSpPr>
            <a:spLocks noGrp="1"/>
          </p:cNvSpPr>
          <p:nvPr>
            <p:ph type="ftr" sz="quarter" idx="11"/>
          </p:nvPr>
        </p:nvSpPr>
        <p:spPr/>
        <p:txBody>
          <a:bodyPr/>
          <a:lstStyle/>
          <a:p>
            <a:r>
              <a:rPr lang="fr-FR" sz="1600" dirty="0">
                <a:solidFill>
                  <a:schemeClr val="tx1"/>
                </a:solidFill>
              </a:rPr>
              <a:t>N° Arthur PREVISANI</a:t>
            </a:r>
          </a:p>
        </p:txBody>
      </p:sp>
      <p:sp>
        <p:nvSpPr>
          <p:cNvPr id="8" name="ZoneTexte 7">
            <a:extLst>
              <a:ext uri="{FF2B5EF4-FFF2-40B4-BE49-F238E27FC236}">
                <a16:creationId xmlns:a16="http://schemas.microsoft.com/office/drawing/2014/main" id="{F2FA0CB3-DA6F-E3CE-71AA-2566DCB6B860}"/>
              </a:ext>
            </a:extLst>
          </p:cNvPr>
          <p:cNvSpPr txBox="1"/>
          <p:nvPr/>
        </p:nvSpPr>
        <p:spPr>
          <a:xfrm>
            <a:off x="838200" y="1235557"/>
            <a:ext cx="9437914" cy="4062651"/>
          </a:xfrm>
          <a:prstGeom prst="rect">
            <a:avLst/>
          </a:prstGeom>
          <a:noFill/>
        </p:spPr>
        <p:txBody>
          <a:bodyPr wrap="square">
            <a:spAutoFit/>
          </a:bodyPr>
          <a:lstStyle/>
          <a:p>
            <a:r>
              <a:rPr lang="fr-FR" sz="2400" dirty="0"/>
              <a:t>Protocole expérimental d’un essai de flexion:</a:t>
            </a:r>
          </a:p>
          <a:p>
            <a:r>
              <a:rPr lang="fr-FR" sz="2400" dirty="0"/>
              <a:t>Placer la poutre sur deux supports pour la rendre bi appuyé (comme un pont à poutres, en porte-à-faux ou en arc). Installer une règle au niveau du centre de la poutre pour pouvoir mesurer la flèche. Relevez cette valeur initiale puis charger progressivement la poutre avec des masses jusqu’à atteindre la valeur de 5kg. Relevez la valeur de la flèche</a:t>
            </a:r>
          </a:p>
          <a:p>
            <a:r>
              <a:rPr lang="fr-FR" sz="2400" dirty="0"/>
              <a:t>Refaites le même protocole pour autres poutres.</a:t>
            </a:r>
          </a:p>
          <a:p>
            <a:endParaRPr lang="fr-FR" sz="2400" dirty="0"/>
          </a:p>
          <a:p>
            <a:r>
              <a:rPr lang="fr-FR" sz="2400" dirty="0"/>
              <a:t>Enfin comparez vos résultats aux résultats de la simulation. </a:t>
            </a:r>
          </a:p>
          <a:p>
            <a:r>
              <a:rPr lang="fr-FR" sz="2400" dirty="0"/>
              <a:t>Complétez le tableau présents sur le document réponse</a:t>
            </a:r>
          </a:p>
          <a:p>
            <a:endParaRPr lang="fr-FR" dirty="0"/>
          </a:p>
        </p:txBody>
      </p:sp>
      <p:graphicFrame>
        <p:nvGraphicFramePr>
          <p:cNvPr id="5" name="Tableau 4">
            <a:extLst>
              <a:ext uri="{FF2B5EF4-FFF2-40B4-BE49-F238E27FC236}">
                <a16:creationId xmlns:a16="http://schemas.microsoft.com/office/drawing/2014/main" id="{55EEAA0C-1428-D57C-F673-D4B0F720882E}"/>
              </a:ext>
            </a:extLst>
          </p:cNvPr>
          <p:cNvGraphicFramePr>
            <a:graphicFrameLocks noGrp="1"/>
          </p:cNvGraphicFramePr>
          <p:nvPr/>
        </p:nvGraphicFramePr>
        <p:xfrm>
          <a:off x="5410198" y="152791"/>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2865140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8CF54-6EC7-54DF-B5EF-34470729784F}"/>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17644ED-1188-14A2-7612-0A85D79A45CD}"/>
              </a:ext>
            </a:extLst>
          </p:cNvPr>
          <p:cNvSpPr>
            <a:spLocks noGrp="1"/>
          </p:cNvSpPr>
          <p:nvPr>
            <p:ph type="sldNum" sz="quarter" idx="12"/>
          </p:nvPr>
        </p:nvSpPr>
        <p:spPr/>
        <p:txBody>
          <a:bodyPr/>
          <a:lstStyle/>
          <a:p>
            <a:fld id="{201A5C1E-DE71-4D99-BC1E-739595F062E0}" type="slidenum">
              <a:rPr lang="fr-FR" sz="2000" smtClean="0"/>
              <a:t>20</a:t>
            </a:fld>
            <a:r>
              <a:rPr lang="fr-FR" sz="2000" dirty="0"/>
              <a:t>/21</a:t>
            </a:r>
          </a:p>
        </p:txBody>
      </p:sp>
      <p:sp>
        <p:nvSpPr>
          <p:cNvPr id="4" name="Titre 1">
            <a:extLst>
              <a:ext uri="{FF2B5EF4-FFF2-40B4-BE49-F238E27FC236}">
                <a16:creationId xmlns:a16="http://schemas.microsoft.com/office/drawing/2014/main" id="{CB9CDE05-A90D-D14E-BA6B-3731EF92C5AD}"/>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 : TP5 3h</a:t>
            </a:r>
          </a:p>
        </p:txBody>
      </p:sp>
      <p:sp>
        <p:nvSpPr>
          <p:cNvPr id="3" name="Espace réservé du pied de page 2">
            <a:extLst>
              <a:ext uri="{FF2B5EF4-FFF2-40B4-BE49-F238E27FC236}">
                <a16:creationId xmlns:a16="http://schemas.microsoft.com/office/drawing/2014/main" id="{41AC4A3D-319E-E0FD-D22F-8EBB8F92B215}"/>
              </a:ext>
            </a:extLst>
          </p:cNvPr>
          <p:cNvSpPr>
            <a:spLocks noGrp="1"/>
          </p:cNvSpPr>
          <p:nvPr>
            <p:ph type="ftr" sz="quarter" idx="11"/>
          </p:nvPr>
        </p:nvSpPr>
        <p:spPr/>
        <p:txBody>
          <a:bodyPr/>
          <a:lstStyle/>
          <a:p>
            <a:r>
              <a:rPr lang="fr-FR" sz="1600" dirty="0">
                <a:solidFill>
                  <a:schemeClr val="tx1"/>
                </a:solidFill>
              </a:rPr>
              <a:t>N° Arthur PREVISANI</a:t>
            </a:r>
          </a:p>
        </p:txBody>
      </p:sp>
      <p:sp>
        <p:nvSpPr>
          <p:cNvPr id="8" name="ZoneTexte 7">
            <a:extLst>
              <a:ext uri="{FF2B5EF4-FFF2-40B4-BE49-F238E27FC236}">
                <a16:creationId xmlns:a16="http://schemas.microsoft.com/office/drawing/2014/main" id="{58BCCAE7-71E7-A27C-6E19-0F798125F9AB}"/>
              </a:ext>
            </a:extLst>
          </p:cNvPr>
          <p:cNvSpPr txBox="1"/>
          <p:nvPr/>
        </p:nvSpPr>
        <p:spPr>
          <a:xfrm>
            <a:off x="939800" y="1400832"/>
            <a:ext cx="9437914" cy="2954655"/>
          </a:xfrm>
          <a:prstGeom prst="rect">
            <a:avLst/>
          </a:prstGeom>
          <a:noFill/>
        </p:spPr>
        <p:txBody>
          <a:bodyPr wrap="square">
            <a:spAutoFit/>
          </a:bodyPr>
          <a:lstStyle/>
          <a:p>
            <a:r>
              <a:rPr lang="fr-FR" sz="2400" dirty="0"/>
              <a:t>Pour la partie vibration expliquer succinctement les problématiques apportés par cette perturbation d’un point de vue confort et sécurité.</a:t>
            </a:r>
          </a:p>
          <a:p>
            <a:r>
              <a:rPr lang="fr-FR" sz="2400" dirty="0"/>
              <a:t>Le faire réaliser une mesure sur l’équilibreuse afin qu’ils puissent constater le passage de la résonance et la forte amplification du déplacement.</a:t>
            </a:r>
          </a:p>
          <a:p>
            <a:r>
              <a:rPr lang="fr-FR" sz="2400" dirty="0"/>
              <a:t>Expliquer les conséquences de ces vibrations donc l’importance de les maitriser et d’en tenir compte lors du dimensionnement.</a:t>
            </a:r>
          </a:p>
          <a:p>
            <a:endParaRPr lang="fr-FR" sz="2400" dirty="0"/>
          </a:p>
          <a:p>
            <a:endParaRPr lang="fr-FR" dirty="0"/>
          </a:p>
        </p:txBody>
      </p:sp>
      <p:graphicFrame>
        <p:nvGraphicFramePr>
          <p:cNvPr id="5" name="Tableau 4">
            <a:extLst>
              <a:ext uri="{FF2B5EF4-FFF2-40B4-BE49-F238E27FC236}">
                <a16:creationId xmlns:a16="http://schemas.microsoft.com/office/drawing/2014/main" id="{A6F6A139-A5B3-7C9B-6011-7A408FB07613}"/>
              </a:ext>
            </a:extLst>
          </p:cNvPr>
          <p:cNvGraphicFramePr>
            <a:graphicFrameLocks noGrp="1"/>
          </p:cNvGraphicFramePr>
          <p:nvPr/>
        </p:nvGraphicFramePr>
        <p:xfrm>
          <a:off x="5410198" y="152791"/>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625697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B6A07-1F88-7B6A-BCE2-2D8CA9C6154F}"/>
              </a:ext>
            </a:extLst>
          </p:cNvPr>
          <p:cNvSpPr>
            <a:spLocks noGrp="1"/>
          </p:cNvSpPr>
          <p:nvPr>
            <p:ph type="title"/>
          </p:nvPr>
        </p:nvSpPr>
        <p:spPr/>
        <p:txBody>
          <a:bodyPr/>
          <a:lstStyle/>
          <a:p>
            <a:r>
              <a:rPr lang="fr-FR" dirty="0"/>
              <a:t>Evaluations</a:t>
            </a:r>
          </a:p>
        </p:txBody>
      </p:sp>
      <p:sp>
        <p:nvSpPr>
          <p:cNvPr id="3" name="Espace réservé du contenu 2">
            <a:extLst>
              <a:ext uri="{FF2B5EF4-FFF2-40B4-BE49-F238E27FC236}">
                <a16:creationId xmlns:a16="http://schemas.microsoft.com/office/drawing/2014/main" id="{E82A5177-4F47-C4BB-B597-5B0421810A7E}"/>
              </a:ext>
            </a:extLst>
          </p:cNvPr>
          <p:cNvSpPr>
            <a:spLocks noGrp="1"/>
          </p:cNvSpPr>
          <p:nvPr>
            <p:ph idx="1"/>
          </p:nvPr>
        </p:nvSpPr>
        <p:spPr>
          <a:xfrm>
            <a:off x="838199" y="1492946"/>
            <a:ext cx="10918371" cy="5365054"/>
          </a:xfrm>
        </p:spPr>
        <p:txBody>
          <a:bodyPr>
            <a:normAutofit/>
          </a:bodyPr>
          <a:lstStyle/>
          <a:p>
            <a:r>
              <a:rPr lang="fr-FR" sz="2400" dirty="0"/>
              <a:t>Evaluation formative:</a:t>
            </a:r>
          </a:p>
          <a:p>
            <a:pPr marL="0" indent="0">
              <a:buNone/>
            </a:pPr>
            <a:r>
              <a:rPr lang="fr-FR" sz="2400" dirty="0"/>
              <a:t>	Quizz au TD2 sur la mesure des caractéristiques d’un matériau </a:t>
            </a:r>
          </a:p>
          <a:p>
            <a:r>
              <a:rPr lang="fr-FR" sz="2400" dirty="0"/>
              <a:t>Evaluation sommative</a:t>
            </a:r>
          </a:p>
          <a:p>
            <a:pPr marL="0" indent="0">
              <a:buNone/>
            </a:pPr>
            <a:r>
              <a:rPr lang="fr-FR" sz="2400" dirty="0"/>
              <a:t>	Remplissage d’un document réponse lors du TP3 et 4 sur les comparaisons de 	la résistance mécanique entre différentes marques de collier de serrage avec 	l’oral à la fin</a:t>
            </a:r>
          </a:p>
          <a:p>
            <a:pPr marL="0" indent="0">
              <a:buNone/>
            </a:pPr>
            <a:r>
              <a:rPr lang="fr-FR" dirty="0"/>
              <a:t>		</a:t>
            </a:r>
            <a:r>
              <a:rPr lang="fr-FR" sz="2000" dirty="0"/>
              <a:t>CO7.6. Expérimenter, </a:t>
            </a:r>
          </a:p>
          <a:p>
            <a:pPr marL="0" indent="0">
              <a:buNone/>
            </a:pPr>
            <a:r>
              <a:rPr lang="fr-FR" sz="2000" dirty="0"/>
              <a:t>		CO6.3. Évaluer un écart réel/simulation</a:t>
            </a:r>
          </a:p>
          <a:p>
            <a:pPr marL="0" indent="0">
              <a:buNone/>
            </a:pPr>
            <a:r>
              <a:rPr lang="fr-FR" dirty="0"/>
              <a:t>	</a:t>
            </a:r>
            <a:r>
              <a:rPr lang="fr-FR" sz="2400" dirty="0"/>
              <a:t>Evaluation sur table d’1H sur une partie des compétences attendues: </a:t>
            </a:r>
          </a:p>
          <a:p>
            <a:pPr marL="0" indent="0">
              <a:buNone/>
            </a:pPr>
            <a:r>
              <a:rPr lang="fr-FR" sz="2400" dirty="0"/>
              <a:t>		</a:t>
            </a:r>
            <a:r>
              <a:rPr lang="fr-FR" sz="2000" dirty="0"/>
              <a:t> CO6.3. Évaluer un écart réel/simulation. </a:t>
            </a:r>
            <a:endParaRPr lang="fr-FR" sz="2400" dirty="0"/>
          </a:p>
        </p:txBody>
      </p:sp>
      <p:sp>
        <p:nvSpPr>
          <p:cNvPr id="4" name="Espace réservé du numéro de diapositive 3">
            <a:extLst>
              <a:ext uri="{FF2B5EF4-FFF2-40B4-BE49-F238E27FC236}">
                <a16:creationId xmlns:a16="http://schemas.microsoft.com/office/drawing/2014/main" id="{BD759126-8373-3231-935F-6340F7DB4FB7}"/>
              </a:ext>
            </a:extLst>
          </p:cNvPr>
          <p:cNvSpPr>
            <a:spLocks noGrp="1"/>
          </p:cNvSpPr>
          <p:nvPr>
            <p:ph type="sldNum" sz="quarter" idx="12"/>
          </p:nvPr>
        </p:nvSpPr>
        <p:spPr/>
        <p:txBody>
          <a:bodyPr/>
          <a:lstStyle/>
          <a:p>
            <a:fld id="{201A5C1E-DE71-4D99-BC1E-739595F062E0}" type="slidenum">
              <a:rPr lang="fr-FR" sz="2000" smtClean="0"/>
              <a:t>21</a:t>
            </a:fld>
            <a:r>
              <a:rPr lang="fr-FR" sz="2000" dirty="0"/>
              <a:t>/21</a:t>
            </a:r>
          </a:p>
        </p:txBody>
      </p:sp>
      <p:sp>
        <p:nvSpPr>
          <p:cNvPr id="5" name="Espace réservé du pied de page 4">
            <a:extLst>
              <a:ext uri="{FF2B5EF4-FFF2-40B4-BE49-F238E27FC236}">
                <a16:creationId xmlns:a16="http://schemas.microsoft.com/office/drawing/2014/main" id="{D182F4FE-3C40-5DA5-0267-175776118DCC}"/>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262361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E73848-1DDC-C86D-4897-50BA36860424}"/>
              </a:ext>
            </a:extLst>
          </p:cNvPr>
          <p:cNvSpPr>
            <a:spLocks noGrp="1"/>
          </p:cNvSpPr>
          <p:nvPr>
            <p:ph type="title"/>
          </p:nvPr>
        </p:nvSpPr>
        <p:spPr>
          <a:xfrm>
            <a:off x="838199" y="0"/>
            <a:ext cx="10515600" cy="1325563"/>
          </a:xfrm>
        </p:spPr>
        <p:txBody>
          <a:bodyPr/>
          <a:lstStyle/>
          <a:p>
            <a:r>
              <a:rPr lang="fr-FR" dirty="0"/>
              <a:t>Conclusion de la séquence</a:t>
            </a:r>
          </a:p>
        </p:txBody>
      </p:sp>
      <p:sp>
        <p:nvSpPr>
          <p:cNvPr id="4" name="Espace réservé du numéro de diapositive 3">
            <a:extLst>
              <a:ext uri="{FF2B5EF4-FFF2-40B4-BE49-F238E27FC236}">
                <a16:creationId xmlns:a16="http://schemas.microsoft.com/office/drawing/2014/main" id="{8937FC83-8E1F-123D-5446-A6D19C5AB040}"/>
              </a:ext>
            </a:extLst>
          </p:cNvPr>
          <p:cNvSpPr>
            <a:spLocks noGrp="1"/>
          </p:cNvSpPr>
          <p:nvPr>
            <p:ph type="sldNum" sz="quarter" idx="12"/>
          </p:nvPr>
        </p:nvSpPr>
        <p:spPr/>
        <p:txBody>
          <a:bodyPr/>
          <a:lstStyle/>
          <a:p>
            <a:fld id="{201A5C1E-DE71-4D99-BC1E-739595F062E0}" type="slidenum">
              <a:rPr lang="fr-FR" sz="2000" smtClean="0"/>
              <a:t>22</a:t>
            </a:fld>
            <a:r>
              <a:rPr lang="fr-FR" sz="2000" dirty="0"/>
              <a:t>/21</a:t>
            </a:r>
            <a:endParaRPr lang="fr-FR" dirty="0"/>
          </a:p>
        </p:txBody>
      </p:sp>
      <p:sp>
        <p:nvSpPr>
          <p:cNvPr id="9" name="Espace réservé du pied de page 8">
            <a:extLst>
              <a:ext uri="{FF2B5EF4-FFF2-40B4-BE49-F238E27FC236}">
                <a16:creationId xmlns:a16="http://schemas.microsoft.com/office/drawing/2014/main" id="{3A58C7D3-A1E5-3549-4086-21825BCDCCCA}"/>
              </a:ext>
            </a:extLst>
          </p:cNvPr>
          <p:cNvSpPr>
            <a:spLocks noGrp="1"/>
          </p:cNvSpPr>
          <p:nvPr>
            <p:ph type="ftr" sz="quarter" idx="11"/>
          </p:nvPr>
        </p:nvSpPr>
        <p:spPr>
          <a:xfrm>
            <a:off x="4038599" y="6492875"/>
            <a:ext cx="4114800" cy="365125"/>
          </a:xfrm>
        </p:spPr>
        <p:txBody>
          <a:bodyPr/>
          <a:lstStyle/>
          <a:p>
            <a:r>
              <a:rPr lang="fr-FR" sz="1600" dirty="0">
                <a:solidFill>
                  <a:schemeClr val="tx1"/>
                </a:solidFill>
              </a:rPr>
              <a:t>N° Arthur PREVISANI</a:t>
            </a:r>
          </a:p>
        </p:txBody>
      </p:sp>
      <p:graphicFrame>
        <p:nvGraphicFramePr>
          <p:cNvPr id="10" name="Tableau 9">
            <a:extLst>
              <a:ext uri="{FF2B5EF4-FFF2-40B4-BE49-F238E27FC236}">
                <a16:creationId xmlns:a16="http://schemas.microsoft.com/office/drawing/2014/main" id="{38647AC5-F87E-308F-E144-56EBAF8CB54F}"/>
              </a:ext>
            </a:extLst>
          </p:cNvPr>
          <p:cNvGraphicFramePr>
            <a:graphicFrameLocks noGrp="1"/>
          </p:cNvGraphicFramePr>
          <p:nvPr>
            <p:extLst>
              <p:ext uri="{D42A27DB-BD31-4B8C-83A1-F6EECF244321}">
                <p14:modId xmlns:p14="http://schemas.microsoft.com/office/powerpoint/2010/main" val="3138513304"/>
              </p:ext>
            </p:extLst>
          </p:nvPr>
        </p:nvGraphicFramePr>
        <p:xfrm>
          <a:off x="838199" y="1490127"/>
          <a:ext cx="10383764" cy="3840480"/>
        </p:xfrm>
        <a:graphic>
          <a:graphicData uri="http://schemas.openxmlformats.org/drawingml/2006/table">
            <a:tbl>
              <a:tblPr firstRow="1" bandRow="1">
                <a:tableStyleId>{2D5ABB26-0587-4C30-8999-92F81FD0307C}</a:tableStyleId>
              </a:tblPr>
              <a:tblGrid>
                <a:gridCol w="1516743">
                  <a:extLst>
                    <a:ext uri="{9D8B030D-6E8A-4147-A177-3AD203B41FA5}">
                      <a16:colId xmlns:a16="http://schemas.microsoft.com/office/drawing/2014/main" val="510414834"/>
                    </a:ext>
                  </a:extLst>
                </a:gridCol>
                <a:gridCol w="1814286">
                  <a:extLst>
                    <a:ext uri="{9D8B030D-6E8A-4147-A177-3AD203B41FA5}">
                      <a16:colId xmlns:a16="http://schemas.microsoft.com/office/drawing/2014/main" val="477646523"/>
                    </a:ext>
                  </a:extLst>
                </a:gridCol>
                <a:gridCol w="1712686">
                  <a:extLst>
                    <a:ext uri="{9D8B030D-6E8A-4147-A177-3AD203B41FA5}">
                      <a16:colId xmlns:a16="http://schemas.microsoft.com/office/drawing/2014/main" val="2362536329"/>
                    </a:ext>
                  </a:extLst>
                </a:gridCol>
                <a:gridCol w="2206171">
                  <a:extLst>
                    <a:ext uri="{9D8B030D-6E8A-4147-A177-3AD203B41FA5}">
                      <a16:colId xmlns:a16="http://schemas.microsoft.com/office/drawing/2014/main" val="1517061753"/>
                    </a:ext>
                  </a:extLst>
                </a:gridCol>
                <a:gridCol w="1727200">
                  <a:extLst>
                    <a:ext uri="{9D8B030D-6E8A-4147-A177-3AD203B41FA5}">
                      <a16:colId xmlns:a16="http://schemas.microsoft.com/office/drawing/2014/main" val="3565309784"/>
                    </a:ext>
                  </a:extLst>
                </a:gridCol>
                <a:gridCol w="1406678">
                  <a:extLst>
                    <a:ext uri="{9D8B030D-6E8A-4147-A177-3AD203B41FA5}">
                      <a16:colId xmlns:a16="http://schemas.microsoft.com/office/drawing/2014/main" val="4233430214"/>
                    </a:ext>
                  </a:extLst>
                </a:gridCol>
              </a:tblGrid>
              <a:tr h="589981">
                <a:tc>
                  <a:txBody>
                    <a:bodyPr/>
                    <a:lstStyle/>
                    <a:p>
                      <a:pPr algn="ctr"/>
                      <a:r>
                        <a:rPr lang="fr-FR" sz="2400" b="0"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 1 </a:t>
                      </a:r>
                    </a:p>
                    <a:p>
                      <a:pPr algn="ctr"/>
                      <a:r>
                        <a:rPr lang="fr-FR" sz="2400" dirty="0"/>
                        <a:t>Introduction concept de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TP1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Découverte Re, </a:t>
                      </a:r>
                      <a:r>
                        <a:rPr lang="fr-FR" sz="2400" dirty="0" err="1"/>
                        <a:t>Rm</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TD1 </a:t>
                      </a:r>
                    </a:p>
                    <a:p>
                      <a:pPr algn="ctr"/>
                      <a:r>
                        <a:rPr lang="fr-FR" sz="2400" dirty="0"/>
                        <a:t>Quizz</a:t>
                      </a:r>
                    </a:p>
                    <a:p>
                      <a:pPr algn="ctr"/>
                      <a:r>
                        <a:rPr lang="fr-FR" sz="2400" dirty="0"/>
                        <a:t>Essai normalisé </a:t>
                      </a:r>
                    </a:p>
                    <a:p>
                      <a:pPr algn="ctr"/>
                      <a:r>
                        <a:rPr lang="fr-FR" sz="2400" dirty="0"/>
                        <a:t>caractéristiques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TP2</a:t>
                      </a:r>
                    </a:p>
                    <a:p>
                      <a:pPr algn="ctr"/>
                      <a:r>
                        <a:rPr lang="fr-FR" sz="2400" dirty="0"/>
                        <a:t>Lien matériau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TP3</a:t>
                      </a:r>
                    </a:p>
                    <a:p>
                      <a:pPr algn="ctr"/>
                      <a:r>
                        <a:rPr lang="fr-FR" sz="2400" dirty="0"/>
                        <a:t>Suite + oral et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55802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Cours2</a:t>
                      </a:r>
                    </a:p>
                    <a:p>
                      <a:pPr algn="ctr"/>
                      <a:r>
                        <a:rPr lang="fr-FR" sz="2400" dirty="0"/>
                        <a:t>Sollicitations: traction, flexion,…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TP4</a:t>
                      </a:r>
                    </a:p>
                    <a:p>
                      <a:pPr algn="ctr"/>
                      <a:r>
                        <a:rPr lang="fr-FR" sz="2400" dirty="0"/>
                        <a:t>Découverte rigidité, module d’Young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 comparaison essais réels et simulations, remédiation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TP5</a:t>
                      </a:r>
                    </a:p>
                    <a:p>
                      <a:pPr algn="ctr"/>
                      <a:r>
                        <a:rPr lang="fr-FR" sz="2400" dirty="0"/>
                        <a:t>Lien type de </a:t>
                      </a:r>
                      <a:r>
                        <a:rPr lang="fr-FR" sz="2400" dirty="0" err="1"/>
                        <a:t>chargementdéformation</a:t>
                      </a:r>
                      <a:r>
                        <a:rPr lang="fr-FR" sz="2400" dirty="0"/>
                        <a:t> intro des vibrations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TD3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Fin du TD + </a:t>
                      </a:r>
                      <a:r>
                        <a:rPr lang="fr-FR" sz="2400" dirty="0" err="1"/>
                        <a:t>eval</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175682"/>
                  </a:ext>
                </a:extLst>
              </a:tr>
            </a:tbl>
          </a:graphicData>
        </a:graphic>
      </p:graphicFrame>
      <p:sp>
        <p:nvSpPr>
          <p:cNvPr id="11" name="ZoneTexte 10">
            <a:extLst>
              <a:ext uri="{FF2B5EF4-FFF2-40B4-BE49-F238E27FC236}">
                <a16:creationId xmlns:a16="http://schemas.microsoft.com/office/drawing/2014/main" id="{91E7AC75-F7F9-F988-56FE-F8E2055E422C}"/>
              </a:ext>
            </a:extLst>
          </p:cNvPr>
          <p:cNvSpPr txBox="1"/>
          <p:nvPr/>
        </p:nvSpPr>
        <p:spPr>
          <a:xfrm>
            <a:off x="838200" y="5605323"/>
            <a:ext cx="7489371" cy="461665"/>
          </a:xfrm>
          <a:prstGeom prst="rect">
            <a:avLst/>
          </a:prstGeom>
          <a:noFill/>
        </p:spPr>
        <p:txBody>
          <a:bodyPr wrap="square" rtlCol="0">
            <a:spAutoFit/>
          </a:bodyPr>
          <a:lstStyle/>
          <a:p>
            <a:r>
              <a:rPr lang="fr-FR" sz="2400" dirty="0"/>
              <a:t>1 évaluation formative, 2 sommatives</a:t>
            </a:r>
          </a:p>
        </p:txBody>
      </p:sp>
    </p:spTree>
    <p:extLst>
      <p:ext uri="{BB962C8B-B14F-4D97-AF65-F5344CB8AC3E}">
        <p14:creationId xmlns:p14="http://schemas.microsoft.com/office/powerpoint/2010/main" val="5359085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3278</Words>
  <Application>Microsoft Office PowerPoint</Application>
  <PresentationFormat>Grand écran</PresentationFormat>
  <Paragraphs>454</Paragraphs>
  <Slides>22</Slides>
  <Notes>20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Calibri Light</vt:lpstr>
      <vt:lpstr>Cambria Math</vt:lpstr>
      <vt:lpstr>Thème Office</vt:lpstr>
      <vt:lpstr>Epreuve d’activité pratique et d’exploitation pédagogique relatives à l’approche spécialisée d’un système pluri technologique</vt:lpstr>
      <vt:lpstr>Sommaire</vt:lpstr>
      <vt:lpstr>Présentation de l’équilibreuse</vt:lpstr>
      <vt:lpstr>Logiciel</vt:lpstr>
      <vt:lpstr>Calcul pour un système masse ressort simple de la fréquence propre.</vt:lpstr>
      <vt:lpstr>Présentation PowerPoint</vt:lpstr>
      <vt:lpstr>Présentation PowerPoint</vt:lpstr>
      <vt:lpstr>Contexte pédagogique</vt:lpstr>
      <vt:lpstr>Progression annuelle</vt:lpstr>
      <vt:lpstr>Organisation de la séquence 4</vt:lpstr>
      <vt:lpstr>Compétences/savoir faire à transmettre</vt:lpstr>
      <vt:lpstr>Cours 1 2h</vt:lpstr>
      <vt:lpstr>TD1 2h</vt:lpstr>
      <vt:lpstr>TP3 2h</vt:lpstr>
      <vt:lpstr>TD2 2h</vt:lpstr>
      <vt:lpstr>Présentation PowerPoint</vt:lpstr>
      <vt:lpstr>Présentation PowerPoint</vt:lpstr>
      <vt:lpstr>Présentation PowerPoint</vt:lpstr>
      <vt:lpstr>Présentation PowerPoint</vt:lpstr>
      <vt:lpstr>Présentation PowerPoint</vt:lpstr>
      <vt:lpstr>Evaluations</vt:lpstr>
      <vt:lpstr>Conclusion de la séquence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Previsani Arthur</dc:creator>
  <cp:lastModifiedBy>Hugues Brice</cp:lastModifiedBy>
  <cp:revision>2</cp:revision>
  <dcterms:created xsi:type="dcterms:W3CDTF">2026-05-28T08:59:55Z</dcterms:created>
  <dcterms:modified xsi:type="dcterms:W3CDTF">2026-06-07T13:06:26Z</dcterms:modified>
</cp:coreProperties>
</file>