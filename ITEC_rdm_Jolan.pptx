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63" r:id="rId2"/>
    <p:sldId id="270" r:id="rId3"/>
    <p:sldId id="265" r:id="rId4"/>
    <p:sldId id="299" r:id="rId5"/>
    <p:sldId id="298" r:id="rId6"/>
    <p:sldId id="297" r:id="rId7"/>
    <p:sldId id="309" r:id="rId8"/>
    <p:sldId id="271" r:id="rId9"/>
    <p:sldId id="264" r:id="rId10"/>
    <p:sldId id="282" r:id="rId11"/>
    <p:sldId id="300" r:id="rId12"/>
    <p:sldId id="301" r:id="rId13"/>
    <p:sldId id="302" r:id="rId14"/>
    <p:sldId id="303" r:id="rId15"/>
    <p:sldId id="305" r:id="rId16"/>
    <p:sldId id="306" r:id="rId17"/>
    <p:sldId id="307" r:id="rId18"/>
    <p:sldId id="308" r:id="rId19"/>
    <p:sldId id="256" r:id="rId20"/>
    <p:sldId id="257" r:id="rId21"/>
    <p:sldId id="258" r:id="rId22"/>
    <p:sldId id="259" r:id="rId23"/>
    <p:sldId id="310" r:id="rId24"/>
    <p:sldId id="285" r:id="rId25"/>
    <p:sldId id="262" r:id="rId26"/>
    <p:sldId id="289" r:id="rId27"/>
    <p:sldId id="311" r:id="rId28"/>
    <p:sldId id="290" r:id="rId29"/>
    <p:sldId id="291" r:id="rId30"/>
    <p:sldId id="292" r:id="rId31"/>
    <p:sldId id="312" r:id="rId32"/>
    <p:sldId id="313" r:id="rId33"/>
    <p:sldId id="315" r:id="rId34"/>
    <p:sldId id="295" r:id="rId35"/>
    <p:sldId id="314" r:id="rId36"/>
    <p:sldId id="296" r:id="rId3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2E6392-9844-443D-8536-D66144EF0A10}" v="3" dt="2026-06-07T12:02:05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D6722F-D17D-4622-9452-CFCB1759B2A6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ECCDEDB-CF57-4BD0-A694-6D7E4502A788}">
      <dgm:prSet phldrT="[Texte]" phldr="0"/>
      <dgm:spPr/>
      <dgm:t>
        <a:bodyPr/>
        <a:lstStyle/>
        <a:p>
          <a:r>
            <a:rPr lang="fr-FR" dirty="0"/>
            <a:t>2h</a:t>
          </a:r>
        </a:p>
        <a:p>
          <a:r>
            <a:rPr lang="fr-FR" dirty="0"/>
            <a:t>Classe entière</a:t>
          </a:r>
        </a:p>
      </dgm:t>
    </dgm:pt>
    <dgm:pt modelId="{FE9C89E4-5588-4B34-80D7-DA435E2005B6}" type="parTrans" cxnId="{C836F957-D63C-4DAF-8992-B925ACAD9529}">
      <dgm:prSet/>
      <dgm:spPr/>
      <dgm:t>
        <a:bodyPr/>
        <a:lstStyle/>
        <a:p>
          <a:endParaRPr lang="fr-FR"/>
        </a:p>
      </dgm:t>
    </dgm:pt>
    <dgm:pt modelId="{B4F9C92E-DEE7-46FA-BCD5-7A8A6AABD0FC}" type="sibTrans" cxnId="{C836F957-D63C-4DAF-8992-B925ACAD9529}">
      <dgm:prSet/>
      <dgm:spPr/>
      <dgm:t>
        <a:bodyPr/>
        <a:lstStyle/>
        <a:p>
          <a:endParaRPr lang="fr-FR"/>
        </a:p>
      </dgm:t>
    </dgm:pt>
    <dgm:pt modelId="{21580334-3973-4D07-8AAC-E9D3FC6CB9A2}">
      <dgm:prSet phldrT="[Texte]" phldr="0"/>
      <dgm:spPr/>
      <dgm:t>
        <a:bodyPr/>
        <a:lstStyle/>
        <a:p>
          <a:r>
            <a:rPr lang="fr-FR" dirty="0"/>
            <a:t>Séance découverte</a:t>
          </a:r>
        </a:p>
      </dgm:t>
    </dgm:pt>
    <dgm:pt modelId="{2CB0825E-840A-4D07-A3CD-EF1B1F00ADDE}" type="parTrans" cxnId="{0DCA3B77-FE1A-40D2-9599-692559762424}">
      <dgm:prSet/>
      <dgm:spPr/>
      <dgm:t>
        <a:bodyPr/>
        <a:lstStyle/>
        <a:p>
          <a:endParaRPr lang="fr-FR"/>
        </a:p>
      </dgm:t>
    </dgm:pt>
    <dgm:pt modelId="{EAD6C9EB-645A-421B-A0A7-A24E08DDC70C}" type="sibTrans" cxnId="{0DCA3B77-FE1A-40D2-9599-692559762424}">
      <dgm:prSet/>
      <dgm:spPr/>
      <dgm:t>
        <a:bodyPr/>
        <a:lstStyle/>
        <a:p>
          <a:endParaRPr lang="fr-FR"/>
        </a:p>
      </dgm:t>
    </dgm:pt>
    <dgm:pt modelId="{780C6555-7A3B-49D3-944A-197230E1EAA6}">
      <dgm:prSet phldrT="[Texte]" phldr="0"/>
      <dgm:spPr/>
      <dgm:t>
        <a:bodyPr/>
        <a:lstStyle/>
        <a:p>
          <a:r>
            <a:rPr lang="fr-FR" dirty="0"/>
            <a:t>Présentation de structure dans le sport et discussion sur le dimensionnement (exemple : plongeoir)</a:t>
          </a:r>
        </a:p>
      </dgm:t>
    </dgm:pt>
    <dgm:pt modelId="{2746C7B9-3AF4-442A-B6CB-96A842E71AB6}" type="parTrans" cxnId="{FD82F831-60C8-40A4-8D61-5084CE36EE37}">
      <dgm:prSet/>
      <dgm:spPr/>
      <dgm:t>
        <a:bodyPr/>
        <a:lstStyle/>
        <a:p>
          <a:endParaRPr lang="fr-FR"/>
        </a:p>
      </dgm:t>
    </dgm:pt>
    <dgm:pt modelId="{13E3F74A-96E2-497E-B81A-90A594C58DE2}" type="sibTrans" cxnId="{FD82F831-60C8-40A4-8D61-5084CE36EE37}">
      <dgm:prSet/>
      <dgm:spPr/>
      <dgm:t>
        <a:bodyPr/>
        <a:lstStyle/>
        <a:p>
          <a:endParaRPr lang="fr-FR"/>
        </a:p>
      </dgm:t>
    </dgm:pt>
    <dgm:pt modelId="{748E2758-E16F-4FE8-8C41-2C3901114025}">
      <dgm:prSet phldrT="[Texte]" phldr="0"/>
      <dgm:spPr/>
      <dgm:t>
        <a:bodyPr/>
        <a:lstStyle/>
        <a:p>
          <a:r>
            <a:rPr lang="fr-FR" dirty="0"/>
            <a:t>2h </a:t>
          </a:r>
        </a:p>
        <a:p>
          <a:r>
            <a:rPr lang="fr-FR" dirty="0"/>
            <a:t>Classe entière</a:t>
          </a:r>
        </a:p>
      </dgm:t>
    </dgm:pt>
    <dgm:pt modelId="{1E878EB8-B83C-4D8B-8663-7F165455E640}" type="parTrans" cxnId="{48180C47-1794-41E1-AF48-176D0CDCCD67}">
      <dgm:prSet/>
      <dgm:spPr/>
      <dgm:t>
        <a:bodyPr/>
        <a:lstStyle/>
        <a:p>
          <a:endParaRPr lang="fr-FR"/>
        </a:p>
      </dgm:t>
    </dgm:pt>
    <dgm:pt modelId="{7175EA6B-2A7A-43E8-B270-3261F0A2EEF8}" type="sibTrans" cxnId="{48180C47-1794-41E1-AF48-176D0CDCCD67}">
      <dgm:prSet/>
      <dgm:spPr/>
      <dgm:t>
        <a:bodyPr/>
        <a:lstStyle/>
        <a:p>
          <a:endParaRPr lang="fr-FR"/>
        </a:p>
      </dgm:t>
    </dgm:pt>
    <dgm:pt modelId="{57BF9E9F-2E9A-40BE-BF85-FB8C7FD4CACC}">
      <dgm:prSet phldrT="[Texte]" phldr="0"/>
      <dgm:spPr/>
      <dgm:t>
        <a:bodyPr/>
        <a:lstStyle/>
        <a:p>
          <a:endParaRPr lang="fr-FR" dirty="0"/>
        </a:p>
      </dgm:t>
    </dgm:pt>
    <dgm:pt modelId="{16A05125-626F-46E0-83F7-379DD18FDDF9}" type="parTrans" cxnId="{B6E420C7-8115-49D5-8768-D65861532D29}">
      <dgm:prSet/>
      <dgm:spPr/>
      <dgm:t>
        <a:bodyPr/>
        <a:lstStyle/>
        <a:p>
          <a:endParaRPr lang="fr-FR"/>
        </a:p>
      </dgm:t>
    </dgm:pt>
    <dgm:pt modelId="{921B0B6F-A6B5-423B-B493-7BB10E351740}" type="sibTrans" cxnId="{B6E420C7-8115-49D5-8768-D65861532D29}">
      <dgm:prSet/>
      <dgm:spPr/>
      <dgm:t>
        <a:bodyPr/>
        <a:lstStyle/>
        <a:p>
          <a:endParaRPr lang="fr-FR"/>
        </a:p>
      </dgm:t>
    </dgm:pt>
    <dgm:pt modelId="{7CFBF435-24D7-448C-8F3C-8B96FC745BD9}">
      <dgm:prSet phldrT="[Texte]" phldr="0"/>
      <dgm:spPr/>
      <dgm:t>
        <a:bodyPr/>
        <a:lstStyle/>
        <a:p>
          <a:r>
            <a:rPr lang="fr-FR" dirty="0"/>
            <a:t>Séance scientifique (Module de Young / limite d’élasticité / plastification, …)</a:t>
          </a:r>
        </a:p>
      </dgm:t>
    </dgm:pt>
    <dgm:pt modelId="{AC425A5B-A1F2-4C15-A657-AC368F8C50D1}" type="parTrans" cxnId="{64578BE0-82F8-4FD8-A891-C936B16CEDF4}">
      <dgm:prSet/>
      <dgm:spPr/>
      <dgm:t>
        <a:bodyPr/>
        <a:lstStyle/>
        <a:p>
          <a:endParaRPr lang="fr-FR"/>
        </a:p>
      </dgm:t>
    </dgm:pt>
    <dgm:pt modelId="{03685962-CDA2-435E-B6F3-3030C0D5F294}" type="sibTrans" cxnId="{64578BE0-82F8-4FD8-A891-C936B16CEDF4}">
      <dgm:prSet/>
      <dgm:spPr/>
      <dgm:t>
        <a:bodyPr/>
        <a:lstStyle/>
        <a:p>
          <a:endParaRPr lang="fr-FR"/>
        </a:p>
      </dgm:t>
    </dgm:pt>
    <dgm:pt modelId="{D73964CE-011A-44B8-8688-B50377F01A6C}">
      <dgm:prSet phldrT="[Texte]" phldr="0"/>
      <dgm:spPr/>
      <dgm:t>
        <a:bodyPr/>
        <a:lstStyle/>
        <a:p>
          <a:r>
            <a:rPr lang="fr-FR" dirty="0"/>
            <a:t>4h </a:t>
          </a:r>
        </a:p>
        <a:p>
          <a:r>
            <a:rPr lang="fr-FR" dirty="0"/>
            <a:t>Demi-groupe</a:t>
          </a:r>
        </a:p>
      </dgm:t>
    </dgm:pt>
    <dgm:pt modelId="{5A650144-EBB6-41AB-B0A1-CE97E09A6950}" type="parTrans" cxnId="{5A1A239E-195A-4BAB-AA07-83F1D0FDCCAF}">
      <dgm:prSet/>
      <dgm:spPr/>
      <dgm:t>
        <a:bodyPr/>
        <a:lstStyle/>
        <a:p>
          <a:endParaRPr lang="fr-FR"/>
        </a:p>
      </dgm:t>
    </dgm:pt>
    <dgm:pt modelId="{4EE7ED67-A63C-48A1-901B-27AF5D9EB5C4}" type="sibTrans" cxnId="{5A1A239E-195A-4BAB-AA07-83F1D0FDCCAF}">
      <dgm:prSet/>
      <dgm:spPr/>
      <dgm:t>
        <a:bodyPr/>
        <a:lstStyle/>
        <a:p>
          <a:endParaRPr lang="fr-FR"/>
        </a:p>
      </dgm:t>
    </dgm:pt>
    <dgm:pt modelId="{BA10664E-4703-45E3-B2F6-312F6F18EE9E}">
      <dgm:prSet phldrT="[Texte]" phldr="0"/>
      <dgm:spPr/>
      <dgm:t>
        <a:bodyPr/>
        <a:lstStyle/>
        <a:p>
          <a:r>
            <a:rPr lang="fr-FR" dirty="0"/>
            <a:t>Séance à caractère expérimentale tournante : Validation expérimentale avec BDE 100</a:t>
          </a:r>
        </a:p>
      </dgm:t>
    </dgm:pt>
    <dgm:pt modelId="{6F198AEA-4955-45A3-B418-6F8B48F8DF24}" type="parTrans" cxnId="{47D5E05F-6548-4653-8FF5-F079497ED663}">
      <dgm:prSet/>
      <dgm:spPr/>
      <dgm:t>
        <a:bodyPr/>
        <a:lstStyle/>
        <a:p>
          <a:endParaRPr lang="fr-FR"/>
        </a:p>
      </dgm:t>
    </dgm:pt>
    <dgm:pt modelId="{B7311CAE-C68D-44C1-9BC6-2C8573559A5F}" type="sibTrans" cxnId="{47D5E05F-6548-4653-8FF5-F079497ED663}">
      <dgm:prSet/>
      <dgm:spPr/>
      <dgm:t>
        <a:bodyPr/>
        <a:lstStyle/>
        <a:p>
          <a:endParaRPr lang="fr-FR"/>
        </a:p>
      </dgm:t>
    </dgm:pt>
    <dgm:pt modelId="{DADE840C-8351-4954-96A5-ACCE6137917A}">
      <dgm:prSet/>
      <dgm:spPr/>
      <dgm:t>
        <a:bodyPr/>
        <a:lstStyle/>
        <a:p>
          <a:r>
            <a:rPr lang="fr-FR" dirty="0"/>
            <a:t>4h </a:t>
          </a:r>
        </a:p>
        <a:p>
          <a:r>
            <a:rPr lang="fr-FR" dirty="0"/>
            <a:t>Demi-groupe</a:t>
          </a:r>
        </a:p>
      </dgm:t>
    </dgm:pt>
    <dgm:pt modelId="{D6DA7DC8-4CEC-429A-A574-B6D772F14107}" type="parTrans" cxnId="{BC00FC2E-8099-4BE0-B6AB-BABF98BEDF73}">
      <dgm:prSet/>
      <dgm:spPr/>
      <dgm:t>
        <a:bodyPr/>
        <a:lstStyle/>
        <a:p>
          <a:endParaRPr lang="fr-FR"/>
        </a:p>
      </dgm:t>
    </dgm:pt>
    <dgm:pt modelId="{1037543F-563C-49CC-A7E2-C1EF244AE327}" type="sibTrans" cxnId="{BC00FC2E-8099-4BE0-B6AB-BABF98BEDF73}">
      <dgm:prSet/>
      <dgm:spPr/>
      <dgm:t>
        <a:bodyPr/>
        <a:lstStyle/>
        <a:p>
          <a:endParaRPr lang="fr-FR"/>
        </a:p>
      </dgm:t>
    </dgm:pt>
    <dgm:pt modelId="{4183AF49-7403-4B4F-918B-12444DABE966}">
      <dgm:prSet/>
      <dgm:spPr/>
      <dgm:t>
        <a:bodyPr/>
        <a:lstStyle/>
        <a:p>
          <a:r>
            <a:rPr lang="fr-FR" dirty="0"/>
            <a:t>Séance à caractère expérimentale : RDM le Mans, prise en main ; découverte des paramètres influents sur la </a:t>
          </a:r>
          <a:r>
            <a:rPr lang="fr-FR" dirty="0" err="1"/>
            <a:t>fleche</a:t>
          </a:r>
          <a:r>
            <a:rPr lang="fr-FR" dirty="0"/>
            <a:t> (2h) ;</a:t>
          </a:r>
        </a:p>
      </dgm:t>
    </dgm:pt>
    <dgm:pt modelId="{F0823167-A468-422F-81A3-B8F507C2DAA6}" type="parTrans" cxnId="{79949EF3-3438-45B9-B0B8-AA70CB695647}">
      <dgm:prSet/>
      <dgm:spPr/>
      <dgm:t>
        <a:bodyPr/>
        <a:lstStyle/>
        <a:p>
          <a:endParaRPr lang="fr-FR"/>
        </a:p>
      </dgm:t>
    </dgm:pt>
    <dgm:pt modelId="{FCB5D6B8-1E3E-4A66-BFF5-396CEE127E12}" type="sibTrans" cxnId="{79949EF3-3438-45B9-B0B8-AA70CB695647}">
      <dgm:prSet/>
      <dgm:spPr/>
      <dgm:t>
        <a:bodyPr/>
        <a:lstStyle/>
        <a:p>
          <a:endParaRPr lang="fr-FR"/>
        </a:p>
      </dgm:t>
    </dgm:pt>
    <dgm:pt modelId="{6B2DD359-D6B5-4999-842A-DB6634CBC70B}">
      <dgm:prSet/>
      <dgm:spPr/>
      <dgm:t>
        <a:bodyPr/>
        <a:lstStyle/>
        <a:p>
          <a:r>
            <a:rPr lang="fr-FR" dirty="0"/>
            <a:t>Dimensionnement « barre de squat »</a:t>
          </a:r>
        </a:p>
      </dgm:t>
    </dgm:pt>
    <dgm:pt modelId="{F27E82BA-2332-404B-AAB0-43FC16D10077}" type="parTrans" cxnId="{7EB0EA0F-72EF-4149-8F59-B214CC51364B}">
      <dgm:prSet/>
      <dgm:spPr/>
      <dgm:t>
        <a:bodyPr/>
        <a:lstStyle/>
        <a:p>
          <a:endParaRPr lang="fr-FR"/>
        </a:p>
      </dgm:t>
    </dgm:pt>
    <dgm:pt modelId="{2ED04B79-F82E-4489-92EC-A884C057603D}" type="sibTrans" cxnId="{7EB0EA0F-72EF-4149-8F59-B214CC51364B}">
      <dgm:prSet/>
      <dgm:spPr/>
      <dgm:t>
        <a:bodyPr/>
        <a:lstStyle/>
        <a:p>
          <a:endParaRPr lang="fr-FR"/>
        </a:p>
      </dgm:t>
    </dgm:pt>
    <dgm:pt modelId="{341E8E30-29B2-41C7-A14D-EE959BEE537E}" type="pres">
      <dgm:prSet presAssocID="{29D6722F-D17D-4622-9452-CFCB1759B2A6}" presName="linearFlow" presStyleCnt="0">
        <dgm:presLayoutVars>
          <dgm:dir/>
          <dgm:animLvl val="lvl"/>
          <dgm:resizeHandles val="exact"/>
        </dgm:presLayoutVars>
      </dgm:prSet>
      <dgm:spPr/>
    </dgm:pt>
    <dgm:pt modelId="{AE209948-294E-4F0F-B71C-71380574ADC7}" type="pres">
      <dgm:prSet presAssocID="{7ECCDEDB-CF57-4BD0-A694-6D7E4502A788}" presName="composite" presStyleCnt="0"/>
      <dgm:spPr/>
    </dgm:pt>
    <dgm:pt modelId="{A88978AE-6724-47A9-9C34-4F563B6FDCCD}" type="pres">
      <dgm:prSet presAssocID="{7ECCDEDB-CF57-4BD0-A694-6D7E4502A788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8104B40E-DD35-498C-8A9A-C2C9764D2602}" type="pres">
      <dgm:prSet presAssocID="{7ECCDEDB-CF57-4BD0-A694-6D7E4502A788}" presName="descendantText" presStyleLbl="alignAcc1" presStyleIdx="0" presStyleCnt="4" custLinFactNeighborY="983">
        <dgm:presLayoutVars>
          <dgm:bulletEnabled val="1"/>
        </dgm:presLayoutVars>
      </dgm:prSet>
      <dgm:spPr/>
    </dgm:pt>
    <dgm:pt modelId="{63488B16-ED60-4094-B042-1FFD2AD94236}" type="pres">
      <dgm:prSet presAssocID="{B4F9C92E-DEE7-46FA-BCD5-7A8A6AABD0FC}" presName="sp" presStyleCnt="0"/>
      <dgm:spPr/>
    </dgm:pt>
    <dgm:pt modelId="{0265171D-913A-422C-95E4-7F3146CF73BC}" type="pres">
      <dgm:prSet presAssocID="{DADE840C-8351-4954-96A5-ACCE6137917A}" presName="composite" presStyleCnt="0"/>
      <dgm:spPr/>
    </dgm:pt>
    <dgm:pt modelId="{3DBDE5A1-B94D-4A7C-B458-E94E4860E26F}" type="pres">
      <dgm:prSet presAssocID="{DADE840C-8351-4954-96A5-ACCE6137917A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FDBAF297-E443-45AF-A834-4EC85C6E03F4}" type="pres">
      <dgm:prSet presAssocID="{DADE840C-8351-4954-96A5-ACCE6137917A}" presName="descendantText" presStyleLbl="alignAcc1" presStyleIdx="1" presStyleCnt="4" custLinFactNeighborY="-4240">
        <dgm:presLayoutVars>
          <dgm:bulletEnabled val="1"/>
        </dgm:presLayoutVars>
      </dgm:prSet>
      <dgm:spPr/>
    </dgm:pt>
    <dgm:pt modelId="{76F1511A-7F34-4B77-B7CB-4F0D7555A71F}" type="pres">
      <dgm:prSet presAssocID="{1037543F-563C-49CC-A7E2-C1EF244AE327}" presName="sp" presStyleCnt="0"/>
      <dgm:spPr/>
    </dgm:pt>
    <dgm:pt modelId="{948B40F7-52E8-4B40-BBE8-2C2AFD7C3286}" type="pres">
      <dgm:prSet presAssocID="{748E2758-E16F-4FE8-8C41-2C3901114025}" presName="composite" presStyleCnt="0"/>
      <dgm:spPr/>
    </dgm:pt>
    <dgm:pt modelId="{73B883D1-81B1-4309-8C53-D1B4025A9598}" type="pres">
      <dgm:prSet presAssocID="{748E2758-E16F-4FE8-8C41-2C3901114025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691CA4E8-3F1E-4169-B1CF-7B8DCA5690FB}" type="pres">
      <dgm:prSet presAssocID="{748E2758-E16F-4FE8-8C41-2C3901114025}" presName="descendantText" presStyleLbl="alignAcc1" presStyleIdx="2" presStyleCnt="4">
        <dgm:presLayoutVars>
          <dgm:bulletEnabled val="1"/>
        </dgm:presLayoutVars>
      </dgm:prSet>
      <dgm:spPr/>
    </dgm:pt>
    <dgm:pt modelId="{91F8728A-EABC-45E1-B29A-BC637C7E925B}" type="pres">
      <dgm:prSet presAssocID="{7175EA6B-2A7A-43E8-B270-3261F0A2EEF8}" presName="sp" presStyleCnt="0"/>
      <dgm:spPr/>
    </dgm:pt>
    <dgm:pt modelId="{68BCBDAE-CBEC-4DBE-8CF7-92F955872A81}" type="pres">
      <dgm:prSet presAssocID="{D73964CE-011A-44B8-8688-B50377F01A6C}" presName="composite" presStyleCnt="0"/>
      <dgm:spPr/>
    </dgm:pt>
    <dgm:pt modelId="{7CB50AAA-794B-40CB-8052-F43D3F576F68}" type="pres">
      <dgm:prSet presAssocID="{D73964CE-011A-44B8-8688-B50377F01A6C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A3A4F7B7-435B-42D4-8CD3-A60F5E5166B6}" type="pres">
      <dgm:prSet presAssocID="{D73964CE-011A-44B8-8688-B50377F01A6C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B4D3CB0A-4F34-4AB4-8819-19967F0061EF}" type="presOf" srcId="{780C6555-7A3B-49D3-944A-197230E1EAA6}" destId="{8104B40E-DD35-498C-8A9A-C2C9764D2602}" srcOrd="0" destOrd="1" presId="urn:microsoft.com/office/officeart/2005/8/layout/chevron2"/>
    <dgm:cxn modelId="{7EB0EA0F-72EF-4149-8F59-B214CC51364B}" srcId="{DADE840C-8351-4954-96A5-ACCE6137917A}" destId="{6B2DD359-D6B5-4999-842A-DB6634CBC70B}" srcOrd="1" destOrd="0" parTransId="{F27E82BA-2332-404B-AAB0-43FC16D10077}" sibTransId="{2ED04B79-F82E-4489-92EC-A884C057603D}"/>
    <dgm:cxn modelId="{ED878716-3D2C-4692-961E-6E357BABFF54}" type="presOf" srcId="{D73964CE-011A-44B8-8688-B50377F01A6C}" destId="{7CB50AAA-794B-40CB-8052-F43D3F576F68}" srcOrd="0" destOrd="0" presId="urn:microsoft.com/office/officeart/2005/8/layout/chevron2"/>
    <dgm:cxn modelId="{BAAA581A-63D4-4553-B290-383CE5CD5977}" type="presOf" srcId="{DADE840C-8351-4954-96A5-ACCE6137917A}" destId="{3DBDE5A1-B94D-4A7C-B458-E94E4860E26F}" srcOrd="0" destOrd="0" presId="urn:microsoft.com/office/officeart/2005/8/layout/chevron2"/>
    <dgm:cxn modelId="{6D800123-9639-4C86-BE06-A31D3042787D}" type="presOf" srcId="{7ECCDEDB-CF57-4BD0-A694-6D7E4502A788}" destId="{A88978AE-6724-47A9-9C34-4F563B6FDCCD}" srcOrd="0" destOrd="0" presId="urn:microsoft.com/office/officeart/2005/8/layout/chevron2"/>
    <dgm:cxn modelId="{4891D323-1620-4E7C-84D8-57EB5D4CB931}" type="presOf" srcId="{7CFBF435-24D7-448C-8F3C-8B96FC745BD9}" destId="{691CA4E8-3F1E-4169-B1CF-7B8DCA5690FB}" srcOrd="0" destOrd="1" presId="urn:microsoft.com/office/officeart/2005/8/layout/chevron2"/>
    <dgm:cxn modelId="{C5B8C72B-87B4-417D-931D-6067E28EFB49}" type="presOf" srcId="{29D6722F-D17D-4622-9452-CFCB1759B2A6}" destId="{341E8E30-29B2-41C7-A14D-EE959BEE537E}" srcOrd="0" destOrd="0" presId="urn:microsoft.com/office/officeart/2005/8/layout/chevron2"/>
    <dgm:cxn modelId="{BC00FC2E-8099-4BE0-B6AB-BABF98BEDF73}" srcId="{29D6722F-D17D-4622-9452-CFCB1759B2A6}" destId="{DADE840C-8351-4954-96A5-ACCE6137917A}" srcOrd="1" destOrd="0" parTransId="{D6DA7DC8-4CEC-429A-A574-B6D772F14107}" sibTransId="{1037543F-563C-49CC-A7E2-C1EF244AE327}"/>
    <dgm:cxn modelId="{FD82F831-60C8-40A4-8D61-5084CE36EE37}" srcId="{7ECCDEDB-CF57-4BD0-A694-6D7E4502A788}" destId="{780C6555-7A3B-49D3-944A-197230E1EAA6}" srcOrd="1" destOrd="0" parTransId="{2746C7B9-3AF4-442A-B6CB-96A842E71AB6}" sibTransId="{13E3F74A-96E2-497E-B81A-90A594C58DE2}"/>
    <dgm:cxn modelId="{47D5E05F-6548-4653-8FF5-F079497ED663}" srcId="{D73964CE-011A-44B8-8688-B50377F01A6C}" destId="{BA10664E-4703-45E3-B2F6-312F6F18EE9E}" srcOrd="0" destOrd="0" parTransId="{6F198AEA-4955-45A3-B418-6F8B48F8DF24}" sibTransId="{B7311CAE-C68D-44C1-9BC6-2C8573559A5F}"/>
    <dgm:cxn modelId="{48180C47-1794-41E1-AF48-176D0CDCCD67}" srcId="{29D6722F-D17D-4622-9452-CFCB1759B2A6}" destId="{748E2758-E16F-4FE8-8C41-2C3901114025}" srcOrd="2" destOrd="0" parTransId="{1E878EB8-B83C-4D8B-8663-7F165455E640}" sibTransId="{7175EA6B-2A7A-43E8-B270-3261F0A2EEF8}"/>
    <dgm:cxn modelId="{0D620D56-4DA1-40EF-961B-C1375E67740F}" type="presOf" srcId="{57BF9E9F-2E9A-40BE-BF85-FB8C7FD4CACC}" destId="{691CA4E8-3F1E-4169-B1CF-7B8DCA5690FB}" srcOrd="0" destOrd="0" presId="urn:microsoft.com/office/officeart/2005/8/layout/chevron2"/>
    <dgm:cxn modelId="{0DCA3B77-FE1A-40D2-9599-692559762424}" srcId="{7ECCDEDB-CF57-4BD0-A694-6D7E4502A788}" destId="{21580334-3973-4D07-8AAC-E9D3FC6CB9A2}" srcOrd="0" destOrd="0" parTransId="{2CB0825E-840A-4D07-A3CD-EF1B1F00ADDE}" sibTransId="{EAD6C9EB-645A-421B-A0A7-A24E08DDC70C}"/>
    <dgm:cxn modelId="{E27ABC77-0451-4C42-B306-8026100AF256}" type="presOf" srcId="{6B2DD359-D6B5-4999-842A-DB6634CBC70B}" destId="{FDBAF297-E443-45AF-A834-4EC85C6E03F4}" srcOrd="0" destOrd="1" presId="urn:microsoft.com/office/officeart/2005/8/layout/chevron2"/>
    <dgm:cxn modelId="{C836F957-D63C-4DAF-8992-B925ACAD9529}" srcId="{29D6722F-D17D-4622-9452-CFCB1759B2A6}" destId="{7ECCDEDB-CF57-4BD0-A694-6D7E4502A788}" srcOrd="0" destOrd="0" parTransId="{FE9C89E4-5588-4B34-80D7-DA435E2005B6}" sibTransId="{B4F9C92E-DEE7-46FA-BCD5-7A8A6AABD0FC}"/>
    <dgm:cxn modelId="{95F7569A-FC4A-4178-BF72-B51DD2E8B4B5}" type="presOf" srcId="{4183AF49-7403-4B4F-918B-12444DABE966}" destId="{FDBAF297-E443-45AF-A834-4EC85C6E03F4}" srcOrd="0" destOrd="0" presId="urn:microsoft.com/office/officeart/2005/8/layout/chevron2"/>
    <dgm:cxn modelId="{5A1A239E-195A-4BAB-AA07-83F1D0FDCCAF}" srcId="{29D6722F-D17D-4622-9452-CFCB1759B2A6}" destId="{D73964CE-011A-44B8-8688-B50377F01A6C}" srcOrd="3" destOrd="0" parTransId="{5A650144-EBB6-41AB-B0A1-CE97E09A6950}" sibTransId="{4EE7ED67-A63C-48A1-901B-27AF5D9EB5C4}"/>
    <dgm:cxn modelId="{899054C2-C506-42DF-A469-22AB67754AAB}" type="presOf" srcId="{748E2758-E16F-4FE8-8C41-2C3901114025}" destId="{73B883D1-81B1-4309-8C53-D1B4025A9598}" srcOrd="0" destOrd="0" presId="urn:microsoft.com/office/officeart/2005/8/layout/chevron2"/>
    <dgm:cxn modelId="{B6E420C7-8115-49D5-8768-D65861532D29}" srcId="{748E2758-E16F-4FE8-8C41-2C3901114025}" destId="{57BF9E9F-2E9A-40BE-BF85-FB8C7FD4CACC}" srcOrd="0" destOrd="0" parTransId="{16A05125-626F-46E0-83F7-379DD18FDDF9}" sibTransId="{921B0B6F-A6B5-423B-B493-7BB10E351740}"/>
    <dgm:cxn modelId="{5A7501CD-159C-46BB-80B8-188D1BA6F6F8}" type="presOf" srcId="{21580334-3973-4D07-8AAC-E9D3FC6CB9A2}" destId="{8104B40E-DD35-498C-8A9A-C2C9764D2602}" srcOrd="0" destOrd="0" presId="urn:microsoft.com/office/officeart/2005/8/layout/chevron2"/>
    <dgm:cxn modelId="{477FA2D7-14F9-4B53-9BED-4570040E1B8A}" type="presOf" srcId="{BA10664E-4703-45E3-B2F6-312F6F18EE9E}" destId="{A3A4F7B7-435B-42D4-8CD3-A60F5E5166B6}" srcOrd="0" destOrd="0" presId="urn:microsoft.com/office/officeart/2005/8/layout/chevron2"/>
    <dgm:cxn modelId="{64578BE0-82F8-4FD8-A891-C936B16CEDF4}" srcId="{748E2758-E16F-4FE8-8C41-2C3901114025}" destId="{7CFBF435-24D7-448C-8F3C-8B96FC745BD9}" srcOrd="1" destOrd="0" parTransId="{AC425A5B-A1F2-4C15-A657-AC368F8C50D1}" sibTransId="{03685962-CDA2-435E-B6F3-3030C0D5F294}"/>
    <dgm:cxn modelId="{79949EF3-3438-45B9-B0B8-AA70CB695647}" srcId="{DADE840C-8351-4954-96A5-ACCE6137917A}" destId="{4183AF49-7403-4B4F-918B-12444DABE966}" srcOrd="0" destOrd="0" parTransId="{F0823167-A468-422F-81A3-B8F507C2DAA6}" sibTransId="{FCB5D6B8-1E3E-4A66-BFF5-396CEE127E12}"/>
    <dgm:cxn modelId="{C12C52AE-59E5-4FB3-902E-3234226BC2CF}" type="presParOf" srcId="{341E8E30-29B2-41C7-A14D-EE959BEE537E}" destId="{AE209948-294E-4F0F-B71C-71380574ADC7}" srcOrd="0" destOrd="0" presId="urn:microsoft.com/office/officeart/2005/8/layout/chevron2"/>
    <dgm:cxn modelId="{7B5910EE-5B31-4FC8-BE3F-3772E0D4CED4}" type="presParOf" srcId="{AE209948-294E-4F0F-B71C-71380574ADC7}" destId="{A88978AE-6724-47A9-9C34-4F563B6FDCCD}" srcOrd="0" destOrd="0" presId="urn:microsoft.com/office/officeart/2005/8/layout/chevron2"/>
    <dgm:cxn modelId="{FD6365C3-637B-478D-9493-3A6A977C4E8A}" type="presParOf" srcId="{AE209948-294E-4F0F-B71C-71380574ADC7}" destId="{8104B40E-DD35-498C-8A9A-C2C9764D2602}" srcOrd="1" destOrd="0" presId="urn:microsoft.com/office/officeart/2005/8/layout/chevron2"/>
    <dgm:cxn modelId="{A2DA13AC-0536-433A-A497-1B03A842261B}" type="presParOf" srcId="{341E8E30-29B2-41C7-A14D-EE959BEE537E}" destId="{63488B16-ED60-4094-B042-1FFD2AD94236}" srcOrd="1" destOrd="0" presId="urn:microsoft.com/office/officeart/2005/8/layout/chevron2"/>
    <dgm:cxn modelId="{ED77DF87-895C-493A-B5E8-A07F7B79EFEA}" type="presParOf" srcId="{341E8E30-29B2-41C7-A14D-EE959BEE537E}" destId="{0265171D-913A-422C-95E4-7F3146CF73BC}" srcOrd="2" destOrd="0" presId="urn:microsoft.com/office/officeart/2005/8/layout/chevron2"/>
    <dgm:cxn modelId="{3648FB13-2A9E-400C-9A35-3E413FD6BB36}" type="presParOf" srcId="{0265171D-913A-422C-95E4-7F3146CF73BC}" destId="{3DBDE5A1-B94D-4A7C-B458-E94E4860E26F}" srcOrd="0" destOrd="0" presId="urn:microsoft.com/office/officeart/2005/8/layout/chevron2"/>
    <dgm:cxn modelId="{C0A63E19-67D5-43FE-8479-CDEFD9C1D743}" type="presParOf" srcId="{0265171D-913A-422C-95E4-7F3146CF73BC}" destId="{FDBAF297-E443-45AF-A834-4EC85C6E03F4}" srcOrd="1" destOrd="0" presId="urn:microsoft.com/office/officeart/2005/8/layout/chevron2"/>
    <dgm:cxn modelId="{0A9BB563-226C-4943-B2DD-62645B0753E1}" type="presParOf" srcId="{341E8E30-29B2-41C7-A14D-EE959BEE537E}" destId="{76F1511A-7F34-4B77-B7CB-4F0D7555A71F}" srcOrd="3" destOrd="0" presId="urn:microsoft.com/office/officeart/2005/8/layout/chevron2"/>
    <dgm:cxn modelId="{9E3B0500-A143-49A0-A9CA-8D03F9F896A8}" type="presParOf" srcId="{341E8E30-29B2-41C7-A14D-EE959BEE537E}" destId="{948B40F7-52E8-4B40-BBE8-2C2AFD7C3286}" srcOrd="4" destOrd="0" presId="urn:microsoft.com/office/officeart/2005/8/layout/chevron2"/>
    <dgm:cxn modelId="{96FFDE04-58DC-4FF1-9467-08F1F0496FCE}" type="presParOf" srcId="{948B40F7-52E8-4B40-BBE8-2C2AFD7C3286}" destId="{73B883D1-81B1-4309-8C53-D1B4025A9598}" srcOrd="0" destOrd="0" presId="urn:microsoft.com/office/officeart/2005/8/layout/chevron2"/>
    <dgm:cxn modelId="{BCAACEAC-91A1-444C-A828-FB466BEFBA58}" type="presParOf" srcId="{948B40F7-52E8-4B40-BBE8-2C2AFD7C3286}" destId="{691CA4E8-3F1E-4169-B1CF-7B8DCA5690FB}" srcOrd="1" destOrd="0" presId="urn:microsoft.com/office/officeart/2005/8/layout/chevron2"/>
    <dgm:cxn modelId="{CD815AAE-5F14-4FAF-B2C5-F7E4BB68CE98}" type="presParOf" srcId="{341E8E30-29B2-41C7-A14D-EE959BEE537E}" destId="{91F8728A-EABC-45E1-B29A-BC637C7E925B}" srcOrd="5" destOrd="0" presId="urn:microsoft.com/office/officeart/2005/8/layout/chevron2"/>
    <dgm:cxn modelId="{9C4BDB9A-1F85-4C70-B31F-E792A16C5122}" type="presParOf" srcId="{341E8E30-29B2-41C7-A14D-EE959BEE537E}" destId="{68BCBDAE-CBEC-4DBE-8CF7-92F955872A81}" srcOrd="6" destOrd="0" presId="urn:microsoft.com/office/officeart/2005/8/layout/chevron2"/>
    <dgm:cxn modelId="{98823515-A886-4923-B7C3-25660DFAD762}" type="presParOf" srcId="{68BCBDAE-CBEC-4DBE-8CF7-92F955872A81}" destId="{7CB50AAA-794B-40CB-8052-F43D3F576F68}" srcOrd="0" destOrd="0" presId="urn:microsoft.com/office/officeart/2005/8/layout/chevron2"/>
    <dgm:cxn modelId="{B198E7C0-C8FB-45AE-B221-2F4AB2F9079D}" type="presParOf" srcId="{68BCBDAE-CBEC-4DBE-8CF7-92F955872A81}" destId="{A3A4F7B7-435B-42D4-8CD3-A60F5E5166B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8978AE-6724-47A9-9C34-4F563B6FDCCD}">
      <dsp:nvSpPr>
        <dsp:cNvPr id="0" name=""/>
        <dsp:cNvSpPr/>
      </dsp:nvSpPr>
      <dsp:spPr>
        <a:xfrm rot="5400000">
          <a:off x="-203325" y="206928"/>
          <a:ext cx="1355505" cy="9488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Classe entière</a:t>
          </a:r>
        </a:p>
      </dsp:txBody>
      <dsp:txXfrm rot="-5400000">
        <a:off x="2" y="478029"/>
        <a:ext cx="948853" cy="406652"/>
      </dsp:txXfrm>
    </dsp:sp>
    <dsp:sp modelId="{8104B40E-DD35-498C-8A9A-C2C9764D2602}">
      <dsp:nvSpPr>
        <dsp:cNvPr id="0" name=""/>
        <dsp:cNvSpPr/>
      </dsp:nvSpPr>
      <dsp:spPr>
        <a:xfrm rot="5400000">
          <a:off x="5712311" y="-4751194"/>
          <a:ext cx="881078" cy="104079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Séance découverte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Présentation de structure dans le sport et discussion sur le dimensionnement (exemple : plongeoir)</a:t>
          </a:r>
        </a:p>
      </dsp:txBody>
      <dsp:txXfrm rot="-5400000">
        <a:off x="948854" y="55274"/>
        <a:ext cx="10364983" cy="795056"/>
      </dsp:txXfrm>
    </dsp:sp>
    <dsp:sp modelId="{3DBDE5A1-B94D-4A7C-B458-E94E4860E26F}">
      <dsp:nvSpPr>
        <dsp:cNvPr id="0" name=""/>
        <dsp:cNvSpPr/>
      </dsp:nvSpPr>
      <dsp:spPr>
        <a:xfrm rot="5400000">
          <a:off x="-203325" y="1417005"/>
          <a:ext cx="1355505" cy="9488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4h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Demi-groupe</a:t>
          </a:r>
        </a:p>
      </dsp:txBody>
      <dsp:txXfrm rot="-5400000">
        <a:off x="2" y="1688106"/>
        <a:ext cx="948853" cy="406652"/>
      </dsp:txXfrm>
    </dsp:sp>
    <dsp:sp modelId="{FDBAF297-E443-45AF-A834-4EC85C6E03F4}">
      <dsp:nvSpPr>
        <dsp:cNvPr id="0" name=""/>
        <dsp:cNvSpPr/>
      </dsp:nvSpPr>
      <dsp:spPr>
        <a:xfrm rot="5400000">
          <a:off x="5712311" y="-3587136"/>
          <a:ext cx="881078" cy="104079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Séance à caractère expérimentale : RDM le Mans, prise en main ; découverte des paramètres influents sur la </a:t>
          </a:r>
          <a:r>
            <a:rPr lang="fr-FR" sz="1700" kern="1200" dirty="0" err="1"/>
            <a:t>fleche</a:t>
          </a:r>
          <a:r>
            <a:rPr lang="fr-FR" sz="1700" kern="1200" dirty="0"/>
            <a:t> (2h) ;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Dimensionnement « barre de squat »</a:t>
          </a:r>
        </a:p>
      </dsp:txBody>
      <dsp:txXfrm rot="-5400000">
        <a:off x="948854" y="1219332"/>
        <a:ext cx="10364983" cy="795056"/>
      </dsp:txXfrm>
    </dsp:sp>
    <dsp:sp modelId="{73B883D1-81B1-4309-8C53-D1B4025A9598}">
      <dsp:nvSpPr>
        <dsp:cNvPr id="0" name=""/>
        <dsp:cNvSpPr/>
      </dsp:nvSpPr>
      <dsp:spPr>
        <a:xfrm rot="5400000">
          <a:off x="-203325" y="2627081"/>
          <a:ext cx="1355505" cy="9488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Classe entière</a:t>
          </a:r>
        </a:p>
      </dsp:txBody>
      <dsp:txXfrm rot="-5400000">
        <a:off x="2" y="2898182"/>
        <a:ext cx="948853" cy="406652"/>
      </dsp:txXfrm>
    </dsp:sp>
    <dsp:sp modelId="{691CA4E8-3F1E-4169-B1CF-7B8DCA5690FB}">
      <dsp:nvSpPr>
        <dsp:cNvPr id="0" name=""/>
        <dsp:cNvSpPr/>
      </dsp:nvSpPr>
      <dsp:spPr>
        <a:xfrm rot="5400000">
          <a:off x="5712311" y="-2339701"/>
          <a:ext cx="881078" cy="104079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Séance scientifique (Module de Young / limite d’élasticité / plastification, …)</a:t>
          </a:r>
        </a:p>
      </dsp:txBody>
      <dsp:txXfrm rot="-5400000">
        <a:off x="948854" y="2466767"/>
        <a:ext cx="10364983" cy="795056"/>
      </dsp:txXfrm>
    </dsp:sp>
    <dsp:sp modelId="{7CB50AAA-794B-40CB-8052-F43D3F576F68}">
      <dsp:nvSpPr>
        <dsp:cNvPr id="0" name=""/>
        <dsp:cNvSpPr/>
      </dsp:nvSpPr>
      <dsp:spPr>
        <a:xfrm rot="5400000">
          <a:off x="-203325" y="3837158"/>
          <a:ext cx="1355505" cy="9488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4h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Demi-groupe</a:t>
          </a:r>
        </a:p>
      </dsp:txBody>
      <dsp:txXfrm rot="-5400000">
        <a:off x="2" y="4108259"/>
        <a:ext cx="948853" cy="406652"/>
      </dsp:txXfrm>
    </dsp:sp>
    <dsp:sp modelId="{A3A4F7B7-435B-42D4-8CD3-A60F5E5166B6}">
      <dsp:nvSpPr>
        <dsp:cNvPr id="0" name=""/>
        <dsp:cNvSpPr/>
      </dsp:nvSpPr>
      <dsp:spPr>
        <a:xfrm rot="5400000">
          <a:off x="5712311" y="-1129624"/>
          <a:ext cx="881078" cy="104079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Séance à caractère expérimentale tournante : Validation expérimentale avec BDE 100</a:t>
          </a:r>
        </a:p>
      </dsp:txBody>
      <dsp:txXfrm rot="-5400000">
        <a:off x="948854" y="3676844"/>
        <a:ext cx="10364983" cy="795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70DDC-6FE1-4F94-AE55-B6C451D99F2A}" type="datetimeFigureOut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2A4B7-87CB-49AB-ACC5-0CB61FDA4D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943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1A116-FE10-D19A-8E9A-CA0555916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ACA400-F6D8-0E9E-0F61-2DCA95EAB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C7502B-BAB5-D5CB-765E-2503BECE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AAAB-A060-497E-BE3C-A267C4CACB19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7796EA-5CCC-CBBF-6A2B-E8A6DAA3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FD34C9-EE88-27D1-C0E3-AD0AC0DF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028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01777D-F5FF-82DC-9BA8-CB9FB83B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06CB71-04C6-0321-DA7C-BA8F03482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43A1B8-0F41-3A57-1E94-25BBE559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C502-05FE-44FC-A66D-2DDD3DCB22F8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EB980E-5E97-6EB7-295F-01D8E7F2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ABC3B2-B18F-FF4B-E124-04BA2B082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67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B11347-4770-673E-DA3B-A8A6E5C6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E34259-59BD-986E-25C6-418392385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6798A8-D4CB-AC00-984A-997F1F53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FD656-C4C7-4F1F-8CE7-CA04E261DC1C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46F74A-A057-270D-DA85-781B4848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8DF52D-C256-3336-1A5F-6C201CD9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17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A130BA-7C46-1B34-04E5-F349B7BC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425683-E448-6A4C-A6B7-5B54163D2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90D705-5563-BEED-E0F3-6D4E03477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F6AC6A-FA74-EC12-ED93-7BC8EC73F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7F91-0949-4E1A-8FA0-24DB5AD05149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E70FEC-2FBC-3F61-52E0-8F56511E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2B1572-6827-CA20-D967-4BD84B06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73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A1CF1B-6AE8-FF3E-425E-B591A96D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5D5815-3431-B4CA-0B20-23A654AA7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41C5BA-C87D-386D-F1AD-311344398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8A81F7-416D-030F-87F1-551005385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18DE50B-AF87-7AFF-56F5-5F7CDEFD0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8157BCE-BAD4-6BC9-939D-19542321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8DD43-31B6-430A-990C-8FBC9D0882FD}" type="datetime1">
              <a:rPr lang="fr-FR" smtClean="0"/>
              <a:t>07/06/2026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571AC9B-BAE6-BF9C-ADC2-A7F8CAA94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65B8F06-3D7B-BCE3-53BF-781A6902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47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1CC818-2198-0D25-A887-7D9EE838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75FCF2-5430-5695-4D28-31E578C2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49EF-1D40-4E1E-8E7E-87C6D6CEA00F}" type="datetime1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E5AC87-40F3-9B91-E0FD-4F16294A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86083E-7444-957F-87D7-BBACEB3C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5EFBC90-424C-0151-4CF7-71B63F43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844F-0770-4457-BF95-0D68EEA6390D}" type="datetime1">
              <a:rPr lang="fr-FR" smtClean="0"/>
              <a:t>07/06/2026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DCC4B4-0136-282B-AF50-6EF305C4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AE7CF3-001C-0EA7-5E58-0CE177E0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80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A241D7-9986-E02B-5F7E-9DE8663D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793B1-42F0-D61E-DDC3-42C6F1FAF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EEA3F3A-EF93-A8AC-E872-BE8E96AC8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5DFD48-E145-080D-884D-04600703C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73BD-833A-4FFA-B4A9-34FEDA861992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53261-44A1-2732-D70B-3F989A7F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FDE935-9E2B-2C27-92B1-8A6133C4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049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2C7D1-5E36-4C16-745E-BCD35469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D8A2EDE-A1F6-4047-2009-6BE5ECAE6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3EFEF4-5DD5-E9AD-6B2C-0B8B1E082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701125-15A0-8E66-DA97-37C446F8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F12C-EB77-444F-AEA3-5D6B8ED5EB5B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190EE5-2727-208B-260A-63712C61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A29DC3-4523-7606-E5C9-1E378D4B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05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3D1AB3-3390-3177-F688-618FEC14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973F57-4461-A3CF-8B96-E62FE78E3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9984E0-78D5-2469-22CF-F1E8E6CC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169-8030-4E78-A1C3-BAD38CE2FEAA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E7B38E-9D81-89A7-27C5-422D1263F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28BE8D-DFD7-8A48-BD03-5A7B45AA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63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A25E3E-1C61-DC34-5880-B22E511D9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D68DF0-D884-F22A-9AD2-3E8AA3D52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1B660C-9D70-565E-7007-BB69AC78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E798-F8D5-42BF-8E5E-FB3F6A551F9B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F68EA9-38B3-3A5D-A24A-95FC59A22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B727C-042E-8402-3BA0-8B581DBE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89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E21EF32-984E-8A3E-E0DE-97E9EE592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B5491E-571D-177E-4BB9-12F1776E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E8040B-960C-8AB4-5EE8-36382716D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CF328-A12D-4B92-8D3E-19A4A36E4B51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CFAA8A-07EE-6CAE-FF80-B702D20AA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8A2F1A-83E9-8E38-7336-85837D23E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5052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9776A9-488B-8C9E-C47B-D4AFD7CB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330F9B-89EC-F952-4617-729EEA195851}"/>
              </a:ext>
            </a:extLst>
          </p:cNvPr>
          <p:cNvSpPr txBox="1"/>
          <p:nvPr/>
        </p:nvSpPr>
        <p:spPr>
          <a:xfrm>
            <a:off x="253318" y="6075144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Jolan THIERRY</a:t>
            </a:r>
          </a:p>
          <a:p>
            <a:r>
              <a:rPr lang="fr-FR" dirty="0"/>
              <a:t>Candidat n° : 25112411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EDFCDA3-A780-C72F-B479-B1639727FA4B}"/>
              </a:ext>
            </a:extLst>
          </p:cNvPr>
          <p:cNvSpPr txBox="1"/>
          <p:nvPr/>
        </p:nvSpPr>
        <p:spPr>
          <a:xfrm>
            <a:off x="1459992" y="989418"/>
            <a:ext cx="9015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Séquence : Comment prédire le comportement mécanique de structure dans un usage sportif ?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0A8DFED-99F9-0FFB-E230-928CFF251BE0}"/>
              </a:ext>
            </a:extLst>
          </p:cNvPr>
          <p:cNvSpPr txBox="1"/>
          <p:nvPr/>
        </p:nvSpPr>
        <p:spPr>
          <a:xfrm>
            <a:off x="5055030" y="1904785"/>
            <a:ext cx="658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Pour STI2D ITEC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036F895-55D5-68F6-DF71-9155B0AE71F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606" y="2775960"/>
            <a:ext cx="3958755" cy="394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5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86B4A-36BD-8DB7-DC68-98542670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Maquette : Généralités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29057A-C66F-F074-B448-11458799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</a:t>
            </a:fld>
            <a:endParaRPr lang="fr-FR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B1F11CC2-3216-4D5F-0690-2E8DF3D09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4284" y="351521"/>
            <a:ext cx="5553500" cy="553492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CEFE849-3C45-C846-EE44-583B2A9C301B}"/>
              </a:ext>
            </a:extLst>
          </p:cNvPr>
          <p:cNvSpPr txBox="1"/>
          <p:nvPr/>
        </p:nvSpPr>
        <p:spPr>
          <a:xfrm>
            <a:off x="803148" y="2929907"/>
            <a:ext cx="5292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BED 100 est un système électromécanique permettant de réaliser des essais mécaniques principalement non destructifs, mettant en œuvre les principes de la résistance des matériaux.</a:t>
            </a:r>
          </a:p>
        </p:txBody>
      </p:sp>
    </p:spTree>
    <p:extLst>
      <p:ext uri="{BB962C8B-B14F-4D97-AF65-F5344CB8AC3E}">
        <p14:creationId xmlns:p14="http://schemas.microsoft.com/office/powerpoint/2010/main" val="426342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70D46-6578-DB81-3098-34BF0674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Maquette : Généralités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DF8419-D575-7D0F-7680-7073FC75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</a:t>
            </a:fld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101FBF6-C1C0-F854-CFEB-BE9F2400864D}"/>
              </a:ext>
            </a:extLst>
          </p:cNvPr>
          <p:cNvSpPr/>
          <p:nvPr/>
        </p:nvSpPr>
        <p:spPr>
          <a:xfrm>
            <a:off x="5751576" y="1635824"/>
            <a:ext cx="4315968" cy="45180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EB003EF-D213-6F61-221A-20CBCF1BAC75}"/>
              </a:ext>
            </a:extLst>
          </p:cNvPr>
          <p:cNvSpPr/>
          <p:nvPr/>
        </p:nvSpPr>
        <p:spPr>
          <a:xfrm>
            <a:off x="6656832" y="2487168"/>
            <a:ext cx="2798064" cy="104241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E8AF2B8-7171-EABE-9C49-BCD071AF7182}"/>
              </a:ext>
            </a:extLst>
          </p:cNvPr>
          <p:cNvSpPr txBox="1"/>
          <p:nvPr/>
        </p:nvSpPr>
        <p:spPr>
          <a:xfrm>
            <a:off x="6964680" y="2546710"/>
            <a:ext cx="2231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Configurer et réaliser un essai expérimental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E423F76-050C-1B08-FA0C-3E6872CE525E}"/>
              </a:ext>
            </a:extLst>
          </p:cNvPr>
          <p:cNvSpPr/>
          <p:nvPr/>
        </p:nvSpPr>
        <p:spPr>
          <a:xfrm>
            <a:off x="6681216" y="4184904"/>
            <a:ext cx="2798064" cy="104241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75B6A64-BC8C-DDF3-527E-D59B0C2FEF48}"/>
              </a:ext>
            </a:extLst>
          </p:cNvPr>
          <p:cNvSpPr txBox="1"/>
          <p:nvPr/>
        </p:nvSpPr>
        <p:spPr>
          <a:xfrm>
            <a:off x="7307580" y="4382946"/>
            <a:ext cx="1545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Relever des mesures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5ECA9B0-1D6F-299A-B21D-D72755E2F61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0659" y="2258529"/>
            <a:ext cx="1800361" cy="2542110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D9CA758-29D9-30A7-3F3C-E3EB83FB3DC5}"/>
              </a:ext>
            </a:extLst>
          </p:cNvPr>
          <p:cNvSpPr txBox="1"/>
          <p:nvPr/>
        </p:nvSpPr>
        <p:spPr>
          <a:xfrm>
            <a:off x="2838450" y="4800639"/>
            <a:ext cx="147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Apprenant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7103396-6821-F8F9-D2CA-C965E6CC908C}"/>
              </a:ext>
            </a:extLst>
          </p:cNvPr>
          <p:cNvCxnSpPr/>
          <p:nvPr/>
        </p:nvCxnSpPr>
        <p:spPr>
          <a:xfrm flipV="1">
            <a:off x="4242816" y="3008375"/>
            <a:ext cx="2304288" cy="594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A85CF41A-FADA-BE7B-EED2-1CBCC339217E}"/>
              </a:ext>
            </a:extLst>
          </p:cNvPr>
          <p:cNvCxnSpPr>
            <a:cxnSpLocks/>
          </p:cNvCxnSpPr>
          <p:nvPr/>
        </p:nvCxnSpPr>
        <p:spPr>
          <a:xfrm>
            <a:off x="4242816" y="3602736"/>
            <a:ext cx="2304288" cy="1042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25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AB5E-3FFA-B63E-8197-6C990C34F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15F7D0-17B4-014C-FB6C-4CA0E7330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Maquette : Généralités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80A71F-03C9-A412-7007-4FE25D6A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4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38AFA6A-3145-3513-D169-6911C3C85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40" y="2138172"/>
            <a:ext cx="5162550" cy="20193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696B0C3-F8B1-AEE5-0E19-454AEAAE8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8885" y="1938337"/>
            <a:ext cx="5324475" cy="298132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7A71279-F2DA-35F1-E532-B0D308C879A1}"/>
              </a:ext>
            </a:extLst>
          </p:cNvPr>
          <p:cNvSpPr txBox="1"/>
          <p:nvPr/>
        </p:nvSpPr>
        <p:spPr>
          <a:xfrm>
            <a:off x="7872984" y="4915455"/>
            <a:ext cx="302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Interface logiciel </a:t>
            </a:r>
            <a:r>
              <a:rPr lang="fr-FR" dirty="0" err="1"/>
              <a:t>QuantX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094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A77E4-9397-8ED7-8204-C4A43D9B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FDE917-2D07-F9F9-309B-EA0BBF79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Maquette : Architecture matériel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9F5F68-6037-DFE6-CF0B-91CF5009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5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7A531B-FDCB-2D5E-2A77-F175A4002F49}"/>
              </a:ext>
            </a:extLst>
          </p:cNvPr>
          <p:cNvSpPr/>
          <p:nvPr/>
        </p:nvSpPr>
        <p:spPr>
          <a:xfrm>
            <a:off x="2843784" y="2350009"/>
            <a:ext cx="1545336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79209B-F9FF-B945-95D3-477F6070F843}"/>
              </a:ext>
            </a:extLst>
          </p:cNvPr>
          <p:cNvSpPr txBox="1"/>
          <p:nvPr/>
        </p:nvSpPr>
        <p:spPr>
          <a:xfrm>
            <a:off x="2807208" y="2566339"/>
            <a:ext cx="1673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PC et interface de commande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4DF336-0F09-97D8-6D78-830353A70838}"/>
              </a:ext>
            </a:extLst>
          </p:cNvPr>
          <p:cNvSpPr/>
          <p:nvPr/>
        </p:nvSpPr>
        <p:spPr>
          <a:xfrm>
            <a:off x="5401056" y="2350009"/>
            <a:ext cx="1545336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A8DB8D-4B58-222D-529F-8F99EFED289D}"/>
              </a:ext>
            </a:extLst>
          </p:cNvPr>
          <p:cNvSpPr txBox="1"/>
          <p:nvPr/>
        </p:nvSpPr>
        <p:spPr>
          <a:xfrm>
            <a:off x="5611368" y="2704839"/>
            <a:ext cx="111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QuantX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9D2327-4110-F268-8431-315F64F24825}"/>
              </a:ext>
            </a:extLst>
          </p:cNvPr>
          <p:cNvSpPr/>
          <p:nvPr/>
        </p:nvSpPr>
        <p:spPr>
          <a:xfrm>
            <a:off x="1060704" y="4859775"/>
            <a:ext cx="1545336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0172C1A-F3E1-B6FC-DE1C-53BCFA9B296F}"/>
              </a:ext>
            </a:extLst>
          </p:cNvPr>
          <p:cNvSpPr txBox="1"/>
          <p:nvPr/>
        </p:nvSpPr>
        <p:spPr>
          <a:xfrm>
            <a:off x="1271016" y="5245084"/>
            <a:ext cx="111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Capteurs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C35B41-7BF1-174C-EEFE-887C03577939}"/>
              </a:ext>
            </a:extLst>
          </p:cNvPr>
          <p:cNvSpPr/>
          <p:nvPr/>
        </p:nvSpPr>
        <p:spPr>
          <a:xfrm>
            <a:off x="5949696" y="4859775"/>
            <a:ext cx="1545336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08EAF6E-292F-1EC3-472B-89733DF1B9A1}"/>
              </a:ext>
            </a:extLst>
          </p:cNvPr>
          <p:cNvSpPr txBox="1"/>
          <p:nvPr/>
        </p:nvSpPr>
        <p:spPr>
          <a:xfrm>
            <a:off x="6160008" y="5214605"/>
            <a:ext cx="111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Moteur/</a:t>
            </a:r>
          </a:p>
          <a:p>
            <a:pPr algn="ctr"/>
            <a:r>
              <a:rPr lang="fr-FR" dirty="0"/>
              <a:t>Vérin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7DBED0-8522-47BD-43A5-805B9880949B}"/>
              </a:ext>
            </a:extLst>
          </p:cNvPr>
          <p:cNvSpPr/>
          <p:nvPr/>
        </p:nvSpPr>
        <p:spPr>
          <a:xfrm>
            <a:off x="8996172" y="4859775"/>
            <a:ext cx="1545336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D96BD7F-B543-34AA-35AC-2D40707A409D}"/>
              </a:ext>
            </a:extLst>
          </p:cNvPr>
          <p:cNvSpPr txBox="1"/>
          <p:nvPr/>
        </p:nvSpPr>
        <p:spPr>
          <a:xfrm>
            <a:off x="9049512" y="5076105"/>
            <a:ext cx="1545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Objet soumis à la charge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245A38-A122-44B8-DE1D-A1C60084FCBB}"/>
              </a:ext>
            </a:extLst>
          </p:cNvPr>
          <p:cNvSpPr/>
          <p:nvPr/>
        </p:nvSpPr>
        <p:spPr>
          <a:xfrm>
            <a:off x="8452104" y="1447952"/>
            <a:ext cx="1545336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12D8074-3471-2B5E-FECF-B45A8F79F4ED}"/>
              </a:ext>
            </a:extLst>
          </p:cNvPr>
          <p:cNvSpPr txBox="1"/>
          <p:nvPr/>
        </p:nvSpPr>
        <p:spPr>
          <a:xfrm>
            <a:off x="8662416" y="1802782"/>
            <a:ext cx="124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Utilisateur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691B6F-223C-856A-A2CE-F1C312A0A873}"/>
              </a:ext>
            </a:extLst>
          </p:cNvPr>
          <p:cNvSpPr/>
          <p:nvPr/>
        </p:nvSpPr>
        <p:spPr>
          <a:xfrm>
            <a:off x="377952" y="2350009"/>
            <a:ext cx="1545336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3545BE2-7508-B2D1-4D89-6223468705C6}"/>
              </a:ext>
            </a:extLst>
          </p:cNvPr>
          <p:cNvSpPr txBox="1"/>
          <p:nvPr/>
        </p:nvSpPr>
        <p:spPr>
          <a:xfrm>
            <a:off x="592836" y="2421259"/>
            <a:ext cx="111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fr-FR" dirty="0"/>
            </a:br>
            <a:r>
              <a:rPr lang="fr-FR" dirty="0"/>
              <a:t>Réseau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0A71D85-8345-7ED5-A175-4163AD22A600}"/>
              </a:ext>
            </a:extLst>
          </p:cNvPr>
          <p:cNvCxnSpPr>
            <a:stCxn id="27" idx="3"/>
            <a:endCxn id="5" idx="1"/>
          </p:cNvCxnSpPr>
          <p:nvPr/>
        </p:nvCxnSpPr>
        <p:spPr>
          <a:xfrm>
            <a:off x="1923288" y="2889505"/>
            <a:ext cx="883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462B2BAD-8D52-A946-0DA9-613ACE459A78}"/>
              </a:ext>
            </a:extLst>
          </p:cNvPr>
          <p:cNvCxnSpPr>
            <a:stCxn id="27" idx="2"/>
            <a:endCxn id="8" idx="0"/>
          </p:cNvCxnSpPr>
          <p:nvPr/>
        </p:nvCxnSpPr>
        <p:spPr>
          <a:xfrm rot="16200000" flipH="1">
            <a:off x="776609" y="3803012"/>
            <a:ext cx="1430774" cy="6827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3D6DC7B0-9C96-D775-A46C-17688B64B504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389120" y="2889504"/>
            <a:ext cx="1011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 : en angle 39">
            <a:extLst>
              <a:ext uri="{FF2B5EF4-FFF2-40B4-BE49-F238E27FC236}">
                <a16:creationId xmlns:a16="http://schemas.microsoft.com/office/drawing/2014/main" id="{14351E51-905A-9FD4-844B-00F0D85341DE}"/>
              </a:ext>
            </a:extLst>
          </p:cNvPr>
          <p:cNvCxnSpPr>
            <a:stCxn id="24" idx="1"/>
            <a:endCxn id="3" idx="0"/>
          </p:cNvCxnSpPr>
          <p:nvPr/>
        </p:nvCxnSpPr>
        <p:spPr>
          <a:xfrm rot="10800000" flipV="1">
            <a:off x="3616452" y="1987447"/>
            <a:ext cx="4835652" cy="36256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 : en angle 41">
            <a:extLst>
              <a:ext uri="{FF2B5EF4-FFF2-40B4-BE49-F238E27FC236}">
                <a16:creationId xmlns:a16="http://schemas.microsoft.com/office/drawing/2014/main" id="{7B975FA8-2014-391B-4FEB-3D13B5BA9950}"/>
              </a:ext>
            </a:extLst>
          </p:cNvPr>
          <p:cNvCxnSpPr>
            <a:stCxn id="6" idx="3"/>
            <a:endCxn id="24" idx="2"/>
          </p:cNvCxnSpPr>
          <p:nvPr/>
        </p:nvCxnSpPr>
        <p:spPr>
          <a:xfrm flipV="1">
            <a:off x="6946392" y="2526944"/>
            <a:ext cx="2278380" cy="36256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FE08646A-5473-C245-8703-1993DA5D4D5D}"/>
              </a:ext>
            </a:extLst>
          </p:cNvPr>
          <p:cNvCxnSpPr>
            <a:stCxn id="8" idx="3"/>
            <a:endCxn id="3" idx="2"/>
          </p:cNvCxnSpPr>
          <p:nvPr/>
        </p:nvCxnSpPr>
        <p:spPr>
          <a:xfrm flipV="1">
            <a:off x="2606040" y="3429001"/>
            <a:ext cx="1010412" cy="19702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 : en angle 49">
            <a:extLst>
              <a:ext uri="{FF2B5EF4-FFF2-40B4-BE49-F238E27FC236}">
                <a16:creationId xmlns:a16="http://schemas.microsoft.com/office/drawing/2014/main" id="{27D54761-A2FD-87FB-ACBB-888059622ED2}"/>
              </a:ext>
            </a:extLst>
          </p:cNvPr>
          <p:cNvCxnSpPr>
            <a:stCxn id="5" idx="3"/>
            <a:endCxn id="17" idx="1"/>
          </p:cNvCxnSpPr>
          <p:nvPr/>
        </p:nvCxnSpPr>
        <p:spPr>
          <a:xfrm>
            <a:off x="4480560" y="2889505"/>
            <a:ext cx="1469136" cy="2509766"/>
          </a:xfrm>
          <a:prstGeom prst="bentConnector3">
            <a:avLst>
              <a:gd name="adj1" fmla="val 207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4CA09367-A597-C662-540B-1AE1CA0B4224}"/>
              </a:ext>
            </a:extLst>
          </p:cNvPr>
          <p:cNvCxnSpPr>
            <a:stCxn id="17" idx="3"/>
            <a:endCxn id="22" idx="1"/>
          </p:cNvCxnSpPr>
          <p:nvPr/>
        </p:nvCxnSpPr>
        <p:spPr>
          <a:xfrm>
            <a:off x="7495032" y="5399271"/>
            <a:ext cx="15011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253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7DDAF-C783-92BD-8ED7-532F6559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D4393-2741-7927-8924-58271D0A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Maquette : Architecture Matériel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F622E7-E36B-454C-0954-63D2F8D2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6</a:t>
            </a:fld>
            <a:endParaRPr lang="fr-FR"/>
          </a:p>
        </p:txBody>
      </p:sp>
      <p:pic>
        <p:nvPicPr>
          <p:cNvPr id="1026" name="Picture 2" descr="Diagramme de Chaîne d'énergie et chaîne d'information | Quizlet">
            <a:extLst>
              <a:ext uri="{FF2B5EF4-FFF2-40B4-BE49-F238E27FC236}">
                <a16:creationId xmlns:a16="http://schemas.microsoft.com/office/drawing/2014/main" id="{967932F2-E0AC-ACD8-A74C-8ABE83114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19200" y="1309372"/>
            <a:ext cx="9315450" cy="444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DD13210-2A21-5183-9085-67DE9C371A25}"/>
              </a:ext>
            </a:extLst>
          </p:cNvPr>
          <p:cNvSpPr txBox="1"/>
          <p:nvPr/>
        </p:nvSpPr>
        <p:spPr>
          <a:xfrm>
            <a:off x="2688336" y="2459736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Capteur, BP, IHM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1DB35F6-590F-61C5-3448-CDADA0DB1AEB}"/>
              </a:ext>
            </a:extLst>
          </p:cNvPr>
          <p:cNvSpPr txBox="1"/>
          <p:nvPr/>
        </p:nvSpPr>
        <p:spPr>
          <a:xfrm>
            <a:off x="4505325" y="272759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Ordinateur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A9F669C-B661-FFAD-5D55-31695BC5E5A0}"/>
              </a:ext>
            </a:extLst>
          </p:cNvPr>
          <p:cNvSpPr txBox="1"/>
          <p:nvPr/>
        </p:nvSpPr>
        <p:spPr>
          <a:xfrm>
            <a:off x="7118606" y="2745879"/>
            <a:ext cx="202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USB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A5381B1-669C-3842-5EBE-30803E306E47}"/>
              </a:ext>
            </a:extLst>
          </p:cNvPr>
          <p:cNvSpPr txBox="1"/>
          <p:nvPr/>
        </p:nvSpPr>
        <p:spPr>
          <a:xfrm>
            <a:off x="2340864" y="4828032"/>
            <a:ext cx="1216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Réseau 230 V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C015E7-DB45-4DDA-EDC9-4BB8A713A1E7}"/>
              </a:ext>
            </a:extLst>
          </p:cNvPr>
          <p:cNvSpPr txBox="1"/>
          <p:nvPr/>
        </p:nvSpPr>
        <p:spPr>
          <a:xfrm>
            <a:off x="3938016" y="4754880"/>
            <a:ext cx="1609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Câble/convertisseur/transfo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CF02EFA-3DFB-780F-B3C7-92C398554827}"/>
              </a:ext>
            </a:extLst>
          </p:cNvPr>
          <p:cNvSpPr txBox="1"/>
          <p:nvPr/>
        </p:nvSpPr>
        <p:spPr>
          <a:xfrm>
            <a:off x="5928360" y="4754880"/>
            <a:ext cx="117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Moteur élec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F3860DA-E40E-16EA-53D9-B37C1457F194}"/>
              </a:ext>
            </a:extLst>
          </p:cNvPr>
          <p:cNvSpPr txBox="1"/>
          <p:nvPr/>
        </p:nvSpPr>
        <p:spPr>
          <a:xfrm>
            <a:off x="7644384" y="4754880"/>
            <a:ext cx="1609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Vérin (roue/vis sans fin)</a:t>
            </a:r>
          </a:p>
        </p:txBody>
      </p:sp>
    </p:spTree>
    <p:extLst>
      <p:ext uri="{BB962C8B-B14F-4D97-AF65-F5344CB8AC3E}">
        <p14:creationId xmlns:p14="http://schemas.microsoft.com/office/powerpoint/2010/main" val="2258647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F0556-7170-8BDC-036B-8FB59625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3AFB8-08EA-7CAB-0375-961C0BBE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Maquette : Architecture Matériel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0F1C2D-F1D7-C02C-6758-1B86FE4F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7</a:t>
            </a:fld>
            <a:endParaRPr lang="fr-FR"/>
          </a:p>
        </p:txBody>
      </p:sp>
      <p:pic>
        <p:nvPicPr>
          <p:cNvPr id="3" name="Picture 2" descr="Capteur d'effort en S 5T - Traction-Compression - Instrumentys">
            <a:extLst>
              <a:ext uri="{FF2B5EF4-FFF2-40B4-BE49-F238E27FC236}">
                <a16:creationId xmlns:a16="http://schemas.microsoft.com/office/drawing/2014/main" id="{661B1FD9-6A66-2D16-57FD-962936631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6350" y="184785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2688E6D-B36B-9857-68D6-EF22DC6031FC}"/>
              </a:ext>
            </a:extLst>
          </p:cNvPr>
          <p:cNvSpPr txBox="1"/>
          <p:nvPr/>
        </p:nvSpPr>
        <p:spPr>
          <a:xfrm>
            <a:off x="2400300" y="5288518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Capteur d’effort</a:t>
            </a:r>
          </a:p>
        </p:txBody>
      </p:sp>
      <p:pic>
        <p:nvPicPr>
          <p:cNvPr id="1028" name="Picture 4" descr="PC : Capteur de déplacement linéaire de 0 à 50, ..., 750 mm">
            <a:extLst>
              <a:ext uri="{FF2B5EF4-FFF2-40B4-BE49-F238E27FC236}">
                <a16:creationId xmlns:a16="http://schemas.microsoft.com/office/drawing/2014/main" id="{8F5ACD9C-74BC-69A4-369B-B26618F42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7875" y="1533525"/>
            <a:ext cx="4533900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A2118AB3-5DEB-0E92-995E-3EF18CB02F6F}"/>
              </a:ext>
            </a:extLst>
          </p:cNvPr>
          <p:cNvSpPr txBox="1"/>
          <p:nvPr/>
        </p:nvSpPr>
        <p:spPr>
          <a:xfrm>
            <a:off x="6972300" y="5288518"/>
            <a:ext cx="3648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Capteur de déplacement</a:t>
            </a:r>
          </a:p>
        </p:txBody>
      </p:sp>
    </p:spTree>
    <p:extLst>
      <p:ext uri="{BB962C8B-B14F-4D97-AF65-F5344CB8AC3E}">
        <p14:creationId xmlns:p14="http://schemas.microsoft.com/office/powerpoint/2010/main" val="179472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4940E6-2A2C-890F-4815-08EBB32D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Logiciel 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942867-CBF4-73ED-E684-84FB8F50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6685783-A9C4-5414-23AC-21719F34420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66813" y="1409739"/>
            <a:ext cx="9529762" cy="522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30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20DA9-813B-12B5-AAF8-172B283B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Potentialité didactique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0B0FB4-7F61-F415-E5E9-CB36C2863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6795C3-D44E-2E7B-3038-9FDB6C156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CCF7710-FF7E-5DDA-01D6-AF6ABB1BD186}"/>
              </a:ext>
            </a:extLst>
          </p:cNvPr>
          <p:cNvSpPr txBox="1"/>
          <p:nvPr/>
        </p:nvSpPr>
        <p:spPr>
          <a:xfrm>
            <a:off x="950976" y="2002536"/>
            <a:ext cx="76596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Manipulation pour RDM poutre (Flexion, compression)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Conversion de puissance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Traction sur fil avec mesure de force et déplacement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0173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92B1-EDCE-6553-7C6D-71F220CA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41977-CD2F-B7CB-2812-AEEE5A9D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Prise en main du système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469FBF-97B5-F5EC-C061-CC37F264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10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CDDE519-1159-FD50-4A56-BEFBDC65B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078" y="2931223"/>
            <a:ext cx="7035703" cy="175507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5B8EA6A-0DC2-FFA1-1FE6-8BE7EE24D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0062" y="3165823"/>
            <a:ext cx="3010364" cy="175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66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B5F7-EF30-86D8-EAD0-A86675FCA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E930A5-FB70-636A-58F7-7A943E07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Prise en main du système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958751-D248-23BA-049D-72BDA953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8D7F3C6-E27A-BD43-4219-072BD308165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3381" y="1690688"/>
            <a:ext cx="8925470" cy="440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26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C298-A352-ADAF-F356-E191BBAF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6D6BC-DF4F-499B-4670-9788868D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Prise en main du système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E51331-1E94-ADF4-C099-C407AC95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558CB5C-A1FA-B443-8D4F-7EE439DB5A4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5404" y="1443038"/>
            <a:ext cx="9039426" cy="46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35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4EDE-16C2-CD3D-698A-30C1CB2B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23CA26-FABA-C69B-7404-FCC5714B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Prise en main du système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AF9280-42A0-5937-573B-FC1D954F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13</a:t>
            </a:fld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6CF1CD2-7D0A-3068-7281-774A8EC41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884110"/>
              </p:ext>
            </p:extLst>
          </p:nvPr>
        </p:nvGraphicFramePr>
        <p:xfrm>
          <a:off x="1172464" y="2082165"/>
          <a:ext cx="8465312" cy="97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328">
                  <a:extLst>
                    <a:ext uri="{9D8B030D-6E8A-4147-A177-3AD203B41FA5}">
                      <a16:colId xmlns:a16="http://schemas.microsoft.com/office/drawing/2014/main" val="1680683346"/>
                    </a:ext>
                  </a:extLst>
                </a:gridCol>
                <a:gridCol w="2116328">
                  <a:extLst>
                    <a:ext uri="{9D8B030D-6E8A-4147-A177-3AD203B41FA5}">
                      <a16:colId xmlns:a16="http://schemas.microsoft.com/office/drawing/2014/main" val="704771087"/>
                    </a:ext>
                  </a:extLst>
                </a:gridCol>
                <a:gridCol w="2116328">
                  <a:extLst>
                    <a:ext uri="{9D8B030D-6E8A-4147-A177-3AD203B41FA5}">
                      <a16:colId xmlns:a16="http://schemas.microsoft.com/office/drawing/2014/main" val="3034725202"/>
                    </a:ext>
                  </a:extLst>
                </a:gridCol>
                <a:gridCol w="2116328">
                  <a:extLst>
                    <a:ext uri="{9D8B030D-6E8A-4147-A177-3AD203B41FA5}">
                      <a16:colId xmlns:a16="http://schemas.microsoft.com/office/drawing/2014/main" val="2025331718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RDM le Mans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Expérimental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Analytique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20206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r>
                        <a:rPr lang="fr-FR" dirty="0"/>
                        <a:t>Fleche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0,59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0,45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0,59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56658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D9B5D34D-6E53-CE59-F3B8-FB7574AF85AC}"/>
              </a:ext>
            </a:extLst>
          </p:cNvPr>
          <p:cNvSpPr txBox="1"/>
          <p:nvPr/>
        </p:nvSpPr>
        <p:spPr>
          <a:xfrm>
            <a:off x="1172464" y="3734901"/>
            <a:ext cx="5136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RDM le Mans et analytique même résultat, mais écart de 25% avec l’expérimental.</a:t>
            </a:r>
          </a:p>
        </p:txBody>
      </p:sp>
    </p:spTree>
    <p:extLst>
      <p:ext uri="{BB962C8B-B14F-4D97-AF65-F5344CB8AC3E}">
        <p14:creationId xmlns:p14="http://schemas.microsoft.com/office/powerpoint/2010/main" val="1261683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D016-6D48-AB97-DA99-DCF2CF764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C2FC0-7B93-69B9-E5FA-F067F309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Prise en main du système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3B8EFD-3933-5C9C-8042-EAF002F1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14</a:t>
            </a:fld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8EEBEA4-B7D7-9C73-C756-AC00F8642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661824"/>
              </p:ext>
            </p:extLst>
          </p:nvPr>
        </p:nvGraphicFramePr>
        <p:xfrm>
          <a:off x="1172464" y="2374773"/>
          <a:ext cx="8465312" cy="97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328">
                  <a:extLst>
                    <a:ext uri="{9D8B030D-6E8A-4147-A177-3AD203B41FA5}">
                      <a16:colId xmlns:a16="http://schemas.microsoft.com/office/drawing/2014/main" val="1680683346"/>
                    </a:ext>
                  </a:extLst>
                </a:gridCol>
                <a:gridCol w="2116328">
                  <a:extLst>
                    <a:ext uri="{9D8B030D-6E8A-4147-A177-3AD203B41FA5}">
                      <a16:colId xmlns:a16="http://schemas.microsoft.com/office/drawing/2014/main" val="704771087"/>
                    </a:ext>
                  </a:extLst>
                </a:gridCol>
                <a:gridCol w="2116328">
                  <a:extLst>
                    <a:ext uri="{9D8B030D-6E8A-4147-A177-3AD203B41FA5}">
                      <a16:colId xmlns:a16="http://schemas.microsoft.com/office/drawing/2014/main" val="3034725202"/>
                    </a:ext>
                  </a:extLst>
                </a:gridCol>
                <a:gridCol w="2116328">
                  <a:extLst>
                    <a:ext uri="{9D8B030D-6E8A-4147-A177-3AD203B41FA5}">
                      <a16:colId xmlns:a16="http://schemas.microsoft.com/office/drawing/2014/main" val="2025331718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1,3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1,4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20206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r>
                        <a:rPr lang="fr-FR" dirty="0"/>
                        <a:t>Fleche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0,59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0,43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0,46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566584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B2EAFBED-E3B4-96D2-1AD4-113E2E1FE814}"/>
              </a:ext>
            </a:extLst>
          </p:cNvPr>
          <p:cNvSpPr txBox="1"/>
          <p:nvPr/>
        </p:nvSpPr>
        <p:spPr>
          <a:xfrm>
            <a:off x="1172464" y="1877758"/>
            <a:ext cx="816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Augmentation de l’épaisseur sous RDM le Mans</a:t>
            </a:r>
          </a:p>
        </p:txBody>
      </p:sp>
    </p:spTree>
    <p:extLst>
      <p:ext uri="{BB962C8B-B14F-4D97-AF65-F5344CB8AC3E}">
        <p14:creationId xmlns:p14="http://schemas.microsoft.com/office/powerpoint/2010/main" val="2060753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876C-B8BA-2B7F-765A-280C2437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8032B1-48B1-4B89-C651-BFAA2E11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Choix de poutre pour la gymnastique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108FF7-432A-5469-3C96-F3CDA2E8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15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1E8E5C0-CD87-261F-8343-508644CB6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851" y="1598201"/>
            <a:ext cx="4552069" cy="2193102"/>
          </a:xfrm>
          <a:prstGeom prst="rect">
            <a:avLst/>
          </a:prstGeom>
        </p:spPr>
      </p:pic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62FDC643-9419-043E-3077-43B0311AC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958426"/>
              </p:ext>
            </p:extLst>
          </p:nvPr>
        </p:nvGraphicFramePr>
        <p:xfrm>
          <a:off x="1684528" y="4163248"/>
          <a:ext cx="8127999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375500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976361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65078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Expérimental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Analytique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71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Poutre à section en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2,1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2,18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80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Poutre à section rectangulaire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0,27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0,26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324211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5A17CE39-B0A2-1DB8-F9A3-F7C10B407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5906" y="1560277"/>
            <a:ext cx="2504694" cy="21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37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0070-70F6-0FA8-89E1-FB64CFB2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B69861-62A7-3BCB-5532-2F8C1F0D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Choix de poutre pour la gymnastique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01A33C-2F1D-3CE0-B88A-15536144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4907096-FB61-1CFF-BA0E-0F16C141D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1338" y="1826219"/>
            <a:ext cx="2504694" cy="21973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AE5731D-9FE8-95F1-41C4-F80136CB09BA}"/>
              </a:ext>
            </a:extLst>
          </p:cNvPr>
          <p:cNvSpPr txBox="1"/>
          <p:nvPr/>
        </p:nvSpPr>
        <p:spPr>
          <a:xfrm>
            <a:off x="1099947" y="5135353"/>
            <a:ext cx="460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Flèche = 0,26 mm</a:t>
            </a:r>
          </a:p>
          <a:p>
            <a:r>
              <a:rPr lang="fr-FR" dirty="0"/>
              <a:t>Contrainte max = 20 </a:t>
            </a:r>
            <a:r>
              <a:rPr lang="fr-FR" dirty="0" err="1"/>
              <a:t>Mpa</a:t>
            </a:r>
            <a:r>
              <a:rPr lang="fr-FR" dirty="0"/>
              <a:t> &lt;&lt; Re = 235 </a:t>
            </a:r>
            <a:r>
              <a:rPr lang="fr-FR" dirty="0" err="1"/>
              <a:t>Mpa</a:t>
            </a:r>
            <a:endParaRPr lang="fr-FR" dirty="0"/>
          </a:p>
        </p:txBody>
      </p:sp>
      <p:pic>
        <p:nvPicPr>
          <p:cNvPr id="2050" name="Picture 2" descr="Poutre de gymnastique ecole standard">
            <a:extLst>
              <a:ext uri="{FF2B5EF4-FFF2-40B4-BE49-F238E27FC236}">
                <a16:creationId xmlns:a16="http://schemas.microsoft.com/office/drawing/2014/main" id="{A82C3648-24FC-8431-CF22-40F6A5E02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06312" y="1476304"/>
            <a:ext cx="4608575" cy="4305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849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5786F-8FC0-133B-731F-6AD356DA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2D3E0-0366-98D7-E785-10C9475C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Choix de matériau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6FE9AC-2547-20AD-7FE1-3D883F86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17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9016F07-0861-DF8C-8228-3A7DFE3D963E}"/>
              </a:ext>
            </a:extLst>
          </p:cNvPr>
          <p:cNvSpPr txBox="1"/>
          <p:nvPr/>
        </p:nvSpPr>
        <p:spPr>
          <a:xfrm>
            <a:off x="838199" y="2133600"/>
            <a:ext cx="9820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Module de Young : E ; il représente la rigidité et relie la contrainte de traction et la déformation (domaine élastique)</a:t>
            </a:r>
          </a:p>
        </p:txBody>
      </p:sp>
      <p:pic>
        <p:nvPicPr>
          <p:cNvPr id="3074" name="Picture 2" descr="Module d'Young — Wikipédia">
            <a:extLst>
              <a:ext uri="{FF2B5EF4-FFF2-40B4-BE49-F238E27FC236}">
                <a16:creationId xmlns:a16="http://schemas.microsoft.com/office/drawing/2014/main" id="{4854CB57-49A4-1F8F-E31E-47EEEE8D1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65634" y="3296959"/>
            <a:ext cx="3765404" cy="3059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864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38AF-1507-F6C1-17F1-4204B7AE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B38C7F-0CF4-DD57-6F19-4B7300B7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Choix de matériau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91F68F-F212-A6B7-403C-659A0131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18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66C161-3C5C-C10D-7C25-82FA7893E46E}"/>
              </a:ext>
            </a:extLst>
          </p:cNvPr>
          <p:cNvSpPr txBox="1"/>
          <p:nvPr/>
        </p:nvSpPr>
        <p:spPr>
          <a:xfrm>
            <a:off x="1236472" y="1636752"/>
            <a:ext cx="49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fmax</a:t>
            </a:r>
            <a:r>
              <a:rPr lang="fr-FR" dirty="0"/>
              <a:t> = F L^3/(48 E I) </a:t>
            </a:r>
            <a:r>
              <a:rPr lang="fr-FR" dirty="0">
                <a:sym typeface="Wingdings" panose="05000000000000000000" pitchFamily="2" charset="2"/>
              </a:rPr>
              <a:t> E = FL^3/(48 </a:t>
            </a:r>
            <a:r>
              <a:rPr lang="fr-FR" dirty="0" err="1">
                <a:sym typeface="Wingdings" panose="05000000000000000000" pitchFamily="2" charset="2"/>
              </a:rPr>
              <a:t>fmax</a:t>
            </a:r>
            <a:r>
              <a:rPr lang="fr-FR" dirty="0">
                <a:sym typeface="Wingdings" panose="05000000000000000000" pitchFamily="2" charset="2"/>
              </a:rPr>
              <a:t> I)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7375B31-705D-0E5B-1812-9D18A528FD67}"/>
              </a:ext>
            </a:extLst>
          </p:cNvPr>
          <p:cNvSpPr txBox="1"/>
          <p:nvPr/>
        </p:nvSpPr>
        <p:spPr>
          <a:xfrm>
            <a:off x="1265810" y="2165344"/>
            <a:ext cx="9866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 poutres à sections circulaire, une en alliage d’aluminium, une en acier. On mesure la flèche pour retrouver le module de traction.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853B2803-79B5-F1B9-8A22-AB9EC96F7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068517"/>
              </p:ext>
            </p:extLst>
          </p:nvPr>
        </p:nvGraphicFramePr>
        <p:xfrm>
          <a:off x="1236472" y="3286331"/>
          <a:ext cx="8128000" cy="2388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167576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948425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159732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8528455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60986603"/>
                    </a:ext>
                  </a:extLst>
                </a:gridCol>
              </a:tblGrid>
              <a:tr h="129481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Fleche max mesurée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Module de Young obtenu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Module de Young théorique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Écart entre Young théorique et Young </a:t>
                      </a:r>
                      <a:r>
                        <a:rPr lang="fr-FR" dirty="0" err="1"/>
                        <a:t>exp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173232"/>
                  </a:ext>
                </a:extLst>
              </a:tr>
              <a:tr h="546948">
                <a:tc>
                  <a:txBody>
                    <a:bodyPr/>
                    <a:lstStyle/>
                    <a:p>
                      <a:r>
                        <a:rPr lang="fr-FR" dirty="0"/>
                        <a:t>Poutre 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3,95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68,8 </a:t>
                      </a:r>
                      <a:r>
                        <a:rPr lang="fr-FR" dirty="0" err="1"/>
                        <a:t>GPa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70 </a:t>
                      </a:r>
                      <a:r>
                        <a:rPr lang="fr-FR" dirty="0" err="1"/>
                        <a:t>GPa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1,7 %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321937"/>
                  </a:ext>
                </a:extLst>
              </a:tr>
              <a:tr h="546948">
                <a:tc>
                  <a:txBody>
                    <a:bodyPr/>
                    <a:lstStyle/>
                    <a:p>
                      <a:r>
                        <a:rPr lang="fr-FR" dirty="0"/>
                        <a:t>Poutre acier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2,27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250 </a:t>
                      </a:r>
                      <a:r>
                        <a:rPr lang="fr-FR" dirty="0" err="1"/>
                        <a:t>GPa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210 </a:t>
                      </a:r>
                      <a:r>
                        <a:rPr lang="fr-FR" dirty="0" err="1"/>
                        <a:t>GPa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731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300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239161-BD18-F2C2-AF09-8FA363607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7874" y="-275242"/>
            <a:ext cx="9369552" cy="2997748"/>
          </a:xfrm>
        </p:spPr>
        <p:txBody>
          <a:bodyPr>
            <a:noAutofit/>
          </a:bodyPr>
          <a:lstStyle/>
          <a:p>
            <a:r>
              <a:rPr lang="fr-FR" sz="3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Organisation d’une séquence de formation</a:t>
            </a:r>
            <a:br>
              <a:rPr lang="fr-FR" sz="3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fr-FR" sz="3600" b="1" dirty="0"/>
            </a:br>
            <a:r>
              <a:rPr lang="fr-FR" sz="3600" b="1" dirty="0"/>
              <a:t>Comment prédire le comportement mécanique de structure poutre dans un usage sportif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10EB1A-FB2A-22EA-E3FD-7489BF21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19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DE627ED-3E53-84E4-7976-8191BFD8402B}"/>
              </a:ext>
            </a:extLst>
          </p:cNvPr>
          <p:cNvSpPr txBox="1"/>
          <p:nvPr/>
        </p:nvSpPr>
        <p:spPr>
          <a:xfrm>
            <a:off x="3997452" y="6015692"/>
            <a:ext cx="4197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Terminale STI2D ITEC</a:t>
            </a:r>
          </a:p>
        </p:txBody>
      </p:sp>
      <p:pic>
        <p:nvPicPr>
          <p:cNvPr id="5" name="Picture 4" descr="TBT: Ronnie Coleman's Famous 800-Pound Squat - Muscle &amp; Fitness">
            <a:extLst>
              <a:ext uri="{FF2B5EF4-FFF2-40B4-BE49-F238E27FC236}">
                <a16:creationId xmlns:a16="http://schemas.microsoft.com/office/drawing/2014/main" id="{DCC59BA3-E9C0-42D7-067F-CE9CC119D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66691" y="2924619"/>
            <a:ext cx="5163494" cy="2858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119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6BCCCD-AF1E-493F-BD42-5832B44D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Modalité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F6FCA0-D183-42FA-2AFD-A461290B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20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9752709-90BE-4B2E-903D-65925F557612}"/>
              </a:ext>
            </a:extLst>
          </p:cNvPr>
          <p:cNvSpPr txBox="1"/>
          <p:nvPr/>
        </p:nvSpPr>
        <p:spPr>
          <a:xfrm>
            <a:off x="1143000" y="2240280"/>
            <a:ext cx="58887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Classe de terminale STI2D spécialité ITEC 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24-30 élèves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12h/semaine 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8h en demi-groupe 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4h en classe entière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0304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0FFA90-AB96-0C88-03ED-A2C398D2B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: compétences 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025CD2-D52B-66A9-9C2F-B9A33153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21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37ACAA1-E0EF-19D1-8714-97A011D7D8D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46609" y="1804416"/>
            <a:ext cx="8535591" cy="29243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5777D72-A849-7728-B42F-9E59DA5F5FED}"/>
              </a:ext>
            </a:extLst>
          </p:cNvPr>
          <p:cNvSpPr/>
          <p:nvPr/>
        </p:nvSpPr>
        <p:spPr>
          <a:xfrm>
            <a:off x="8372475" y="3943350"/>
            <a:ext cx="1866900" cy="485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96A030E-1F1B-D3CB-DA5C-1AE641BEC09F}"/>
              </a:ext>
            </a:extLst>
          </p:cNvPr>
          <p:cNvSpPr txBox="1"/>
          <p:nvPr/>
        </p:nvSpPr>
        <p:spPr>
          <a:xfrm>
            <a:off x="1175932" y="5230746"/>
            <a:ext cx="10177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Utiliser un système pour analyser le comportement d’un ouvrage, manipuler une maquette afin d’étudier certaines caractéristiques d’un produit (notamment des matériaux/structures en ITEC), et valider des choix techniques en lien avec le cahier des charges.</a:t>
            </a:r>
          </a:p>
        </p:txBody>
      </p:sp>
    </p:spTree>
    <p:extLst>
      <p:ext uri="{BB962C8B-B14F-4D97-AF65-F5344CB8AC3E}">
        <p14:creationId xmlns:p14="http://schemas.microsoft.com/office/powerpoint/2010/main" val="1478610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05829-0216-4D0F-E4A0-664E0288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: savoirs associés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C4F32E-99E6-ACC8-7F3B-3A13F766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6F0EFEC-6D4B-1F90-F244-F489964F6AF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116" y="1690688"/>
            <a:ext cx="8123262" cy="364026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FB44276-F1F1-660B-C933-0711F811A254}"/>
              </a:ext>
            </a:extLst>
          </p:cNvPr>
          <p:cNvSpPr txBox="1"/>
          <p:nvPr/>
        </p:nvSpPr>
        <p:spPr>
          <a:xfrm>
            <a:off x="914400" y="5733185"/>
            <a:ext cx="9619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Niveau taxonomique visé : de maîtrise d’outil : utiliser, manipuler des règles ou des ensembles de règles (algorithme), des principes, des démarches formalisées en vue d’un résultat à atteindre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A5E1F1A-B153-BB11-F20F-4F37601E583E}"/>
              </a:ext>
            </a:extLst>
          </p:cNvPr>
          <p:cNvSpPr txBox="1"/>
          <p:nvPr/>
        </p:nvSpPr>
        <p:spPr>
          <a:xfrm>
            <a:off x="9272016" y="1807527"/>
            <a:ext cx="2743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Savoir déterminer un protocole en vue d’obtenir un résultat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Réaliser des expériences ou des simulations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Exploiter les résultats et vérifier les performances.</a:t>
            </a:r>
          </a:p>
        </p:txBody>
      </p:sp>
    </p:spTree>
    <p:extLst>
      <p:ext uri="{BB962C8B-B14F-4D97-AF65-F5344CB8AC3E}">
        <p14:creationId xmlns:p14="http://schemas.microsoft.com/office/powerpoint/2010/main" val="3949418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467D3-EA7B-50A7-FD45-3867EFAE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192D29-B971-D9DD-D070-F14D33F6D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: savoirs associés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2BA073-726C-3851-B44D-4B38FA27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23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B26934B-F5E5-DACA-8A7C-DCCDC0F86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5" y="1619348"/>
            <a:ext cx="8935697" cy="405821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9B51F53-7542-CDE2-1CDE-80FDCB0D4ADA}"/>
              </a:ext>
            </a:extLst>
          </p:cNvPr>
          <p:cNvSpPr txBox="1"/>
          <p:nvPr/>
        </p:nvSpPr>
        <p:spPr>
          <a:xfrm>
            <a:off x="9546336" y="2369474"/>
            <a:ext cx="21396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Simulation et utilisation de progiciel (RDM le Mans)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Notion en RDM : limite élastique, module de traction, … ;</a:t>
            </a:r>
          </a:p>
        </p:txBody>
      </p:sp>
    </p:spTree>
    <p:extLst>
      <p:ext uri="{BB962C8B-B14F-4D97-AF65-F5344CB8AC3E}">
        <p14:creationId xmlns:p14="http://schemas.microsoft.com/office/powerpoint/2010/main" val="2652995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B4A7F-095A-4804-AE44-2C3AD1B0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28837-290E-0926-F28E-241346C28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Prérequis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5D28AF-AEA2-95F2-2658-1C8FFD61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8D40D0-7062-D084-CA22-7381D1D0B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18" y="1851795"/>
            <a:ext cx="8916644" cy="10574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A79F937-F20D-B8F8-5F44-D639421C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96" y="3100007"/>
            <a:ext cx="8973802" cy="272453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5E7718A-F2FF-9D64-3B6F-66B27CE9AE61}"/>
              </a:ext>
            </a:extLst>
          </p:cNvPr>
          <p:cNvSpPr txBox="1"/>
          <p:nvPr/>
        </p:nvSpPr>
        <p:spPr>
          <a:xfrm>
            <a:off x="9219298" y="1760836"/>
            <a:ext cx="3008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Modélisation des liaisons et des actions mécaniques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Cahier des charges ;</a:t>
            </a:r>
          </a:p>
        </p:txBody>
      </p:sp>
    </p:spTree>
    <p:extLst>
      <p:ext uri="{BB962C8B-B14F-4D97-AF65-F5344CB8AC3E}">
        <p14:creationId xmlns:p14="http://schemas.microsoft.com/office/powerpoint/2010/main" val="3060982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CDEB4-BEB1-5A42-2E9F-8C12F4CF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Séquence : modalités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B63B8C-EA60-94A8-FC39-09098EA6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25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61AFBE4-B9AA-004F-6B09-53334AA51B9E}"/>
              </a:ext>
            </a:extLst>
          </p:cNvPr>
          <p:cNvSpPr txBox="1"/>
          <p:nvPr/>
        </p:nvSpPr>
        <p:spPr>
          <a:xfrm>
            <a:off x="1390650" y="2609939"/>
            <a:ext cx="62769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12h/semaine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Sur 1,5 semaines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8h en demi-classe par semaine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4h en classe entière par semaine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Séquence située en milieu d’année, avant le projet ITEC ;</a:t>
            </a:r>
          </a:p>
        </p:txBody>
      </p:sp>
    </p:spTree>
    <p:extLst>
      <p:ext uri="{BB962C8B-B14F-4D97-AF65-F5344CB8AC3E}">
        <p14:creationId xmlns:p14="http://schemas.microsoft.com/office/powerpoint/2010/main" val="1846942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B8BB-6307-A7AE-8336-01031C45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6C35FD-02AF-AFF6-7F52-3DC13636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Séquence : architecture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5FA9E1-4BEE-C359-16E3-E9AC9FB5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26</a:t>
            </a:fld>
            <a:endParaRPr lang="fr-FR"/>
          </a:p>
        </p:txBody>
      </p:sp>
      <p:graphicFrame>
        <p:nvGraphicFramePr>
          <p:cNvPr id="34" name="Diagramme 33">
            <a:extLst>
              <a:ext uri="{FF2B5EF4-FFF2-40B4-BE49-F238E27FC236}">
                <a16:creationId xmlns:a16="http://schemas.microsoft.com/office/drawing/2014/main" id="{E8D31FC0-D1FF-4492-100B-0D4C06B69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3797195"/>
              </p:ext>
            </p:extLst>
          </p:nvPr>
        </p:nvGraphicFramePr>
        <p:xfrm>
          <a:off x="475488" y="1371600"/>
          <a:ext cx="11356848" cy="4992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1044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A830-6CE6-5048-448F-BC0518846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7FEA78-E036-E434-D98E-F8725CF9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Détail des séances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8BBF8A-4DBF-C4FF-19A2-57A5F2D4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27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1845F6-212B-BA02-6453-0A2F9C8746DF}"/>
              </a:ext>
            </a:extLst>
          </p:cNvPr>
          <p:cNvSpPr txBox="1"/>
          <p:nvPr/>
        </p:nvSpPr>
        <p:spPr>
          <a:xfrm>
            <a:off x="1243584" y="1773936"/>
            <a:ext cx="152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Séance 1 :</a:t>
            </a:r>
          </a:p>
        </p:txBody>
      </p:sp>
      <p:pic>
        <p:nvPicPr>
          <p:cNvPr id="3074" name="Picture 2" descr="Domenico Vaccaro - Mât Chinois">
            <a:extLst>
              <a:ext uri="{FF2B5EF4-FFF2-40B4-BE49-F238E27FC236}">
                <a16:creationId xmlns:a16="http://schemas.microsoft.com/office/drawing/2014/main" id="{50165F25-E809-476E-D7AB-2C22B2BBB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3072" y="3081963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ésistance des matériaux - Cours Mécanique">
            <a:extLst>
              <a:ext uri="{FF2B5EF4-FFF2-40B4-BE49-F238E27FC236}">
                <a16:creationId xmlns:a16="http://schemas.microsoft.com/office/drawing/2014/main" id="{43C8E661-2812-2A93-ED83-BD479C899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30155" y="1690688"/>
            <a:ext cx="3885045" cy="213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BT: Ronnie Coleman's Famous 800-Pound Squat - Muscle &amp; Fitness">
            <a:extLst>
              <a:ext uri="{FF2B5EF4-FFF2-40B4-BE49-F238E27FC236}">
                <a16:creationId xmlns:a16="http://schemas.microsoft.com/office/drawing/2014/main" id="{6530AB8F-88C8-E65F-CEB7-92D4FD18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6307" y="4168188"/>
            <a:ext cx="4506268" cy="249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thlétisme. Margot Chevrier décroche un quatrième titre d'affilée à la  perche">
            <a:extLst>
              <a:ext uri="{FF2B5EF4-FFF2-40B4-BE49-F238E27FC236}">
                <a16:creationId xmlns:a16="http://schemas.microsoft.com/office/drawing/2014/main" id="{FD80EEE1-9AF4-791C-93C4-E2D327037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1167" y="1773936"/>
            <a:ext cx="3885045" cy="218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265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B28A-104F-C179-DFCE-09374809B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601E08-0341-92B2-583F-8DDCBE8D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Détail des séances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C33F44-5988-071B-7515-57AFA3D7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28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61CE44D-F7FC-D29C-4A4B-F16F9FF98609}"/>
              </a:ext>
            </a:extLst>
          </p:cNvPr>
          <p:cNvSpPr txBox="1"/>
          <p:nvPr/>
        </p:nvSpPr>
        <p:spPr>
          <a:xfrm>
            <a:off x="942975" y="1771650"/>
            <a:ext cx="185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Séance 2 :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E13D8C3-EAA6-56ED-52D6-49A16318DBF1}"/>
              </a:ext>
            </a:extLst>
          </p:cNvPr>
          <p:cNvSpPr txBox="1"/>
          <p:nvPr/>
        </p:nvSpPr>
        <p:spPr>
          <a:xfrm>
            <a:off x="838200" y="2495550"/>
            <a:ext cx="1097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Tuto RDM le Mans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 fichier « poutre en flexion encastré libre » est donné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Modification de paramètre géométrique, charge,… et observation de l’impact sur la </a:t>
            </a:r>
            <a:r>
              <a:rPr lang="fr-FR" dirty="0" err="1"/>
              <a:t>fleche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28E888D-9C12-706E-6E29-64A5814327A8}"/>
              </a:ext>
            </a:extLst>
          </p:cNvPr>
          <p:cNvSpPr txBox="1"/>
          <p:nvPr/>
        </p:nvSpPr>
        <p:spPr>
          <a:xfrm>
            <a:off x="942975" y="3762375"/>
            <a:ext cx="48726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Dimensionnement de poteau de filet de volet par groupe de deux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Cahier des charges donné, proposition par groupes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Challenge qui a la meilleure poutre selon certain critère (</a:t>
            </a:r>
            <a:r>
              <a:rPr lang="fr-FR" dirty="0" err="1"/>
              <a:t>fleche</a:t>
            </a:r>
            <a:r>
              <a:rPr lang="fr-FR" dirty="0"/>
              <a:t>, contrainte max, coef de sécurité,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4098" name="Picture 2" descr="Kit poteaux et filets de volley ball Dès 516,99€ HT">
            <a:extLst>
              <a:ext uri="{FF2B5EF4-FFF2-40B4-BE49-F238E27FC236}">
                <a16:creationId xmlns:a16="http://schemas.microsoft.com/office/drawing/2014/main" id="{74D44A26-7BD0-245D-2F74-34016983FF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09360" y="3563554"/>
            <a:ext cx="3694176" cy="307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056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A67DB-A165-62CD-2199-620AF809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89DB33-9ED1-AAEB-AE37-99C3B142F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Détail des séances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EB92DE-1DEF-5E71-B0E5-0D22BD82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29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5FBE0ED-1B42-BB5C-EA48-2881EA42C183}"/>
              </a:ext>
            </a:extLst>
          </p:cNvPr>
          <p:cNvSpPr txBox="1"/>
          <p:nvPr/>
        </p:nvSpPr>
        <p:spPr>
          <a:xfrm>
            <a:off x="1228725" y="1524000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Séance 3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8DD2DBB-EAEC-AE25-85CA-E2BE79B2391E}"/>
              </a:ext>
            </a:extLst>
          </p:cNvPr>
          <p:cNvSpPr txBox="1"/>
          <p:nvPr/>
        </p:nvSpPr>
        <p:spPr>
          <a:xfrm>
            <a:off x="1228725" y="2085975"/>
            <a:ext cx="8467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Cours plus classique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Matériau / Module de Young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Domaine élastique / Domaine plastique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Limite d’élasticité, rupture </a:t>
            </a:r>
          </a:p>
        </p:txBody>
      </p:sp>
    </p:spTree>
    <p:extLst>
      <p:ext uri="{BB962C8B-B14F-4D97-AF65-F5344CB8AC3E}">
        <p14:creationId xmlns:p14="http://schemas.microsoft.com/office/powerpoint/2010/main" val="897622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629F-7491-75AC-756D-6A3C3C18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4BCCC2-D033-F507-8ACC-55C8CCC1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Détail séance à caractère expérimental 4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4F2276-D6AB-6FBE-E174-FE32D732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30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EB1B9D9-D073-5F38-7421-11DF7E473D73}"/>
              </a:ext>
            </a:extLst>
          </p:cNvPr>
          <p:cNvSpPr txBox="1"/>
          <p:nvPr/>
        </p:nvSpPr>
        <p:spPr>
          <a:xfrm>
            <a:off x="966774" y="1672966"/>
            <a:ext cx="720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Séance 4 : Dimensionnement d’une barre droite pour musculation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0BBD10-BECF-0BD5-2B13-0EA8D97E3834}"/>
              </a:ext>
            </a:extLst>
          </p:cNvPr>
          <p:cNvSpPr txBox="1"/>
          <p:nvPr/>
        </p:nvSpPr>
        <p:spPr>
          <a:xfrm>
            <a:off x="966774" y="2794844"/>
            <a:ext cx="802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Materiel</a:t>
            </a:r>
            <a:r>
              <a:rPr lang="fr-FR" dirty="0"/>
              <a:t> :  BED 100, RDM Le Mans et formulaire RDM papier.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DD20E6B-E721-2864-39FA-ACAFEA1EC5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1894" y="1771650"/>
            <a:ext cx="4187736" cy="329388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D60A4F7-69BC-4BA8-9D53-7090E7853019}"/>
              </a:ext>
            </a:extLst>
          </p:cNvPr>
          <p:cNvSpPr txBox="1"/>
          <p:nvPr/>
        </p:nvSpPr>
        <p:spPr>
          <a:xfrm>
            <a:off x="941832" y="2258568"/>
            <a:ext cx="496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Demi-Groupe (environ 15 élèves)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E0BB7C1-2BDD-4828-717B-3F16BF7D3170}"/>
              </a:ext>
            </a:extLst>
          </p:cNvPr>
          <p:cNvSpPr txBox="1"/>
          <p:nvPr/>
        </p:nvSpPr>
        <p:spPr>
          <a:xfrm>
            <a:off x="1038225" y="4187370"/>
            <a:ext cx="564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Objectif : Choisir le matériau le plus adapté pour cette application, et justifier.</a:t>
            </a:r>
          </a:p>
        </p:txBody>
      </p:sp>
    </p:spTree>
    <p:extLst>
      <p:ext uri="{BB962C8B-B14F-4D97-AF65-F5344CB8AC3E}">
        <p14:creationId xmlns:p14="http://schemas.microsoft.com/office/powerpoint/2010/main" val="1697473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A310C-2079-1CA8-F78E-E4BFCF5A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45287C-DF63-C801-2668-BA9E3C47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Détail séance à caractère expérimental 4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450778-6AF2-4CBE-26AC-0A7C5A10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31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61FB39-B008-E345-A6DC-FD205A065497}"/>
              </a:ext>
            </a:extLst>
          </p:cNvPr>
          <p:cNvSpPr txBox="1"/>
          <p:nvPr/>
        </p:nvSpPr>
        <p:spPr>
          <a:xfrm>
            <a:off x="966774" y="1672966"/>
            <a:ext cx="720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Séance 4 : Dimensionnement d’une barre droite pour musculation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33F2BD1-36EA-AF64-2E74-9A41DB337384}"/>
              </a:ext>
            </a:extLst>
          </p:cNvPr>
          <p:cNvSpPr txBox="1"/>
          <p:nvPr/>
        </p:nvSpPr>
        <p:spPr>
          <a:xfrm>
            <a:off x="1042416" y="2221992"/>
            <a:ext cx="4754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Activité 1 : BED100 : Poutre bi appuyée avec effort aux bouts. Poutre alu ; acier ; bois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328D84D-2E2B-A054-12BD-752B21E6AD9C}"/>
              </a:ext>
            </a:extLst>
          </p:cNvPr>
          <p:cNvSpPr txBox="1"/>
          <p:nvPr/>
        </p:nvSpPr>
        <p:spPr>
          <a:xfrm>
            <a:off x="1106424" y="3145322"/>
            <a:ext cx="4544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Manip attendu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Appliquer les charges, relever la </a:t>
            </a:r>
            <a:r>
              <a:rPr lang="fr-FR" dirty="0" err="1"/>
              <a:t>fleche</a:t>
            </a:r>
            <a:r>
              <a:rPr lang="fr-FR" dirty="0"/>
              <a:t>, noter les valeurs /screen </a:t>
            </a:r>
            <a:r>
              <a:rPr lang="fr-FR" dirty="0" err="1"/>
              <a:t>QuantX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72586FC-CDD1-9590-8A7C-29D86A74B9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6701" y="2601773"/>
            <a:ext cx="6243651" cy="351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28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27F99-008D-8DE9-5493-2B87B3D6E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A77243-8449-6724-B736-20EC796A4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Détail séance à caractère expérimental 4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584356-914D-0E54-5047-0E4EE1A4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32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A9913FB-5963-1C0C-9FFB-5A68355294B2}"/>
              </a:ext>
            </a:extLst>
          </p:cNvPr>
          <p:cNvSpPr txBox="1"/>
          <p:nvPr/>
        </p:nvSpPr>
        <p:spPr>
          <a:xfrm>
            <a:off x="966774" y="1672966"/>
            <a:ext cx="720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Séance 4 : Dimensionnement d’une barre droite pour musculation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C02101-9219-89C7-A94B-8D5585A5D1B2}"/>
              </a:ext>
            </a:extLst>
          </p:cNvPr>
          <p:cNvSpPr txBox="1"/>
          <p:nvPr/>
        </p:nvSpPr>
        <p:spPr>
          <a:xfrm>
            <a:off x="1042416" y="2221992"/>
            <a:ext cx="4754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Activité 2 : RDM le Mans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71A135-F2B6-E12D-8DF9-CFD92157831C}"/>
              </a:ext>
            </a:extLst>
          </p:cNvPr>
          <p:cNvSpPr txBox="1"/>
          <p:nvPr/>
        </p:nvSpPr>
        <p:spPr>
          <a:xfrm>
            <a:off x="966774" y="2980944"/>
            <a:ext cx="8661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Modéliser la poutre et relever la </a:t>
            </a:r>
            <a:r>
              <a:rPr lang="fr-FR" dirty="0" err="1"/>
              <a:t>fleche</a:t>
            </a:r>
            <a:r>
              <a:rPr lang="fr-FR" dirty="0"/>
              <a:t>, et la contrainte max, pour les différents matériaux possibles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5E36D31-70B2-FEDA-7A7C-7B7A5DB2AB44}"/>
              </a:ext>
            </a:extLst>
          </p:cNvPr>
          <p:cNvSpPr txBox="1"/>
          <p:nvPr/>
        </p:nvSpPr>
        <p:spPr>
          <a:xfrm>
            <a:off x="966774" y="4315968"/>
            <a:ext cx="6394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Activité 3 : Analyse des résultats obtenues, écarts,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Choix de la poutre la plus adapté </a:t>
            </a:r>
          </a:p>
        </p:txBody>
      </p:sp>
    </p:spTree>
    <p:extLst>
      <p:ext uri="{BB962C8B-B14F-4D97-AF65-F5344CB8AC3E}">
        <p14:creationId xmlns:p14="http://schemas.microsoft.com/office/powerpoint/2010/main" val="907501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F3E4E-F245-BC2B-C83F-F8C5B7EF7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D8915A-F0BC-2E0E-0051-5A128CF4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Bilan 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D64847-7FD1-C081-0564-0FECCA6D7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78C0FA8-E5B8-C544-EFB3-B215FF08F7A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57582" y="1956816"/>
            <a:ext cx="9996218" cy="34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91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3AB149-176B-75EB-E595-058E8BB6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Bilan 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C9B045-7AA8-F802-CD41-F97F836F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34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8F50465-07D5-E071-ABAA-923FD869F3A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2025" y="1784832"/>
            <a:ext cx="8171549" cy="371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73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56003-B527-D005-AD06-4696D383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453864-228D-9E0F-DCC9-8300F1AF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Bilan 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81AD33-71BE-2C30-D98E-131BEEE3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35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3589ADB-E3A0-1352-FAC4-54726382CCD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5741" y="1784567"/>
            <a:ext cx="8806484" cy="394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051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786F1-6107-B718-A7A0-ABB51CA7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7117"/>
            <a:ext cx="10515600" cy="1325563"/>
          </a:xfrm>
        </p:spPr>
        <p:txBody>
          <a:bodyPr/>
          <a:lstStyle/>
          <a:p>
            <a:pPr algn="ctr"/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C08B1F-C0A0-7A00-02F8-DC97FE60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9743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1046</Words>
  <Application>Microsoft Office PowerPoint</Application>
  <PresentationFormat>Grand écran</PresentationFormat>
  <Paragraphs>206</Paragraphs>
  <Slides>36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Wingdings</vt:lpstr>
      <vt:lpstr>Thème Office</vt:lpstr>
      <vt:lpstr>Présentation PowerPoint</vt:lpstr>
      <vt:lpstr>Maquette : Généralités</vt:lpstr>
      <vt:lpstr>Maquette : Généralités</vt:lpstr>
      <vt:lpstr>Maquette : Généralités</vt:lpstr>
      <vt:lpstr>Maquette : Architecture matériel</vt:lpstr>
      <vt:lpstr>Maquette : Architecture Matériel</vt:lpstr>
      <vt:lpstr>Maquette : Architecture Matériel</vt:lpstr>
      <vt:lpstr>Logiciel :</vt:lpstr>
      <vt:lpstr>Potentialité didactique</vt:lpstr>
      <vt:lpstr>Travaux pratique : Prise en main du système</vt:lpstr>
      <vt:lpstr>Travaux pratique : Prise en main du système</vt:lpstr>
      <vt:lpstr>Travaux pratique : Prise en main du système</vt:lpstr>
      <vt:lpstr>Travaux pratique : Prise en main du système</vt:lpstr>
      <vt:lpstr>Travaux pratique : Prise en main du système</vt:lpstr>
      <vt:lpstr>Travaux pratique : Choix de poutre pour la gymnastique</vt:lpstr>
      <vt:lpstr>Travaux pratique : Choix de poutre pour la gymnastique</vt:lpstr>
      <vt:lpstr>Travaux pratique : Choix de matériau</vt:lpstr>
      <vt:lpstr>Travaux pratique : Choix de matériau</vt:lpstr>
      <vt:lpstr>Organisation d’une séquence de formation  Comment prédire le comportement mécanique de structure poutre dans un usage sportif ?</vt:lpstr>
      <vt:lpstr>Modalité</vt:lpstr>
      <vt:lpstr>Objectifs : compétences :</vt:lpstr>
      <vt:lpstr>Objectifs : savoirs associés</vt:lpstr>
      <vt:lpstr>Objectifs : savoirs associés</vt:lpstr>
      <vt:lpstr>Prérequis de la séquence</vt:lpstr>
      <vt:lpstr>Séquence : modalités</vt:lpstr>
      <vt:lpstr>Séquence : architecture</vt:lpstr>
      <vt:lpstr>Détail des séances</vt:lpstr>
      <vt:lpstr>Détail des séances</vt:lpstr>
      <vt:lpstr>Détail des séances</vt:lpstr>
      <vt:lpstr>Détail séance à caractère expérimental 4</vt:lpstr>
      <vt:lpstr>Détail séance à caractère expérimental 4</vt:lpstr>
      <vt:lpstr>Détail séance à caractère expérimental 4</vt:lpstr>
      <vt:lpstr>Bilan :</vt:lpstr>
      <vt:lpstr>Bilan :</vt:lpstr>
      <vt:lpstr>Bilan :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Thierry jolan</dc:creator>
  <cp:lastModifiedBy>Hugues Brice</cp:lastModifiedBy>
  <cp:revision>22</cp:revision>
  <dcterms:created xsi:type="dcterms:W3CDTF">2026-03-16T15:55:52Z</dcterms:created>
  <dcterms:modified xsi:type="dcterms:W3CDTF">2026-06-07T12:02:06Z</dcterms:modified>
</cp:coreProperties>
</file>