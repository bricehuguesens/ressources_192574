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3" r:id="rId2"/>
    <p:sldId id="270" r:id="rId3"/>
    <p:sldId id="265" r:id="rId4"/>
    <p:sldId id="266" r:id="rId5"/>
    <p:sldId id="271" r:id="rId6"/>
    <p:sldId id="272" r:id="rId7"/>
    <p:sldId id="273" r:id="rId8"/>
    <p:sldId id="264" r:id="rId9"/>
    <p:sldId id="267" r:id="rId10"/>
    <p:sldId id="276" r:id="rId11"/>
    <p:sldId id="286" r:id="rId12"/>
    <p:sldId id="275" r:id="rId13"/>
    <p:sldId id="274" r:id="rId14"/>
    <p:sldId id="279" r:id="rId15"/>
    <p:sldId id="278" r:id="rId16"/>
    <p:sldId id="280" r:id="rId17"/>
    <p:sldId id="281" r:id="rId18"/>
    <p:sldId id="282" r:id="rId19"/>
    <p:sldId id="256" r:id="rId20"/>
    <p:sldId id="257" r:id="rId21"/>
    <p:sldId id="258" r:id="rId22"/>
    <p:sldId id="259" r:id="rId23"/>
    <p:sldId id="283" r:id="rId24"/>
    <p:sldId id="285" r:id="rId25"/>
    <p:sldId id="284" r:id="rId26"/>
    <p:sldId id="287" r:id="rId27"/>
    <p:sldId id="288" r:id="rId28"/>
    <p:sldId id="262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6B3378-C6CE-4BBC-8F95-10D393AA648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E1399E71-0A99-4667-BB98-01F13ADD0981}" type="pres">
      <dgm:prSet presAssocID="{126B3378-C6CE-4BBC-8F95-10D393AA648B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DB12A57-51B1-42F8-8A33-0FDFE035BD39}" type="presOf" srcId="{126B3378-C6CE-4BBC-8F95-10D393AA648B}" destId="{E1399E71-0A99-4667-BB98-01F13ADD0981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70DDC-6FE1-4F94-AE55-B6C451D99F2A}" type="datetimeFigureOut">
              <a:rPr lang="fr-FR" smtClean="0"/>
              <a:t>20/03/2026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2A4B7-87CB-49AB-ACC5-0CB61FDA4D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943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1A116-FE10-D19A-8E9A-CA0555916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ACA400-F6D8-0E9E-0F61-2DCA95EAB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C7502B-BAB5-D5CB-765E-2503BECE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AAAB-A060-497E-BE3C-A267C4CACB19}" type="datetime1">
              <a:rPr lang="fr-FR" smtClean="0"/>
              <a:t>20/03/2026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7796EA-5CCC-CBBF-6A2B-E8A6DAA3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FD34C9-EE88-27D1-C0E3-AD0AC0DF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028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01777D-F5FF-82DC-9BA8-CB9FB83B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6CB71-04C6-0321-DA7C-BA8F0348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43A1B8-0F41-3A57-1E94-25BBE559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C502-05FE-44FC-A66D-2DDD3DCB22F8}" type="datetime1">
              <a:rPr lang="fr-FR" smtClean="0"/>
              <a:t>20/03/2026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EB980E-5E97-6EB7-295F-01D8E7F2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ABC3B2-B18F-FF4B-E124-04BA2B08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67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11347-4770-673E-DA3B-A8A6E5C6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E34259-59BD-986E-25C6-418392385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6798A8-D4CB-AC00-984A-997F1F53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FD656-C4C7-4F1F-8CE7-CA04E261DC1C}" type="datetime1">
              <a:rPr lang="fr-FR" smtClean="0"/>
              <a:t>20/03/2026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46F74A-A057-270D-DA85-781B4848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8DF52D-C256-3336-1A5F-6C201CD9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17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A130BA-7C46-1B34-04E5-F349B7BC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425683-E448-6A4C-A6B7-5B54163D2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90D705-5563-BEED-E0F3-6D4E03477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F6AC6A-FA74-EC12-ED93-7BC8EC73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7F91-0949-4E1A-8FA0-24DB5AD05149}" type="datetime1">
              <a:rPr lang="fr-FR" smtClean="0"/>
              <a:t>20/03/2026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E70FEC-2FBC-3F61-52E0-8F56511E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2B1572-6827-CA20-D967-4BD84B06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73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1CF1B-6AE8-FF3E-425E-B591A96D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5D5815-3431-B4CA-0B20-23A654AA7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41C5BA-C87D-386D-F1AD-311344398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8A81F7-416D-030F-87F1-551005385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18DE50B-AF87-7AFF-56F5-5F7CDEFD0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8157BCE-BAD4-6BC9-939D-19542321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8DD43-31B6-430A-990C-8FBC9D0882FD}" type="datetime1">
              <a:rPr lang="fr-FR" smtClean="0"/>
              <a:t>20/03/2026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71AC9B-BAE6-BF9C-ADC2-A7F8CAA94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5B8F06-3D7B-BCE3-53BF-781A6902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7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1CC818-2198-0D25-A887-7D9EE838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75FCF2-5430-5695-4D28-31E578C2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49EF-1D40-4E1E-8E7E-87C6D6CEA00F}" type="datetime1">
              <a:rPr lang="fr-FR" smtClean="0"/>
              <a:t>20/03/2026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E5AC87-40F3-9B91-E0FD-4F16294A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86083E-7444-957F-87D7-BBACEB3C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5EFBC90-424C-0151-4CF7-71B63F43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844F-0770-4457-BF95-0D68EEA6390D}" type="datetime1">
              <a:rPr lang="fr-FR" smtClean="0"/>
              <a:t>20/03/2026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DCC4B4-0136-282B-AF50-6EF305C4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AE7CF3-001C-0EA7-5E58-0CE177E0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80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A241D7-9986-E02B-5F7E-9DE8663D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793B1-42F0-D61E-DDC3-42C6F1FAF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EA3F3A-EF93-A8AC-E872-BE8E96AC8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5DFD48-E145-080D-884D-04600703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B73BD-833A-4FFA-B4A9-34FEDA861992}" type="datetime1">
              <a:rPr lang="fr-FR" smtClean="0"/>
              <a:t>20/03/2026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53261-44A1-2732-D70B-3F989A7F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FDE935-9E2B-2C27-92B1-8A6133C4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49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2C7D1-5E36-4C16-745E-BCD35469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8A2EDE-A1F6-4047-2009-6BE5ECAE6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3EFEF4-5DD5-E9AD-6B2C-0B8B1E082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701125-15A0-8E66-DA97-37C446F8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F12C-EB77-444F-AEA3-5D6B8ED5EB5B}" type="datetime1">
              <a:rPr lang="fr-FR" smtClean="0"/>
              <a:t>20/03/2026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190EE5-2727-208B-260A-63712C61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A29DC3-4523-7606-E5C9-1E378D4B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05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D1AB3-3390-3177-F688-618FEC14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973F57-4461-A3CF-8B96-E62FE78E3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9984E0-78D5-2469-22CF-F1E8E6CC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0169-8030-4E78-A1C3-BAD38CE2FEAA}" type="datetime1">
              <a:rPr lang="fr-FR" smtClean="0"/>
              <a:t>20/03/2026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E7B38E-9D81-89A7-27C5-422D1263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28BE8D-DFD7-8A48-BD03-5A7B45AA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63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A25E3E-1C61-DC34-5880-B22E511D9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D68DF0-D884-F22A-9AD2-3E8AA3D52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1B660C-9D70-565E-7007-BB69AC78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E798-F8D5-42BF-8E5E-FB3F6A551F9B}" type="datetime1">
              <a:rPr lang="fr-FR" smtClean="0"/>
              <a:t>20/03/2026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F68EA9-38B3-3A5D-A24A-95FC59A2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B727C-042E-8402-3BA0-8B581DBE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89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21EF32-984E-8A3E-E0DE-97E9EE59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B5491E-571D-177E-4BB9-12F1776E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E8040B-960C-8AB4-5EE8-36382716D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CF328-A12D-4B92-8D3E-19A4A36E4B51}" type="datetime1">
              <a:rPr lang="fr-FR" smtClean="0"/>
              <a:t>20/03/2026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FAA8A-07EE-6CAE-FF80-B702D20AA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8A2F1A-83E9-8E38-7336-85837D23E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C0205-AF05-4B33-965E-90BF431DF3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05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8C0C90-DB82-7731-AB86-435FC9ED2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6998"/>
            <a:ext cx="9144000" cy="948500"/>
          </a:xfrm>
        </p:spPr>
        <p:txBody>
          <a:bodyPr>
            <a:normAutofit fontScale="90000"/>
          </a:bodyPr>
          <a:lstStyle/>
          <a:p>
            <a:r>
              <a:rPr lang="fr-FR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didactisée : Stabilisateur gyroscopique de bateau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5D0573-FB8D-81F1-1B52-A2731D1A7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035" y="3481439"/>
            <a:ext cx="3253930" cy="291687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9776A9-488B-8C9E-C47B-D4AFD7CB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330F9B-89EC-F952-4617-729EEA195851}"/>
              </a:ext>
            </a:extLst>
          </p:cNvPr>
          <p:cNvSpPr txBox="1"/>
          <p:nvPr/>
        </p:nvSpPr>
        <p:spPr>
          <a:xfrm>
            <a:off x="253318" y="6075144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Jolan THIERRY</a:t>
            </a:r>
          </a:p>
          <a:p>
            <a:r>
              <a:rPr lang="fr-FR" dirty="0"/>
              <a:t>Candidat n° : 2284568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EDFCDA3-A780-C72F-B479-B1639727FA4B}"/>
              </a:ext>
            </a:extLst>
          </p:cNvPr>
          <p:cNvSpPr txBox="1"/>
          <p:nvPr/>
        </p:nvSpPr>
        <p:spPr>
          <a:xfrm>
            <a:off x="1459992" y="989418"/>
            <a:ext cx="9015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Séquence : Comment utiliser les lois de la mécanique pour modéliser et prévoir la relation entre un mouvement d’entrée et un mouvement de sortie dans un mécanisme plan ou spatial simple 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6A7FBD-C6E5-7D66-0B31-6CC15D3F04B4}"/>
              </a:ext>
            </a:extLst>
          </p:cNvPr>
          <p:cNvSpPr txBox="1"/>
          <p:nvPr/>
        </p:nvSpPr>
        <p:spPr>
          <a:xfrm>
            <a:off x="8418576" y="4287269"/>
            <a:ext cx="312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BTS : Conception de produit industriel 1ère année</a:t>
            </a:r>
          </a:p>
        </p:txBody>
      </p:sp>
    </p:spTree>
    <p:extLst>
      <p:ext uri="{BB962C8B-B14F-4D97-AF65-F5344CB8AC3E}">
        <p14:creationId xmlns:p14="http://schemas.microsoft.com/office/powerpoint/2010/main" val="30860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86B4A-36BD-8DB7-DC68-98542670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Généralité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F97E4D-2814-A904-50CE-9EE44A9FA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Système didactisé inspiré d’un stabilisateur industriel ; </a:t>
            </a:r>
          </a:p>
          <a:p>
            <a:r>
              <a:rPr lang="fr-FR" dirty="0"/>
              <a:t>Permet de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Simuler le roulis d’un bateau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Mettre en rotation un volant d’inertie 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Orienté le volant d’inertie.</a:t>
            </a:r>
          </a:p>
          <a:p>
            <a:r>
              <a:rPr lang="fr-FR" dirty="0"/>
              <a:t>Accompagner du soft </a:t>
            </a:r>
            <a:r>
              <a:rPr lang="fr-FR" dirty="0" err="1"/>
              <a:t>MyVis</a:t>
            </a:r>
            <a:r>
              <a:rPr lang="fr-FR" dirty="0"/>
              <a:t> ;</a:t>
            </a:r>
          </a:p>
          <a:p>
            <a:r>
              <a:rPr lang="fr-FR" dirty="0"/>
              <a:t>Jumeau numérique disponible dans le soft. 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29057A-C66F-F074-B448-11458799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42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70D46-6578-DB81-3098-34BF0674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Matériel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D49DB7-D949-E6CC-C9BE-BC07DBA9D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4624" cy="4351338"/>
          </a:xfrm>
        </p:spPr>
        <p:txBody>
          <a:bodyPr/>
          <a:lstStyle/>
          <a:p>
            <a:r>
              <a:rPr lang="fr-FR" dirty="0"/>
              <a:t>Volant d’inertie </a:t>
            </a:r>
            <a:r>
              <a:rPr lang="fr-FR" dirty="0">
                <a:sym typeface="Wingdings" panose="05000000000000000000" pitchFamily="2" charset="2"/>
              </a:rPr>
              <a:t> Moteur (MCC) + codeur (4k tr/min), asservi en vitesse ;</a:t>
            </a:r>
          </a:p>
          <a:p>
            <a:r>
              <a:rPr lang="fr-FR" dirty="0">
                <a:sym typeface="Wingdings" panose="05000000000000000000" pitchFamily="2" charset="2"/>
              </a:rPr>
              <a:t>Roulis simulé par une masselotte articulée par un vérin (modification du centre de gravité) (codeur intégré) ;</a:t>
            </a:r>
          </a:p>
          <a:p>
            <a:r>
              <a:rPr lang="fr-FR" dirty="0">
                <a:sym typeface="Wingdings" panose="05000000000000000000" pitchFamily="2" charset="2"/>
              </a:rPr>
              <a:t>Orientation du volant d’inertie par vérin (codeur intégré) ;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DF8419-D575-7D0F-7680-7073FC75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2C95858-D758-FC1F-6926-CA722DB8B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071" y="1957118"/>
            <a:ext cx="5606441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5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47FFD-97F6-98D2-1E5D-5C284E96D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Sécurité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9D2240-9B1F-A8C6-9524-E399AF6EC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Système entièrement </a:t>
            </a:r>
            <a:r>
              <a:rPr lang="fr-FR" dirty="0" err="1"/>
              <a:t>cartérisé</a:t>
            </a:r>
            <a:r>
              <a:rPr lang="fr-FR" dirty="0"/>
              <a:t> ;</a:t>
            </a:r>
          </a:p>
          <a:p>
            <a:r>
              <a:rPr lang="fr-FR" dirty="0"/>
              <a:t>AU ;</a:t>
            </a:r>
          </a:p>
          <a:p>
            <a:r>
              <a:rPr lang="fr-FR" dirty="0"/>
              <a:t>Roulis capé à 10 </a:t>
            </a:r>
            <a:r>
              <a:rPr lang="fr-FR" dirty="0" err="1"/>
              <a:t>deg</a:t>
            </a:r>
            <a:r>
              <a:rPr lang="fr-FR" dirty="0"/>
              <a:t> numériquement ;</a:t>
            </a:r>
          </a:p>
          <a:p>
            <a:r>
              <a:rPr lang="fr-FR" dirty="0"/>
              <a:t>Elément anti-impact (contact avec capot).</a:t>
            </a:r>
            <a:br>
              <a:rPr lang="fr-FR" dirty="0"/>
            </a:b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16FE22-7914-E3AE-661C-74F22E53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09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4940E6-2A2C-890F-4815-08EBB32D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Logiciel : </a:t>
            </a:r>
            <a:r>
              <a:rPr lang="fr-FR" b="1" u="sng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Myvis</a:t>
            </a:r>
            <a:endParaRPr lang="fr-FR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C474D5C-E669-C842-926E-CDE165F1B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87" y="1455737"/>
            <a:ext cx="9801226" cy="490061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942867-CBF4-73ED-E684-84FB8F50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913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C70B-5436-10B0-C48E-756525CFB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CD7DBD-F078-F271-AADF-088C16BF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Logiciel : </a:t>
            </a:r>
            <a:r>
              <a:rPr lang="fr-FR" b="1" u="sng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Myvis</a:t>
            </a:r>
            <a:endParaRPr lang="fr-FR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B2965D-401F-46F8-3396-CC0510C5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6</a:t>
            </a:fld>
            <a:endParaRPr lang="fr-FR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1D7E335-6122-4BE0-7571-B06F6AD81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882562"/>
            <a:ext cx="6505575" cy="335804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3A99668-A691-5E17-6ACE-3EEA09B6C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69"/>
          <a:stretch>
            <a:fillRect/>
          </a:stretch>
        </p:blipFill>
        <p:spPr>
          <a:xfrm>
            <a:off x="7693104" y="567690"/>
            <a:ext cx="4060745" cy="572261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DA1626D-B2CA-C2B2-DD0D-DA33B209EDA2}"/>
              </a:ext>
            </a:extLst>
          </p:cNvPr>
          <p:cNvCxnSpPr>
            <a:cxnSpLocks/>
          </p:cNvCxnSpPr>
          <p:nvPr/>
        </p:nvCxnSpPr>
        <p:spPr>
          <a:xfrm flipV="1">
            <a:off x="5067300" y="567690"/>
            <a:ext cx="2625804" cy="1623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1210C-404E-A155-0A7F-E2EB9641852C}"/>
              </a:ext>
            </a:extLst>
          </p:cNvPr>
          <p:cNvCxnSpPr/>
          <p:nvPr/>
        </p:nvCxnSpPr>
        <p:spPr>
          <a:xfrm>
            <a:off x="5067300" y="3694176"/>
            <a:ext cx="2524125" cy="2523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74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83B3-BE76-2990-976A-3E036F04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709F5-63E3-E9CC-0939-642DCC4C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Logiciel : </a:t>
            </a:r>
            <a:r>
              <a:rPr lang="fr-FR" b="1" u="sng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Myvis</a:t>
            </a:r>
            <a:endParaRPr lang="fr-FR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F76047-EF1C-A990-6B13-E77ECF0D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7</a:t>
            </a:fld>
            <a:endParaRPr lang="fr-FR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24CCBBC-A1DF-7EC0-4BE1-2178E0798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542" y="1690688"/>
            <a:ext cx="8219658" cy="452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7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20DA9-813B-12B5-AAF8-172B283B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Potentialité didactique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0B0FB4-7F61-F415-E5E9-CB36C286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Cinématique ; (CPI, CPGE, …)</a:t>
            </a:r>
          </a:p>
          <a:p>
            <a:r>
              <a:rPr lang="fr-FR" dirty="0"/>
              <a:t>Asservissement moteur (MCC) ; (SIN, CPGE, …)</a:t>
            </a:r>
          </a:p>
          <a:p>
            <a:r>
              <a:rPr lang="fr-FR" dirty="0"/>
              <a:t>Manipulation et expérimentation ; (STI2D)</a:t>
            </a:r>
          </a:p>
          <a:p>
            <a:r>
              <a:rPr lang="fr-FR" dirty="0"/>
              <a:t>Modeleur volumique ; (CPI, CRSA, …)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6795C3-D44E-2E7B-3038-9FDB6C15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017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5CE834-FA7F-E281-A462-1967A37C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modélisation plane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AF2477-1277-5ED1-C59F-5F384EA0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9</a:t>
            </a:fld>
            <a:endParaRPr lang="fr-FR"/>
          </a:p>
        </p:txBody>
      </p:sp>
      <p:pic>
        <p:nvPicPr>
          <p:cNvPr id="9" name="Espace réservé du contenu 5">
            <a:extLst>
              <a:ext uri="{FF2B5EF4-FFF2-40B4-BE49-F238E27FC236}">
                <a16:creationId xmlns:a16="http://schemas.microsoft.com/office/drawing/2014/main" id="{D1BA5A2F-9DFC-59C6-C13A-B53CA3360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736" y="1690688"/>
            <a:ext cx="7930964" cy="440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99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CCB2-7D48-38BE-7BFE-A4328128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307473-FB6C-B30D-15F9-B0DD3163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modélisation des liaisons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033829-4E63-B49C-1722-FC631A9F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10</a:t>
            </a:fld>
            <a:endParaRPr lang="fr-FR"/>
          </a:p>
        </p:txBody>
      </p:sp>
      <p:pic>
        <p:nvPicPr>
          <p:cNvPr id="3" name="Espace réservé du contenu 5">
            <a:extLst>
              <a:ext uri="{FF2B5EF4-FFF2-40B4-BE49-F238E27FC236}">
                <a16:creationId xmlns:a16="http://schemas.microsoft.com/office/drawing/2014/main" id="{DA02AD21-2C53-FBD9-5575-726482794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518" y="1690688"/>
            <a:ext cx="7930964" cy="440163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0A265C14-9B46-4EB0-8352-6571A75A3601}"/>
              </a:ext>
            </a:extLst>
          </p:cNvPr>
          <p:cNvSpPr/>
          <p:nvPr/>
        </p:nvSpPr>
        <p:spPr>
          <a:xfrm>
            <a:off x="3039999" y="5167312"/>
            <a:ext cx="434721" cy="4667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D8E87CC-837D-2840-D244-A2A6439EF335}"/>
              </a:ext>
            </a:extLst>
          </p:cNvPr>
          <p:cNvSpPr/>
          <p:nvPr/>
        </p:nvSpPr>
        <p:spPr>
          <a:xfrm>
            <a:off x="6584823" y="3696052"/>
            <a:ext cx="434721" cy="4667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DE70654-05B4-6188-1D45-14704AECDB96}"/>
              </a:ext>
            </a:extLst>
          </p:cNvPr>
          <p:cNvSpPr/>
          <p:nvPr/>
        </p:nvSpPr>
        <p:spPr>
          <a:xfrm>
            <a:off x="5661279" y="3412045"/>
            <a:ext cx="434721" cy="4667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995997-42D8-BB11-B942-C758DAC9E84E}"/>
              </a:ext>
            </a:extLst>
          </p:cNvPr>
          <p:cNvSpPr/>
          <p:nvPr/>
        </p:nvSpPr>
        <p:spPr>
          <a:xfrm rot="19519330">
            <a:off x="4128835" y="4325112"/>
            <a:ext cx="1042416" cy="3474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07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31B7-574C-79B4-28C8-7251830F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E9E82-082F-F235-260A-995D6418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graphe de </a:t>
            </a:r>
            <a:r>
              <a:rPr lang="fr-FR" b="1" u="sng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liasons</a:t>
            </a:r>
            <a:endParaRPr lang="fr-FR" b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A02171-9A7C-D978-6956-AD0FAE6F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11</a:t>
            </a:fld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5B21CF6-9446-69AF-B676-2B91BA2D3073}"/>
              </a:ext>
            </a:extLst>
          </p:cNvPr>
          <p:cNvSpPr/>
          <p:nvPr/>
        </p:nvSpPr>
        <p:spPr>
          <a:xfrm>
            <a:off x="4590288" y="2084356"/>
            <a:ext cx="1929384" cy="10241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Structure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0B9E996-B22E-D833-FB04-643B6D195410}"/>
              </a:ext>
            </a:extLst>
          </p:cNvPr>
          <p:cNvSpPr/>
          <p:nvPr/>
        </p:nvSpPr>
        <p:spPr>
          <a:xfrm>
            <a:off x="4751832" y="4953000"/>
            <a:ext cx="1929384" cy="10241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Tige de vérin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AFAC241-097B-D1F0-61E1-C9803EF1D26B}"/>
              </a:ext>
            </a:extLst>
          </p:cNvPr>
          <p:cNvSpPr/>
          <p:nvPr/>
        </p:nvSpPr>
        <p:spPr>
          <a:xfrm>
            <a:off x="1139952" y="3364992"/>
            <a:ext cx="1929384" cy="973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Cadre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8EE24F8-9941-06F1-EEB7-C7667D65F896}"/>
              </a:ext>
            </a:extLst>
          </p:cNvPr>
          <p:cNvSpPr/>
          <p:nvPr/>
        </p:nvSpPr>
        <p:spPr>
          <a:xfrm>
            <a:off x="8473440" y="3502152"/>
            <a:ext cx="1929384" cy="8368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Corps de vérin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C682935-E7F9-AACB-49A1-E52942376AE7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6519672" y="2596420"/>
            <a:ext cx="2236320" cy="1153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93A37B9-ED5F-9CDE-2F79-5BDDA44F63F3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6519672" y="4216435"/>
            <a:ext cx="2236320" cy="1054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77E62CF-6250-D724-A2C2-B2E904FE5C95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499360" y="2596420"/>
            <a:ext cx="2090928" cy="1153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DFFB1BE-2941-58D2-B099-0E1A07BD91BE}"/>
              </a:ext>
            </a:extLst>
          </p:cNvPr>
          <p:cNvCxnSpPr>
            <a:cxnSpLocks/>
          </p:cNvCxnSpPr>
          <p:nvPr/>
        </p:nvCxnSpPr>
        <p:spPr>
          <a:xfrm>
            <a:off x="2581275" y="4216435"/>
            <a:ext cx="2539365" cy="1308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9954739C-1D29-1383-B8C3-3F203F23DEB2}"/>
              </a:ext>
            </a:extLst>
          </p:cNvPr>
          <p:cNvSpPr txBox="1"/>
          <p:nvPr/>
        </p:nvSpPr>
        <p:spPr>
          <a:xfrm>
            <a:off x="7540752" y="2515969"/>
            <a:ext cx="172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Pivot (H, y1)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8BB789C-C69C-344F-2154-BF1CE6D14D6E}"/>
              </a:ext>
            </a:extLst>
          </p:cNvPr>
          <p:cNvSpPr txBox="1"/>
          <p:nvPr/>
        </p:nvSpPr>
        <p:spPr>
          <a:xfrm>
            <a:off x="2499360" y="2476448"/>
            <a:ext cx="172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Pivot (J, y1)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13D347E-D7B3-192F-BE70-9127E006493C}"/>
              </a:ext>
            </a:extLst>
          </p:cNvPr>
          <p:cNvSpPr txBox="1"/>
          <p:nvPr/>
        </p:nvSpPr>
        <p:spPr>
          <a:xfrm>
            <a:off x="2286000" y="5064308"/>
            <a:ext cx="172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Pivot (I, y1)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6CFFC52-E00E-215A-B9CA-5C62B30F6D05}"/>
              </a:ext>
            </a:extLst>
          </p:cNvPr>
          <p:cNvSpPr txBox="1"/>
          <p:nvPr/>
        </p:nvSpPr>
        <p:spPr>
          <a:xfrm>
            <a:off x="7772400" y="4902025"/>
            <a:ext cx="37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Glissière (H, </a:t>
            </a:r>
            <a:r>
              <a:rPr lang="fr-FR" dirty="0" err="1"/>
              <a:t>xvc</a:t>
            </a:r>
            <a:r>
              <a:rPr lang="fr-FR" dirty="0"/>
              <a:t>)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8371565-9CB0-0856-EC24-EE294C6694A8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554980" y="1595438"/>
            <a:ext cx="0" cy="488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5E9C5B1-2F38-5DDD-68DA-AC3CC00B11E3}"/>
              </a:ext>
            </a:extLst>
          </p:cNvPr>
          <p:cNvCxnSpPr/>
          <p:nvPr/>
        </p:nvCxnSpPr>
        <p:spPr>
          <a:xfrm>
            <a:off x="5120640" y="1595438"/>
            <a:ext cx="975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4AAD165-2A62-D2E6-8A72-C6317E2BF48E}"/>
              </a:ext>
            </a:extLst>
          </p:cNvPr>
          <p:cNvCxnSpPr/>
          <p:nvPr/>
        </p:nvCxnSpPr>
        <p:spPr>
          <a:xfrm flipV="1">
            <a:off x="5120640" y="1440180"/>
            <a:ext cx="129540" cy="1552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65C04D5-798C-AF3E-5C10-8FA4CB203D09}"/>
              </a:ext>
            </a:extLst>
          </p:cNvPr>
          <p:cNvCxnSpPr/>
          <p:nvPr/>
        </p:nvCxnSpPr>
        <p:spPr>
          <a:xfrm flipV="1">
            <a:off x="5273040" y="1455420"/>
            <a:ext cx="129540" cy="1552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BE0E9DB-31BE-F668-1FFB-A03A997D26EC}"/>
              </a:ext>
            </a:extLst>
          </p:cNvPr>
          <p:cNvCxnSpPr/>
          <p:nvPr/>
        </p:nvCxnSpPr>
        <p:spPr>
          <a:xfrm flipV="1">
            <a:off x="5478780" y="1455420"/>
            <a:ext cx="129540" cy="1552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A76ACA1C-ADF1-0D6E-32B3-037D152E3244}"/>
              </a:ext>
            </a:extLst>
          </p:cNvPr>
          <p:cNvCxnSpPr/>
          <p:nvPr/>
        </p:nvCxnSpPr>
        <p:spPr>
          <a:xfrm flipV="1">
            <a:off x="5623560" y="1470660"/>
            <a:ext cx="129540" cy="1552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137D09B-DEB6-7577-EFAB-70AD2E5F6E43}"/>
              </a:ext>
            </a:extLst>
          </p:cNvPr>
          <p:cNvCxnSpPr/>
          <p:nvPr/>
        </p:nvCxnSpPr>
        <p:spPr>
          <a:xfrm flipV="1">
            <a:off x="5836920" y="1447800"/>
            <a:ext cx="129540" cy="1552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848E31F-D294-859A-52E0-887CB3F2FBD2}"/>
              </a:ext>
            </a:extLst>
          </p:cNvPr>
          <p:cNvCxnSpPr/>
          <p:nvPr/>
        </p:nvCxnSpPr>
        <p:spPr>
          <a:xfrm flipV="1">
            <a:off x="6019800" y="1447800"/>
            <a:ext cx="129540" cy="1552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518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3206-0506-8262-9172-45B534E8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8A112A-9658-B531-7FD7-DA78242D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loi entrée/sortie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7550F1-2778-80A3-5473-80A5C400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12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C53BE54-3EC1-D516-BC5C-3CAFF5036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999" y="1693179"/>
            <a:ext cx="6903801" cy="383156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C0D424D-267D-FE5D-F265-B1FD541A576F}"/>
              </a:ext>
            </a:extLst>
          </p:cNvPr>
          <p:cNvSpPr txBox="1"/>
          <p:nvPr/>
        </p:nvSpPr>
        <p:spPr>
          <a:xfrm>
            <a:off x="838200" y="3429000"/>
            <a:ext cx="258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Entrée : l (course vérin) ;</a:t>
            </a:r>
          </a:p>
          <a:p>
            <a:r>
              <a:rPr lang="fr-FR" dirty="0"/>
              <a:t>Sortie : ɣ’2 ;</a:t>
            </a:r>
          </a:p>
        </p:txBody>
      </p:sp>
      <p:sp>
        <p:nvSpPr>
          <p:cNvPr id="11" name="Flèche : double flèche horizontale 10">
            <a:extLst>
              <a:ext uri="{FF2B5EF4-FFF2-40B4-BE49-F238E27FC236}">
                <a16:creationId xmlns:a16="http://schemas.microsoft.com/office/drawing/2014/main" id="{5D90D18E-FD76-D6D1-63FF-79205F83D5E0}"/>
              </a:ext>
            </a:extLst>
          </p:cNvPr>
          <p:cNvSpPr/>
          <p:nvPr/>
        </p:nvSpPr>
        <p:spPr>
          <a:xfrm rot="19491829">
            <a:off x="6700533" y="3063483"/>
            <a:ext cx="661481" cy="19272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9235029-727E-8811-32BE-6E326FDDE69F}"/>
              </a:ext>
            </a:extLst>
          </p:cNvPr>
          <p:cNvSpPr txBox="1"/>
          <p:nvPr/>
        </p:nvSpPr>
        <p:spPr>
          <a:xfrm>
            <a:off x="6713642" y="2566758"/>
            <a:ext cx="317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l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9BA6C40-FCE5-B177-4D78-8ACB85A49070}"/>
              </a:ext>
            </a:extLst>
          </p:cNvPr>
          <p:cNvSpPr/>
          <p:nvPr/>
        </p:nvSpPr>
        <p:spPr>
          <a:xfrm>
            <a:off x="9002598" y="3391094"/>
            <a:ext cx="1225484" cy="115242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D561843-D97A-DD53-CC67-0D927AAC6F75}"/>
              </a:ext>
            </a:extLst>
          </p:cNvPr>
          <p:cNvSpPr/>
          <p:nvPr/>
        </p:nvSpPr>
        <p:spPr>
          <a:xfrm>
            <a:off x="6495068" y="2413262"/>
            <a:ext cx="1381812" cy="14988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821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79423-40F1-18CB-5A83-31E54ECA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FDFC6-523D-A9E9-4E19-F9F46C09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AEE9F3-875D-D237-3BAE-D873A1D7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13</a:t>
            </a:fld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195A70E-E16C-1280-3498-99C3BEE9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" r="13310"/>
          <a:stretch>
            <a:fillRect/>
          </a:stretch>
        </p:blipFill>
        <p:spPr>
          <a:xfrm>
            <a:off x="5019836" y="58111"/>
            <a:ext cx="6848313" cy="55569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84DEF0-2167-AEF0-7EB1-879A1AE5219B}"/>
              </a:ext>
            </a:extLst>
          </p:cNvPr>
          <p:cNvSpPr/>
          <p:nvPr/>
        </p:nvSpPr>
        <p:spPr>
          <a:xfrm>
            <a:off x="1361063" y="5679011"/>
            <a:ext cx="7470648" cy="941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1E13505-9ED9-0ABF-1F6D-9F5CA066F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464" y="5806979"/>
            <a:ext cx="7184136" cy="68589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A88E8CD-3A79-2A8F-3727-64AF8E73C3D5}"/>
              </a:ext>
            </a:extLst>
          </p:cNvPr>
          <p:cNvSpPr txBox="1"/>
          <p:nvPr/>
        </p:nvSpPr>
        <p:spPr>
          <a:xfrm>
            <a:off x="1361063" y="2743200"/>
            <a:ext cx="1574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 : entrée ;</a:t>
            </a:r>
          </a:p>
          <a:p>
            <a:r>
              <a:rPr lang="fr-FR" dirty="0"/>
              <a:t>ɣ’2 : sortie</a:t>
            </a:r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BF2D728-8C16-F3FA-18A1-90C76976126B}"/>
              </a:ext>
            </a:extLst>
          </p:cNvPr>
          <p:cNvSpPr txBox="1"/>
          <p:nvPr/>
        </p:nvSpPr>
        <p:spPr>
          <a:xfrm>
            <a:off x="1269623" y="5245695"/>
            <a:ext cx="5487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Loi entrée – sortie : </a:t>
            </a:r>
          </a:p>
        </p:txBody>
      </p:sp>
    </p:spTree>
    <p:extLst>
      <p:ext uri="{BB962C8B-B14F-4D97-AF65-F5344CB8AC3E}">
        <p14:creationId xmlns:p14="http://schemas.microsoft.com/office/powerpoint/2010/main" val="2705608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D6218-47D5-CEB9-84A3-75F6E771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6B79FB-85B9-0EC4-5F7C-C7BCCD79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code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889CA2-6296-65A1-BF32-D7151F7C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14</a:t>
            </a:fld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F67036B-245E-5F55-B513-A4EE3DDEA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84" y="2024652"/>
            <a:ext cx="6228966" cy="325219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4CB1E44-0B89-2809-BCB8-7A0811E5B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239" y="1422452"/>
            <a:ext cx="5601482" cy="420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97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1025-973F-F124-FB08-8B2383D2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6EBA5-5A99-926D-53AF-AB0EDEB1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approche expérimentale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1E752B-E147-5FCE-8D4B-417F2948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15</a:t>
            </a:fld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65E65FC-D0BE-BE50-775F-CC3D6BCDB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2200275"/>
            <a:ext cx="6247801" cy="33148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2FA8054-A137-3127-BFA1-8DD4EB2C8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56619"/>
            <a:ext cx="5953125" cy="315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5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128C-6F31-D825-AE25-516D013F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105A0A-F095-4F21-BE3D-E27317FD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approche simulée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6270E5-F72F-DBBF-C028-258FDF24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16</a:t>
            </a:fld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FB79CEB-3704-EE45-87A1-53EB809AB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826"/>
            <a:ext cx="6753225" cy="341954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C8C337D-3772-B6A5-6CEE-BD5E16B6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75" y="2043262"/>
            <a:ext cx="6753225" cy="341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71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D7E4-F668-97DB-D592-C5C68B5A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BF4816-53AA-D04E-4440-84FA3F14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SW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A49438-FDD5-274D-A731-500BBD4A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17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B79B70-7754-B77A-8CA3-6B9F38E36DE1}"/>
              </a:ext>
            </a:extLst>
          </p:cNvPr>
          <p:cNvSpPr txBox="1"/>
          <p:nvPr/>
        </p:nvSpPr>
        <p:spPr>
          <a:xfrm>
            <a:off x="990600" y="2066925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Modèle volumique défaillant mais obtention possible d’une loi entrée sortie via </a:t>
            </a:r>
            <a:r>
              <a:rPr lang="fr-FR" dirty="0" err="1"/>
              <a:t>méca</a:t>
            </a:r>
            <a:r>
              <a:rPr lang="fr-FR" dirty="0"/>
              <a:t> 3D</a:t>
            </a:r>
          </a:p>
        </p:txBody>
      </p:sp>
    </p:spTree>
    <p:extLst>
      <p:ext uri="{BB962C8B-B14F-4D97-AF65-F5344CB8AC3E}">
        <p14:creationId xmlns:p14="http://schemas.microsoft.com/office/powerpoint/2010/main" val="421117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992B1-EDCE-6553-7C6D-71F220CA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41977-CD2F-B7CB-2812-AEEE5A9D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Travaux pratique : Bilan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469FBF-97B5-F5EC-C061-CC37F264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18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E0F90BC-3F51-1D4B-EF15-556CB99BB21E}"/>
              </a:ext>
            </a:extLst>
          </p:cNvPr>
          <p:cNvSpPr txBox="1"/>
          <p:nvPr/>
        </p:nvSpPr>
        <p:spPr>
          <a:xfrm>
            <a:off x="1085850" y="1914525"/>
            <a:ext cx="94964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différentes approches présentes des résultats très similaire.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Jumeau numérique correctement fait.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Différences mineures, effets non prient en compte en simulation (hypothèse simplificatrice justifiées)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Etude de l’écart via </a:t>
            </a:r>
            <a:r>
              <a:rPr lang="fr-FR" dirty="0" err="1"/>
              <a:t>excel</a:t>
            </a:r>
            <a:r>
              <a:rPr lang="fr-FR" dirty="0"/>
              <a:t> par exemple =&gt; interpolation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062C5E-86D9-848D-54C3-146F3ECC7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" y="3517009"/>
            <a:ext cx="3573644" cy="254230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EBE0B79-69E4-99FA-03E7-360AC9388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364" y="3662462"/>
            <a:ext cx="4181475" cy="22185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AB3C8B1-0ED5-FEB3-E787-0B24CC0CF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830" y="3662462"/>
            <a:ext cx="4124467" cy="225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66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39161-BD18-F2C2-AF09-8FA363607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008" y="1289153"/>
            <a:ext cx="9144000" cy="1909763"/>
          </a:xfrm>
        </p:spPr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Organisation d’une séquence de formation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0EB1A-FB2A-22EA-E3FD-7489BF21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19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274769-795B-45D9-7148-74A29052BF36}"/>
              </a:ext>
            </a:extLst>
          </p:cNvPr>
          <p:cNvSpPr txBox="1"/>
          <p:nvPr/>
        </p:nvSpPr>
        <p:spPr>
          <a:xfrm>
            <a:off x="1588008" y="3773043"/>
            <a:ext cx="9015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 utiliser les lois de la mécanique pour modéliser et prévoir la relation entre un mouvement d’entrée et un mouvement de sortie dans un mécanisme plan ou spatial simple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FCC939-C5E1-B9AC-7873-47E4EF04DB51}"/>
              </a:ext>
            </a:extLst>
          </p:cNvPr>
          <p:cNvSpPr txBox="1"/>
          <p:nvPr/>
        </p:nvSpPr>
        <p:spPr>
          <a:xfrm>
            <a:off x="4067174" y="5384181"/>
            <a:ext cx="4543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BTS Conception de Produits Industriels (CPI)</a:t>
            </a:r>
          </a:p>
        </p:txBody>
      </p:sp>
    </p:spTree>
    <p:extLst>
      <p:ext uri="{BB962C8B-B14F-4D97-AF65-F5344CB8AC3E}">
        <p14:creationId xmlns:p14="http://schemas.microsoft.com/office/powerpoint/2010/main" val="3865119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BCCCD-AF1E-493F-BD42-5832B44D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6C0F3A-5B54-887C-A630-DFCB200C5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558925"/>
            <a:ext cx="5048250" cy="4351338"/>
          </a:xfrm>
        </p:spPr>
        <p:txBody>
          <a:bodyPr>
            <a:normAutofit/>
          </a:bodyPr>
          <a:lstStyle/>
          <a:p>
            <a:r>
              <a:rPr lang="fr-FR" sz="2400" dirty="0"/>
              <a:t>BTS Conception de Produits Industriels (CPI) ;</a:t>
            </a:r>
          </a:p>
          <a:p>
            <a:r>
              <a:rPr lang="fr-FR" sz="2400" dirty="0"/>
              <a:t>De 12 à 20 étudiants par classe.</a:t>
            </a:r>
          </a:p>
          <a:p>
            <a:r>
              <a:rPr lang="fr-FR" sz="2400" dirty="0"/>
              <a:t>18,5 h d’EP/semaine en BTS1 et en BTS2 ;</a:t>
            </a:r>
          </a:p>
          <a:p>
            <a:r>
              <a:rPr lang="fr-FR" sz="2400" dirty="0"/>
              <a:t>1h/semaine ANNUALISE en </a:t>
            </a:r>
            <a:r>
              <a:rPr lang="fr-FR" sz="2400" dirty="0" err="1"/>
              <a:t>co</a:t>
            </a:r>
            <a:r>
              <a:rPr lang="fr-FR" sz="2400" dirty="0"/>
              <a:t>-intervention anglais ;</a:t>
            </a:r>
          </a:p>
          <a:p>
            <a:r>
              <a:rPr lang="fr-FR" sz="2400" dirty="0"/>
              <a:t>0,5h/semaine ANNUALISE en </a:t>
            </a:r>
            <a:r>
              <a:rPr lang="fr-FR" sz="2400" dirty="0" err="1"/>
              <a:t>co</a:t>
            </a:r>
            <a:r>
              <a:rPr lang="fr-FR" sz="2400" dirty="0"/>
              <a:t>-intervention mathématiques</a:t>
            </a:r>
          </a:p>
          <a:p>
            <a:pPr marL="0" indent="0">
              <a:buNone/>
            </a:pP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F6FCA0-D183-42FA-2AFD-A461290B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512A113-5E8F-7D17-D542-041EE002F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746" y="404107"/>
            <a:ext cx="6763254" cy="577285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6CA4EC5-4840-97F1-9D1D-F4954508C792}"/>
              </a:ext>
            </a:extLst>
          </p:cNvPr>
          <p:cNvSpPr txBox="1"/>
          <p:nvPr/>
        </p:nvSpPr>
        <p:spPr>
          <a:xfrm>
            <a:off x="247650" y="61307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 : cours en division entière, b : travaux dirigés ou pratiques de laboratoire, c : travaux pratiques d’atelier ou projet. </a:t>
            </a:r>
          </a:p>
        </p:txBody>
      </p:sp>
    </p:spTree>
    <p:extLst>
      <p:ext uri="{BB962C8B-B14F-4D97-AF65-F5344CB8AC3E}">
        <p14:creationId xmlns:p14="http://schemas.microsoft.com/office/powerpoint/2010/main" val="1390304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0FFA90-AB96-0C88-03ED-A2C398D2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compétences :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DAD1F3D-4F5B-800E-EB0D-D5D47C8E7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07" y="1690688"/>
            <a:ext cx="8215974" cy="358616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025CD2-D52B-66A9-9C2F-B9A33153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35D464-3293-DADD-7554-089299EEB620}"/>
              </a:ext>
            </a:extLst>
          </p:cNvPr>
          <p:cNvSpPr txBox="1"/>
          <p:nvPr/>
        </p:nvSpPr>
        <p:spPr>
          <a:xfrm>
            <a:off x="8634581" y="1885950"/>
            <a:ext cx="26334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Trouver une loi entrée sortie en : 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solidFill>
                  <a:schemeClr val="accent1"/>
                </a:solidFill>
              </a:rPr>
              <a:t>utilisant une fermeture géométrique  ;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solidFill>
                  <a:schemeClr val="accent1"/>
                </a:solidFill>
              </a:rPr>
              <a:t> utilisant un modeleur volumique ;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solidFill>
                  <a:schemeClr val="accent1"/>
                </a:solidFill>
              </a:rPr>
              <a:t>utilisant d’autres type de manipulations</a:t>
            </a:r>
          </a:p>
          <a:p>
            <a:endParaRPr lang="fr-FR" b="1" dirty="0">
              <a:solidFill>
                <a:schemeClr val="accent1"/>
              </a:solidFill>
            </a:endParaRPr>
          </a:p>
          <a:p>
            <a:r>
              <a:rPr lang="fr-FR" b="1" dirty="0">
                <a:solidFill>
                  <a:schemeClr val="accent1"/>
                </a:solidFill>
              </a:rPr>
              <a:t>Prédire le mouvement de sortie via un schéma cinématique.</a:t>
            </a:r>
          </a:p>
          <a:p>
            <a:endParaRPr lang="fr-FR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610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05829-0216-4D0F-E4A0-664E0288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savoirs associés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FD5FCCE-25B8-05CF-8E90-F0773F489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16" y="1509809"/>
            <a:ext cx="6813384" cy="498306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C4F32E-99E6-ACC8-7F3B-3A13F766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22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FF8D78-B37A-7BD9-6973-09A21ACB5E8B}"/>
              </a:ext>
            </a:extLst>
          </p:cNvPr>
          <p:cNvSpPr/>
          <p:nvPr/>
        </p:nvSpPr>
        <p:spPr>
          <a:xfrm>
            <a:off x="1104900" y="2962275"/>
            <a:ext cx="3807333" cy="20577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EC494A-49EF-10BD-0D6B-B2CEF0D8FA11}"/>
              </a:ext>
            </a:extLst>
          </p:cNvPr>
          <p:cNvSpPr txBox="1"/>
          <p:nvPr/>
        </p:nvSpPr>
        <p:spPr>
          <a:xfrm>
            <a:off x="8610600" y="1724026"/>
            <a:ext cx="3028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Liaisons mécaniques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DDL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Représentations des liaisons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Schéma cinématique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Graphe de liaisons.</a:t>
            </a:r>
          </a:p>
        </p:txBody>
      </p:sp>
    </p:spTree>
    <p:extLst>
      <p:ext uri="{BB962C8B-B14F-4D97-AF65-F5344CB8AC3E}">
        <p14:creationId xmlns:p14="http://schemas.microsoft.com/office/powerpoint/2010/main" val="3949418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F561-E396-9B05-6C09-2C35768F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3FE86C-CA02-A5E2-99C1-2E65E5E3C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: savoirs associés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E24833-BE24-5526-E326-189F158E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23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C678E8A-4215-6F6E-1DE5-C0B9B624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1131"/>
            <a:ext cx="10515600" cy="302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65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4A7F-095A-4804-AE44-2C3AD1B0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28837-290E-0926-F28E-241346C2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 de la séquence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129354F-31DC-C82F-4734-CC434175F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0" y="1690688"/>
            <a:ext cx="6620786" cy="435133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5D28AF-AEA2-95F2-2658-1C8FFD61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24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592D2E-20D0-DB7A-22DD-281BF7BBAEA1}"/>
              </a:ext>
            </a:extLst>
          </p:cNvPr>
          <p:cNvSpPr txBox="1"/>
          <p:nvPr/>
        </p:nvSpPr>
        <p:spPr>
          <a:xfrm>
            <a:off x="8505825" y="3100388"/>
            <a:ext cx="3381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1"/>
                </a:solidFill>
              </a:rPr>
              <a:t>Technologie des liaisons mécaniques (identification)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1"/>
                </a:solidFill>
              </a:rPr>
              <a:t>Transmission de puissance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82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48AC8-4531-819A-B760-31704282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D3CBA-0301-68F5-7D8F-BF5C9D62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Prérequis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EF6BD1-7BDB-4DDB-61A5-1CA339A4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25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C36FCCA-892A-23BE-9B5D-1C9913017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04" y="1527810"/>
            <a:ext cx="5295045" cy="475234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0345D0A-A725-4387-8467-93BA0D390F82}"/>
              </a:ext>
            </a:extLst>
          </p:cNvPr>
          <p:cNvSpPr txBox="1"/>
          <p:nvPr/>
        </p:nvSpPr>
        <p:spPr>
          <a:xfrm>
            <a:off x="7867650" y="3423285"/>
            <a:ext cx="2847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1"/>
                </a:solidFill>
              </a:rPr>
              <a:t>Moteur/Vérin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1"/>
                </a:solidFill>
              </a:rPr>
              <a:t>Capteurs notamment codeur.</a:t>
            </a:r>
          </a:p>
        </p:txBody>
      </p:sp>
    </p:spTree>
    <p:extLst>
      <p:ext uri="{BB962C8B-B14F-4D97-AF65-F5344CB8AC3E}">
        <p14:creationId xmlns:p14="http://schemas.microsoft.com/office/powerpoint/2010/main" val="758649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D75A6-421E-0281-92CF-C06AEFAB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BD644A-3283-A9F0-C332-238A81F9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Progression annuelle : les piliers du BTS CPI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91C538-A39A-777C-27B9-07420899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26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7AF4A3A-4DEA-7393-073D-A019DB44395B}"/>
              </a:ext>
            </a:extLst>
          </p:cNvPr>
          <p:cNvSpPr txBox="1"/>
          <p:nvPr/>
        </p:nvSpPr>
        <p:spPr>
          <a:xfrm>
            <a:off x="1280160" y="1892808"/>
            <a:ext cx="7397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b="1" u="sng" dirty="0">
                <a:solidFill>
                  <a:schemeClr val="accent1"/>
                </a:solidFill>
              </a:rPr>
              <a:t>Analyse et modélisation mécanique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Conception (dont CAO)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Fabrication/ industrialisation.</a:t>
            </a:r>
          </a:p>
        </p:txBody>
      </p:sp>
    </p:spTree>
    <p:extLst>
      <p:ext uri="{BB962C8B-B14F-4D97-AF65-F5344CB8AC3E}">
        <p14:creationId xmlns:p14="http://schemas.microsoft.com/office/powerpoint/2010/main" val="3213299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DC14-BFE3-E4D4-2CEC-2D2B4EA5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EED84-81E8-C285-9F8A-D1AA983D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Progression annuelle : partie analyse et modélisation mécanique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D05680-4744-D971-83A6-07B46FC2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27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DCFF9A-47C8-7098-43CA-767A4C38AA77}"/>
              </a:ext>
            </a:extLst>
          </p:cNvPr>
          <p:cNvSpPr txBox="1"/>
          <p:nvPr/>
        </p:nvSpPr>
        <p:spPr>
          <a:xfrm>
            <a:off x="1252728" y="1975104"/>
            <a:ext cx="89976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Septembre : découverte système et analyse fonctionnelle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Octobre : liaison mécaniques et schémas cinématique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Novembre : Cinématique, notion de rendement, décrire/comprendre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u="sng" dirty="0">
                <a:solidFill>
                  <a:schemeClr val="accent1"/>
                </a:solidFill>
              </a:rPr>
              <a:t>Décembre : Cinématique loi entrée sortie, fermeture géométrique, représenter/modéliser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Janvier-Avril : Dynamique, études complètes de mécanismes.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Mai-Juin : Stage (si BTS en initial).</a:t>
            </a:r>
          </a:p>
        </p:txBody>
      </p:sp>
    </p:spTree>
    <p:extLst>
      <p:ext uri="{BB962C8B-B14F-4D97-AF65-F5344CB8AC3E}">
        <p14:creationId xmlns:p14="http://schemas.microsoft.com/office/powerpoint/2010/main" val="1855551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CDEB4-BEB1-5A42-2E9F-8C12F4CF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 : modalités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CFD435-BA12-2E5B-867F-31A079FC8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18,5 h d’enseignement professionnel ;</a:t>
            </a:r>
          </a:p>
          <a:p>
            <a:r>
              <a:rPr lang="fr-FR" dirty="0"/>
              <a:t>16 h allouées à cette séquence (~ 2 semaines) ;</a:t>
            </a:r>
          </a:p>
          <a:p>
            <a:r>
              <a:rPr lang="fr-FR" dirty="0"/>
              <a:t>8 h de cours/TD ;</a:t>
            </a:r>
          </a:p>
          <a:p>
            <a:r>
              <a:rPr lang="fr-FR" dirty="0"/>
              <a:t>8 h d’activités pratiques.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B63B8C-EA60-94A8-FC39-09098EA6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942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B8BB-6307-A7AE-8336-01031C45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C35FD-02AF-AFF6-7F52-3DC13636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FA9E1-4BEE-C359-16E3-E9AC9FB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29</a:t>
            </a:fld>
            <a:endParaRPr lang="fr-FR"/>
          </a:p>
        </p:txBody>
      </p:sp>
      <p:sp>
        <p:nvSpPr>
          <p:cNvPr id="5" name="Flèche : chevron 4">
            <a:extLst>
              <a:ext uri="{FF2B5EF4-FFF2-40B4-BE49-F238E27FC236}">
                <a16:creationId xmlns:a16="http://schemas.microsoft.com/office/drawing/2014/main" id="{1C121B8C-5FAE-F770-F47B-50A4002EDA81}"/>
              </a:ext>
            </a:extLst>
          </p:cNvPr>
          <p:cNvSpPr/>
          <p:nvPr/>
        </p:nvSpPr>
        <p:spPr>
          <a:xfrm>
            <a:off x="571881" y="2057400"/>
            <a:ext cx="3337560" cy="1673352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Cours 1 </a:t>
            </a:r>
          </a:p>
        </p:txBody>
      </p:sp>
      <p:sp>
        <p:nvSpPr>
          <p:cNvPr id="13" name="Flèche : chevron 12">
            <a:extLst>
              <a:ext uri="{FF2B5EF4-FFF2-40B4-BE49-F238E27FC236}">
                <a16:creationId xmlns:a16="http://schemas.microsoft.com/office/drawing/2014/main" id="{37686E5C-93EF-9009-6461-3AEF1CEE29C0}"/>
              </a:ext>
            </a:extLst>
          </p:cNvPr>
          <p:cNvSpPr/>
          <p:nvPr/>
        </p:nvSpPr>
        <p:spPr>
          <a:xfrm>
            <a:off x="3162300" y="2057400"/>
            <a:ext cx="3337560" cy="1673352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SCE stabilisateur gyroscopique</a:t>
            </a:r>
          </a:p>
        </p:txBody>
      </p:sp>
      <p:sp>
        <p:nvSpPr>
          <p:cNvPr id="14" name="Flèche : chevron 13">
            <a:extLst>
              <a:ext uri="{FF2B5EF4-FFF2-40B4-BE49-F238E27FC236}">
                <a16:creationId xmlns:a16="http://schemas.microsoft.com/office/drawing/2014/main" id="{708DEDD5-12DD-50EC-DA8F-E4C373EB5A14}"/>
              </a:ext>
            </a:extLst>
          </p:cNvPr>
          <p:cNvSpPr/>
          <p:nvPr/>
        </p:nvSpPr>
        <p:spPr>
          <a:xfrm>
            <a:off x="5737860" y="2057400"/>
            <a:ext cx="3337560" cy="1673352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Cours 2</a:t>
            </a:r>
          </a:p>
        </p:txBody>
      </p:sp>
      <p:sp>
        <p:nvSpPr>
          <p:cNvPr id="15" name="Flèche : chevron 14">
            <a:extLst>
              <a:ext uri="{FF2B5EF4-FFF2-40B4-BE49-F238E27FC236}">
                <a16:creationId xmlns:a16="http://schemas.microsoft.com/office/drawing/2014/main" id="{A2ABB116-7E7E-34DF-A76A-3B57FFD04420}"/>
              </a:ext>
            </a:extLst>
          </p:cNvPr>
          <p:cNvSpPr/>
          <p:nvPr/>
        </p:nvSpPr>
        <p:spPr>
          <a:xfrm>
            <a:off x="8313420" y="2057400"/>
            <a:ext cx="3337560" cy="1673352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dirty="0">
                <a:solidFill>
                  <a:schemeClr val="tx1"/>
                </a:solidFill>
              </a:rPr>
              <a:t>SCE </a:t>
            </a:r>
            <a:r>
              <a:rPr lang="fr-FR" dirty="0" err="1">
                <a:solidFill>
                  <a:schemeClr val="tx1"/>
                </a:solidFill>
              </a:rPr>
              <a:t>Solidworks</a:t>
            </a:r>
            <a:r>
              <a:rPr lang="fr-FR" dirty="0">
                <a:solidFill>
                  <a:schemeClr val="tx1"/>
                </a:solidFill>
              </a:rPr>
              <a:t> (</a:t>
            </a:r>
            <a:r>
              <a:rPr lang="fr-FR" dirty="0" err="1">
                <a:solidFill>
                  <a:schemeClr val="tx1"/>
                </a:solidFill>
              </a:rPr>
              <a:t>méca</a:t>
            </a:r>
            <a:r>
              <a:rPr lang="fr-FR" dirty="0">
                <a:solidFill>
                  <a:schemeClr val="tx1"/>
                </a:solidFill>
              </a:rPr>
              <a:t> 3D)</a:t>
            </a: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FA0062A-4CA8-4551-572A-C988C8D83344}"/>
              </a:ext>
            </a:extLst>
          </p:cNvPr>
          <p:cNvSpPr txBox="1"/>
          <p:nvPr/>
        </p:nvSpPr>
        <p:spPr>
          <a:xfrm>
            <a:off x="4493323" y="1742172"/>
            <a:ext cx="7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4h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C771853-7B21-4BCA-79A5-8D864E97D6B7}"/>
              </a:ext>
            </a:extLst>
          </p:cNvPr>
          <p:cNvSpPr txBox="1"/>
          <p:nvPr/>
        </p:nvSpPr>
        <p:spPr>
          <a:xfrm>
            <a:off x="1964626" y="1723884"/>
            <a:ext cx="7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4h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0E1E9C6-D2D7-BE14-48C9-F69AAB61E2F1}"/>
              </a:ext>
            </a:extLst>
          </p:cNvPr>
          <p:cNvSpPr txBox="1"/>
          <p:nvPr/>
        </p:nvSpPr>
        <p:spPr>
          <a:xfrm>
            <a:off x="6935534" y="1742172"/>
            <a:ext cx="7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4h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473797D-14C4-F20E-8658-FB41AE6B6BE5}"/>
              </a:ext>
            </a:extLst>
          </p:cNvPr>
          <p:cNvSpPr txBox="1"/>
          <p:nvPr/>
        </p:nvSpPr>
        <p:spPr>
          <a:xfrm>
            <a:off x="9362694" y="1723884"/>
            <a:ext cx="7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4h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33265DD-B042-D279-FAE5-0D8818CCAC7D}"/>
              </a:ext>
            </a:extLst>
          </p:cNvPr>
          <p:cNvSpPr txBox="1"/>
          <p:nvPr/>
        </p:nvSpPr>
        <p:spPr>
          <a:xfrm>
            <a:off x="728662" y="4828032"/>
            <a:ext cx="202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Introduction »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7E324BF-793E-F219-A460-999830539E8E}"/>
              </a:ext>
            </a:extLst>
          </p:cNvPr>
          <p:cNvSpPr txBox="1"/>
          <p:nvPr/>
        </p:nvSpPr>
        <p:spPr>
          <a:xfrm>
            <a:off x="3162300" y="4828032"/>
            <a:ext cx="3060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Approfondissement »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8D60852-65DA-3097-60C7-71997541E565}"/>
              </a:ext>
            </a:extLst>
          </p:cNvPr>
          <p:cNvSpPr txBox="1"/>
          <p:nvPr/>
        </p:nvSpPr>
        <p:spPr>
          <a:xfrm>
            <a:off x="5957316" y="4828032"/>
            <a:ext cx="2898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 Réinvestissement »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2C1B675-DF55-4E3D-9019-0F4EB56F1DE3}"/>
              </a:ext>
            </a:extLst>
          </p:cNvPr>
          <p:cNvSpPr txBox="1"/>
          <p:nvPr/>
        </p:nvSpPr>
        <p:spPr>
          <a:xfrm>
            <a:off x="8855964" y="4828032"/>
            <a:ext cx="227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Evaluation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277CA8C3-ED35-5E85-6811-6353BC636C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37375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1044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B28A-104F-C179-DFCE-09374809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01E08-0341-92B2-583F-8DDCBE8D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C33F44-5988-071B-7515-57AFA3D7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30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82A6DF-6DBC-45DF-161A-8A6B2AD1DD23}"/>
              </a:ext>
            </a:extLst>
          </p:cNvPr>
          <p:cNvSpPr txBox="1"/>
          <p:nvPr/>
        </p:nvSpPr>
        <p:spPr>
          <a:xfrm>
            <a:off x="838200" y="1293756"/>
            <a:ext cx="5690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 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786715-1223-ED01-AB6D-168612C0AABF}"/>
              </a:ext>
            </a:extLst>
          </p:cNvPr>
          <p:cNvSpPr txBox="1"/>
          <p:nvPr/>
        </p:nvSpPr>
        <p:spPr>
          <a:xfrm>
            <a:off x="838200" y="2109034"/>
            <a:ext cx="9509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Rappel sur la cinématique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Emergence de la notion d’entrée/sortie dans un mécanisme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Méthode pour lier le paramètre d’entrée et le paramètre de sortie sur des schéma cinématique simple (fermeture géométrique)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Rappel mathématique (trigo et projection) =&gt; Co-intervention STI/Maths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3AA701D-90DA-F103-1E16-4AB40547F6F3}"/>
              </a:ext>
            </a:extLst>
          </p:cNvPr>
          <p:cNvSpPr txBox="1"/>
          <p:nvPr/>
        </p:nvSpPr>
        <p:spPr>
          <a:xfrm>
            <a:off x="838200" y="3809918"/>
            <a:ext cx="9238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TD guidé 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Faire le schéma cinématique du mécanisme 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Identifier les paramètres 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Fermeture géométrique 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Projection et résolution.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fr-FR" dirty="0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559FA151-F037-45F2-88C2-812349B18DE1}"/>
              </a:ext>
            </a:extLst>
          </p:cNvPr>
          <p:cNvSpPr/>
          <p:nvPr/>
        </p:nvSpPr>
        <p:spPr>
          <a:xfrm rot="10800000">
            <a:off x="9217152" y="1984248"/>
            <a:ext cx="859536" cy="160211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ccolade ouvrante 8">
            <a:extLst>
              <a:ext uri="{FF2B5EF4-FFF2-40B4-BE49-F238E27FC236}">
                <a16:creationId xmlns:a16="http://schemas.microsoft.com/office/drawing/2014/main" id="{A19B6CD2-3D85-5BBC-F8DE-07EA7CDC7B5B}"/>
              </a:ext>
            </a:extLst>
          </p:cNvPr>
          <p:cNvSpPr/>
          <p:nvPr/>
        </p:nvSpPr>
        <p:spPr>
          <a:xfrm rot="10800000">
            <a:off x="9217152" y="4004708"/>
            <a:ext cx="859536" cy="160211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080E899-4742-B720-A679-B03F6E66C9BD}"/>
              </a:ext>
            </a:extLst>
          </p:cNvPr>
          <p:cNvSpPr txBox="1"/>
          <p:nvPr/>
        </p:nvSpPr>
        <p:spPr>
          <a:xfrm>
            <a:off x="10347960" y="25786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2h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DD96817-6357-911C-C8B0-06292E58277F}"/>
              </a:ext>
            </a:extLst>
          </p:cNvPr>
          <p:cNvSpPr txBox="1"/>
          <p:nvPr/>
        </p:nvSpPr>
        <p:spPr>
          <a:xfrm>
            <a:off x="10347960" y="4602024"/>
            <a:ext cx="59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2h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989A61-FC68-1306-B829-7F7B0BF90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889" y="4516872"/>
            <a:ext cx="3789343" cy="220460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FAAC131-1170-E318-E44D-0ACEF0ED6CB0}"/>
              </a:ext>
            </a:extLst>
          </p:cNvPr>
          <p:cNvSpPr txBox="1"/>
          <p:nvPr/>
        </p:nvSpPr>
        <p:spPr>
          <a:xfrm>
            <a:off x="5054384" y="6352143"/>
            <a:ext cx="3659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Schéma cinématique d’une pompe</a:t>
            </a:r>
          </a:p>
        </p:txBody>
      </p:sp>
    </p:spTree>
    <p:extLst>
      <p:ext uri="{BB962C8B-B14F-4D97-AF65-F5344CB8AC3E}">
        <p14:creationId xmlns:p14="http://schemas.microsoft.com/office/powerpoint/2010/main" val="3733056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67DB-A165-62CD-2199-620AF809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9DB33-9ED1-AAEB-AE37-99C3B142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EB92DE-1DEF-5E71-B0E5-0D22BD82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2405C2-158F-79ED-4A75-39D25E0812DE}"/>
              </a:ext>
            </a:extLst>
          </p:cNvPr>
          <p:cNvSpPr txBox="1"/>
          <p:nvPr/>
        </p:nvSpPr>
        <p:spPr>
          <a:xfrm>
            <a:off x="838200" y="1293756"/>
            <a:ext cx="963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 stabilisateur gyroscopique 4h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0597B49-EC4F-C600-F8F3-9E743D6D804B}"/>
              </a:ext>
            </a:extLst>
          </p:cNvPr>
          <p:cNvSpPr txBox="1"/>
          <p:nvPr/>
        </p:nvSpPr>
        <p:spPr>
          <a:xfrm>
            <a:off x="838200" y="1878531"/>
            <a:ext cx="877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 : obtenir une loi entrée sortie à l’aide de mesure par groupe de 2 étudiants.</a:t>
            </a:r>
          </a:p>
          <a:p>
            <a:endParaRPr lang="fr-FR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8EB621-7BD3-43DE-BC6E-0184BE8D2906}"/>
              </a:ext>
            </a:extLst>
          </p:cNvPr>
          <p:cNvSpPr txBox="1"/>
          <p:nvPr/>
        </p:nvSpPr>
        <p:spPr>
          <a:xfrm>
            <a:off x="1313688" y="2592358"/>
            <a:ext cx="100401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Démonstration système par l’enseignant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Analyse du mécanisme : schéma cinématique puis discussion/correction avec l’enseignant;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Travail sur jumeaux numérique : prise en main logiciel via une notice.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Identifier les différents actionneurs : Quelles sont leur fonction ? Identifier les différents mécanismes sur la maquette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Avec le joystick et l’outil de tracer, réaliser une acquisition relative au vérin d’orientation du volant d’inertie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Tracer la loi entrée sortie.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Pour le vérin relatif à la surcharge, réaliser une acquisition et tracer la loi entrée/sortie.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7622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629F-7491-75AC-756D-6A3C3C18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BCCC2-D033-F507-8ACC-55C8CCC1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4F2276-D6AB-6FBE-E174-FE32D732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32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02A23D-08C8-03BC-D045-1193BA80E2C9}"/>
              </a:ext>
            </a:extLst>
          </p:cNvPr>
          <p:cNvSpPr txBox="1"/>
          <p:nvPr/>
        </p:nvSpPr>
        <p:spPr>
          <a:xfrm>
            <a:off x="838200" y="1298448"/>
            <a:ext cx="5690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 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508BC9-8E2E-3395-9611-1551B514B2FD}"/>
              </a:ext>
            </a:extLst>
          </p:cNvPr>
          <p:cNvSpPr txBox="1"/>
          <p:nvPr/>
        </p:nvSpPr>
        <p:spPr>
          <a:xfrm>
            <a:off x="1472184" y="2139185"/>
            <a:ext cx="97566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TD stabilisateur gyroscopique : trouver la loi entrée/sortie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L’enseignant trace cette loi et montre qu’elle est similaire à celle obtenue par les étudiants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Application/TD : trouver la loi entrée sortie et la tracer (</a:t>
            </a:r>
            <a:r>
              <a:rPr lang="fr-FR" dirty="0" err="1"/>
              <a:t>Geogebra</a:t>
            </a:r>
            <a:r>
              <a:rPr lang="fr-FR" dirty="0"/>
              <a:t>) si PC disponible, sur différents exemples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Dernière demi-heure de ce bloc : contrôle sur table ramassé par l’enseignant.  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4EAC62-F636-F359-5B09-DA8B9C21B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3872475"/>
            <a:ext cx="2350008" cy="233937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A9EB2BC-575C-CA7F-5BB3-5BB9F7761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371" y="3873242"/>
            <a:ext cx="3766662" cy="233860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6C85E385-4BF3-23C9-E95A-ED973EDF0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163" y="4215560"/>
            <a:ext cx="3953907" cy="16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73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2DA25-50A4-AD9E-151E-DEE0E79D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A0305-FCAF-A816-508C-6D8C1758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2F5A0A-67C5-8095-2CE6-FF8F2BAE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33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D58389-2380-8D70-AA99-CC041892C1B1}"/>
              </a:ext>
            </a:extLst>
          </p:cNvPr>
          <p:cNvSpPr txBox="1"/>
          <p:nvPr/>
        </p:nvSpPr>
        <p:spPr>
          <a:xfrm>
            <a:off x="838200" y="1293756"/>
            <a:ext cx="963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 mécanisme sur SolidWorks Meca 3D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BEC29F1-2CB2-63A2-2BC4-80D9B56C0C8C}"/>
              </a:ext>
            </a:extLst>
          </p:cNvPr>
          <p:cNvSpPr txBox="1"/>
          <p:nvPr/>
        </p:nvSpPr>
        <p:spPr>
          <a:xfrm>
            <a:off x="838200" y="1878531"/>
            <a:ext cx="877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 : obtenir une loi entrée sortie à l’aide d’un modeleur volumique</a:t>
            </a:r>
          </a:p>
          <a:p>
            <a:endParaRPr lang="fr-FR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E504A8B-E854-24AE-17EC-38499B4B2734}"/>
              </a:ext>
            </a:extLst>
          </p:cNvPr>
          <p:cNvSpPr txBox="1"/>
          <p:nvPr/>
        </p:nvSpPr>
        <p:spPr>
          <a:xfrm>
            <a:off x="1008888" y="2378670"/>
            <a:ext cx="76017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L’enseignant, sur un exemple simple, présente les manipulations que devront faire les étudiants sur </a:t>
            </a:r>
            <a:r>
              <a:rPr lang="fr-FR" dirty="0" err="1"/>
              <a:t>méca</a:t>
            </a:r>
            <a:r>
              <a:rPr lang="fr-FR" dirty="0"/>
              <a:t> 3D afin de simuler un mouvement et obtenir une loi entrée sortie sur un mécanisme.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Sur 1 h, les étudiants suivent des fiches méthodes/tutoriel et prennent en main la manipulation.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2 dernières heures seront consacrées à 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Assemblage d’un mécanisme sous SolidWorks ; Objectif : Choisir les bonnes liaisons/compréhension du mécanisme;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 Piloter l’entrée / Observer la sortie 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Relever des positions (5 à 10) 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Proposer une loi entrée / sortie. </a:t>
            </a:r>
          </a:p>
        </p:txBody>
      </p:sp>
    </p:spTree>
    <p:extLst>
      <p:ext uri="{BB962C8B-B14F-4D97-AF65-F5344CB8AC3E}">
        <p14:creationId xmlns:p14="http://schemas.microsoft.com/office/powerpoint/2010/main" val="290609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DBA8C-3D40-DFF1-5C4B-428D64F5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99803-8497-98CD-C747-D0C972AB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153F90-52BE-FE4E-0925-F59D9BDF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34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8B414D-8F6A-DD81-65BD-20A84FE53EEB}"/>
              </a:ext>
            </a:extLst>
          </p:cNvPr>
          <p:cNvSpPr txBox="1"/>
          <p:nvPr/>
        </p:nvSpPr>
        <p:spPr>
          <a:xfrm>
            <a:off x="838200" y="1293756"/>
            <a:ext cx="963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 mécanisme sur SolidWorks Meca 3D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BD7FB78-109C-4EB6-E392-5E8A8A279FA8}"/>
              </a:ext>
            </a:extLst>
          </p:cNvPr>
          <p:cNvSpPr txBox="1"/>
          <p:nvPr/>
        </p:nvSpPr>
        <p:spPr>
          <a:xfrm>
            <a:off x="838200" y="1878531"/>
            <a:ext cx="877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 : obtenir une loi entrée sortie à l’aide d’un modeleur volumique</a:t>
            </a:r>
          </a:p>
          <a:p>
            <a:endParaRPr lang="fr-FR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BF42759-D417-ED71-4D4E-8A57D8AFBD91}"/>
              </a:ext>
            </a:extLst>
          </p:cNvPr>
          <p:cNvSpPr txBox="1"/>
          <p:nvPr/>
        </p:nvSpPr>
        <p:spPr>
          <a:xfrm>
            <a:off x="1008888" y="2378670"/>
            <a:ext cx="7601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Barème 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Assemblage cohérent 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Identification entrée / sortie (compréhension mécanisme) ;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Relevé de donnée ;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Liaisons correctes 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/>
              <a:t>Analyse.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0F7A3EB-B06E-A3ED-AA0A-3C6562BC3286}"/>
              </a:ext>
            </a:extLst>
          </p:cNvPr>
          <p:cNvSpPr txBox="1"/>
          <p:nvPr/>
        </p:nvSpPr>
        <p:spPr>
          <a:xfrm>
            <a:off x="1115568" y="4306824"/>
            <a:ext cx="5568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Rendu numérique + fiche à compléter.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CC635C0-0D30-23B9-7B13-D66377FC5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777" y="3739169"/>
            <a:ext cx="4943022" cy="200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28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AB149-176B-75EB-E595-058E8BB6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Bilan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84F02E-C283-9921-A40B-64F703B6F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fr-FR" sz="2000" dirty="0"/>
              <a:t>  Savoirs mobilisés :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S3.2.1: modélisations des mécanismes : chaînes de liaisons et cinématique des liaisons mécanique ;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S3.2.3 : Mouvement plan.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C9B045-7AA8-F802-CD41-F97F836F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35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46E9FC8-B68B-5E3D-5254-F793CDC4BE1C}"/>
              </a:ext>
            </a:extLst>
          </p:cNvPr>
          <p:cNvSpPr txBox="1"/>
          <p:nvPr/>
        </p:nvSpPr>
        <p:spPr>
          <a:xfrm>
            <a:off x="838200" y="3184515"/>
            <a:ext cx="80558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Compétence travaillée : </a:t>
            </a:r>
          </a:p>
          <a:p>
            <a:r>
              <a:rPr lang="fr-FR" sz="2000" dirty="0"/>
              <a:t>C9.1 : Mobiliser les connaissances de mécanique dans l’objectif d’établir des relations d’entrées-sorties de mécanismes plans ou spatiaux se prêtant à une modélisation simple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5163256-294D-E056-017A-23D498D7D8FE}"/>
              </a:ext>
            </a:extLst>
          </p:cNvPr>
          <p:cNvSpPr txBox="1"/>
          <p:nvPr/>
        </p:nvSpPr>
        <p:spPr>
          <a:xfrm>
            <a:off x="838200" y="4507954"/>
            <a:ext cx="8220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C3 : Formuler et transmettre des informations, communiquer</a:t>
            </a:r>
          </a:p>
          <a:p>
            <a:r>
              <a:rPr lang="fr-FR" dirty="0"/>
              <a:t>C4 : S’impliquer dans un groupe projet et argumenter des choix techniques</a:t>
            </a:r>
          </a:p>
        </p:txBody>
      </p:sp>
    </p:spTree>
    <p:extLst>
      <p:ext uri="{BB962C8B-B14F-4D97-AF65-F5344CB8AC3E}">
        <p14:creationId xmlns:p14="http://schemas.microsoft.com/office/powerpoint/2010/main" val="2225673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786F1-6107-B718-A7A0-ABB51CA7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7117"/>
            <a:ext cx="10515600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C08B1F-C0A0-7A00-02F8-DC97FE60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0205-AF05-4B33-965E-90BF431DF3FA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9743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1282</Words>
  <Application>Microsoft Office PowerPoint</Application>
  <PresentationFormat>Grand écran</PresentationFormat>
  <Paragraphs>214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Thème Office</vt:lpstr>
      <vt:lpstr>Support didactisée : Stabilisateur gyroscopique de bateau</vt:lpstr>
      <vt:lpstr>Généralité</vt:lpstr>
      <vt:lpstr>Matériel</vt:lpstr>
      <vt:lpstr>Sécurité </vt:lpstr>
      <vt:lpstr>Logiciel : Myvis</vt:lpstr>
      <vt:lpstr>Logiciel : Myvis</vt:lpstr>
      <vt:lpstr>Logiciel : Myvis</vt:lpstr>
      <vt:lpstr>Potentialité didactique</vt:lpstr>
      <vt:lpstr>Travaux pratique : modélisation plane </vt:lpstr>
      <vt:lpstr>Travaux pratique : modélisation des liaisons </vt:lpstr>
      <vt:lpstr>Travaux pratique : graphe de liasons</vt:lpstr>
      <vt:lpstr>Travaux pratique : loi entrée/sortie </vt:lpstr>
      <vt:lpstr>Travaux pratique </vt:lpstr>
      <vt:lpstr>Travaux pratique : code </vt:lpstr>
      <vt:lpstr>Travaux pratique : approche expérimentale </vt:lpstr>
      <vt:lpstr>Travaux pratique : approche simulée </vt:lpstr>
      <vt:lpstr>Travaux pratique : SW</vt:lpstr>
      <vt:lpstr>Travaux pratique : Bilan</vt:lpstr>
      <vt:lpstr>Organisation d’une séquence de formation</vt:lpstr>
      <vt:lpstr>Modalité</vt:lpstr>
      <vt:lpstr>Objectifs : compétences :</vt:lpstr>
      <vt:lpstr>Objectifs : savoirs associés</vt:lpstr>
      <vt:lpstr>Objectifs : savoirs associés</vt:lpstr>
      <vt:lpstr>Prérequis de la séquence</vt:lpstr>
      <vt:lpstr>Prérequis de la séquence</vt:lpstr>
      <vt:lpstr>Progression annuelle : les piliers du BTS CPI</vt:lpstr>
      <vt:lpstr>Progression annuelle : partie analyse et modélisation mécanique</vt:lpstr>
      <vt:lpstr>Architecture de la séquence : modalités</vt:lpstr>
      <vt:lpstr>Architecture de la séquence</vt:lpstr>
      <vt:lpstr>Architecture de la séquence</vt:lpstr>
      <vt:lpstr>Architecture de la séquence</vt:lpstr>
      <vt:lpstr>Architecture de la séquence</vt:lpstr>
      <vt:lpstr>Architecture de la séquence</vt:lpstr>
      <vt:lpstr>Architecture de la séquence</vt:lpstr>
      <vt:lpstr>Bilan :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Thierry jolan</dc:creator>
  <cp:lastModifiedBy>Thierry jolan</cp:lastModifiedBy>
  <cp:revision>18</cp:revision>
  <dcterms:created xsi:type="dcterms:W3CDTF">2026-03-16T15:55:52Z</dcterms:created>
  <dcterms:modified xsi:type="dcterms:W3CDTF">2026-03-20T11:31:58Z</dcterms:modified>
</cp:coreProperties>
</file>