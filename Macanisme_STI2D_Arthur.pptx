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omments/comment1.xml" ContentType="application/vnd.openxmlformats-officedocument.presentationml.comments+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86" r:id="rId2"/>
    <p:sldId id="289" r:id="rId3"/>
    <p:sldId id="293" r:id="rId4"/>
    <p:sldId id="290" r:id="rId5"/>
    <p:sldId id="294" r:id="rId6"/>
    <p:sldId id="295" r:id="rId7"/>
    <p:sldId id="296" r:id="rId8"/>
    <p:sldId id="297" r:id="rId9"/>
    <p:sldId id="298" r:id="rId10"/>
    <p:sldId id="299" r:id="rId11"/>
    <p:sldId id="300" r:id="rId12"/>
    <p:sldId id="303" r:id="rId13"/>
    <p:sldId id="304" r:id="rId14"/>
    <p:sldId id="305" r:id="rId15"/>
    <p:sldId id="292" r:id="rId16"/>
    <p:sldId id="306" r:id="rId17"/>
    <p:sldId id="301" r:id="rId18"/>
    <p:sldId id="310" r:id="rId19"/>
    <p:sldId id="309" r:id="rId20"/>
    <p:sldId id="308" r:id="rId21"/>
    <p:sldId id="311" r:id="rId22"/>
    <p:sldId id="312" r:id="rId23"/>
    <p:sldId id="281" r:id="rId24"/>
    <p:sldId id="313" r:id="rId25"/>
    <p:sldId id="291" r:id="rId26"/>
    <p:sldId id="287" r:id="rId27"/>
    <p:sldId id="288" r:id="rId28"/>
    <p:sldId id="270" r:id="rId29"/>
    <p:sldId id="272" r:id="rId3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evisani Arthur" initials="AP" lastIdx="1" clrIdx="0">
    <p:extLst>
      <p:ext uri="{19B8F6BF-5375-455C-9EA6-DF929625EA0E}">
        <p15:presenceInfo xmlns:p15="http://schemas.microsoft.com/office/powerpoint/2012/main" userId="S::arthur.previsani@ens-rennes.fr::121b42a6-0d5d-437c-9257-bdea03a971e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EB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02" autoAdjust="0"/>
    <p:restoredTop sz="75621" autoAdjust="0"/>
  </p:normalViewPr>
  <p:slideViewPr>
    <p:cSldViewPr snapToGrid="0">
      <p:cViewPr varScale="1">
        <p:scale>
          <a:sx n="84" d="100"/>
          <a:sy n="84" d="100"/>
        </p:scale>
        <p:origin x="153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C:\Users\Nounouille\Documents\Cle_esd\3eme_ann&#233;e\3B\Prepa%20oral%20commun\MaxPID\test%20tp%20&#233;leves.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r>
              <a:rPr lang="fr-FR" sz="2000"/>
              <a:t>Angle</a:t>
            </a:r>
            <a:r>
              <a:rPr lang="fr-FR" sz="2000" baseline="0"/>
              <a:t> b</a:t>
            </a:r>
            <a:r>
              <a:rPr lang="fr-FR" sz="2000"/>
              <a:t>ras</a:t>
            </a:r>
            <a:r>
              <a:rPr lang="fr-FR" sz="2000" baseline="0"/>
              <a:t> géométrique vs mesuré</a:t>
            </a:r>
            <a:endParaRPr lang="fr-FR" sz="2000"/>
          </a:p>
        </c:rich>
      </c:tx>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scatterChart>
        <c:scatterStyle val="smoothMarker"/>
        <c:varyColors val="0"/>
        <c:ser>
          <c:idx val="1"/>
          <c:order val="1"/>
          <c:tx>
            <c:strRef>
              <c:f>Feuil1!$E$2</c:f>
              <c:strCache>
                <c:ptCount val="1"/>
                <c:pt idx="0">
                  <c:v>theta bras</c:v>
                </c:pt>
              </c:strCache>
            </c:strRef>
          </c:tx>
          <c:spPr>
            <a:ln w="19050" cap="rnd">
              <a:solidFill>
                <a:schemeClr val="accent2"/>
              </a:solidFill>
              <a:round/>
            </a:ln>
            <a:effectLst/>
          </c:spPr>
          <c:marker>
            <c:symbol val="none"/>
          </c:marker>
          <c:xVal>
            <c:numRef>
              <c:f>Feuil1!$B$3:$B$29</c:f>
              <c:numCache>
                <c:formatCode>General</c:formatCode>
                <c:ptCount val="27"/>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numCache>
            </c:numRef>
          </c:xVal>
          <c:yVal>
            <c:numRef>
              <c:f>Feuil1!$E$3:$E$29</c:f>
              <c:numCache>
                <c:formatCode>General</c:formatCode>
                <c:ptCount val="27"/>
                <c:pt idx="0">
                  <c:v>1.4886657508795054</c:v>
                </c:pt>
                <c:pt idx="1">
                  <c:v>7.1171683766062444</c:v>
                </c:pt>
                <c:pt idx="2">
                  <c:v>12.021886846648044</c:v>
                </c:pt>
                <c:pt idx="3">
                  <c:v>16.595269320894602</c:v>
                </c:pt>
                <c:pt idx="4">
                  <c:v>20.90336657954569</c:v>
                </c:pt>
                <c:pt idx="5">
                  <c:v>25.098495583814866</c:v>
                </c:pt>
                <c:pt idx="6">
                  <c:v>28.900810221608864</c:v>
                </c:pt>
                <c:pt idx="7">
                  <c:v>32.652543306471244</c:v>
                </c:pt>
                <c:pt idx="8">
                  <c:v>36.363656567816975</c:v>
                </c:pt>
                <c:pt idx="9">
                  <c:v>39.952101070170343</c:v>
                </c:pt>
                <c:pt idx="10">
                  <c:v>43.345147592760753</c:v>
                </c:pt>
                <c:pt idx="11">
                  <c:v>46.648082360029136</c:v>
                </c:pt>
                <c:pt idx="12">
                  <c:v>49.787081075042067</c:v>
                </c:pt>
                <c:pt idx="13">
                  <c:v>52.858162916071592</c:v>
                </c:pt>
                <c:pt idx="14">
                  <c:v>56.270775119020072</c:v>
                </c:pt>
                <c:pt idx="15">
                  <c:v>60.086244664550733</c:v>
                </c:pt>
                <c:pt idx="16">
                  <c:v>62.352423873148453</c:v>
                </c:pt>
                <c:pt idx="17">
                  <c:v>65.282173360681369</c:v>
                </c:pt>
                <c:pt idx="18">
                  <c:v>68.246899095079769</c:v>
                </c:pt>
                <c:pt idx="19">
                  <c:v>71.173873670547195</c:v>
                </c:pt>
                <c:pt idx="20">
                  <c:v>74.067799984362139</c:v>
                </c:pt>
                <c:pt idx="21">
                  <c:v>77.006359700021193</c:v>
                </c:pt>
                <c:pt idx="22">
                  <c:v>80.064877172088671</c:v>
                </c:pt>
                <c:pt idx="23">
                  <c:v>83.029283161227411</c:v>
                </c:pt>
                <c:pt idx="24">
                  <c:v>85.691058976200011</c:v>
                </c:pt>
                <c:pt idx="25">
                  <c:v>88.917782633432452</c:v>
                </c:pt>
                <c:pt idx="26">
                  <c:v>91.4247611972702</c:v>
                </c:pt>
              </c:numCache>
            </c:numRef>
          </c:yVal>
          <c:smooth val="1"/>
          <c:extLst>
            <c:ext xmlns:c16="http://schemas.microsoft.com/office/drawing/2014/chart" uri="{C3380CC4-5D6E-409C-BE32-E72D297353CC}">
              <c16:uniqueId val="{00000000-040E-4CAC-88F8-8D24F2ACDA82}"/>
            </c:ext>
          </c:extLst>
        </c:ser>
        <c:dLbls>
          <c:showLegendKey val="0"/>
          <c:showVal val="0"/>
          <c:showCatName val="0"/>
          <c:showSerName val="0"/>
          <c:showPercent val="0"/>
          <c:showBubbleSize val="0"/>
        </c:dLbls>
        <c:axId val="500908064"/>
        <c:axId val="112438768"/>
      </c:scatterChart>
      <c:scatterChart>
        <c:scatterStyle val="lineMarker"/>
        <c:varyColors val="0"/>
        <c:ser>
          <c:idx val="0"/>
          <c:order val="0"/>
          <c:tx>
            <c:strRef>
              <c:f>Feuil1!$D$2</c:f>
              <c:strCache>
                <c:ptCount val="1"/>
                <c:pt idx="0">
                  <c:v>therta bras réél</c:v>
                </c:pt>
              </c:strCache>
            </c:strRef>
          </c:tx>
          <c:spPr>
            <a:ln w="25400" cap="rnd">
              <a:noFill/>
              <a:round/>
            </a:ln>
            <a:effectLst/>
          </c:spPr>
          <c:marker>
            <c:symbol val="circle"/>
            <c:size val="5"/>
            <c:spPr>
              <a:solidFill>
                <a:schemeClr val="accent1"/>
              </a:solidFill>
              <a:ln w="9525">
                <a:solidFill>
                  <a:schemeClr val="accent1"/>
                </a:solidFill>
              </a:ln>
              <a:effectLst/>
            </c:spPr>
          </c:marker>
          <c:xVal>
            <c:numRef>
              <c:f>Feuil1!$B$3:$B$29</c:f>
              <c:numCache>
                <c:formatCode>General</c:formatCode>
                <c:ptCount val="27"/>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numCache>
            </c:numRef>
          </c:xVal>
          <c:yVal>
            <c:numRef>
              <c:f>Feuil1!$D$3:$D$29</c:f>
              <c:numCache>
                <c:formatCode>General</c:formatCode>
                <c:ptCount val="27"/>
                <c:pt idx="0">
                  <c:v>1.6</c:v>
                </c:pt>
                <c:pt idx="1">
                  <c:v>7</c:v>
                </c:pt>
                <c:pt idx="2">
                  <c:v>12</c:v>
                </c:pt>
                <c:pt idx="3">
                  <c:v>16.600000000000001</c:v>
                </c:pt>
                <c:pt idx="4">
                  <c:v>20.9</c:v>
                </c:pt>
                <c:pt idx="5">
                  <c:v>25.1</c:v>
                </c:pt>
                <c:pt idx="6">
                  <c:v>28.9</c:v>
                </c:pt>
                <c:pt idx="7">
                  <c:v>32.700000000000003</c:v>
                </c:pt>
                <c:pt idx="8">
                  <c:v>36.14</c:v>
                </c:pt>
                <c:pt idx="9">
                  <c:v>40</c:v>
                </c:pt>
                <c:pt idx="10">
                  <c:v>43.4</c:v>
                </c:pt>
                <c:pt idx="11">
                  <c:v>46.7</c:v>
                </c:pt>
                <c:pt idx="12">
                  <c:v>49.8</c:v>
                </c:pt>
                <c:pt idx="13">
                  <c:v>52.9</c:v>
                </c:pt>
                <c:pt idx="14">
                  <c:v>56.3</c:v>
                </c:pt>
                <c:pt idx="15">
                  <c:v>59.3</c:v>
                </c:pt>
                <c:pt idx="16">
                  <c:v>62.4</c:v>
                </c:pt>
                <c:pt idx="17">
                  <c:v>65.3</c:v>
                </c:pt>
                <c:pt idx="18">
                  <c:v>68.3</c:v>
                </c:pt>
                <c:pt idx="19">
                  <c:v>71.2</c:v>
                </c:pt>
                <c:pt idx="20">
                  <c:v>74.099999999999994</c:v>
                </c:pt>
                <c:pt idx="21">
                  <c:v>77</c:v>
                </c:pt>
                <c:pt idx="22">
                  <c:v>80.099999999999994</c:v>
                </c:pt>
                <c:pt idx="23">
                  <c:v>83.1</c:v>
                </c:pt>
                <c:pt idx="24">
                  <c:v>85.7</c:v>
                </c:pt>
                <c:pt idx="25">
                  <c:v>88.6</c:v>
                </c:pt>
                <c:pt idx="26">
                  <c:v>91.4</c:v>
                </c:pt>
              </c:numCache>
            </c:numRef>
          </c:yVal>
          <c:smooth val="0"/>
          <c:extLst>
            <c:ext xmlns:c16="http://schemas.microsoft.com/office/drawing/2014/chart" uri="{C3380CC4-5D6E-409C-BE32-E72D297353CC}">
              <c16:uniqueId val="{00000001-040E-4CAC-88F8-8D24F2ACDA82}"/>
            </c:ext>
          </c:extLst>
        </c:ser>
        <c:dLbls>
          <c:showLegendKey val="0"/>
          <c:showVal val="0"/>
          <c:showCatName val="0"/>
          <c:showSerName val="0"/>
          <c:showPercent val="0"/>
          <c:showBubbleSize val="0"/>
        </c:dLbls>
        <c:axId val="500908064"/>
        <c:axId val="112438768"/>
      </c:scatterChart>
      <c:valAx>
        <c:axId val="500908064"/>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fr-FR" sz="1600"/>
                  <a:t>Nb</a:t>
                </a:r>
                <a:r>
                  <a:rPr lang="fr-FR" sz="1600" baseline="0"/>
                  <a:t> tours moteur</a:t>
                </a:r>
                <a:endParaRPr lang="fr-FR" sz="1600"/>
              </a:p>
            </c:rich>
          </c:tx>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fr-FR"/>
          </a:p>
        </c:txPr>
        <c:crossAx val="112438768"/>
        <c:crosses val="autoZero"/>
        <c:crossBetween val="midCat"/>
      </c:valAx>
      <c:valAx>
        <c:axId val="11243876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sz="1800" dirty="0" err="1"/>
                  <a:t>Theta</a:t>
                </a:r>
                <a:r>
                  <a:rPr lang="fr-FR" sz="1800" baseline="0" dirty="0"/>
                  <a:t> (</a:t>
                </a:r>
                <a:r>
                  <a:rPr lang="fr-FR" sz="1800" baseline="0" dirty="0" err="1"/>
                  <a:t>deg</a:t>
                </a:r>
                <a:r>
                  <a:rPr lang="fr-FR" sz="1800" baseline="0" dirty="0"/>
                  <a:t>)</a:t>
                </a:r>
                <a:endParaRPr lang="fr-FR" dirty="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fr-FR"/>
          </a:p>
        </c:txPr>
        <c:crossAx val="500908064"/>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1" dt="2026-04-09T00:51:47.169" idx="1">
    <p:pos x="10" y="10"/>
    <p:text/>
    <p:extLst>
      <p:ext uri="{C676402C-5697-4E1C-873F-D02D1690AC5C}">
        <p15:threadingInfo xmlns:p15="http://schemas.microsoft.com/office/powerpoint/2012/main" timeZoneBias="-1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236737-801A-413E-B812-23FEA7ECAC28}" type="datetimeFigureOut">
              <a:rPr lang="fr-FR" smtClean="0"/>
              <a:t>05/06/2026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E731D1-85AE-4366-B364-066FEADE3F45}" type="slidenum">
              <a:rPr lang="fr-FR" smtClean="0"/>
              <a:t>‹N°›</a:t>
            </a:fld>
            <a:endParaRPr lang="fr-FR"/>
          </a:p>
        </p:txBody>
      </p:sp>
    </p:spTree>
    <p:extLst>
      <p:ext uri="{BB962C8B-B14F-4D97-AF65-F5344CB8AC3E}">
        <p14:creationId xmlns:p14="http://schemas.microsoft.com/office/powerpoint/2010/main" val="1833806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5"/>
          </p:nvPr>
        </p:nvSpPr>
        <p:spPr/>
        <p:txBody>
          <a:bodyPr/>
          <a:lstStyle/>
          <a:p>
            <a:fld id="{B2E731D1-85AE-4366-B364-066FEADE3F45}" type="slidenum">
              <a:rPr lang="fr-FR" smtClean="0"/>
              <a:t>1</a:t>
            </a:fld>
            <a:endParaRPr lang="fr-FR"/>
          </a:p>
        </p:txBody>
      </p:sp>
    </p:spTree>
    <p:extLst>
      <p:ext uri="{BB962C8B-B14F-4D97-AF65-F5344CB8AC3E}">
        <p14:creationId xmlns:p14="http://schemas.microsoft.com/office/powerpoint/2010/main" val="12302219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A278B-2F82-28AE-8320-546178616D9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0B0257B-1588-154B-4B3C-70FBE8E72E3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6487B09-F6EE-27A6-5104-867A8C53633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a:extLst>
              <a:ext uri="{FF2B5EF4-FFF2-40B4-BE49-F238E27FC236}">
                <a16:creationId xmlns:a16="http://schemas.microsoft.com/office/drawing/2014/main" id="{B5BB907E-A0D7-7B0D-9D8F-2178DBF79958}"/>
              </a:ext>
            </a:extLst>
          </p:cNvPr>
          <p:cNvSpPr>
            <a:spLocks noGrp="1"/>
          </p:cNvSpPr>
          <p:nvPr>
            <p:ph type="sldNum" sz="quarter" idx="5"/>
          </p:nvPr>
        </p:nvSpPr>
        <p:spPr/>
        <p:txBody>
          <a:bodyPr/>
          <a:lstStyle/>
          <a:p>
            <a:fld id="{B2E731D1-85AE-4366-B364-066FEADE3F45}" type="slidenum">
              <a:rPr lang="fr-FR" smtClean="0"/>
              <a:t>2</a:t>
            </a:fld>
            <a:endParaRPr lang="fr-FR"/>
          </a:p>
        </p:txBody>
      </p:sp>
    </p:spTree>
    <p:extLst>
      <p:ext uri="{BB962C8B-B14F-4D97-AF65-F5344CB8AC3E}">
        <p14:creationId xmlns:p14="http://schemas.microsoft.com/office/powerpoint/2010/main" val="599258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Taille classe nb heure placer séquence dans année</a:t>
            </a:r>
          </a:p>
          <a:p>
            <a:r>
              <a:rPr lang="fr-FR" dirty="0"/>
              <a:t>Pas TP, cours, TD (réservé a la prépa) mais activité pratique et activité dirigée (Cours TD) pour les sti2d</a:t>
            </a:r>
          </a:p>
          <a:p>
            <a:r>
              <a:rPr lang="fr-FR" dirty="0"/>
              <a:t>Objectifs séquence</a:t>
            </a:r>
          </a:p>
          <a:p>
            <a:r>
              <a:rPr lang="fr-FR" dirty="0"/>
              <a:t>Prérequis connaissances a transmettre</a:t>
            </a:r>
          </a:p>
          <a:p>
            <a:r>
              <a:rPr lang="fr-FR" dirty="0"/>
              <a:t>Prog annuelle les grades lignes</a:t>
            </a:r>
          </a:p>
          <a:p>
            <a:r>
              <a:rPr lang="fr-FR" dirty="0"/>
              <a:t>Puis architecture séquence bien détailler chaque module</a:t>
            </a:r>
          </a:p>
          <a:p>
            <a:r>
              <a:rPr lang="fr-FR" dirty="0"/>
              <a:t>Innovation, ingénierie et développement durable</a:t>
            </a:r>
          </a:p>
          <a:p>
            <a:r>
              <a:rPr lang="fr-FR" sz="1200" b="1" i="0" kern="1200" dirty="0">
                <a:solidFill>
                  <a:schemeClr val="tx1"/>
                </a:solidFill>
                <a:effectLst/>
                <a:latin typeface="+mn-lt"/>
                <a:ea typeface="+mn-ea"/>
                <a:cs typeface="+mn-cs"/>
              </a:rPr>
              <a:t>Innovation Technologique et Éco-Conception</a:t>
            </a:r>
            <a:endParaRPr lang="fr-FR" dirty="0"/>
          </a:p>
          <a:p>
            <a:r>
              <a:rPr lang="fr-FR" dirty="0" err="1"/>
              <a:t>Ac</a:t>
            </a:r>
            <a:r>
              <a:rPr lang="fr-FR" dirty="0"/>
              <a:t> </a:t>
            </a:r>
            <a:r>
              <a:rPr lang="fr-FR" dirty="0" err="1"/>
              <a:t>monpelier</a:t>
            </a:r>
            <a:r>
              <a:rPr lang="fr-FR" dirty="0"/>
              <a:t> limoges ou orléans et </a:t>
            </a:r>
            <a:r>
              <a:rPr lang="fr-FR" dirty="0" err="1"/>
              <a:t>éduscol</a:t>
            </a:r>
            <a:endParaRPr lang="fr-FR" dirty="0"/>
          </a:p>
          <a:p>
            <a:r>
              <a:rPr lang="fr-FR" dirty="0" err="1"/>
              <a:t>Preciser</a:t>
            </a:r>
            <a:r>
              <a:rPr lang="fr-FR" dirty="0"/>
              <a:t> </a:t>
            </a:r>
            <a:r>
              <a:rPr lang="fr-FR" dirty="0" err="1"/>
              <a:t>effictif</a:t>
            </a:r>
            <a:r>
              <a:rPr lang="fr-FR" dirty="0"/>
              <a:t> </a:t>
            </a:r>
            <a:r>
              <a:rPr lang="fr-FR" dirty="0" err="1"/>
              <a:t>allége</a:t>
            </a:r>
            <a:r>
              <a:rPr lang="fr-FR" dirty="0"/>
              <a:t> classe </a:t>
            </a:r>
            <a:r>
              <a:rPr lang="fr-FR" dirty="0" err="1"/>
              <a:t>entiere</a:t>
            </a:r>
            <a:endParaRPr lang="fr-FR" dirty="0"/>
          </a:p>
          <a:p>
            <a:r>
              <a:rPr lang="fr-FR" dirty="0"/>
              <a:t>2i2d 3h demi 1h complet spé 6h demi 2h demi</a:t>
            </a:r>
          </a:p>
        </p:txBody>
      </p:sp>
      <p:sp>
        <p:nvSpPr>
          <p:cNvPr id="4" name="Espace réservé du numéro de diapositive 3"/>
          <p:cNvSpPr>
            <a:spLocks noGrp="1"/>
          </p:cNvSpPr>
          <p:nvPr>
            <p:ph type="sldNum" sz="quarter" idx="5"/>
          </p:nvPr>
        </p:nvSpPr>
        <p:spPr/>
        <p:txBody>
          <a:bodyPr/>
          <a:lstStyle/>
          <a:p>
            <a:fld id="{B2E731D1-85AE-4366-B364-066FEADE3F45}" type="slidenum">
              <a:rPr lang="fr-FR" smtClean="0"/>
              <a:t>3</a:t>
            </a:fld>
            <a:endParaRPr lang="fr-FR"/>
          </a:p>
        </p:txBody>
      </p:sp>
    </p:spTree>
    <p:extLst>
      <p:ext uri="{BB962C8B-B14F-4D97-AF65-F5344CB8AC3E}">
        <p14:creationId xmlns:p14="http://schemas.microsoft.com/office/powerpoint/2010/main" val="23307221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9B4E1-1D79-FC71-9ED7-449084A2DF5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FDC4E8F-D9FD-962A-A1E2-09DA0BC6B58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199CA46-B780-930F-C12C-E1076D2D5D1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solidFill>
                  <a:srgbClr val="FF0000"/>
                </a:solidFill>
              </a:rPr>
              <a:t>Séquence 2 (7 et 10 )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a:extLst>
              <a:ext uri="{FF2B5EF4-FFF2-40B4-BE49-F238E27FC236}">
                <a16:creationId xmlns:a16="http://schemas.microsoft.com/office/drawing/2014/main" id="{EE13B35F-F2E1-A50B-A291-D18B43B6DFAE}"/>
              </a:ext>
            </a:extLst>
          </p:cNvPr>
          <p:cNvSpPr>
            <a:spLocks noGrp="1"/>
          </p:cNvSpPr>
          <p:nvPr>
            <p:ph type="sldNum" sz="quarter" idx="5"/>
          </p:nvPr>
        </p:nvSpPr>
        <p:spPr/>
        <p:txBody>
          <a:bodyPr/>
          <a:lstStyle/>
          <a:p>
            <a:fld id="{B2E731D1-85AE-4366-B364-066FEADE3F45}" type="slidenum">
              <a:rPr lang="fr-FR" smtClean="0"/>
              <a:t>4</a:t>
            </a:fld>
            <a:endParaRPr lang="fr-FR"/>
          </a:p>
        </p:txBody>
      </p:sp>
    </p:spTree>
    <p:extLst>
      <p:ext uri="{BB962C8B-B14F-4D97-AF65-F5344CB8AC3E}">
        <p14:creationId xmlns:p14="http://schemas.microsoft.com/office/powerpoint/2010/main" val="35611622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3FA27-FB54-CA67-6B67-0F02ABA923B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C796CA6-7400-02A9-00EB-2A940D29B65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532D0B7-D5BA-6012-E3B0-0BC1CF84F6A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a:extLst>
              <a:ext uri="{FF2B5EF4-FFF2-40B4-BE49-F238E27FC236}">
                <a16:creationId xmlns:a16="http://schemas.microsoft.com/office/drawing/2014/main" id="{B91D5D22-A674-A9A8-7CC2-70C7858FF831}"/>
              </a:ext>
            </a:extLst>
          </p:cNvPr>
          <p:cNvSpPr>
            <a:spLocks noGrp="1"/>
          </p:cNvSpPr>
          <p:nvPr>
            <p:ph type="sldNum" sz="quarter" idx="5"/>
          </p:nvPr>
        </p:nvSpPr>
        <p:spPr/>
        <p:txBody>
          <a:bodyPr/>
          <a:lstStyle/>
          <a:p>
            <a:fld id="{B2E731D1-85AE-4366-B364-066FEADE3F45}" type="slidenum">
              <a:rPr lang="fr-FR" smtClean="0"/>
              <a:t>5</a:t>
            </a:fld>
            <a:endParaRPr lang="fr-FR"/>
          </a:p>
        </p:txBody>
      </p:sp>
    </p:spTree>
    <p:extLst>
      <p:ext uri="{BB962C8B-B14F-4D97-AF65-F5344CB8AC3E}">
        <p14:creationId xmlns:p14="http://schemas.microsoft.com/office/powerpoint/2010/main" val="35916815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05FBA-1815-5BF0-76AC-286B45DC92D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5DD06FE-5259-9D0C-2CE8-DF790AB5EE6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D7AF649-8226-FE40-CEA7-A62F2E8BE02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a:extLst>
              <a:ext uri="{FF2B5EF4-FFF2-40B4-BE49-F238E27FC236}">
                <a16:creationId xmlns:a16="http://schemas.microsoft.com/office/drawing/2014/main" id="{1CAD525A-C2F4-CA78-721A-BA497776A342}"/>
              </a:ext>
            </a:extLst>
          </p:cNvPr>
          <p:cNvSpPr>
            <a:spLocks noGrp="1"/>
          </p:cNvSpPr>
          <p:nvPr>
            <p:ph type="sldNum" sz="quarter" idx="5"/>
          </p:nvPr>
        </p:nvSpPr>
        <p:spPr/>
        <p:txBody>
          <a:bodyPr/>
          <a:lstStyle/>
          <a:p>
            <a:fld id="{B2E731D1-85AE-4366-B364-066FEADE3F45}" type="slidenum">
              <a:rPr lang="fr-FR" smtClean="0"/>
              <a:t>6</a:t>
            </a:fld>
            <a:endParaRPr lang="fr-FR"/>
          </a:p>
        </p:txBody>
      </p:sp>
    </p:spTree>
    <p:extLst>
      <p:ext uri="{BB962C8B-B14F-4D97-AF65-F5344CB8AC3E}">
        <p14:creationId xmlns:p14="http://schemas.microsoft.com/office/powerpoint/2010/main" val="17780593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ADDD-99D9-35F7-7726-F51F9851B03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9F7C728-517C-39FE-6465-F7329B902A6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81B7F2F-81FB-8063-C269-6D288F4F056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Rigidité déformations/allongement</a:t>
            </a:r>
          </a:p>
        </p:txBody>
      </p:sp>
      <p:sp>
        <p:nvSpPr>
          <p:cNvPr id="4" name="Espace réservé du numéro de diapositive 3">
            <a:extLst>
              <a:ext uri="{FF2B5EF4-FFF2-40B4-BE49-F238E27FC236}">
                <a16:creationId xmlns:a16="http://schemas.microsoft.com/office/drawing/2014/main" id="{7ED40436-AA9A-A159-A0DE-1903BF42D7A8}"/>
              </a:ext>
            </a:extLst>
          </p:cNvPr>
          <p:cNvSpPr>
            <a:spLocks noGrp="1"/>
          </p:cNvSpPr>
          <p:nvPr>
            <p:ph type="sldNum" sz="quarter" idx="5"/>
          </p:nvPr>
        </p:nvSpPr>
        <p:spPr/>
        <p:txBody>
          <a:bodyPr/>
          <a:lstStyle/>
          <a:p>
            <a:fld id="{B2E731D1-85AE-4366-B364-066FEADE3F45}" type="slidenum">
              <a:rPr lang="fr-FR" smtClean="0"/>
              <a:t>7</a:t>
            </a:fld>
            <a:endParaRPr lang="fr-FR"/>
          </a:p>
        </p:txBody>
      </p:sp>
    </p:spTree>
    <p:extLst>
      <p:ext uri="{BB962C8B-B14F-4D97-AF65-F5344CB8AC3E}">
        <p14:creationId xmlns:p14="http://schemas.microsoft.com/office/powerpoint/2010/main" val="22638168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01244-A1F0-38F6-AEBD-F413F7B975E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FE928EA-667B-E5CE-0453-781D05D3F56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DB21576-FB24-453F-2295-EB93F50B924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Préciser le logiciel du quizz</a:t>
            </a:r>
          </a:p>
        </p:txBody>
      </p:sp>
      <p:sp>
        <p:nvSpPr>
          <p:cNvPr id="4" name="Espace réservé du numéro de diapositive 3">
            <a:extLst>
              <a:ext uri="{FF2B5EF4-FFF2-40B4-BE49-F238E27FC236}">
                <a16:creationId xmlns:a16="http://schemas.microsoft.com/office/drawing/2014/main" id="{186F57F9-592D-6700-F695-76DB03119B06}"/>
              </a:ext>
            </a:extLst>
          </p:cNvPr>
          <p:cNvSpPr>
            <a:spLocks noGrp="1"/>
          </p:cNvSpPr>
          <p:nvPr>
            <p:ph type="sldNum" sz="quarter" idx="5"/>
          </p:nvPr>
        </p:nvSpPr>
        <p:spPr/>
        <p:txBody>
          <a:bodyPr/>
          <a:lstStyle/>
          <a:p>
            <a:fld id="{B2E731D1-85AE-4366-B364-066FEADE3F45}" type="slidenum">
              <a:rPr lang="fr-FR" smtClean="0"/>
              <a:t>8</a:t>
            </a:fld>
            <a:endParaRPr lang="fr-FR"/>
          </a:p>
        </p:txBody>
      </p:sp>
    </p:spTree>
    <p:extLst>
      <p:ext uri="{BB962C8B-B14F-4D97-AF65-F5344CB8AC3E}">
        <p14:creationId xmlns:p14="http://schemas.microsoft.com/office/powerpoint/2010/main" val="8238183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16D53-56A9-752D-39D2-4D8DAF5A175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BCAFA9D-4563-3A27-2A80-377C5C8DD8D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763DED0-4EA3-76B8-6422-1830596C8A30}"/>
              </a:ext>
            </a:extLst>
          </p:cNvPr>
          <p:cNvSpPr>
            <a:spLocks noGrp="1"/>
          </p:cNvSpPr>
          <p:nvPr>
            <p:ph type="body" idx="1"/>
          </p:nvPr>
        </p:nvSpPr>
        <p:spPr/>
        <p:txBody>
          <a:bodyPr/>
          <a:lstStyle/>
          <a:p>
            <a:r>
              <a:rPr lang="fr-FR" dirty="0"/>
              <a:t>2,3: comment choisir le nombre d’échantillons: est ce que c’est de la qualification de nouveau produit ou alors juste un contrôle qualité habituel: ici contrôle qualité habituel donc échantillon plus petit ( voir même faire 2 essais par échantillon en le coupant en 2) disons 3-5 colliers pour un paquet de 100 il faut être précis de quand date la norme, son nom iso et son nom complet dire vite fait quels critères on choisit (ici S-2, II) la seule variable de notre essai de traction doit être le collier (et pas sont positionnement ou son serrage ou la course initiale)</a:t>
            </a:r>
          </a:p>
          <a:p>
            <a:r>
              <a:rPr lang="fr-FR" dirty="0"/>
              <a:t>Tests traction (RM ou Re), fatigue, résistance aux </a:t>
            </a:r>
            <a:r>
              <a:rPr lang="fr-FR" dirty="0" err="1"/>
              <a:t>UVs</a:t>
            </a:r>
            <a:r>
              <a:rPr lang="fr-FR" dirty="0"/>
              <a:t>, résistance a abrasion</a:t>
            </a:r>
          </a:p>
          <a:p>
            <a:r>
              <a:rPr lang="fr-FR" dirty="0"/>
              <a:t>Regarder le guide équipement officiel d’un labo de si pour le niveau considéré</a:t>
            </a:r>
          </a:p>
          <a:p>
            <a:r>
              <a:rPr lang="fr-FR" dirty="0"/>
              <a:t>Serrer clé </a:t>
            </a:r>
            <a:r>
              <a:rPr lang="fr-FR" dirty="0" err="1"/>
              <a:t>dymao</a:t>
            </a:r>
            <a:r>
              <a:rPr lang="fr-FR" dirty="0"/>
              <a:t> pour montrer la relativité (et pk pas le monter le glissement quand ce n’est pas assez serré ou la rupture au niveau du mords quand c’est trop serré)</a:t>
            </a:r>
          </a:p>
          <a:p>
            <a:r>
              <a:rPr lang="fr-FR" dirty="0"/>
              <a:t>Garder le plus longtemps possibles valeurs mesurés brutes afin que l’on puisse changer les paramètres (aka section ici ) pour faire des incertitudes par exemple</a:t>
            </a:r>
          </a:p>
          <a:p>
            <a:r>
              <a:rPr lang="fr-FR" dirty="0"/>
              <a:t>Couper tète, couper en deux, installer bien droit, d entre mords 40mm, et serre correctement (rilsan sur la totalité des mords), régler v déplacement( 45mm/min), mettre à 0, lancer acquisition et appui bouton monter exporter courbe en csv</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a:extLst>
              <a:ext uri="{FF2B5EF4-FFF2-40B4-BE49-F238E27FC236}">
                <a16:creationId xmlns:a16="http://schemas.microsoft.com/office/drawing/2014/main" id="{A8CD29C5-9050-1A3D-E8A1-0261E4F14F45}"/>
              </a:ext>
            </a:extLst>
          </p:cNvPr>
          <p:cNvSpPr>
            <a:spLocks noGrp="1"/>
          </p:cNvSpPr>
          <p:nvPr>
            <p:ph type="sldNum" sz="quarter" idx="5"/>
          </p:nvPr>
        </p:nvSpPr>
        <p:spPr/>
        <p:txBody>
          <a:bodyPr/>
          <a:lstStyle/>
          <a:p>
            <a:fld id="{B2E731D1-85AE-4366-B364-066FEADE3F45}" type="slidenum">
              <a:rPr lang="fr-FR" smtClean="0"/>
              <a:t>9</a:t>
            </a:fld>
            <a:endParaRPr lang="fr-FR"/>
          </a:p>
        </p:txBody>
      </p:sp>
    </p:spTree>
    <p:extLst>
      <p:ext uri="{BB962C8B-B14F-4D97-AF65-F5344CB8AC3E}">
        <p14:creationId xmlns:p14="http://schemas.microsoft.com/office/powerpoint/2010/main" val="29142752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DDD35-2939-3B88-A71C-6B0C9CE0656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C4F8C8B-D5BA-C9D0-19E2-F882D7796AE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8B259AF-D7A1-7E6F-1FC8-6D3A589A146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a:extLst>
              <a:ext uri="{FF2B5EF4-FFF2-40B4-BE49-F238E27FC236}">
                <a16:creationId xmlns:a16="http://schemas.microsoft.com/office/drawing/2014/main" id="{7B1EFAEE-1C50-EA86-5D30-9453AEF820B0}"/>
              </a:ext>
            </a:extLst>
          </p:cNvPr>
          <p:cNvSpPr>
            <a:spLocks noGrp="1"/>
          </p:cNvSpPr>
          <p:nvPr>
            <p:ph type="sldNum" sz="quarter" idx="5"/>
          </p:nvPr>
        </p:nvSpPr>
        <p:spPr/>
        <p:txBody>
          <a:bodyPr/>
          <a:lstStyle/>
          <a:p>
            <a:fld id="{B2E731D1-85AE-4366-B364-066FEADE3F45}" type="slidenum">
              <a:rPr lang="fr-FR" smtClean="0"/>
              <a:t>10</a:t>
            </a:fld>
            <a:endParaRPr lang="fr-FR"/>
          </a:p>
        </p:txBody>
      </p:sp>
    </p:spTree>
    <p:extLst>
      <p:ext uri="{BB962C8B-B14F-4D97-AF65-F5344CB8AC3E}">
        <p14:creationId xmlns:p14="http://schemas.microsoft.com/office/powerpoint/2010/main" val="8283743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600D2-5951-5EFD-A377-C5A7C8E26EC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9CF88C7-DA28-9DED-CC78-FAA9ECECC9E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8D6AC76-B23A-DBAC-88B3-50488BC8B83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err="1"/>
              <a:t>preciser</a:t>
            </a:r>
            <a:r>
              <a:rPr lang="fr-FR" dirty="0"/>
              <a:t> le type de pont vis a vis des </a:t>
            </a:r>
            <a:r>
              <a:rPr lang="fr-FR" dirty="0" err="1"/>
              <a:t>hypotheses</a:t>
            </a:r>
            <a:endParaRPr lang="fr-FR" dirty="0"/>
          </a:p>
        </p:txBody>
      </p:sp>
      <p:sp>
        <p:nvSpPr>
          <p:cNvPr id="4" name="Espace réservé du numéro de diapositive 3">
            <a:extLst>
              <a:ext uri="{FF2B5EF4-FFF2-40B4-BE49-F238E27FC236}">
                <a16:creationId xmlns:a16="http://schemas.microsoft.com/office/drawing/2014/main" id="{993C7FFF-1CC7-FAF6-3B94-F0C86E8A19E9}"/>
              </a:ext>
            </a:extLst>
          </p:cNvPr>
          <p:cNvSpPr>
            <a:spLocks noGrp="1"/>
          </p:cNvSpPr>
          <p:nvPr>
            <p:ph type="sldNum" sz="quarter" idx="5"/>
          </p:nvPr>
        </p:nvSpPr>
        <p:spPr/>
        <p:txBody>
          <a:bodyPr/>
          <a:lstStyle/>
          <a:p>
            <a:fld id="{B2E731D1-85AE-4366-B364-066FEADE3F45}" type="slidenum">
              <a:rPr lang="fr-FR" smtClean="0"/>
              <a:t>11</a:t>
            </a:fld>
            <a:endParaRPr lang="fr-FR"/>
          </a:p>
        </p:txBody>
      </p:sp>
    </p:spTree>
    <p:extLst>
      <p:ext uri="{BB962C8B-B14F-4D97-AF65-F5344CB8AC3E}">
        <p14:creationId xmlns:p14="http://schemas.microsoft.com/office/powerpoint/2010/main" val="13334163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E28CF-F470-88C5-5F8F-9A350FFB0E5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96C145C-5121-8306-95AB-C71F88EAF20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488420E-E076-E71F-2B06-AB8A06078986}"/>
              </a:ext>
            </a:extLst>
          </p:cNvPr>
          <p:cNvSpPr>
            <a:spLocks noGrp="1"/>
          </p:cNvSpPr>
          <p:nvPr>
            <p:ph type="body" idx="1"/>
          </p:nvPr>
        </p:nvSpPr>
        <p:spPr/>
        <p:txBody>
          <a:bodyPr/>
          <a:lstStyle/>
          <a:p>
            <a:r>
              <a:rPr lang="fr-FR" dirty="0"/>
              <a:t>2,3: comment choisir le nombre d’échantillons: est ce que c’est de la qualification de nouveau produit ou alors juste un contrôle qualité habituel: ici contrôle qualité habituel donc échantillon plus petit ( voir même faire 2 essais par échantillon en le coupant en 2) disons 3-5 colliers pour un paquet de 100 il faut être précis de quand date la norme, son nom iso et son nom complet dire vite fait quels critères on choisit (ici S-2, II) la seule variable de notre essai de traction doit être le collier (et pas sont positionnement ou son serrage ou la course initiale)</a:t>
            </a:r>
          </a:p>
          <a:p>
            <a:r>
              <a:rPr lang="fr-FR" dirty="0"/>
              <a:t>Tests traction (RM ou Re), fatigue, résistance aux </a:t>
            </a:r>
            <a:r>
              <a:rPr lang="fr-FR" dirty="0" err="1"/>
              <a:t>UVs</a:t>
            </a:r>
            <a:r>
              <a:rPr lang="fr-FR" dirty="0"/>
              <a:t>, résistance a abrasion</a:t>
            </a:r>
          </a:p>
          <a:p>
            <a:r>
              <a:rPr lang="fr-FR" dirty="0"/>
              <a:t>Regarder le guide équipement officiel d’un labo de si pour le niveau considéré</a:t>
            </a:r>
          </a:p>
          <a:p>
            <a:r>
              <a:rPr lang="fr-FR" dirty="0"/>
              <a:t>Serrer clé </a:t>
            </a:r>
            <a:r>
              <a:rPr lang="fr-FR" dirty="0" err="1"/>
              <a:t>dymao</a:t>
            </a:r>
            <a:r>
              <a:rPr lang="fr-FR" dirty="0"/>
              <a:t> pour montrer la relativité (et pk pas le monter le glissement quand ce n’est pas assez serré ou la rupture au niveau du mords quand c’est trop serré)</a:t>
            </a:r>
          </a:p>
          <a:p>
            <a:r>
              <a:rPr lang="fr-FR" dirty="0"/>
              <a:t>Garder le plus longtemps possibles valeurs mesurés brutes afin que l’on puisse changer les paramètres (aka section ici ) pour faire des incertitudes par exemple</a:t>
            </a:r>
          </a:p>
          <a:p>
            <a:r>
              <a:rPr lang="fr-FR" dirty="0"/>
              <a:t>Couper tète, couper en deux, installer bien droit, d entre mords 40mm, et serre correctement (rilsan sur la totalité des mords), régler v déplacement( 45mm/min), mettre à 0, lancer acquisition et appui bouton monter exporter courbe en csv</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a:extLst>
              <a:ext uri="{FF2B5EF4-FFF2-40B4-BE49-F238E27FC236}">
                <a16:creationId xmlns:a16="http://schemas.microsoft.com/office/drawing/2014/main" id="{A5B74723-3D53-86A4-FB2F-3FA23267435D}"/>
              </a:ext>
            </a:extLst>
          </p:cNvPr>
          <p:cNvSpPr>
            <a:spLocks noGrp="1"/>
          </p:cNvSpPr>
          <p:nvPr>
            <p:ph type="sldNum" sz="quarter" idx="5"/>
          </p:nvPr>
        </p:nvSpPr>
        <p:spPr/>
        <p:txBody>
          <a:bodyPr/>
          <a:lstStyle/>
          <a:p>
            <a:fld id="{B2E731D1-85AE-4366-B364-066FEADE3F45}" type="slidenum">
              <a:rPr lang="fr-FR" smtClean="0"/>
              <a:t>12</a:t>
            </a:fld>
            <a:endParaRPr lang="fr-FR"/>
          </a:p>
        </p:txBody>
      </p:sp>
    </p:spTree>
    <p:extLst>
      <p:ext uri="{BB962C8B-B14F-4D97-AF65-F5344CB8AC3E}">
        <p14:creationId xmlns:p14="http://schemas.microsoft.com/office/powerpoint/2010/main" val="1813422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D5836-1E8F-BA54-4D29-9BF1A9D8CB3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693FE29-BD8C-C2FD-7C37-0DE8B7E764E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326FA37-89CB-5BCD-2AD8-94CBE93AA86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a:extLst>
              <a:ext uri="{FF2B5EF4-FFF2-40B4-BE49-F238E27FC236}">
                <a16:creationId xmlns:a16="http://schemas.microsoft.com/office/drawing/2014/main" id="{55C865FB-D8E5-7295-0DFE-C17877F0CEF8}"/>
              </a:ext>
            </a:extLst>
          </p:cNvPr>
          <p:cNvSpPr>
            <a:spLocks noGrp="1"/>
          </p:cNvSpPr>
          <p:nvPr>
            <p:ph type="sldNum" sz="quarter" idx="5"/>
          </p:nvPr>
        </p:nvSpPr>
        <p:spPr/>
        <p:txBody>
          <a:bodyPr/>
          <a:lstStyle/>
          <a:p>
            <a:fld id="{B2E731D1-85AE-4366-B364-066FEADE3F45}" type="slidenum">
              <a:rPr lang="fr-FR" smtClean="0"/>
              <a:t>13</a:t>
            </a:fld>
            <a:endParaRPr lang="fr-FR"/>
          </a:p>
        </p:txBody>
      </p:sp>
    </p:spTree>
    <p:extLst>
      <p:ext uri="{BB962C8B-B14F-4D97-AF65-F5344CB8AC3E}">
        <p14:creationId xmlns:p14="http://schemas.microsoft.com/office/powerpoint/2010/main" val="14130333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25A8E-003B-CE2B-36D1-A7F2EAF6D08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7AC294A-E52C-5478-F884-D71CFC688F6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75A7330-1D67-EBD0-12FE-68D1A6BF098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err="1"/>
              <a:t>preciser</a:t>
            </a:r>
            <a:r>
              <a:rPr lang="fr-FR" dirty="0"/>
              <a:t> le type de pont vis a vis des </a:t>
            </a:r>
            <a:r>
              <a:rPr lang="fr-FR" dirty="0" err="1"/>
              <a:t>hypotheses</a:t>
            </a:r>
            <a:endParaRPr lang="fr-FR" dirty="0"/>
          </a:p>
        </p:txBody>
      </p:sp>
      <p:sp>
        <p:nvSpPr>
          <p:cNvPr id="4" name="Espace réservé du numéro de diapositive 3">
            <a:extLst>
              <a:ext uri="{FF2B5EF4-FFF2-40B4-BE49-F238E27FC236}">
                <a16:creationId xmlns:a16="http://schemas.microsoft.com/office/drawing/2014/main" id="{1D148202-BDF9-0C47-8C21-929D845997A9}"/>
              </a:ext>
            </a:extLst>
          </p:cNvPr>
          <p:cNvSpPr>
            <a:spLocks noGrp="1"/>
          </p:cNvSpPr>
          <p:nvPr>
            <p:ph type="sldNum" sz="quarter" idx="5"/>
          </p:nvPr>
        </p:nvSpPr>
        <p:spPr/>
        <p:txBody>
          <a:bodyPr/>
          <a:lstStyle/>
          <a:p>
            <a:fld id="{B2E731D1-85AE-4366-B364-066FEADE3F45}" type="slidenum">
              <a:rPr lang="fr-FR" smtClean="0"/>
              <a:t>14</a:t>
            </a:fld>
            <a:endParaRPr lang="fr-FR"/>
          </a:p>
        </p:txBody>
      </p:sp>
    </p:spTree>
    <p:extLst>
      <p:ext uri="{BB962C8B-B14F-4D97-AF65-F5344CB8AC3E}">
        <p14:creationId xmlns:p14="http://schemas.microsoft.com/office/powerpoint/2010/main" val="26691893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07311-631F-F85B-A73A-1520087EC2E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4910829-677B-826C-2D1F-284A3727481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79ECC5F-9CE6-CD23-21C8-1F1EFE49CA4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a:extLst>
              <a:ext uri="{FF2B5EF4-FFF2-40B4-BE49-F238E27FC236}">
                <a16:creationId xmlns:a16="http://schemas.microsoft.com/office/drawing/2014/main" id="{BF45FCFA-9859-07D8-0B4C-9E795CC674CA}"/>
              </a:ext>
            </a:extLst>
          </p:cNvPr>
          <p:cNvSpPr>
            <a:spLocks noGrp="1"/>
          </p:cNvSpPr>
          <p:nvPr>
            <p:ph type="sldNum" sz="quarter" idx="5"/>
          </p:nvPr>
        </p:nvSpPr>
        <p:spPr/>
        <p:txBody>
          <a:bodyPr/>
          <a:lstStyle/>
          <a:p>
            <a:fld id="{B2E731D1-85AE-4366-B364-066FEADE3F45}" type="slidenum">
              <a:rPr lang="fr-FR" smtClean="0"/>
              <a:t>15</a:t>
            </a:fld>
            <a:endParaRPr lang="fr-FR"/>
          </a:p>
        </p:txBody>
      </p:sp>
    </p:spTree>
    <p:extLst>
      <p:ext uri="{BB962C8B-B14F-4D97-AF65-F5344CB8AC3E}">
        <p14:creationId xmlns:p14="http://schemas.microsoft.com/office/powerpoint/2010/main" val="16510412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AEA70-E407-7444-DF88-70E7C5DC3BD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662DB59-9F53-C7AF-126C-7B5C3D74960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7E38882-0C56-990E-1CF9-7ECB3DC2994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a:extLst>
              <a:ext uri="{FF2B5EF4-FFF2-40B4-BE49-F238E27FC236}">
                <a16:creationId xmlns:a16="http://schemas.microsoft.com/office/drawing/2014/main" id="{21282C3B-5190-ED22-0102-47272BFDBE54}"/>
              </a:ext>
            </a:extLst>
          </p:cNvPr>
          <p:cNvSpPr>
            <a:spLocks noGrp="1"/>
          </p:cNvSpPr>
          <p:nvPr>
            <p:ph type="sldNum" sz="quarter" idx="5"/>
          </p:nvPr>
        </p:nvSpPr>
        <p:spPr/>
        <p:txBody>
          <a:bodyPr/>
          <a:lstStyle/>
          <a:p>
            <a:fld id="{B2E731D1-85AE-4366-B364-066FEADE3F45}" type="slidenum">
              <a:rPr lang="fr-FR" smtClean="0"/>
              <a:t>16</a:t>
            </a:fld>
            <a:endParaRPr lang="fr-FR"/>
          </a:p>
        </p:txBody>
      </p:sp>
    </p:spTree>
    <p:extLst>
      <p:ext uri="{BB962C8B-B14F-4D97-AF65-F5344CB8AC3E}">
        <p14:creationId xmlns:p14="http://schemas.microsoft.com/office/powerpoint/2010/main" val="32839353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19CF4-A951-36DE-DE18-5793A894FFE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A718F63-90E4-D6CA-5175-74E1D915188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5C8F986-80D9-474A-5C56-CDE34E26EC4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a:extLst>
              <a:ext uri="{FF2B5EF4-FFF2-40B4-BE49-F238E27FC236}">
                <a16:creationId xmlns:a16="http://schemas.microsoft.com/office/drawing/2014/main" id="{6DE1B40C-27D4-55F9-1EF5-B9D3130C4AD2}"/>
              </a:ext>
            </a:extLst>
          </p:cNvPr>
          <p:cNvSpPr>
            <a:spLocks noGrp="1"/>
          </p:cNvSpPr>
          <p:nvPr>
            <p:ph type="sldNum" sz="quarter" idx="5"/>
          </p:nvPr>
        </p:nvSpPr>
        <p:spPr/>
        <p:txBody>
          <a:bodyPr/>
          <a:lstStyle/>
          <a:p>
            <a:fld id="{B2E731D1-85AE-4366-B364-066FEADE3F45}" type="slidenum">
              <a:rPr lang="fr-FR" smtClean="0"/>
              <a:t>17</a:t>
            </a:fld>
            <a:endParaRPr lang="fr-FR"/>
          </a:p>
        </p:txBody>
      </p:sp>
    </p:spTree>
    <p:extLst>
      <p:ext uri="{BB962C8B-B14F-4D97-AF65-F5344CB8AC3E}">
        <p14:creationId xmlns:p14="http://schemas.microsoft.com/office/powerpoint/2010/main" val="23179551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0FE2F-8A8A-687A-1CB9-423C70E4D64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06DA0FD-7156-FA2E-D6ED-D6E0038F101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E43A040-B39D-5051-0827-FF44F83B8D4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a:extLst>
              <a:ext uri="{FF2B5EF4-FFF2-40B4-BE49-F238E27FC236}">
                <a16:creationId xmlns:a16="http://schemas.microsoft.com/office/drawing/2014/main" id="{59462338-EADB-5825-B5F9-1ED189B315E5}"/>
              </a:ext>
            </a:extLst>
          </p:cNvPr>
          <p:cNvSpPr>
            <a:spLocks noGrp="1"/>
          </p:cNvSpPr>
          <p:nvPr>
            <p:ph type="sldNum" sz="quarter" idx="5"/>
          </p:nvPr>
        </p:nvSpPr>
        <p:spPr/>
        <p:txBody>
          <a:bodyPr/>
          <a:lstStyle/>
          <a:p>
            <a:fld id="{B2E731D1-85AE-4366-B364-066FEADE3F45}" type="slidenum">
              <a:rPr lang="fr-FR" smtClean="0"/>
              <a:t>18</a:t>
            </a:fld>
            <a:endParaRPr lang="fr-FR"/>
          </a:p>
        </p:txBody>
      </p:sp>
    </p:spTree>
    <p:extLst>
      <p:ext uri="{BB962C8B-B14F-4D97-AF65-F5344CB8AC3E}">
        <p14:creationId xmlns:p14="http://schemas.microsoft.com/office/powerpoint/2010/main" val="1892243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DC9A9-1139-84E5-0571-D446AD35BDF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FC0BC21-94E8-169E-C168-08E0DB996FA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F343BE7-31A8-C071-BE89-23F3DA2C294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a:extLst>
              <a:ext uri="{FF2B5EF4-FFF2-40B4-BE49-F238E27FC236}">
                <a16:creationId xmlns:a16="http://schemas.microsoft.com/office/drawing/2014/main" id="{5B857BB4-E677-14AC-2E8C-B75FEC272672}"/>
              </a:ext>
            </a:extLst>
          </p:cNvPr>
          <p:cNvSpPr>
            <a:spLocks noGrp="1"/>
          </p:cNvSpPr>
          <p:nvPr>
            <p:ph type="sldNum" sz="quarter" idx="5"/>
          </p:nvPr>
        </p:nvSpPr>
        <p:spPr/>
        <p:txBody>
          <a:bodyPr/>
          <a:lstStyle/>
          <a:p>
            <a:fld id="{B2E731D1-85AE-4366-B364-066FEADE3F45}" type="slidenum">
              <a:rPr lang="fr-FR" smtClean="0"/>
              <a:t>19</a:t>
            </a:fld>
            <a:endParaRPr lang="fr-FR"/>
          </a:p>
        </p:txBody>
      </p:sp>
    </p:spTree>
    <p:extLst>
      <p:ext uri="{BB962C8B-B14F-4D97-AF65-F5344CB8AC3E}">
        <p14:creationId xmlns:p14="http://schemas.microsoft.com/office/powerpoint/2010/main" val="40822430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46DCF-AB44-C09D-F7D1-BCFD8ACB079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D65A8C6-0456-92F2-8E25-BDDF0118566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B617E6D-F5A5-7EA8-9E36-7B2E3637EA9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a:extLst>
              <a:ext uri="{FF2B5EF4-FFF2-40B4-BE49-F238E27FC236}">
                <a16:creationId xmlns:a16="http://schemas.microsoft.com/office/drawing/2014/main" id="{567CA4CB-7697-317B-E711-38B4F5DA44CD}"/>
              </a:ext>
            </a:extLst>
          </p:cNvPr>
          <p:cNvSpPr>
            <a:spLocks noGrp="1"/>
          </p:cNvSpPr>
          <p:nvPr>
            <p:ph type="sldNum" sz="quarter" idx="5"/>
          </p:nvPr>
        </p:nvSpPr>
        <p:spPr/>
        <p:txBody>
          <a:bodyPr/>
          <a:lstStyle/>
          <a:p>
            <a:fld id="{B2E731D1-85AE-4366-B364-066FEADE3F45}" type="slidenum">
              <a:rPr lang="fr-FR" smtClean="0"/>
              <a:t>20</a:t>
            </a:fld>
            <a:endParaRPr lang="fr-FR"/>
          </a:p>
        </p:txBody>
      </p:sp>
    </p:spTree>
    <p:extLst>
      <p:ext uri="{BB962C8B-B14F-4D97-AF65-F5344CB8AC3E}">
        <p14:creationId xmlns:p14="http://schemas.microsoft.com/office/powerpoint/2010/main" val="22357525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76108-E98E-F8F3-FF8D-D3184722249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2591376-7D7D-983F-36B5-908BB898F76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78C5F16-99A0-5328-2C23-38F04D9DF40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a:extLst>
              <a:ext uri="{FF2B5EF4-FFF2-40B4-BE49-F238E27FC236}">
                <a16:creationId xmlns:a16="http://schemas.microsoft.com/office/drawing/2014/main" id="{189F8E25-9D41-E0F2-BFC9-06C0159738A9}"/>
              </a:ext>
            </a:extLst>
          </p:cNvPr>
          <p:cNvSpPr>
            <a:spLocks noGrp="1"/>
          </p:cNvSpPr>
          <p:nvPr>
            <p:ph type="sldNum" sz="quarter" idx="5"/>
          </p:nvPr>
        </p:nvSpPr>
        <p:spPr/>
        <p:txBody>
          <a:bodyPr/>
          <a:lstStyle/>
          <a:p>
            <a:fld id="{B2E731D1-85AE-4366-B364-066FEADE3F45}" type="slidenum">
              <a:rPr lang="fr-FR" smtClean="0"/>
              <a:t>21</a:t>
            </a:fld>
            <a:endParaRPr lang="fr-FR"/>
          </a:p>
        </p:txBody>
      </p:sp>
    </p:spTree>
    <p:extLst>
      <p:ext uri="{BB962C8B-B14F-4D97-AF65-F5344CB8AC3E}">
        <p14:creationId xmlns:p14="http://schemas.microsoft.com/office/powerpoint/2010/main" val="28478054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6AE5D-66C4-B345-48D4-6213FD4EAA6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67E1A8F-8A8F-5E9E-96E9-7443D6D4838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E4F15F6-B549-A225-53F8-B319EAD7C26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a:extLst>
              <a:ext uri="{FF2B5EF4-FFF2-40B4-BE49-F238E27FC236}">
                <a16:creationId xmlns:a16="http://schemas.microsoft.com/office/drawing/2014/main" id="{40D210F9-A372-C638-1A22-649EA657FB6C}"/>
              </a:ext>
            </a:extLst>
          </p:cNvPr>
          <p:cNvSpPr>
            <a:spLocks noGrp="1"/>
          </p:cNvSpPr>
          <p:nvPr>
            <p:ph type="sldNum" sz="quarter" idx="5"/>
          </p:nvPr>
        </p:nvSpPr>
        <p:spPr/>
        <p:txBody>
          <a:bodyPr/>
          <a:lstStyle/>
          <a:p>
            <a:fld id="{B2E731D1-85AE-4366-B364-066FEADE3F45}" type="slidenum">
              <a:rPr lang="fr-FR" smtClean="0"/>
              <a:t>22</a:t>
            </a:fld>
            <a:endParaRPr lang="fr-FR"/>
          </a:p>
        </p:txBody>
      </p:sp>
    </p:spTree>
    <p:extLst>
      <p:ext uri="{BB962C8B-B14F-4D97-AF65-F5344CB8AC3E}">
        <p14:creationId xmlns:p14="http://schemas.microsoft.com/office/powerpoint/2010/main" val="16106434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Lourd les compétences a un moment pas de peut être il faut être sur de ses choix</a:t>
            </a:r>
          </a:p>
          <a:p>
            <a:r>
              <a:rPr lang="fr-FR" dirty="0"/>
              <a:t>Faire en sorte que le jury se retrouve toujours a quel endroit on est dans la diapo</a:t>
            </a:r>
          </a:p>
          <a:p>
            <a:r>
              <a:rPr lang="fr-FR" dirty="0"/>
              <a:t>Voir la près éros par mail se faire un plan type et adapter au truc donné bonne idée le jeu</a:t>
            </a:r>
          </a:p>
        </p:txBody>
      </p:sp>
      <p:sp>
        <p:nvSpPr>
          <p:cNvPr id="4" name="Espace réservé du numéro de diapositive 3"/>
          <p:cNvSpPr>
            <a:spLocks noGrp="1"/>
          </p:cNvSpPr>
          <p:nvPr>
            <p:ph type="sldNum" sz="quarter" idx="5"/>
          </p:nvPr>
        </p:nvSpPr>
        <p:spPr/>
        <p:txBody>
          <a:bodyPr/>
          <a:lstStyle/>
          <a:p>
            <a:fld id="{B2E731D1-85AE-4366-B364-066FEADE3F45}" type="slidenum">
              <a:rPr lang="fr-FR" smtClean="0"/>
              <a:t>23</a:t>
            </a:fld>
            <a:endParaRPr lang="fr-FR"/>
          </a:p>
        </p:txBody>
      </p:sp>
    </p:spTree>
    <p:extLst>
      <p:ext uri="{BB962C8B-B14F-4D97-AF65-F5344CB8AC3E}">
        <p14:creationId xmlns:p14="http://schemas.microsoft.com/office/powerpoint/2010/main" val="40794924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B3FA2-C075-49D0-6C88-876ED4FBA3A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E35856C-C4E2-CE4E-E154-2D5525BBAC6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CD07381-D5BD-D659-2982-A959D1A66F9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a:extLst>
              <a:ext uri="{FF2B5EF4-FFF2-40B4-BE49-F238E27FC236}">
                <a16:creationId xmlns:a16="http://schemas.microsoft.com/office/drawing/2014/main" id="{EDCF4291-537B-9698-EDB3-B0C65DB5844F}"/>
              </a:ext>
            </a:extLst>
          </p:cNvPr>
          <p:cNvSpPr>
            <a:spLocks noGrp="1"/>
          </p:cNvSpPr>
          <p:nvPr>
            <p:ph type="sldNum" sz="quarter" idx="5"/>
          </p:nvPr>
        </p:nvSpPr>
        <p:spPr/>
        <p:txBody>
          <a:bodyPr/>
          <a:lstStyle/>
          <a:p>
            <a:fld id="{B2E731D1-85AE-4366-B364-066FEADE3F45}" type="slidenum">
              <a:rPr lang="fr-FR" smtClean="0"/>
              <a:t>24</a:t>
            </a:fld>
            <a:endParaRPr lang="fr-FR"/>
          </a:p>
        </p:txBody>
      </p:sp>
    </p:spTree>
    <p:extLst>
      <p:ext uri="{BB962C8B-B14F-4D97-AF65-F5344CB8AC3E}">
        <p14:creationId xmlns:p14="http://schemas.microsoft.com/office/powerpoint/2010/main" val="5811265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6087D-1B9A-7F5B-C848-E889DBF5122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7618EE2-D940-33D5-A93D-BB33A6BFD4E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F5D5C26-BF7D-B6CE-39B0-43908C10875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a:extLst>
              <a:ext uri="{FF2B5EF4-FFF2-40B4-BE49-F238E27FC236}">
                <a16:creationId xmlns:a16="http://schemas.microsoft.com/office/drawing/2014/main" id="{1CEA6703-2652-C9F5-44D2-2EFCF681E667}"/>
              </a:ext>
            </a:extLst>
          </p:cNvPr>
          <p:cNvSpPr>
            <a:spLocks noGrp="1"/>
          </p:cNvSpPr>
          <p:nvPr>
            <p:ph type="sldNum" sz="quarter" idx="5"/>
          </p:nvPr>
        </p:nvSpPr>
        <p:spPr/>
        <p:txBody>
          <a:bodyPr/>
          <a:lstStyle/>
          <a:p>
            <a:fld id="{B2E731D1-85AE-4366-B364-066FEADE3F45}" type="slidenum">
              <a:rPr lang="fr-FR" smtClean="0"/>
              <a:t>25</a:t>
            </a:fld>
            <a:endParaRPr lang="fr-FR"/>
          </a:p>
        </p:txBody>
      </p:sp>
    </p:spTree>
    <p:extLst>
      <p:ext uri="{BB962C8B-B14F-4D97-AF65-F5344CB8AC3E}">
        <p14:creationId xmlns:p14="http://schemas.microsoft.com/office/powerpoint/2010/main" val="7334115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2E731D1-85AE-4366-B364-066FEADE3F45}" type="slidenum">
              <a:rPr lang="fr-FR" smtClean="0"/>
              <a:t>26</a:t>
            </a:fld>
            <a:endParaRPr lang="fr-FR"/>
          </a:p>
        </p:txBody>
      </p:sp>
    </p:spTree>
    <p:extLst>
      <p:ext uri="{BB962C8B-B14F-4D97-AF65-F5344CB8AC3E}">
        <p14:creationId xmlns:p14="http://schemas.microsoft.com/office/powerpoint/2010/main" val="8777166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2E731D1-85AE-4366-B364-066FEADE3F45}" type="slidenum">
              <a:rPr lang="fr-FR" smtClean="0"/>
              <a:t>29</a:t>
            </a:fld>
            <a:endParaRPr lang="fr-FR"/>
          </a:p>
        </p:txBody>
      </p:sp>
    </p:spTree>
    <p:extLst>
      <p:ext uri="{BB962C8B-B14F-4D97-AF65-F5344CB8AC3E}">
        <p14:creationId xmlns:p14="http://schemas.microsoft.com/office/powerpoint/2010/main" val="31082447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76DF711-41FE-BC36-2551-915030E6E589}"/>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0273F54A-5A33-D854-8941-37712C7550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C4476D4-928F-EE23-2208-DCCAE23D7291}"/>
              </a:ext>
            </a:extLst>
          </p:cNvPr>
          <p:cNvSpPr>
            <a:spLocks noGrp="1"/>
          </p:cNvSpPr>
          <p:nvPr>
            <p:ph type="dt" sz="half" idx="10"/>
          </p:nvPr>
        </p:nvSpPr>
        <p:spPr/>
        <p:txBody>
          <a:bodyPr/>
          <a:lstStyle/>
          <a:p>
            <a:fld id="{1FDAB472-2D2A-4E66-B07F-79D072F84BFE}" type="datetime1">
              <a:rPr lang="fr-FR" smtClean="0"/>
              <a:t>05/06/2026</a:t>
            </a:fld>
            <a:endParaRPr lang="fr-FR"/>
          </a:p>
        </p:txBody>
      </p:sp>
      <p:sp>
        <p:nvSpPr>
          <p:cNvPr id="5" name="Espace réservé du pied de page 4">
            <a:extLst>
              <a:ext uri="{FF2B5EF4-FFF2-40B4-BE49-F238E27FC236}">
                <a16:creationId xmlns:a16="http://schemas.microsoft.com/office/drawing/2014/main" id="{E4A77797-E36C-F16F-09CA-B4E03B16316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B916059-AA0D-B530-BBE5-C71F98C1A42F}"/>
              </a:ext>
            </a:extLst>
          </p:cNvPr>
          <p:cNvSpPr>
            <a:spLocks noGrp="1"/>
          </p:cNvSpPr>
          <p:nvPr>
            <p:ph type="sldNum" sz="quarter" idx="12"/>
          </p:nvPr>
        </p:nvSpPr>
        <p:spPr/>
        <p:txBody>
          <a:bodyPr/>
          <a:lstStyle/>
          <a:p>
            <a:fld id="{201A5C1E-DE71-4D99-BC1E-739595F062E0}" type="slidenum">
              <a:rPr lang="fr-FR" smtClean="0"/>
              <a:t>‹N°›</a:t>
            </a:fld>
            <a:endParaRPr lang="fr-FR"/>
          </a:p>
        </p:txBody>
      </p:sp>
    </p:spTree>
    <p:extLst>
      <p:ext uri="{BB962C8B-B14F-4D97-AF65-F5344CB8AC3E}">
        <p14:creationId xmlns:p14="http://schemas.microsoft.com/office/powerpoint/2010/main" val="2630814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D296C9-7E6D-4C0B-AB2A-AD2F22AF89D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96F0445-EC47-CC69-A4DD-DCE620058330}"/>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7E4EC8A-E889-7098-46A5-BBB24C8562E1}"/>
              </a:ext>
            </a:extLst>
          </p:cNvPr>
          <p:cNvSpPr>
            <a:spLocks noGrp="1"/>
          </p:cNvSpPr>
          <p:nvPr>
            <p:ph type="dt" sz="half" idx="10"/>
          </p:nvPr>
        </p:nvSpPr>
        <p:spPr/>
        <p:txBody>
          <a:bodyPr/>
          <a:lstStyle/>
          <a:p>
            <a:fld id="{20D5D067-1761-455A-B651-847A786833B8}" type="datetime1">
              <a:rPr lang="fr-FR" smtClean="0"/>
              <a:t>05/06/2026</a:t>
            </a:fld>
            <a:endParaRPr lang="fr-FR"/>
          </a:p>
        </p:txBody>
      </p:sp>
      <p:sp>
        <p:nvSpPr>
          <p:cNvPr id="5" name="Espace réservé du pied de page 4">
            <a:extLst>
              <a:ext uri="{FF2B5EF4-FFF2-40B4-BE49-F238E27FC236}">
                <a16:creationId xmlns:a16="http://schemas.microsoft.com/office/drawing/2014/main" id="{C967521B-EAA7-C302-0F50-637841A51A1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B0EC2DB-EE08-D441-48A8-3E3204F652C9}"/>
              </a:ext>
            </a:extLst>
          </p:cNvPr>
          <p:cNvSpPr>
            <a:spLocks noGrp="1"/>
          </p:cNvSpPr>
          <p:nvPr>
            <p:ph type="sldNum" sz="quarter" idx="12"/>
          </p:nvPr>
        </p:nvSpPr>
        <p:spPr/>
        <p:txBody>
          <a:bodyPr/>
          <a:lstStyle/>
          <a:p>
            <a:fld id="{201A5C1E-DE71-4D99-BC1E-739595F062E0}" type="slidenum">
              <a:rPr lang="fr-FR" smtClean="0"/>
              <a:t>‹N°›</a:t>
            </a:fld>
            <a:endParaRPr lang="fr-FR"/>
          </a:p>
        </p:txBody>
      </p:sp>
    </p:spTree>
    <p:extLst>
      <p:ext uri="{BB962C8B-B14F-4D97-AF65-F5344CB8AC3E}">
        <p14:creationId xmlns:p14="http://schemas.microsoft.com/office/powerpoint/2010/main" val="328895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174776-5587-F858-2604-354A226A79D6}"/>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A449EA73-C48A-F2B5-0E08-D683776AFB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68D039C8-A726-BD26-6FBA-D858D74EDC89}"/>
              </a:ext>
            </a:extLst>
          </p:cNvPr>
          <p:cNvSpPr>
            <a:spLocks noGrp="1"/>
          </p:cNvSpPr>
          <p:nvPr>
            <p:ph type="dt" sz="half" idx="10"/>
          </p:nvPr>
        </p:nvSpPr>
        <p:spPr/>
        <p:txBody>
          <a:bodyPr/>
          <a:lstStyle/>
          <a:p>
            <a:fld id="{9A27A18E-5218-4C74-997D-818C26E4ACE5}" type="datetime1">
              <a:rPr lang="fr-FR" smtClean="0"/>
              <a:t>05/06/2026</a:t>
            </a:fld>
            <a:endParaRPr lang="fr-FR"/>
          </a:p>
        </p:txBody>
      </p:sp>
      <p:sp>
        <p:nvSpPr>
          <p:cNvPr id="5" name="Espace réservé du pied de page 4">
            <a:extLst>
              <a:ext uri="{FF2B5EF4-FFF2-40B4-BE49-F238E27FC236}">
                <a16:creationId xmlns:a16="http://schemas.microsoft.com/office/drawing/2014/main" id="{F006EF1D-F7EB-7B74-AD95-D98391D3078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AF3C274-D32B-7344-652C-623CF784BEAB}"/>
              </a:ext>
            </a:extLst>
          </p:cNvPr>
          <p:cNvSpPr>
            <a:spLocks noGrp="1"/>
          </p:cNvSpPr>
          <p:nvPr>
            <p:ph type="sldNum" sz="quarter" idx="12"/>
          </p:nvPr>
        </p:nvSpPr>
        <p:spPr/>
        <p:txBody>
          <a:bodyPr/>
          <a:lstStyle/>
          <a:p>
            <a:fld id="{201A5C1E-DE71-4D99-BC1E-739595F062E0}" type="slidenum">
              <a:rPr lang="fr-FR" smtClean="0"/>
              <a:t>‹N°›</a:t>
            </a:fld>
            <a:endParaRPr lang="fr-FR"/>
          </a:p>
        </p:txBody>
      </p:sp>
    </p:spTree>
    <p:extLst>
      <p:ext uri="{BB962C8B-B14F-4D97-AF65-F5344CB8AC3E}">
        <p14:creationId xmlns:p14="http://schemas.microsoft.com/office/powerpoint/2010/main" val="13810825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45BC0A-E2F3-981B-7B0A-EB3083BBD26B}"/>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C1E34D3-9038-DC73-B4C8-9B0409BDA328}"/>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D54BA138-3D33-5172-5F2D-6571B4916037}"/>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88D29B37-88AE-5D1F-720A-EB6A4795BE11}"/>
              </a:ext>
            </a:extLst>
          </p:cNvPr>
          <p:cNvSpPr>
            <a:spLocks noGrp="1"/>
          </p:cNvSpPr>
          <p:nvPr>
            <p:ph type="dt" sz="half" idx="10"/>
          </p:nvPr>
        </p:nvSpPr>
        <p:spPr/>
        <p:txBody>
          <a:bodyPr/>
          <a:lstStyle/>
          <a:p>
            <a:fld id="{7AF125F8-2564-496C-B395-414FF818976B}" type="datetime1">
              <a:rPr lang="fr-FR" smtClean="0"/>
              <a:t>05/06/2026</a:t>
            </a:fld>
            <a:endParaRPr lang="fr-FR"/>
          </a:p>
        </p:txBody>
      </p:sp>
      <p:sp>
        <p:nvSpPr>
          <p:cNvPr id="6" name="Espace réservé du pied de page 5">
            <a:extLst>
              <a:ext uri="{FF2B5EF4-FFF2-40B4-BE49-F238E27FC236}">
                <a16:creationId xmlns:a16="http://schemas.microsoft.com/office/drawing/2014/main" id="{6B2CB28E-189C-2720-7E67-FCB1706DB58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3E1AE9A-E492-3608-CA3E-92F741EC9E0D}"/>
              </a:ext>
            </a:extLst>
          </p:cNvPr>
          <p:cNvSpPr>
            <a:spLocks noGrp="1"/>
          </p:cNvSpPr>
          <p:nvPr>
            <p:ph type="sldNum" sz="quarter" idx="12"/>
          </p:nvPr>
        </p:nvSpPr>
        <p:spPr/>
        <p:txBody>
          <a:bodyPr/>
          <a:lstStyle/>
          <a:p>
            <a:fld id="{201A5C1E-DE71-4D99-BC1E-739595F062E0}" type="slidenum">
              <a:rPr lang="fr-FR" smtClean="0"/>
              <a:t>‹N°›</a:t>
            </a:fld>
            <a:endParaRPr lang="fr-FR"/>
          </a:p>
        </p:txBody>
      </p:sp>
    </p:spTree>
    <p:extLst>
      <p:ext uri="{BB962C8B-B14F-4D97-AF65-F5344CB8AC3E}">
        <p14:creationId xmlns:p14="http://schemas.microsoft.com/office/powerpoint/2010/main" val="41272831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D307AF-B24D-51CB-61B6-72864E2DED0E}"/>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9499181F-8B30-BCC2-B646-83FD69987D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E640C097-C15A-FC95-866C-9BBCB3EEDF0F}"/>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E65E01B8-585B-AEE4-1C95-3910804D7B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96900EC2-CC71-9BE9-DC0A-B486BC5BD23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24B5B798-F4C6-C695-7A5A-880C351385DA}"/>
              </a:ext>
            </a:extLst>
          </p:cNvPr>
          <p:cNvSpPr>
            <a:spLocks noGrp="1"/>
          </p:cNvSpPr>
          <p:nvPr>
            <p:ph type="dt" sz="half" idx="10"/>
          </p:nvPr>
        </p:nvSpPr>
        <p:spPr/>
        <p:txBody>
          <a:bodyPr/>
          <a:lstStyle/>
          <a:p>
            <a:fld id="{1AF19BFB-3D4D-47DC-9BA0-0B40936448BE}" type="datetime1">
              <a:rPr lang="fr-FR" smtClean="0"/>
              <a:t>05/06/2026</a:t>
            </a:fld>
            <a:endParaRPr lang="fr-FR"/>
          </a:p>
        </p:txBody>
      </p:sp>
      <p:sp>
        <p:nvSpPr>
          <p:cNvPr id="8" name="Espace réservé du pied de page 7">
            <a:extLst>
              <a:ext uri="{FF2B5EF4-FFF2-40B4-BE49-F238E27FC236}">
                <a16:creationId xmlns:a16="http://schemas.microsoft.com/office/drawing/2014/main" id="{C6F0C7EC-0544-73E9-DE29-9632F9D4221F}"/>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B7E9ED55-4600-4E3C-0DC6-EFE5D7D1C63B}"/>
              </a:ext>
            </a:extLst>
          </p:cNvPr>
          <p:cNvSpPr>
            <a:spLocks noGrp="1"/>
          </p:cNvSpPr>
          <p:nvPr>
            <p:ph type="sldNum" sz="quarter" idx="12"/>
          </p:nvPr>
        </p:nvSpPr>
        <p:spPr/>
        <p:txBody>
          <a:bodyPr/>
          <a:lstStyle/>
          <a:p>
            <a:fld id="{201A5C1E-DE71-4D99-BC1E-739595F062E0}" type="slidenum">
              <a:rPr lang="fr-FR" smtClean="0"/>
              <a:t>‹N°›</a:t>
            </a:fld>
            <a:endParaRPr lang="fr-FR"/>
          </a:p>
        </p:txBody>
      </p:sp>
    </p:spTree>
    <p:extLst>
      <p:ext uri="{BB962C8B-B14F-4D97-AF65-F5344CB8AC3E}">
        <p14:creationId xmlns:p14="http://schemas.microsoft.com/office/powerpoint/2010/main" val="2091093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15B3D5-8A00-8AD8-1CAF-D23F937929BA}"/>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8D054F4B-F70C-68AC-1FDC-37D3E0EF98C5}"/>
              </a:ext>
            </a:extLst>
          </p:cNvPr>
          <p:cNvSpPr>
            <a:spLocks noGrp="1"/>
          </p:cNvSpPr>
          <p:nvPr>
            <p:ph type="dt" sz="half" idx="10"/>
          </p:nvPr>
        </p:nvSpPr>
        <p:spPr/>
        <p:txBody>
          <a:bodyPr/>
          <a:lstStyle/>
          <a:p>
            <a:fld id="{76756F9F-02A1-480E-B942-CE6D867C50E8}" type="datetime1">
              <a:rPr lang="fr-FR" smtClean="0"/>
              <a:t>05/06/2026</a:t>
            </a:fld>
            <a:endParaRPr lang="fr-FR"/>
          </a:p>
        </p:txBody>
      </p:sp>
      <p:sp>
        <p:nvSpPr>
          <p:cNvPr id="4" name="Espace réservé du pied de page 3">
            <a:extLst>
              <a:ext uri="{FF2B5EF4-FFF2-40B4-BE49-F238E27FC236}">
                <a16:creationId xmlns:a16="http://schemas.microsoft.com/office/drawing/2014/main" id="{A9B95A69-C762-41A3-5216-3BC55C07BC6E}"/>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F8162E71-4B9B-48DD-BE35-11327B397869}"/>
              </a:ext>
            </a:extLst>
          </p:cNvPr>
          <p:cNvSpPr>
            <a:spLocks noGrp="1"/>
          </p:cNvSpPr>
          <p:nvPr>
            <p:ph type="sldNum" sz="quarter" idx="12"/>
          </p:nvPr>
        </p:nvSpPr>
        <p:spPr/>
        <p:txBody>
          <a:bodyPr/>
          <a:lstStyle/>
          <a:p>
            <a:fld id="{201A5C1E-DE71-4D99-BC1E-739595F062E0}" type="slidenum">
              <a:rPr lang="fr-FR" smtClean="0"/>
              <a:t>‹N°›</a:t>
            </a:fld>
            <a:endParaRPr lang="fr-FR"/>
          </a:p>
        </p:txBody>
      </p:sp>
    </p:spTree>
    <p:extLst>
      <p:ext uri="{BB962C8B-B14F-4D97-AF65-F5344CB8AC3E}">
        <p14:creationId xmlns:p14="http://schemas.microsoft.com/office/powerpoint/2010/main" val="1630546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78F44F57-3A95-4159-DB34-70E5FB23E158}"/>
              </a:ext>
            </a:extLst>
          </p:cNvPr>
          <p:cNvSpPr>
            <a:spLocks noGrp="1"/>
          </p:cNvSpPr>
          <p:nvPr>
            <p:ph type="dt" sz="half" idx="10"/>
          </p:nvPr>
        </p:nvSpPr>
        <p:spPr/>
        <p:txBody>
          <a:bodyPr/>
          <a:lstStyle/>
          <a:p>
            <a:fld id="{A955760E-78EA-4543-9427-A88EB1653952}" type="datetime1">
              <a:rPr lang="fr-FR" smtClean="0"/>
              <a:t>05/06/2026</a:t>
            </a:fld>
            <a:endParaRPr lang="fr-FR"/>
          </a:p>
        </p:txBody>
      </p:sp>
      <p:sp>
        <p:nvSpPr>
          <p:cNvPr id="3" name="Espace réservé du pied de page 2">
            <a:extLst>
              <a:ext uri="{FF2B5EF4-FFF2-40B4-BE49-F238E27FC236}">
                <a16:creationId xmlns:a16="http://schemas.microsoft.com/office/drawing/2014/main" id="{A8F05ACA-7EE0-B81F-E8AE-4CDEE549A065}"/>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FB7E460B-1F57-4B09-2A71-78CCCCBA3948}"/>
              </a:ext>
            </a:extLst>
          </p:cNvPr>
          <p:cNvSpPr>
            <a:spLocks noGrp="1"/>
          </p:cNvSpPr>
          <p:nvPr>
            <p:ph type="sldNum" sz="quarter" idx="12"/>
          </p:nvPr>
        </p:nvSpPr>
        <p:spPr/>
        <p:txBody>
          <a:bodyPr/>
          <a:lstStyle/>
          <a:p>
            <a:fld id="{201A5C1E-DE71-4D99-BC1E-739595F062E0}" type="slidenum">
              <a:rPr lang="fr-FR" smtClean="0"/>
              <a:t>‹N°›</a:t>
            </a:fld>
            <a:endParaRPr lang="fr-FR"/>
          </a:p>
        </p:txBody>
      </p:sp>
    </p:spTree>
    <p:extLst>
      <p:ext uri="{BB962C8B-B14F-4D97-AF65-F5344CB8AC3E}">
        <p14:creationId xmlns:p14="http://schemas.microsoft.com/office/powerpoint/2010/main" val="292590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6DC75D-8E80-7A95-E72E-40B4632B8FC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FCB0C44B-C09A-A529-A204-134460066E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063512CE-393F-8FE4-F4FA-4B3328D953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F428757-884D-D118-79E3-802E5B07698C}"/>
              </a:ext>
            </a:extLst>
          </p:cNvPr>
          <p:cNvSpPr>
            <a:spLocks noGrp="1"/>
          </p:cNvSpPr>
          <p:nvPr>
            <p:ph type="dt" sz="half" idx="10"/>
          </p:nvPr>
        </p:nvSpPr>
        <p:spPr/>
        <p:txBody>
          <a:bodyPr/>
          <a:lstStyle/>
          <a:p>
            <a:fld id="{9A3E8625-9E79-43B9-9564-00F6848FBBFC}" type="datetime1">
              <a:rPr lang="fr-FR" smtClean="0"/>
              <a:t>05/06/2026</a:t>
            </a:fld>
            <a:endParaRPr lang="fr-FR"/>
          </a:p>
        </p:txBody>
      </p:sp>
      <p:sp>
        <p:nvSpPr>
          <p:cNvPr id="6" name="Espace réservé du pied de page 5">
            <a:extLst>
              <a:ext uri="{FF2B5EF4-FFF2-40B4-BE49-F238E27FC236}">
                <a16:creationId xmlns:a16="http://schemas.microsoft.com/office/drawing/2014/main" id="{C3ACB2A1-6CCC-651B-4E14-BA495A7722E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1A861B9-8372-F0D1-011D-E1F28649DB84}"/>
              </a:ext>
            </a:extLst>
          </p:cNvPr>
          <p:cNvSpPr>
            <a:spLocks noGrp="1"/>
          </p:cNvSpPr>
          <p:nvPr>
            <p:ph type="sldNum" sz="quarter" idx="12"/>
          </p:nvPr>
        </p:nvSpPr>
        <p:spPr/>
        <p:txBody>
          <a:bodyPr/>
          <a:lstStyle/>
          <a:p>
            <a:fld id="{201A5C1E-DE71-4D99-BC1E-739595F062E0}" type="slidenum">
              <a:rPr lang="fr-FR" smtClean="0"/>
              <a:t>‹N°›</a:t>
            </a:fld>
            <a:endParaRPr lang="fr-FR"/>
          </a:p>
        </p:txBody>
      </p:sp>
    </p:spTree>
    <p:extLst>
      <p:ext uri="{BB962C8B-B14F-4D97-AF65-F5344CB8AC3E}">
        <p14:creationId xmlns:p14="http://schemas.microsoft.com/office/powerpoint/2010/main" val="1614647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F59C4F-673A-ED4D-3B5D-FBA615818E3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B7A36D45-7F70-D116-238E-50A3E0B23F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D2A3A843-10B3-FE89-A865-0187D5C069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B4A0979-8D9A-AAE6-7FD8-4333BCDD40C6}"/>
              </a:ext>
            </a:extLst>
          </p:cNvPr>
          <p:cNvSpPr>
            <a:spLocks noGrp="1"/>
          </p:cNvSpPr>
          <p:nvPr>
            <p:ph type="dt" sz="half" idx="10"/>
          </p:nvPr>
        </p:nvSpPr>
        <p:spPr/>
        <p:txBody>
          <a:bodyPr/>
          <a:lstStyle/>
          <a:p>
            <a:fld id="{DA38A006-D451-46DA-A4D6-DE174B63DBF9}" type="datetime1">
              <a:rPr lang="fr-FR" smtClean="0"/>
              <a:t>05/06/2026</a:t>
            </a:fld>
            <a:endParaRPr lang="fr-FR"/>
          </a:p>
        </p:txBody>
      </p:sp>
      <p:sp>
        <p:nvSpPr>
          <p:cNvPr id="6" name="Espace réservé du pied de page 5">
            <a:extLst>
              <a:ext uri="{FF2B5EF4-FFF2-40B4-BE49-F238E27FC236}">
                <a16:creationId xmlns:a16="http://schemas.microsoft.com/office/drawing/2014/main" id="{05FBFA0C-669A-2FFA-9D90-F020DED99D4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9C3CF3B-3555-AB73-6404-79F7DF4DCAC1}"/>
              </a:ext>
            </a:extLst>
          </p:cNvPr>
          <p:cNvSpPr>
            <a:spLocks noGrp="1"/>
          </p:cNvSpPr>
          <p:nvPr>
            <p:ph type="sldNum" sz="quarter" idx="12"/>
          </p:nvPr>
        </p:nvSpPr>
        <p:spPr/>
        <p:txBody>
          <a:bodyPr/>
          <a:lstStyle/>
          <a:p>
            <a:fld id="{201A5C1E-DE71-4D99-BC1E-739595F062E0}" type="slidenum">
              <a:rPr lang="fr-FR" smtClean="0"/>
              <a:t>‹N°›</a:t>
            </a:fld>
            <a:endParaRPr lang="fr-FR"/>
          </a:p>
        </p:txBody>
      </p:sp>
    </p:spTree>
    <p:extLst>
      <p:ext uri="{BB962C8B-B14F-4D97-AF65-F5344CB8AC3E}">
        <p14:creationId xmlns:p14="http://schemas.microsoft.com/office/powerpoint/2010/main" val="7449929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2D1158-D8BB-8A84-A615-78B0FEC4EF55}"/>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9CC13670-FA7A-3BE4-9BCB-6FCE413B5372}"/>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39631FC-316D-692B-2051-0D0A37A61C17}"/>
              </a:ext>
            </a:extLst>
          </p:cNvPr>
          <p:cNvSpPr>
            <a:spLocks noGrp="1"/>
          </p:cNvSpPr>
          <p:nvPr>
            <p:ph type="dt" sz="half" idx="10"/>
          </p:nvPr>
        </p:nvSpPr>
        <p:spPr/>
        <p:txBody>
          <a:bodyPr/>
          <a:lstStyle/>
          <a:p>
            <a:fld id="{E0E7E122-8D58-471B-B215-D9E86B27F8A0}" type="datetime1">
              <a:rPr lang="fr-FR" smtClean="0"/>
              <a:t>05/06/2026</a:t>
            </a:fld>
            <a:endParaRPr lang="fr-FR"/>
          </a:p>
        </p:txBody>
      </p:sp>
      <p:sp>
        <p:nvSpPr>
          <p:cNvPr id="5" name="Espace réservé du pied de page 4">
            <a:extLst>
              <a:ext uri="{FF2B5EF4-FFF2-40B4-BE49-F238E27FC236}">
                <a16:creationId xmlns:a16="http://schemas.microsoft.com/office/drawing/2014/main" id="{54E9125E-D720-8585-C7F5-F17B8888310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F1C4AEC-6A8D-F86A-0707-0E5FCBF99F73}"/>
              </a:ext>
            </a:extLst>
          </p:cNvPr>
          <p:cNvSpPr>
            <a:spLocks noGrp="1"/>
          </p:cNvSpPr>
          <p:nvPr>
            <p:ph type="sldNum" sz="quarter" idx="12"/>
          </p:nvPr>
        </p:nvSpPr>
        <p:spPr/>
        <p:txBody>
          <a:bodyPr/>
          <a:lstStyle/>
          <a:p>
            <a:fld id="{201A5C1E-DE71-4D99-BC1E-739595F062E0}" type="slidenum">
              <a:rPr lang="fr-FR" smtClean="0"/>
              <a:t>‹N°›</a:t>
            </a:fld>
            <a:endParaRPr lang="fr-FR"/>
          </a:p>
        </p:txBody>
      </p:sp>
    </p:spTree>
    <p:extLst>
      <p:ext uri="{BB962C8B-B14F-4D97-AF65-F5344CB8AC3E}">
        <p14:creationId xmlns:p14="http://schemas.microsoft.com/office/powerpoint/2010/main" val="230645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7DF9AE4B-2534-568D-B396-F2E647F3504C}"/>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70713E4F-9025-06A8-2D9E-D90F1C0F666E}"/>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E9C4C49-7B8D-3D53-6826-3EEB742581D8}"/>
              </a:ext>
            </a:extLst>
          </p:cNvPr>
          <p:cNvSpPr>
            <a:spLocks noGrp="1"/>
          </p:cNvSpPr>
          <p:nvPr>
            <p:ph type="dt" sz="half" idx="10"/>
          </p:nvPr>
        </p:nvSpPr>
        <p:spPr/>
        <p:txBody>
          <a:bodyPr/>
          <a:lstStyle/>
          <a:p>
            <a:fld id="{286D1296-AB39-4990-AC0B-72F9CBC5EF61}" type="datetime1">
              <a:rPr lang="fr-FR" smtClean="0"/>
              <a:t>05/06/2026</a:t>
            </a:fld>
            <a:endParaRPr lang="fr-FR"/>
          </a:p>
        </p:txBody>
      </p:sp>
      <p:sp>
        <p:nvSpPr>
          <p:cNvPr id="5" name="Espace réservé du pied de page 4">
            <a:extLst>
              <a:ext uri="{FF2B5EF4-FFF2-40B4-BE49-F238E27FC236}">
                <a16:creationId xmlns:a16="http://schemas.microsoft.com/office/drawing/2014/main" id="{5ECF3146-EE99-EA97-B96E-D78C9EE2825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961CCE9-E162-5478-91C0-456E14F3B62E}"/>
              </a:ext>
            </a:extLst>
          </p:cNvPr>
          <p:cNvSpPr>
            <a:spLocks noGrp="1"/>
          </p:cNvSpPr>
          <p:nvPr>
            <p:ph type="sldNum" sz="quarter" idx="12"/>
          </p:nvPr>
        </p:nvSpPr>
        <p:spPr/>
        <p:txBody>
          <a:bodyPr/>
          <a:lstStyle/>
          <a:p>
            <a:fld id="{201A5C1E-DE71-4D99-BC1E-739595F062E0}" type="slidenum">
              <a:rPr lang="fr-FR" smtClean="0"/>
              <a:t>‹N°›</a:t>
            </a:fld>
            <a:endParaRPr lang="fr-FR"/>
          </a:p>
        </p:txBody>
      </p:sp>
    </p:spTree>
    <p:extLst>
      <p:ext uri="{BB962C8B-B14F-4D97-AF65-F5344CB8AC3E}">
        <p14:creationId xmlns:p14="http://schemas.microsoft.com/office/powerpoint/2010/main" val="3371703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F9A2220-585D-DA61-19CF-722946D89F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7041AB91-EA0A-1B3D-30DD-77EE464657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49984C2-764A-08FD-ACA0-4AD7F1D19C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F30491-6F93-4193-87AC-4426AF174243}" type="datetime1">
              <a:rPr lang="fr-FR" smtClean="0"/>
              <a:t>05/06/2026</a:t>
            </a:fld>
            <a:endParaRPr lang="fr-FR"/>
          </a:p>
        </p:txBody>
      </p:sp>
      <p:sp>
        <p:nvSpPr>
          <p:cNvPr id="5" name="Espace réservé du pied de page 4">
            <a:extLst>
              <a:ext uri="{FF2B5EF4-FFF2-40B4-BE49-F238E27FC236}">
                <a16:creationId xmlns:a16="http://schemas.microsoft.com/office/drawing/2014/main" id="{8D4187E2-F0AC-C3C3-A07C-5CDFAD8CFF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A7E6EC5D-6FA6-82DD-2D0C-3C11AD87F3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1A5C1E-DE71-4D99-BC1E-739595F062E0}" type="slidenum">
              <a:rPr lang="fr-FR" smtClean="0"/>
              <a:t>‹N°›</a:t>
            </a:fld>
            <a:endParaRPr lang="fr-FR"/>
          </a:p>
        </p:txBody>
      </p:sp>
    </p:spTree>
    <p:extLst>
      <p:ext uri="{BB962C8B-B14F-4D97-AF65-F5344CB8AC3E}">
        <p14:creationId xmlns:p14="http://schemas.microsoft.com/office/powerpoint/2010/main" val="1716103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tephane.genouel.free.fr/FT/Dossier_Multimedia/Maxpid_V2/co/Maxpid_V2_13.html"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comments" Target="../comments/comment1.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E3A031-9DFD-A1C4-37C2-C1A492BB8118}"/>
              </a:ext>
            </a:extLst>
          </p:cNvPr>
          <p:cNvSpPr>
            <a:spLocks noGrp="1"/>
          </p:cNvSpPr>
          <p:nvPr>
            <p:ph type="title"/>
          </p:nvPr>
        </p:nvSpPr>
        <p:spPr>
          <a:xfrm>
            <a:off x="4495799" y="846476"/>
            <a:ext cx="7315200" cy="1325563"/>
          </a:xfrm>
        </p:spPr>
        <p:txBody>
          <a:bodyPr>
            <a:noAutofit/>
          </a:bodyPr>
          <a:lstStyle/>
          <a:p>
            <a:pPr algn="ctr"/>
            <a:r>
              <a:rPr lang="fr-FR" sz="3600" dirty="0"/>
              <a:t>Epreuve d’activité pratique et d’exploitation pédagogique relatives à l’approche globale d’un système pluri technologique</a:t>
            </a:r>
          </a:p>
        </p:txBody>
      </p:sp>
      <p:sp>
        <p:nvSpPr>
          <p:cNvPr id="3" name="Espace réservé du contenu 2">
            <a:extLst>
              <a:ext uri="{FF2B5EF4-FFF2-40B4-BE49-F238E27FC236}">
                <a16:creationId xmlns:a16="http://schemas.microsoft.com/office/drawing/2014/main" id="{080907E7-C971-AEFA-CFB8-25CD426883EE}"/>
              </a:ext>
            </a:extLst>
          </p:cNvPr>
          <p:cNvSpPr>
            <a:spLocks noGrp="1"/>
          </p:cNvSpPr>
          <p:nvPr>
            <p:ph idx="1"/>
          </p:nvPr>
        </p:nvSpPr>
        <p:spPr>
          <a:xfrm>
            <a:off x="5105636" y="2773531"/>
            <a:ext cx="6932050" cy="2981327"/>
          </a:xfrm>
        </p:spPr>
        <p:txBody>
          <a:bodyPr>
            <a:normAutofit/>
          </a:bodyPr>
          <a:lstStyle/>
          <a:p>
            <a:pPr marL="0" indent="0" algn="ctr">
              <a:buNone/>
            </a:pPr>
            <a:r>
              <a:rPr lang="fr-FR" dirty="0"/>
              <a:t>Modélisation des mécanismes</a:t>
            </a:r>
          </a:p>
          <a:p>
            <a:pPr marL="0" indent="0" algn="ctr">
              <a:buNone/>
            </a:pPr>
            <a:endParaRPr lang="fr-FR" dirty="0"/>
          </a:p>
          <a:p>
            <a:pPr marL="0" indent="0" algn="ctr">
              <a:buNone/>
            </a:pPr>
            <a:r>
              <a:rPr lang="fr-FR" dirty="0"/>
              <a:t>Bac Technologique STI2D, Robot </a:t>
            </a:r>
            <a:r>
              <a:rPr lang="fr-FR" dirty="0" err="1"/>
              <a:t>MaxPID</a:t>
            </a:r>
            <a:endParaRPr lang="fr-FR" dirty="0"/>
          </a:p>
          <a:p>
            <a:pPr marL="0" indent="0" algn="ctr">
              <a:buNone/>
            </a:pPr>
            <a:r>
              <a:rPr lang="fr-FR" dirty="0"/>
              <a:t>07/04/2025</a:t>
            </a:r>
          </a:p>
          <a:p>
            <a:pPr marL="0" indent="0" algn="ctr">
              <a:buNone/>
            </a:pPr>
            <a:r>
              <a:rPr lang="fr-FR" dirty="0"/>
              <a:t>Candidat N° PREVISANI Arthur</a:t>
            </a:r>
          </a:p>
        </p:txBody>
      </p:sp>
      <p:sp>
        <p:nvSpPr>
          <p:cNvPr id="7" name="Espace réservé du numéro de diapositive 6">
            <a:extLst>
              <a:ext uri="{FF2B5EF4-FFF2-40B4-BE49-F238E27FC236}">
                <a16:creationId xmlns:a16="http://schemas.microsoft.com/office/drawing/2014/main" id="{964811C3-26BC-7A32-D31A-96D937F45B04}"/>
              </a:ext>
            </a:extLst>
          </p:cNvPr>
          <p:cNvSpPr>
            <a:spLocks noGrp="1"/>
          </p:cNvSpPr>
          <p:nvPr>
            <p:ph type="sldNum" sz="quarter" idx="12"/>
          </p:nvPr>
        </p:nvSpPr>
        <p:spPr/>
        <p:txBody>
          <a:bodyPr/>
          <a:lstStyle/>
          <a:p>
            <a:fld id="{201A5C1E-DE71-4D99-BC1E-739595F062E0}" type="slidenum">
              <a:rPr lang="fr-FR" sz="2000" smtClean="0"/>
              <a:t>1</a:t>
            </a:fld>
            <a:r>
              <a:rPr lang="fr-FR" sz="2000" dirty="0"/>
              <a:t>/22</a:t>
            </a:r>
          </a:p>
        </p:txBody>
      </p:sp>
      <p:sp>
        <p:nvSpPr>
          <p:cNvPr id="4" name="Espace réservé du pied de page 3">
            <a:extLst>
              <a:ext uri="{FF2B5EF4-FFF2-40B4-BE49-F238E27FC236}">
                <a16:creationId xmlns:a16="http://schemas.microsoft.com/office/drawing/2014/main" id="{F913FA50-8192-515A-432A-D40308C5BACC}"/>
              </a:ext>
            </a:extLst>
          </p:cNvPr>
          <p:cNvSpPr>
            <a:spLocks noGrp="1"/>
          </p:cNvSpPr>
          <p:nvPr>
            <p:ph type="ftr" sz="quarter" idx="11"/>
          </p:nvPr>
        </p:nvSpPr>
        <p:spPr/>
        <p:txBody>
          <a:bodyPr/>
          <a:lstStyle/>
          <a:p>
            <a:r>
              <a:rPr lang="fr-FR" sz="1600" dirty="0">
                <a:solidFill>
                  <a:schemeClr val="tx1"/>
                </a:solidFill>
              </a:rPr>
              <a:t>N° Arthur PREVISANI</a:t>
            </a:r>
          </a:p>
        </p:txBody>
      </p:sp>
      <p:pic>
        <p:nvPicPr>
          <p:cNvPr id="8" name="Image 7">
            <a:extLst>
              <a:ext uri="{FF2B5EF4-FFF2-40B4-BE49-F238E27FC236}">
                <a16:creationId xmlns:a16="http://schemas.microsoft.com/office/drawing/2014/main" id="{7E55755E-13A0-93F2-F690-649DE1A9B6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72039"/>
            <a:ext cx="5105636" cy="3833644"/>
          </a:xfrm>
          <a:prstGeom prst="rect">
            <a:avLst/>
          </a:prstGeom>
        </p:spPr>
      </p:pic>
    </p:spTree>
    <p:extLst>
      <p:ext uri="{BB962C8B-B14F-4D97-AF65-F5344CB8AC3E}">
        <p14:creationId xmlns:p14="http://schemas.microsoft.com/office/powerpoint/2010/main" val="203891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31336-EF6F-3BFE-39EF-D85956D419A0}"/>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91A0972A-2837-292B-BBFC-36132F40CA34}"/>
              </a:ext>
            </a:extLst>
          </p:cNvPr>
          <p:cNvSpPr>
            <a:spLocks noGrp="1"/>
          </p:cNvSpPr>
          <p:nvPr>
            <p:ph type="sldNum" sz="quarter" idx="12"/>
          </p:nvPr>
        </p:nvSpPr>
        <p:spPr/>
        <p:txBody>
          <a:bodyPr/>
          <a:lstStyle/>
          <a:p>
            <a:fld id="{201A5C1E-DE71-4D99-BC1E-739595F062E0}" type="slidenum">
              <a:rPr lang="fr-FR" sz="2000" smtClean="0"/>
              <a:t>2</a:t>
            </a:fld>
            <a:r>
              <a:rPr lang="fr-FR" sz="2000" dirty="0"/>
              <a:t>/22</a:t>
            </a:r>
          </a:p>
        </p:txBody>
      </p:sp>
      <p:sp>
        <p:nvSpPr>
          <p:cNvPr id="4" name="Espace réservé du pied de page 3">
            <a:extLst>
              <a:ext uri="{FF2B5EF4-FFF2-40B4-BE49-F238E27FC236}">
                <a16:creationId xmlns:a16="http://schemas.microsoft.com/office/drawing/2014/main" id="{61C6AC18-C51E-E3D9-704D-28840E852F50}"/>
              </a:ext>
            </a:extLst>
          </p:cNvPr>
          <p:cNvSpPr>
            <a:spLocks noGrp="1"/>
          </p:cNvSpPr>
          <p:nvPr>
            <p:ph type="ftr" sz="quarter" idx="11"/>
          </p:nvPr>
        </p:nvSpPr>
        <p:spPr/>
        <p:txBody>
          <a:bodyPr/>
          <a:lstStyle/>
          <a:p>
            <a:r>
              <a:rPr lang="fr-FR" sz="1600" dirty="0">
                <a:solidFill>
                  <a:schemeClr val="tx1"/>
                </a:solidFill>
              </a:rPr>
              <a:t>N° Arthur PREVISANI</a:t>
            </a:r>
          </a:p>
        </p:txBody>
      </p:sp>
      <p:sp>
        <p:nvSpPr>
          <p:cNvPr id="11" name="Titre 1">
            <a:extLst>
              <a:ext uri="{FF2B5EF4-FFF2-40B4-BE49-F238E27FC236}">
                <a16:creationId xmlns:a16="http://schemas.microsoft.com/office/drawing/2014/main" id="{5F0C7E0E-790C-136A-35CB-01B4C45DAC50}"/>
              </a:ext>
            </a:extLst>
          </p:cNvPr>
          <p:cNvSpPr>
            <a:spLocks noGrp="1"/>
          </p:cNvSpPr>
          <p:nvPr>
            <p:ph type="title"/>
          </p:nvPr>
        </p:nvSpPr>
        <p:spPr>
          <a:xfrm>
            <a:off x="838200" y="365125"/>
            <a:ext cx="10515600" cy="1325563"/>
          </a:xfrm>
        </p:spPr>
        <p:txBody>
          <a:bodyPr>
            <a:normAutofit/>
          </a:bodyPr>
          <a:lstStyle/>
          <a:p>
            <a:r>
              <a:rPr lang="fr-FR" sz="5400" dirty="0"/>
              <a:t>Sommaire</a:t>
            </a:r>
          </a:p>
        </p:txBody>
      </p:sp>
      <p:sp>
        <p:nvSpPr>
          <p:cNvPr id="12" name="Espace réservé du contenu 2">
            <a:extLst>
              <a:ext uri="{FF2B5EF4-FFF2-40B4-BE49-F238E27FC236}">
                <a16:creationId xmlns:a16="http://schemas.microsoft.com/office/drawing/2014/main" id="{4CE80DF9-FF99-B19B-7144-3F67A22BE1C4}"/>
              </a:ext>
            </a:extLst>
          </p:cNvPr>
          <p:cNvSpPr>
            <a:spLocks noGrp="1"/>
          </p:cNvSpPr>
          <p:nvPr>
            <p:ph idx="1"/>
          </p:nvPr>
        </p:nvSpPr>
        <p:spPr>
          <a:xfrm>
            <a:off x="838200" y="1798638"/>
            <a:ext cx="10515600" cy="4351338"/>
          </a:xfrm>
        </p:spPr>
        <p:txBody>
          <a:bodyPr/>
          <a:lstStyle/>
          <a:p>
            <a:r>
              <a:rPr lang="fr-FR" sz="3600" dirty="0"/>
              <a:t>Contexte</a:t>
            </a:r>
          </a:p>
          <a:p>
            <a:r>
              <a:rPr lang="fr-FR" sz="3600" dirty="0"/>
              <a:t>Prérequis/compétences</a:t>
            </a:r>
          </a:p>
          <a:p>
            <a:r>
              <a:rPr lang="fr-FR" sz="3600" dirty="0"/>
              <a:t>Organisation de la séquence</a:t>
            </a:r>
          </a:p>
          <a:p>
            <a:r>
              <a:rPr lang="fr-FR" sz="3600" dirty="0"/>
              <a:t>Présentation du robot </a:t>
            </a:r>
            <a:r>
              <a:rPr lang="fr-FR" sz="3600" dirty="0" err="1"/>
              <a:t>MaxPID</a:t>
            </a:r>
            <a:endParaRPr lang="fr-FR" sz="3600" dirty="0"/>
          </a:p>
          <a:p>
            <a:r>
              <a:rPr lang="fr-FR" sz="3600" dirty="0"/>
              <a:t>Séance à caractère expérimental</a:t>
            </a:r>
          </a:p>
          <a:p>
            <a:r>
              <a:rPr lang="fr-FR" sz="3600" dirty="0"/>
              <a:t>Conclusion </a:t>
            </a:r>
          </a:p>
          <a:p>
            <a:endParaRPr lang="fr-FR" dirty="0"/>
          </a:p>
        </p:txBody>
      </p:sp>
    </p:spTree>
    <p:extLst>
      <p:ext uri="{BB962C8B-B14F-4D97-AF65-F5344CB8AC3E}">
        <p14:creationId xmlns:p14="http://schemas.microsoft.com/office/powerpoint/2010/main" val="130045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1721221-444B-CB8F-5D46-F61CBF738D5C}"/>
              </a:ext>
            </a:extLst>
          </p:cNvPr>
          <p:cNvSpPr>
            <a:spLocks noGrp="1"/>
          </p:cNvSpPr>
          <p:nvPr>
            <p:ph type="title"/>
          </p:nvPr>
        </p:nvSpPr>
        <p:spPr>
          <a:xfrm>
            <a:off x="838200" y="0"/>
            <a:ext cx="10515600" cy="1325563"/>
          </a:xfrm>
        </p:spPr>
        <p:txBody>
          <a:bodyPr/>
          <a:lstStyle/>
          <a:p>
            <a:r>
              <a:rPr lang="fr-FR" dirty="0"/>
              <a:t>Contexte pédagogique</a:t>
            </a:r>
          </a:p>
        </p:txBody>
      </p:sp>
      <p:sp>
        <p:nvSpPr>
          <p:cNvPr id="6" name="ZoneTexte 5">
            <a:extLst>
              <a:ext uri="{FF2B5EF4-FFF2-40B4-BE49-F238E27FC236}">
                <a16:creationId xmlns:a16="http://schemas.microsoft.com/office/drawing/2014/main" id="{C44D3443-A7A0-E1C5-08ED-AE723CB105B3}"/>
              </a:ext>
            </a:extLst>
          </p:cNvPr>
          <p:cNvSpPr txBox="1"/>
          <p:nvPr/>
        </p:nvSpPr>
        <p:spPr>
          <a:xfrm>
            <a:off x="1247264" y="1028343"/>
            <a:ext cx="9116901" cy="2400657"/>
          </a:xfrm>
          <a:prstGeom prst="rect">
            <a:avLst/>
          </a:prstGeom>
          <a:noFill/>
        </p:spPr>
        <p:txBody>
          <a:bodyPr wrap="square" rtlCol="0">
            <a:spAutoFit/>
          </a:bodyPr>
          <a:lstStyle/>
          <a:p>
            <a:r>
              <a:rPr lang="fr-FR" sz="3000" dirty="0"/>
              <a:t>1ere STI2D </a:t>
            </a:r>
          </a:p>
          <a:p>
            <a:r>
              <a:rPr lang="fr-FR" sz="3000" dirty="0"/>
              <a:t>Classe de 35 élèves</a:t>
            </a:r>
          </a:p>
          <a:p>
            <a:r>
              <a:rPr lang="fr-FR" sz="3000" dirty="0"/>
              <a:t>12h de cours hebdomadaire:</a:t>
            </a:r>
          </a:p>
          <a:p>
            <a:r>
              <a:rPr lang="fr-FR" sz="3000" dirty="0"/>
              <a:t>9h I2D dont 6 en ½ groupe + 3h IT en ½ groupe</a:t>
            </a:r>
          </a:p>
          <a:p>
            <a:endParaRPr lang="fr-FR" sz="3000" dirty="0"/>
          </a:p>
        </p:txBody>
      </p:sp>
      <p:sp>
        <p:nvSpPr>
          <p:cNvPr id="8" name="Espace réservé du numéro de diapositive 7">
            <a:extLst>
              <a:ext uri="{FF2B5EF4-FFF2-40B4-BE49-F238E27FC236}">
                <a16:creationId xmlns:a16="http://schemas.microsoft.com/office/drawing/2014/main" id="{8CAA2D67-C65F-EDFD-796B-556AE1BB5E98}"/>
              </a:ext>
            </a:extLst>
          </p:cNvPr>
          <p:cNvSpPr>
            <a:spLocks noGrp="1"/>
          </p:cNvSpPr>
          <p:nvPr>
            <p:ph type="sldNum" sz="quarter" idx="12"/>
          </p:nvPr>
        </p:nvSpPr>
        <p:spPr/>
        <p:txBody>
          <a:bodyPr/>
          <a:lstStyle/>
          <a:p>
            <a:fld id="{201A5C1E-DE71-4D99-BC1E-739595F062E0}" type="slidenum">
              <a:rPr lang="fr-FR" sz="2000" smtClean="0"/>
              <a:t>3</a:t>
            </a:fld>
            <a:r>
              <a:rPr lang="fr-FR" sz="2000" dirty="0"/>
              <a:t>/22</a:t>
            </a:r>
          </a:p>
        </p:txBody>
      </p:sp>
      <p:graphicFrame>
        <p:nvGraphicFramePr>
          <p:cNvPr id="7" name="Tableau 6">
            <a:extLst>
              <a:ext uri="{FF2B5EF4-FFF2-40B4-BE49-F238E27FC236}">
                <a16:creationId xmlns:a16="http://schemas.microsoft.com/office/drawing/2014/main" id="{5439FABA-719A-637E-66E1-4BD1AE973ADB}"/>
              </a:ext>
            </a:extLst>
          </p:cNvPr>
          <p:cNvGraphicFramePr>
            <a:graphicFrameLocks noGrp="1"/>
          </p:cNvGraphicFramePr>
          <p:nvPr>
            <p:extLst>
              <p:ext uri="{D42A27DB-BD31-4B8C-83A1-F6EECF244321}">
                <p14:modId xmlns:p14="http://schemas.microsoft.com/office/powerpoint/2010/main" val="560155445"/>
              </p:ext>
            </p:extLst>
          </p:nvPr>
        </p:nvGraphicFramePr>
        <p:xfrm>
          <a:off x="2031999" y="3018790"/>
          <a:ext cx="8128002" cy="3337560"/>
        </p:xfrm>
        <a:graphic>
          <a:graphicData uri="http://schemas.openxmlformats.org/drawingml/2006/table">
            <a:tbl>
              <a:tblPr firstRow="1" bandRow="1">
                <a:tableStyleId>{5940675A-B579-460E-94D1-54222C63F5DA}</a:tableStyleId>
              </a:tblPr>
              <a:tblGrid>
                <a:gridCol w="1354667">
                  <a:extLst>
                    <a:ext uri="{9D8B030D-6E8A-4147-A177-3AD203B41FA5}">
                      <a16:colId xmlns:a16="http://schemas.microsoft.com/office/drawing/2014/main" val="3018625712"/>
                    </a:ext>
                  </a:extLst>
                </a:gridCol>
                <a:gridCol w="1354667">
                  <a:extLst>
                    <a:ext uri="{9D8B030D-6E8A-4147-A177-3AD203B41FA5}">
                      <a16:colId xmlns:a16="http://schemas.microsoft.com/office/drawing/2014/main" val="4108680489"/>
                    </a:ext>
                  </a:extLst>
                </a:gridCol>
                <a:gridCol w="1354667">
                  <a:extLst>
                    <a:ext uri="{9D8B030D-6E8A-4147-A177-3AD203B41FA5}">
                      <a16:colId xmlns:a16="http://schemas.microsoft.com/office/drawing/2014/main" val="1212889447"/>
                    </a:ext>
                  </a:extLst>
                </a:gridCol>
                <a:gridCol w="1354667">
                  <a:extLst>
                    <a:ext uri="{9D8B030D-6E8A-4147-A177-3AD203B41FA5}">
                      <a16:colId xmlns:a16="http://schemas.microsoft.com/office/drawing/2014/main" val="410268703"/>
                    </a:ext>
                  </a:extLst>
                </a:gridCol>
                <a:gridCol w="1354667">
                  <a:extLst>
                    <a:ext uri="{9D8B030D-6E8A-4147-A177-3AD203B41FA5}">
                      <a16:colId xmlns:a16="http://schemas.microsoft.com/office/drawing/2014/main" val="892389463"/>
                    </a:ext>
                  </a:extLst>
                </a:gridCol>
                <a:gridCol w="1354667">
                  <a:extLst>
                    <a:ext uri="{9D8B030D-6E8A-4147-A177-3AD203B41FA5}">
                      <a16:colId xmlns:a16="http://schemas.microsoft.com/office/drawing/2014/main" val="1090072327"/>
                    </a:ext>
                  </a:extLst>
                </a:gridCol>
              </a:tblGrid>
              <a:tr h="370840">
                <a:tc>
                  <a:txBody>
                    <a:bodyPr/>
                    <a:lstStyle/>
                    <a:p>
                      <a:pPr algn="ctr"/>
                      <a:endParaRPr lang="fr-FR" dirty="0"/>
                    </a:p>
                  </a:txBody>
                  <a:tcPr anchor="ctr"/>
                </a:tc>
                <a:tc>
                  <a:txBody>
                    <a:bodyPr/>
                    <a:lstStyle/>
                    <a:p>
                      <a:pPr algn="ctr"/>
                      <a:r>
                        <a:rPr lang="fr-FR" dirty="0"/>
                        <a:t>Lundi</a:t>
                      </a:r>
                    </a:p>
                  </a:txBody>
                  <a:tcPr anchor="ctr"/>
                </a:tc>
                <a:tc>
                  <a:txBody>
                    <a:bodyPr/>
                    <a:lstStyle/>
                    <a:p>
                      <a:pPr algn="ctr"/>
                      <a:r>
                        <a:rPr lang="fr-FR" dirty="0"/>
                        <a:t>Mardi</a:t>
                      </a:r>
                    </a:p>
                  </a:txBody>
                  <a:tcPr anchor="ctr"/>
                </a:tc>
                <a:tc>
                  <a:txBody>
                    <a:bodyPr/>
                    <a:lstStyle/>
                    <a:p>
                      <a:pPr algn="ctr"/>
                      <a:r>
                        <a:rPr lang="fr-FR" dirty="0"/>
                        <a:t>Mercredi</a:t>
                      </a:r>
                    </a:p>
                  </a:txBody>
                  <a:tcPr anchor="ctr"/>
                </a:tc>
                <a:tc>
                  <a:txBody>
                    <a:bodyPr/>
                    <a:lstStyle/>
                    <a:p>
                      <a:pPr algn="ctr"/>
                      <a:r>
                        <a:rPr lang="fr-FR" dirty="0"/>
                        <a:t>Jeudi</a:t>
                      </a:r>
                    </a:p>
                  </a:txBody>
                  <a:tcPr anchor="ctr"/>
                </a:tc>
                <a:tc>
                  <a:txBody>
                    <a:bodyPr/>
                    <a:lstStyle/>
                    <a:p>
                      <a:pPr algn="ctr"/>
                      <a:r>
                        <a:rPr lang="fr-FR" dirty="0"/>
                        <a:t>Vendredi</a:t>
                      </a:r>
                    </a:p>
                  </a:txBody>
                  <a:tcPr anchor="ctr"/>
                </a:tc>
                <a:extLst>
                  <a:ext uri="{0D108BD9-81ED-4DB2-BD59-A6C34878D82A}">
                    <a16:rowId xmlns:a16="http://schemas.microsoft.com/office/drawing/2014/main" val="2658959332"/>
                  </a:ext>
                </a:extLst>
              </a:tr>
              <a:tr h="370840">
                <a:tc>
                  <a:txBody>
                    <a:bodyPr/>
                    <a:lstStyle/>
                    <a:p>
                      <a:pPr algn="ctr"/>
                      <a:r>
                        <a:rPr lang="fr-FR" dirty="0"/>
                        <a:t>8-9H</a:t>
                      </a:r>
                    </a:p>
                  </a:txBody>
                  <a:tcPr anchor="ctr"/>
                </a:tc>
                <a:tc>
                  <a:txBody>
                    <a:bodyPr/>
                    <a:lstStyle/>
                    <a:p>
                      <a:pPr algn="ctr"/>
                      <a:endParaRPr lang="fr-FR"/>
                    </a:p>
                  </a:txBody>
                  <a:tcPr anchor="ctr"/>
                </a:tc>
                <a:tc>
                  <a:txBody>
                    <a:bodyPr/>
                    <a:lstStyle/>
                    <a:p>
                      <a:pPr algn="ctr"/>
                      <a:endParaRPr lang="fr-FR"/>
                    </a:p>
                  </a:txBody>
                  <a:tcPr anchor="ct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dirty="0"/>
                        <a:t>3H I2D</a:t>
                      </a:r>
                    </a:p>
                  </a:txBody>
                  <a:tcPr anchor="ctr">
                    <a:solidFill>
                      <a:srgbClr val="FFEBB9"/>
                    </a:solidFill>
                  </a:tcPr>
                </a:tc>
                <a:tc>
                  <a:txBody>
                    <a:bodyPr/>
                    <a:lstStyle/>
                    <a:p>
                      <a:pPr algn="ctr"/>
                      <a:endParaRPr lang="fr-FR"/>
                    </a:p>
                  </a:txBody>
                  <a:tcPr anchor="ctr"/>
                </a:tc>
                <a:tc>
                  <a:txBody>
                    <a:bodyPr/>
                    <a:lstStyle/>
                    <a:p>
                      <a:pPr algn="ctr"/>
                      <a:endParaRPr lang="fr-FR"/>
                    </a:p>
                  </a:txBody>
                  <a:tcPr anchor="ctr"/>
                </a:tc>
                <a:extLst>
                  <a:ext uri="{0D108BD9-81ED-4DB2-BD59-A6C34878D82A}">
                    <a16:rowId xmlns:a16="http://schemas.microsoft.com/office/drawing/2014/main" val="2953442098"/>
                  </a:ext>
                </a:extLst>
              </a:tr>
              <a:tr h="370840">
                <a:tc>
                  <a:txBody>
                    <a:bodyPr/>
                    <a:lstStyle/>
                    <a:p>
                      <a:pPr algn="ctr"/>
                      <a:r>
                        <a:rPr lang="fr-FR" dirty="0"/>
                        <a:t>9-10H</a:t>
                      </a:r>
                    </a:p>
                  </a:txBody>
                  <a:tcPr anchor="ctr"/>
                </a:tc>
                <a:tc>
                  <a:txBody>
                    <a:bodyPr/>
                    <a:lstStyle/>
                    <a:p>
                      <a:pPr algn="ctr"/>
                      <a:endParaRPr lang="fr-F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dirty="0"/>
                    </a:p>
                  </a:txBody>
                  <a:tcPr anchor="ctr">
                    <a:solidFill>
                      <a:schemeClr val="bg1"/>
                    </a:solidFill>
                  </a:tcPr>
                </a:tc>
                <a:tc vMerge="1">
                  <a:txBody>
                    <a:bodyPr/>
                    <a:lstStyle/>
                    <a:p>
                      <a:pPr algn="ctr"/>
                      <a:endParaRPr lang="fr-FR" dirty="0"/>
                    </a:p>
                  </a:txBody>
                  <a:tcPr anchor="ctr"/>
                </a:tc>
                <a:tc>
                  <a:txBody>
                    <a:bodyPr/>
                    <a:lstStyle/>
                    <a:p>
                      <a:pPr algn="ctr"/>
                      <a:endParaRPr lang="fr-F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dirty="0"/>
                    </a:p>
                  </a:txBody>
                  <a:tcPr anchor="ctr">
                    <a:solidFill>
                      <a:schemeClr val="bg1"/>
                    </a:solidFill>
                  </a:tcPr>
                </a:tc>
                <a:extLst>
                  <a:ext uri="{0D108BD9-81ED-4DB2-BD59-A6C34878D82A}">
                    <a16:rowId xmlns:a16="http://schemas.microsoft.com/office/drawing/2014/main" val="2199027498"/>
                  </a:ext>
                </a:extLst>
              </a:tr>
              <a:tr h="370840">
                <a:tc>
                  <a:txBody>
                    <a:bodyPr/>
                    <a:lstStyle/>
                    <a:p>
                      <a:pPr algn="ctr"/>
                      <a:r>
                        <a:rPr lang="fr-FR" dirty="0"/>
                        <a:t>10-11H</a:t>
                      </a:r>
                    </a:p>
                  </a:txBody>
                  <a:tcPr anchor="ct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dirty="0"/>
                        <a:t>2H I2D</a:t>
                      </a:r>
                    </a:p>
                  </a:txBody>
                  <a:tcPr anchor="ctr">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dirty="0"/>
                    </a:p>
                  </a:txBody>
                  <a:tcPr anchor="ctr">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dirty="0"/>
                    </a:p>
                  </a:txBody>
                  <a:tcPr anchor="ctr">
                    <a:solidFill>
                      <a:schemeClr val="bg1"/>
                    </a:solidFill>
                  </a:tcPr>
                </a:tc>
                <a:tc>
                  <a:txBody>
                    <a:bodyPr/>
                    <a:lstStyle/>
                    <a:p>
                      <a:pPr algn="ctr"/>
                      <a:r>
                        <a:rPr lang="fr-FR" dirty="0"/>
                        <a:t>1H I2D</a:t>
                      </a:r>
                    </a:p>
                  </a:txBody>
                  <a:tcPr anchor="ctr">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dirty="0"/>
                    </a:p>
                  </a:txBody>
                  <a:tcPr anchor="ctr">
                    <a:solidFill>
                      <a:schemeClr val="bg1"/>
                    </a:solidFill>
                  </a:tcPr>
                </a:tc>
                <a:extLst>
                  <a:ext uri="{0D108BD9-81ED-4DB2-BD59-A6C34878D82A}">
                    <a16:rowId xmlns:a16="http://schemas.microsoft.com/office/drawing/2014/main" val="3438670470"/>
                  </a:ext>
                </a:extLst>
              </a:tr>
              <a:tr h="370840">
                <a:tc>
                  <a:txBody>
                    <a:bodyPr/>
                    <a:lstStyle/>
                    <a:p>
                      <a:pPr algn="ctr"/>
                      <a:r>
                        <a:rPr lang="fr-FR" dirty="0"/>
                        <a:t>11H-12H</a:t>
                      </a:r>
                    </a:p>
                  </a:txBody>
                  <a:tcPr anchor="ctr"/>
                </a:tc>
                <a:tc vMerge="1">
                  <a:txBody>
                    <a:bodyPr/>
                    <a:lstStyle/>
                    <a:p>
                      <a:pPr algn="ctr"/>
                      <a:endParaRPr lang="fr-FR"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dirty="0"/>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dirty="0"/>
                    </a:p>
                  </a:txBody>
                  <a:tcPr anchor="ctr">
                    <a:solidFill>
                      <a:schemeClr val="bg1"/>
                    </a:solidFill>
                  </a:tcPr>
                </a:tc>
                <a:tc>
                  <a:txBody>
                    <a:bodyPr/>
                    <a:lstStyle/>
                    <a:p>
                      <a:pPr algn="ctr"/>
                      <a:endParaRPr lang="fr-F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dirty="0"/>
                    </a:p>
                  </a:txBody>
                  <a:tcPr anchor="ctr">
                    <a:solidFill>
                      <a:schemeClr val="bg1"/>
                    </a:solidFill>
                  </a:tcPr>
                </a:tc>
                <a:extLst>
                  <a:ext uri="{0D108BD9-81ED-4DB2-BD59-A6C34878D82A}">
                    <a16:rowId xmlns:a16="http://schemas.microsoft.com/office/drawing/2014/main" val="59387983"/>
                  </a:ext>
                </a:extLst>
              </a:tr>
              <a:tr h="370840">
                <a:tc>
                  <a:txBody>
                    <a:bodyPr/>
                    <a:lstStyle/>
                    <a:p>
                      <a:pPr algn="ctr"/>
                      <a:endParaRPr lang="fr-FR" dirty="0"/>
                    </a:p>
                  </a:txBody>
                  <a:tcPr anchor="ctr"/>
                </a:tc>
                <a:tc>
                  <a:txBody>
                    <a:bodyPr/>
                    <a:lstStyle/>
                    <a:p>
                      <a:pPr algn="ctr"/>
                      <a:endParaRPr lang="fr-FR" dirty="0"/>
                    </a:p>
                  </a:txBody>
                  <a:tcPr anchor="ctr"/>
                </a:tc>
                <a:tc>
                  <a:txBody>
                    <a:bodyPr/>
                    <a:lstStyle/>
                    <a:p>
                      <a:pPr algn="ctr"/>
                      <a:endParaRPr lang="fr-FR"/>
                    </a:p>
                  </a:txBody>
                  <a:tcPr anchor="ctr"/>
                </a:tc>
                <a:tc>
                  <a:txBody>
                    <a:bodyPr/>
                    <a:lstStyle/>
                    <a:p>
                      <a:pPr algn="ctr"/>
                      <a:endParaRPr lang="fr-FR"/>
                    </a:p>
                  </a:txBody>
                  <a:tcPr anchor="ctr"/>
                </a:tc>
                <a:tc>
                  <a:txBody>
                    <a:bodyPr/>
                    <a:lstStyle/>
                    <a:p>
                      <a:pPr algn="ctr"/>
                      <a:endParaRPr lang="fr-FR" dirty="0"/>
                    </a:p>
                  </a:txBody>
                  <a:tcPr anchor="ctr"/>
                </a:tc>
                <a:tc>
                  <a:txBody>
                    <a:bodyPr/>
                    <a:lstStyle/>
                    <a:p>
                      <a:pPr algn="ctr"/>
                      <a:endParaRPr lang="fr-FR" dirty="0"/>
                    </a:p>
                  </a:txBody>
                  <a:tcPr anchor="ctr"/>
                </a:tc>
                <a:extLst>
                  <a:ext uri="{0D108BD9-81ED-4DB2-BD59-A6C34878D82A}">
                    <a16:rowId xmlns:a16="http://schemas.microsoft.com/office/drawing/2014/main" val="3481300047"/>
                  </a:ext>
                </a:extLst>
              </a:tr>
              <a:tr h="370840">
                <a:tc>
                  <a:txBody>
                    <a:bodyPr/>
                    <a:lstStyle/>
                    <a:p>
                      <a:pPr algn="ctr"/>
                      <a:r>
                        <a:rPr lang="fr-FR" dirty="0"/>
                        <a:t>14-15H</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dirty="0"/>
                    </a:p>
                  </a:txBody>
                  <a:tcPr anchor="ctr">
                    <a:solidFill>
                      <a:schemeClr val="bg1"/>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dirty="0"/>
                        <a:t>3H I2D</a:t>
                      </a:r>
                    </a:p>
                  </a:txBody>
                  <a:tcPr anchor="ctr">
                    <a:solidFill>
                      <a:srgbClr val="FFEBB9"/>
                    </a:solidFill>
                  </a:tcPr>
                </a:tc>
                <a:tc>
                  <a:txBody>
                    <a:bodyPr/>
                    <a:lstStyle/>
                    <a:p>
                      <a:pPr algn="ctr"/>
                      <a:endParaRPr lang="fr-FR"/>
                    </a:p>
                  </a:txBody>
                  <a:tcPr anchor="ct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dirty="0"/>
                        <a:t>3H IT</a:t>
                      </a:r>
                    </a:p>
                  </a:txBody>
                  <a:tcPr anchor="ctr">
                    <a:solidFill>
                      <a:srgbClr val="FFEBB9"/>
                    </a:solidFill>
                  </a:tcPr>
                </a:tc>
                <a:tc>
                  <a:txBody>
                    <a:bodyPr/>
                    <a:lstStyle/>
                    <a:p>
                      <a:pPr algn="ctr"/>
                      <a:endParaRPr lang="fr-FR" dirty="0"/>
                    </a:p>
                  </a:txBody>
                  <a:tcPr anchor="ctr"/>
                </a:tc>
                <a:extLst>
                  <a:ext uri="{0D108BD9-81ED-4DB2-BD59-A6C34878D82A}">
                    <a16:rowId xmlns:a16="http://schemas.microsoft.com/office/drawing/2014/main" val="5938423"/>
                  </a:ext>
                </a:extLst>
              </a:tr>
              <a:tr h="370840">
                <a:tc>
                  <a:txBody>
                    <a:bodyPr/>
                    <a:lstStyle/>
                    <a:p>
                      <a:pPr algn="ctr"/>
                      <a:r>
                        <a:rPr lang="fr-FR" dirty="0"/>
                        <a:t>15-16H</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dirty="0"/>
                    </a:p>
                  </a:txBody>
                  <a:tcPr anchor="ctr">
                    <a:solidFill>
                      <a:schemeClr val="bg1"/>
                    </a:solidFill>
                  </a:tcPr>
                </a:tc>
                <a:tc vMerge="1">
                  <a:txBody>
                    <a:bodyPr/>
                    <a:lstStyle/>
                    <a:p>
                      <a:pPr algn="ctr"/>
                      <a:endParaRPr lang="fr-FR" dirty="0"/>
                    </a:p>
                  </a:txBody>
                  <a:tcPr anchor="ctr"/>
                </a:tc>
                <a:tc>
                  <a:txBody>
                    <a:bodyPr/>
                    <a:lstStyle/>
                    <a:p>
                      <a:pPr algn="ctr"/>
                      <a:endParaRPr lang="fr-FR"/>
                    </a:p>
                  </a:txBody>
                  <a:tcPr anchor="ctr"/>
                </a:tc>
                <a:tc vMerge="1">
                  <a:txBody>
                    <a:bodyPr/>
                    <a:lstStyle/>
                    <a:p>
                      <a:endParaRPr/>
                    </a:p>
                  </a:txBody>
                  <a:tcPr/>
                </a:tc>
                <a:tc>
                  <a:txBody>
                    <a:bodyPr/>
                    <a:lstStyle/>
                    <a:p>
                      <a:pPr algn="ctr"/>
                      <a:endParaRPr lang="fr-FR" dirty="0"/>
                    </a:p>
                  </a:txBody>
                  <a:tcPr anchor="ctr"/>
                </a:tc>
                <a:extLst>
                  <a:ext uri="{0D108BD9-81ED-4DB2-BD59-A6C34878D82A}">
                    <a16:rowId xmlns:a16="http://schemas.microsoft.com/office/drawing/2014/main" val="1327619118"/>
                  </a:ext>
                </a:extLst>
              </a:tr>
              <a:tr h="370840">
                <a:tc>
                  <a:txBody>
                    <a:bodyPr/>
                    <a:lstStyle/>
                    <a:p>
                      <a:pPr algn="ctr"/>
                      <a:r>
                        <a:rPr lang="fr-FR" dirty="0"/>
                        <a:t>16-17H</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dirty="0"/>
                    </a:p>
                  </a:txBody>
                  <a:tcPr anchor="ctr"/>
                </a:tc>
                <a:tc vMerge="1">
                  <a:txBody>
                    <a:bodyPr/>
                    <a:lstStyle/>
                    <a:p>
                      <a:pPr algn="ctr"/>
                      <a:endParaRPr lang="fr-FR" dirty="0"/>
                    </a:p>
                  </a:txBody>
                  <a:tcPr anchor="ctr"/>
                </a:tc>
                <a:tc>
                  <a:txBody>
                    <a:bodyPr/>
                    <a:lstStyle/>
                    <a:p>
                      <a:pPr algn="ctr"/>
                      <a:endParaRPr lang="fr-FR"/>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txBody>
                  <a:tcPr/>
                </a:tc>
                <a:tc>
                  <a:txBody>
                    <a:bodyPr/>
                    <a:lstStyle/>
                    <a:p>
                      <a:pPr algn="ctr"/>
                      <a:endParaRPr lang="fr-FR" dirty="0"/>
                    </a:p>
                  </a:txBody>
                  <a:tcPr anchor="ctr"/>
                </a:tc>
                <a:extLst>
                  <a:ext uri="{0D108BD9-81ED-4DB2-BD59-A6C34878D82A}">
                    <a16:rowId xmlns:a16="http://schemas.microsoft.com/office/drawing/2014/main" val="2008134226"/>
                  </a:ext>
                </a:extLst>
              </a:tr>
            </a:tbl>
          </a:graphicData>
        </a:graphic>
      </p:graphicFrame>
      <p:sp>
        <p:nvSpPr>
          <p:cNvPr id="9" name="Espace réservé du pied de page 8">
            <a:extLst>
              <a:ext uri="{FF2B5EF4-FFF2-40B4-BE49-F238E27FC236}">
                <a16:creationId xmlns:a16="http://schemas.microsoft.com/office/drawing/2014/main" id="{BAF4A9F7-F718-5065-88CC-124382460765}"/>
              </a:ext>
            </a:extLst>
          </p:cNvPr>
          <p:cNvSpPr>
            <a:spLocks noGrp="1"/>
          </p:cNvSpPr>
          <p:nvPr>
            <p:ph type="ftr" sz="quarter" idx="11"/>
          </p:nvPr>
        </p:nvSpPr>
        <p:spPr>
          <a:xfrm>
            <a:off x="4038600" y="6479721"/>
            <a:ext cx="4114800" cy="365125"/>
          </a:xfrm>
        </p:spPr>
        <p:txBody>
          <a:bodyPr/>
          <a:lstStyle/>
          <a:p>
            <a:r>
              <a:rPr lang="fr-FR" sz="1600" dirty="0">
                <a:solidFill>
                  <a:schemeClr val="tx1"/>
                </a:solidFill>
              </a:rPr>
              <a:t>N° Arthur PREVISANI</a:t>
            </a:r>
          </a:p>
        </p:txBody>
      </p:sp>
    </p:spTree>
    <p:extLst>
      <p:ext uri="{BB962C8B-B14F-4D97-AF65-F5344CB8AC3E}">
        <p14:creationId xmlns:p14="http://schemas.microsoft.com/office/powerpoint/2010/main" val="2208400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D9BDB-4D6B-1E4A-2615-CC9F10882609}"/>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74076AE4-D9FC-F627-E9E0-167746C239D9}"/>
              </a:ext>
            </a:extLst>
          </p:cNvPr>
          <p:cNvSpPr>
            <a:spLocks noGrp="1"/>
          </p:cNvSpPr>
          <p:nvPr>
            <p:ph type="sldNum" sz="quarter" idx="12"/>
          </p:nvPr>
        </p:nvSpPr>
        <p:spPr/>
        <p:txBody>
          <a:bodyPr/>
          <a:lstStyle/>
          <a:p>
            <a:fld id="{201A5C1E-DE71-4D99-BC1E-739595F062E0}" type="slidenum">
              <a:rPr lang="fr-FR" sz="2000" smtClean="0"/>
              <a:t>4</a:t>
            </a:fld>
            <a:r>
              <a:rPr lang="fr-FR" sz="2000" dirty="0"/>
              <a:t>/22</a:t>
            </a:r>
          </a:p>
        </p:txBody>
      </p:sp>
      <p:sp>
        <p:nvSpPr>
          <p:cNvPr id="4" name="Espace réservé du pied de page 3">
            <a:extLst>
              <a:ext uri="{FF2B5EF4-FFF2-40B4-BE49-F238E27FC236}">
                <a16:creationId xmlns:a16="http://schemas.microsoft.com/office/drawing/2014/main" id="{B4B12D42-44BF-0BE4-EEC6-B22D12AB40EF}"/>
              </a:ext>
            </a:extLst>
          </p:cNvPr>
          <p:cNvSpPr>
            <a:spLocks noGrp="1"/>
          </p:cNvSpPr>
          <p:nvPr>
            <p:ph type="ftr" sz="quarter" idx="11"/>
          </p:nvPr>
        </p:nvSpPr>
        <p:spPr/>
        <p:txBody>
          <a:bodyPr/>
          <a:lstStyle/>
          <a:p>
            <a:r>
              <a:rPr lang="fr-FR" sz="1600" dirty="0">
                <a:solidFill>
                  <a:schemeClr val="tx1"/>
                </a:solidFill>
              </a:rPr>
              <a:t>N° Arthur PREVISANI</a:t>
            </a:r>
          </a:p>
        </p:txBody>
      </p:sp>
      <p:sp>
        <p:nvSpPr>
          <p:cNvPr id="8" name="Titre 1">
            <a:extLst>
              <a:ext uri="{FF2B5EF4-FFF2-40B4-BE49-F238E27FC236}">
                <a16:creationId xmlns:a16="http://schemas.microsoft.com/office/drawing/2014/main" id="{4E05B0D6-EB43-B520-ED94-5A7FF5D15C43}"/>
              </a:ext>
            </a:extLst>
          </p:cNvPr>
          <p:cNvSpPr>
            <a:spLocks noGrp="1"/>
          </p:cNvSpPr>
          <p:nvPr>
            <p:ph type="title"/>
          </p:nvPr>
        </p:nvSpPr>
        <p:spPr>
          <a:xfrm>
            <a:off x="838200" y="136525"/>
            <a:ext cx="10515600" cy="1325563"/>
          </a:xfrm>
        </p:spPr>
        <p:txBody>
          <a:bodyPr/>
          <a:lstStyle/>
          <a:p>
            <a:r>
              <a:rPr lang="fr-FR" dirty="0"/>
              <a:t>Contexte pédagogique</a:t>
            </a:r>
          </a:p>
        </p:txBody>
      </p:sp>
      <p:sp>
        <p:nvSpPr>
          <p:cNvPr id="9" name="ZoneTexte 8">
            <a:extLst>
              <a:ext uri="{FF2B5EF4-FFF2-40B4-BE49-F238E27FC236}">
                <a16:creationId xmlns:a16="http://schemas.microsoft.com/office/drawing/2014/main" id="{E9C541D3-4AE0-81DE-C431-F18EE14F48EB}"/>
              </a:ext>
            </a:extLst>
          </p:cNvPr>
          <p:cNvSpPr txBox="1"/>
          <p:nvPr/>
        </p:nvSpPr>
        <p:spPr>
          <a:xfrm>
            <a:off x="1537545" y="3429000"/>
            <a:ext cx="9116901" cy="2862322"/>
          </a:xfrm>
          <a:prstGeom prst="rect">
            <a:avLst/>
          </a:prstGeom>
          <a:noFill/>
        </p:spPr>
        <p:txBody>
          <a:bodyPr wrap="square" rtlCol="0">
            <a:spAutoFit/>
          </a:bodyPr>
          <a:lstStyle/>
          <a:p>
            <a:r>
              <a:rPr lang="fr-FR" sz="3000" dirty="0"/>
              <a:t>Séquence 2, durée 3 semaines</a:t>
            </a:r>
          </a:p>
          <a:p>
            <a:r>
              <a:rPr lang="fr-FR" sz="3000" dirty="0"/>
              <a:t>Problématique: Comment modéliser la liaison entre deux pièces</a:t>
            </a:r>
          </a:p>
          <a:p>
            <a:r>
              <a:rPr lang="fr-FR" sz="3000" dirty="0"/>
              <a:t>Séquence précédente: Chaine puissance info , conversion d'énergie, flux MEI</a:t>
            </a:r>
          </a:p>
          <a:p>
            <a:r>
              <a:rPr lang="fr-FR" sz="3000" dirty="0"/>
              <a:t>Séquence suivante: équilibre, ossatures, matériaux</a:t>
            </a:r>
          </a:p>
        </p:txBody>
      </p:sp>
      <p:pic>
        <p:nvPicPr>
          <p:cNvPr id="10" name="Image 9">
            <a:extLst>
              <a:ext uri="{FF2B5EF4-FFF2-40B4-BE49-F238E27FC236}">
                <a16:creationId xmlns:a16="http://schemas.microsoft.com/office/drawing/2014/main" id="{F38C49A9-4BAE-14B6-2AA0-CF166A5D5A08}"/>
              </a:ext>
            </a:extLst>
          </p:cNvPr>
          <p:cNvPicPr>
            <a:picLocks noChangeAspect="1"/>
          </p:cNvPicPr>
          <p:nvPr/>
        </p:nvPicPr>
        <p:blipFill>
          <a:blip r:embed="rId3"/>
          <a:stretch>
            <a:fillRect/>
          </a:stretch>
        </p:blipFill>
        <p:spPr>
          <a:xfrm>
            <a:off x="994191" y="1607499"/>
            <a:ext cx="10203611" cy="1505690"/>
          </a:xfrm>
          <a:prstGeom prst="rect">
            <a:avLst/>
          </a:prstGeom>
        </p:spPr>
      </p:pic>
    </p:spTree>
    <p:extLst>
      <p:ext uri="{BB962C8B-B14F-4D97-AF65-F5344CB8AC3E}">
        <p14:creationId xmlns:p14="http://schemas.microsoft.com/office/powerpoint/2010/main" val="538322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8B580-68D2-DCD5-81B1-A3336B74B7B8}"/>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45E0D967-7631-8E08-B678-937B4EB64F71}"/>
              </a:ext>
            </a:extLst>
          </p:cNvPr>
          <p:cNvSpPr>
            <a:spLocks noGrp="1"/>
          </p:cNvSpPr>
          <p:nvPr>
            <p:ph type="sldNum" sz="quarter" idx="12"/>
          </p:nvPr>
        </p:nvSpPr>
        <p:spPr/>
        <p:txBody>
          <a:bodyPr/>
          <a:lstStyle/>
          <a:p>
            <a:fld id="{201A5C1E-DE71-4D99-BC1E-739595F062E0}" type="slidenum">
              <a:rPr lang="fr-FR" sz="2000" smtClean="0"/>
              <a:t>5</a:t>
            </a:fld>
            <a:r>
              <a:rPr lang="fr-FR" sz="2000" dirty="0"/>
              <a:t>/22</a:t>
            </a:r>
          </a:p>
        </p:txBody>
      </p:sp>
      <p:sp>
        <p:nvSpPr>
          <p:cNvPr id="4" name="Espace réservé du pied de page 3">
            <a:extLst>
              <a:ext uri="{FF2B5EF4-FFF2-40B4-BE49-F238E27FC236}">
                <a16:creationId xmlns:a16="http://schemas.microsoft.com/office/drawing/2014/main" id="{724F8BF8-D2BA-D569-7CEF-EE2076D99C9B}"/>
              </a:ext>
            </a:extLst>
          </p:cNvPr>
          <p:cNvSpPr>
            <a:spLocks noGrp="1"/>
          </p:cNvSpPr>
          <p:nvPr>
            <p:ph type="ftr" sz="quarter" idx="11"/>
          </p:nvPr>
        </p:nvSpPr>
        <p:spPr/>
        <p:txBody>
          <a:bodyPr/>
          <a:lstStyle/>
          <a:p>
            <a:r>
              <a:rPr lang="fr-FR" sz="1600" dirty="0">
                <a:solidFill>
                  <a:schemeClr val="tx1"/>
                </a:solidFill>
              </a:rPr>
              <a:t>N° Arthur PREVISANI</a:t>
            </a:r>
          </a:p>
        </p:txBody>
      </p:sp>
      <p:sp>
        <p:nvSpPr>
          <p:cNvPr id="2" name="Titre 1">
            <a:extLst>
              <a:ext uri="{FF2B5EF4-FFF2-40B4-BE49-F238E27FC236}">
                <a16:creationId xmlns:a16="http://schemas.microsoft.com/office/drawing/2014/main" id="{CB126EB8-2A80-EFF4-95E9-58295D30488C}"/>
              </a:ext>
            </a:extLst>
          </p:cNvPr>
          <p:cNvSpPr txBox="1">
            <a:spLocks/>
          </p:cNvSpPr>
          <p:nvPr/>
        </p:nvSpPr>
        <p:spPr>
          <a:xfrm>
            <a:off x="1244601" y="386091"/>
            <a:ext cx="10515600" cy="7861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Prérequis</a:t>
            </a:r>
          </a:p>
        </p:txBody>
      </p:sp>
      <p:pic>
        <p:nvPicPr>
          <p:cNvPr id="5" name="Image 4">
            <a:extLst>
              <a:ext uri="{FF2B5EF4-FFF2-40B4-BE49-F238E27FC236}">
                <a16:creationId xmlns:a16="http://schemas.microsoft.com/office/drawing/2014/main" id="{ABB2972E-4AEF-ED65-5818-D5A8923C8026}"/>
              </a:ext>
            </a:extLst>
          </p:cNvPr>
          <p:cNvPicPr>
            <a:picLocks noChangeAspect="1"/>
          </p:cNvPicPr>
          <p:nvPr/>
        </p:nvPicPr>
        <p:blipFill>
          <a:blip r:embed="rId3"/>
          <a:stretch>
            <a:fillRect/>
          </a:stretch>
        </p:blipFill>
        <p:spPr>
          <a:xfrm>
            <a:off x="1244601" y="1936331"/>
            <a:ext cx="10947399" cy="375807"/>
          </a:xfrm>
          <a:prstGeom prst="rect">
            <a:avLst/>
          </a:prstGeom>
        </p:spPr>
      </p:pic>
      <p:sp>
        <p:nvSpPr>
          <p:cNvPr id="6" name="ZoneTexte 5">
            <a:extLst>
              <a:ext uri="{FF2B5EF4-FFF2-40B4-BE49-F238E27FC236}">
                <a16:creationId xmlns:a16="http://schemas.microsoft.com/office/drawing/2014/main" id="{CB8C179B-F618-9062-12D3-8602DF25AD1E}"/>
              </a:ext>
            </a:extLst>
          </p:cNvPr>
          <p:cNvSpPr txBox="1"/>
          <p:nvPr/>
        </p:nvSpPr>
        <p:spPr>
          <a:xfrm>
            <a:off x="1244601" y="2611026"/>
            <a:ext cx="4319858" cy="400110"/>
          </a:xfrm>
          <a:prstGeom prst="rect">
            <a:avLst/>
          </a:prstGeom>
          <a:noFill/>
        </p:spPr>
        <p:txBody>
          <a:bodyPr wrap="square" rtlCol="0">
            <a:spAutoFit/>
          </a:bodyPr>
          <a:lstStyle/>
          <a:p>
            <a:r>
              <a:rPr lang="fr-FR" dirty="0"/>
              <a:t>Leur </a:t>
            </a:r>
            <a:r>
              <a:rPr lang="fr-FR" sz="2000" dirty="0"/>
              <a:t>bagage</a:t>
            </a:r>
            <a:r>
              <a:rPr lang="fr-FR" dirty="0"/>
              <a:t> personnel </a:t>
            </a:r>
          </a:p>
        </p:txBody>
      </p:sp>
      <p:pic>
        <p:nvPicPr>
          <p:cNvPr id="9" name="Image 8">
            <a:extLst>
              <a:ext uri="{FF2B5EF4-FFF2-40B4-BE49-F238E27FC236}">
                <a16:creationId xmlns:a16="http://schemas.microsoft.com/office/drawing/2014/main" id="{0EF6BB10-E9B5-04A0-745A-54DFBE7508D9}"/>
              </a:ext>
            </a:extLst>
          </p:cNvPr>
          <p:cNvPicPr>
            <a:picLocks noChangeAspect="1"/>
          </p:cNvPicPr>
          <p:nvPr/>
        </p:nvPicPr>
        <p:blipFill>
          <a:blip r:embed="rId4"/>
          <a:stretch>
            <a:fillRect/>
          </a:stretch>
        </p:blipFill>
        <p:spPr>
          <a:xfrm>
            <a:off x="1244601" y="3746313"/>
            <a:ext cx="5848166" cy="1467867"/>
          </a:xfrm>
          <a:prstGeom prst="rect">
            <a:avLst/>
          </a:prstGeom>
        </p:spPr>
      </p:pic>
      <p:pic>
        <p:nvPicPr>
          <p:cNvPr id="11" name="Image 10">
            <a:extLst>
              <a:ext uri="{FF2B5EF4-FFF2-40B4-BE49-F238E27FC236}">
                <a16:creationId xmlns:a16="http://schemas.microsoft.com/office/drawing/2014/main" id="{EA9AEE22-993A-A138-7185-54F8CCA6F686}"/>
              </a:ext>
            </a:extLst>
          </p:cNvPr>
          <p:cNvPicPr>
            <a:picLocks noChangeAspect="1"/>
          </p:cNvPicPr>
          <p:nvPr/>
        </p:nvPicPr>
        <p:blipFill>
          <a:blip r:embed="rId5"/>
          <a:stretch>
            <a:fillRect/>
          </a:stretch>
        </p:blipFill>
        <p:spPr>
          <a:xfrm>
            <a:off x="1244601" y="2318083"/>
            <a:ext cx="6251056" cy="262895"/>
          </a:xfrm>
          <a:prstGeom prst="rect">
            <a:avLst/>
          </a:prstGeom>
        </p:spPr>
      </p:pic>
      <p:sp>
        <p:nvSpPr>
          <p:cNvPr id="12" name="Titre 1">
            <a:extLst>
              <a:ext uri="{FF2B5EF4-FFF2-40B4-BE49-F238E27FC236}">
                <a16:creationId xmlns:a16="http://schemas.microsoft.com/office/drawing/2014/main" id="{B667592E-D935-3A60-347D-BBB168DC69E9}"/>
              </a:ext>
            </a:extLst>
          </p:cNvPr>
          <p:cNvSpPr>
            <a:spLocks noGrp="1"/>
          </p:cNvSpPr>
          <p:nvPr>
            <p:ph type="title"/>
          </p:nvPr>
        </p:nvSpPr>
        <p:spPr>
          <a:xfrm>
            <a:off x="965080" y="971152"/>
            <a:ext cx="10515600" cy="1325563"/>
          </a:xfrm>
        </p:spPr>
        <p:txBody>
          <a:bodyPr>
            <a:normAutofit/>
          </a:bodyPr>
          <a:lstStyle/>
          <a:p>
            <a:r>
              <a:rPr lang="fr-FR" sz="2800" dirty="0"/>
              <a:t>Compétences</a:t>
            </a:r>
          </a:p>
        </p:txBody>
      </p:sp>
      <p:sp>
        <p:nvSpPr>
          <p:cNvPr id="13" name="Titre 1">
            <a:extLst>
              <a:ext uri="{FF2B5EF4-FFF2-40B4-BE49-F238E27FC236}">
                <a16:creationId xmlns:a16="http://schemas.microsoft.com/office/drawing/2014/main" id="{7F183005-CB74-AF4E-E431-EBB3155CEE34}"/>
              </a:ext>
            </a:extLst>
          </p:cNvPr>
          <p:cNvSpPr txBox="1">
            <a:spLocks/>
          </p:cNvSpPr>
          <p:nvPr/>
        </p:nvSpPr>
        <p:spPr>
          <a:xfrm>
            <a:off x="1024951" y="276621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dirty="0"/>
              <a:t>Connaissances associées</a:t>
            </a:r>
          </a:p>
        </p:txBody>
      </p:sp>
    </p:spTree>
    <p:extLst>
      <p:ext uri="{BB962C8B-B14F-4D97-AF65-F5344CB8AC3E}">
        <p14:creationId xmlns:p14="http://schemas.microsoft.com/office/powerpoint/2010/main" val="86964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F8C5C-C135-E348-1728-F62DD83C2190}"/>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831560BF-352B-C99D-0F94-A26078628018}"/>
              </a:ext>
            </a:extLst>
          </p:cNvPr>
          <p:cNvSpPr>
            <a:spLocks noGrp="1"/>
          </p:cNvSpPr>
          <p:nvPr>
            <p:ph type="sldNum" sz="quarter" idx="12"/>
          </p:nvPr>
        </p:nvSpPr>
        <p:spPr/>
        <p:txBody>
          <a:bodyPr/>
          <a:lstStyle/>
          <a:p>
            <a:fld id="{201A5C1E-DE71-4D99-BC1E-739595F062E0}" type="slidenum">
              <a:rPr lang="fr-FR" sz="2000" smtClean="0"/>
              <a:t>6</a:t>
            </a:fld>
            <a:r>
              <a:rPr lang="fr-FR" sz="2000" dirty="0"/>
              <a:t>/22</a:t>
            </a:r>
          </a:p>
        </p:txBody>
      </p:sp>
      <p:sp>
        <p:nvSpPr>
          <p:cNvPr id="4" name="Espace réservé du pied de page 3">
            <a:extLst>
              <a:ext uri="{FF2B5EF4-FFF2-40B4-BE49-F238E27FC236}">
                <a16:creationId xmlns:a16="http://schemas.microsoft.com/office/drawing/2014/main" id="{5F462330-410A-6BB0-E290-C91087933F96}"/>
              </a:ext>
            </a:extLst>
          </p:cNvPr>
          <p:cNvSpPr>
            <a:spLocks noGrp="1"/>
          </p:cNvSpPr>
          <p:nvPr>
            <p:ph type="ftr" sz="quarter" idx="11"/>
          </p:nvPr>
        </p:nvSpPr>
        <p:spPr/>
        <p:txBody>
          <a:bodyPr/>
          <a:lstStyle/>
          <a:p>
            <a:r>
              <a:rPr lang="fr-FR" sz="1600" dirty="0">
                <a:solidFill>
                  <a:schemeClr val="tx1"/>
                </a:solidFill>
              </a:rPr>
              <a:t>N° Arthur PREVISANI</a:t>
            </a:r>
          </a:p>
        </p:txBody>
      </p:sp>
      <p:sp>
        <p:nvSpPr>
          <p:cNvPr id="2" name="Titre 1">
            <a:extLst>
              <a:ext uri="{FF2B5EF4-FFF2-40B4-BE49-F238E27FC236}">
                <a16:creationId xmlns:a16="http://schemas.microsoft.com/office/drawing/2014/main" id="{7C01CA5C-FC3A-A5C0-2748-1DCE27AFCFA9}"/>
              </a:ext>
            </a:extLst>
          </p:cNvPr>
          <p:cNvSpPr>
            <a:spLocks noGrp="1"/>
          </p:cNvSpPr>
          <p:nvPr>
            <p:ph type="title"/>
          </p:nvPr>
        </p:nvSpPr>
        <p:spPr>
          <a:xfrm>
            <a:off x="823686" y="-96137"/>
            <a:ext cx="10515600" cy="1325563"/>
          </a:xfrm>
        </p:spPr>
        <p:txBody>
          <a:bodyPr/>
          <a:lstStyle/>
          <a:p>
            <a:r>
              <a:rPr lang="fr-FR" dirty="0"/>
              <a:t>Compétences à acquérir pour cette séquence</a:t>
            </a:r>
          </a:p>
        </p:txBody>
      </p:sp>
      <p:pic>
        <p:nvPicPr>
          <p:cNvPr id="5" name="Image 4">
            <a:extLst>
              <a:ext uri="{FF2B5EF4-FFF2-40B4-BE49-F238E27FC236}">
                <a16:creationId xmlns:a16="http://schemas.microsoft.com/office/drawing/2014/main" id="{D8530ADE-5426-C6CE-C34E-F5C4F8F7B25A}"/>
              </a:ext>
            </a:extLst>
          </p:cNvPr>
          <p:cNvPicPr>
            <a:picLocks noChangeAspect="1"/>
          </p:cNvPicPr>
          <p:nvPr/>
        </p:nvPicPr>
        <p:blipFill>
          <a:blip r:embed="rId3"/>
          <a:srcRect l="667" b="2396"/>
          <a:stretch>
            <a:fillRect/>
          </a:stretch>
        </p:blipFill>
        <p:spPr>
          <a:xfrm>
            <a:off x="889572" y="1573665"/>
            <a:ext cx="8522833" cy="2124312"/>
          </a:xfrm>
          <a:prstGeom prst="rect">
            <a:avLst/>
          </a:prstGeom>
        </p:spPr>
      </p:pic>
      <p:pic>
        <p:nvPicPr>
          <p:cNvPr id="8" name="Image 7">
            <a:extLst>
              <a:ext uri="{FF2B5EF4-FFF2-40B4-BE49-F238E27FC236}">
                <a16:creationId xmlns:a16="http://schemas.microsoft.com/office/drawing/2014/main" id="{F3538AFA-5C8F-5277-3DA5-F466B070D9D6}"/>
              </a:ext>
            </a:extLst>
          </p:cNvPr>
          <p:cNvPicPr>
            <a:picLocks noChangeAspect="1"/>
          </p:cNvPicPr>
          <p:nvPr/>
        </p:nvPicPr>
        <p:blipFill>
          <a:blip r:embed="rId4"/>
          <a:stretch>
            <a:fillRect/>
          </a:stretch>
        </p:blipFill>
        <p:spPr>
          <a:xfrm>
            <a:off x="889572" y="4286750"/>
            <a:ext cx="10464228" cy="1675247"/>
          </a:xfrm>
          <a:prstGeom prst="rect">
            <a:avLst/>
          </a:prstGeom>
        </p:spPr>
      </p:pic>
      <p:sp>
        <p:nvSpPr>
          <p:cNvPr id="9" name="Titre 1">
            <a:extLst>
              <a:ext uri="{FF2B5EF4-FFF2-40B4-BE49-F238E27FC236}">
                <a16:creationId xmlns:a16="http://schemas.microsoft.com/office/drawing/2014/main" id="{AE21CF07-85E9-2051-8B01-1A92F2197768}"/>
              </a:ext>
            </a:extLst>
          </p:cNvPr>
          <p:cNvSpPr txBox="1">
            <a:spLocks/>
          </p:cNvSpPr>
          <p:nvPr/>
        </p:nvSpPr>
        <p:spPr>
          <a:xfrm>
            <a:off x="823686" y="56664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600" dirty="0"/>
              <a:t>En I2D</a:t>
            </a:r>
          </a:p>
        </p:txBody>
      </p:sp>
      <p:sp>
        <p:nvSpPr>
          <p:cNvPr id="10" name="Titre 1">
            <a:extLst>
              <a:ext uri="{FF2B5EF4-FFF2-40B4-BE49-F238E27FC236}">
                <a16:creationId xmlns:a16="http://schemas.microsoft.com/office/drawing/2014/main" id="{6664C3BD-F66F-D897-4F26-54F9E58F0E50}"/>
              </a:ext>
            </a:extLst>
          </p:cNvPr>
          <p:cNvSpPr txBox="1">
            <a:spLocks/>
          </p:cNvSpPr>
          <p:nvPr/>
        </p:nvSpPr>
        <p:spPr>
          <a:xfrm>
            <a:off x="823686" y="342679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600" dirty="0"/>
              <a:t>En IT</a:t>
            </a:r>
          </a:p>
        </p:txBody>
      </p:sp>
    </p:spTree>
    <p:extLst>
      <p:ext uri="{BB962C8B-B14F-4D97-AF65-F5344CB8AC3E}">
        <p14:creationId xmlns:p14="http://schemas.microsoft.com/office/powerpoint/2010/main" val="3012736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9F7CE-A787-42F7-1D5C-0CFD2E89403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8723F69-2791-B13F-1A93-7CA4E235D01B}"/>
              </a:ext>
            </a:extLst>
          </p:cNvPr>
          <p:cNvSpPr>
            <a:spLocks noGrp="1"/>
          </p:cNvSpPr>
          <p:nvPr>
            <p:ph type="title"/>
          </p:nvPr>
        </p:nvSpPr>
        <p:spPr>
          <a:xfrm>
            <a:off x="838200" y="136525"/>
            <a:ext cx="10515600" cy="1325563"/>
          </a:xfrm>
        </p:spPr>
        <p:txBody>
          <a:bodyPr/>
          <a:lstStyle/>
          <a:p>
            <a:r>
              <a:rPr lang="fr-FR" dirty="0"/>
              <a:t>TD1 2h</a:t>
            </a:r>
          </a:p>
        </p:txBody>
      </p:sp>
      <p:sp>
        <p:nvSpPr>
          <p:cNvPr id="7" name="Espace réservé du numéro de diapositive 6">
            <a:extLst>
              <a:ext uri="{FF2B5EF4-FFF2-40B4-BE49-F238E27FC236}">
                <a16:creationId xmlns:a16="http://schemas.microsoft.com/office/drawing/2014/main" id="{678AD4A6-DB6A-40B5-3BF9-9D776B93AEA8}"/>
              </a:ext>
            </a:extLst>
          </p:cNvPr>
          <p:cNvSpPr>
            <a:spLocks noGrp="1"/>
          </p:cNvSpPr>
          <p:nvPr>
            <p:ph type="sldNum" sz="quarter" idx="12"/>
          </p:nvPr>
        </p:nvSpPr>
        <p:spPr/>
        <p:txBody>
          <a:bodyPr/>
          <a:lstStyle/>
          <a:p>
            <a:fld id="{201A5C1E-DE71-4D99-BC1E-739595F062E0}" type="slidenum">
              <a:rPr lang="fr-FR" sz="2000" smtClean="0"/>
              <a:t>7</a:t>
            </a:fld>
            <a:r>
              <a:rPr lang="fr-FR" sz="2000" dirty="0"/>
              <a:t>/22</a:t>
            </a:r>
          </a:p>
        </p:txBody>
      </p:sp>
      <p:sp>
        <p:nvSpPr>
          <p:cNvPr id="3" name="ZoneTexte 2">
            <a:extLst>
              <a:ext uri="{FF2B5EF4-FFF2-40B4-BE49-F238E27FC236}">
                <a16:creationId xmlns:a16="http://schemas.microsoft.com/office/drawing/2014/main" id="{E1B4019A-AA41-8815-B392-C1A378D68CB4}"/>
              </a:ext>
            </a:extLst>
          </p:cNvPr>
          <p:cNvSpPr txBox="1"/>
          <p:nvPr/>
        </p:nvSpPr>
        <p:spPr>
          <a:xfrm>
            <a:off x="838199" y="1138922"/>
            <a:ext cx="10787743" cy="1569660"/>
          </a:xfrm>
          <a:prstGeom prst="rect">
            <a:avLst/>
          </a:prstGeom>
          <a:noFill/>
        </p:spPr>
        <p:txBody>
          <a:bodyPr wrap="square" rtlCol="0">
            <a:spAutoFit/>
          </a:bodyPr>
          <a:lstStyle/>
          <a:p>
            <a:r>
              <a:rPr lang="fr-FR" sz="2400" dirty="0"/>
              <a:t>Découverte des différentes liaisons mécaniques:</a:t>
            </a:r>
          </a:p>
          <a:p>
            <a:r>
              <a:rPr lang="fr-FR" sz="2400" dirty="0"/>
              <a:t>Quelles sont les relations possibles entre deux solides.</a:t>
            </a:r>
          </a:p>
          <a:p>
            <a:r>
              <a:rPr lang="fr-FR" sz="2400" dirty="0"/>
              <a:t>Démarche inductive, essayer de leur faire correspondre avec des mécanismes connus: Pédalier de vélo, bâton de colle(stick) activité pratique activité dirigée</a:t>
            </a:r>
          </a:p>
        </p:txBody>
      </p:sp>
      <p:sp>
        <p:nvSpPr>
          <p:cNvPr id="4" name="Titre 1">
            <a:extLst>
              <a:ext uri="{FF2B5EF4-FFF2-40B4-BE49-F238E27FC236}">
                <a16:creationId xmlns:a16="http://schemas.microsoft.com/office/drawing/2014/main" id="{B872F43F-0B41-E34E-24A4-D601765A3749}"/>
              </a:ext>
            </a:extLst>
          </p:cNvPr>
          <p:cNvSpPr txBox="1">
            <a:spLocks/>
          </p:cNvSpPr>
          <p:nvPr/>
        </p:nvSpPr>
        <p:spPr>
          <a:xfrm>
            <a:off x="838200" y="296731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TP1 3h</a:t>
            </a:r>
          </a:p>
        </p:txBody>
      </p:sp>
      <p:sp>
        <p:nvSpPr>
          <p:cNvPr id="6" name="ZoneTexte 5">
            <a:extLst>
              <a:ext uri="{FF2B5EF4-FFF2-40B4-BE49-F238E27FC236}">
                <a16:creationId xmlns:a16="http://schemas.microsoft.com/office/drawing/2014/main" id="{2AC34C6A-4F37-FC66-A9CF-3DDE4AD86748}"/>
              </a:ext>
            </a:extLst>
          </p:cNvPr>
          <p:cNvSpPr txBox="1"/>
          <p:nvPr/>
        </p:nvSpPr>
        <p:spPr>
          <a:xfrm>
            <a:off x="838199" y="4039115"/>
            <a:ext cx="10671629" cy="1107996"/>
          </a:xfrm>
          <a:prstGeom prst="rect">
            <a:avLst/>
          </a:prstGeom>
          <a:noFill/>
        </p:spPr>
        <p:txBody>
          <a:bodyPr wrap="square" rtlCol="0">
            <a:spAutoFit/>
          </a:bodyPr>
          <a:lstStyle/>
          <a:p>
            <a:r>
              <a:rPr lang="fr-FR" sz="2400" dirty="0"/>
              <a:t>En demi-groupe , 6 groupes de 3 élèves</a:t>
            </a:r>
          </a:p>
          <a:p>
            <a:r>
              <a:rPr lang="fr-FR" sz="2400" dirty="0"/>
              <a:t>Analyse de liaisons présentes sur différents systèmes présents dans le labo </a:t>
            </a:r>
          </a:p>
          <a:p>
            <a:endParaRPr lang="fr-FR" dirty="0"/>
          </a:p>
        </p:txBody>
      </p:sp>
      <p:graphicFrame>
        <p:nvGraphicFramePr>
          <p:cNvPr id="8" name="Tableau 7">
            <a:extLst>
              <a:ext uri="{FF2B5EF4-FFF2-40B4-BE49-F238E27FC236}">
                <a16:creationId xmlns:a16="http://schemas.microsoft.com/office/drawing/2014/main" id="{04ED6B27-CCDC-2050-8C8F-A7FE1D27D37C}"/>
              </a:ext>
            </a:extLst>
          </p:cNvPr>
          <p:cNvGraphicFramePr>
            <a:graphicFrameLocks noGrp="1"/>
          </p:cNvGraphicFramePr>
          <p:nvPr>
            <p:extLst>
              <p:ext uri="{D42A27DB-BD31-4B8C-83A1-F6EECF244321}">
                <p14:modId xmlns:p14="http://schemas.microsoft.com/office/powerpoint/2010/main" val="1085791268"/>
              </p:ext>
            </p:extLst>
          </p:nvPr>
        </p:nvGraphicFramePr>
        <p:xfrm>
          <a:off x="3617684" y="602894"/>
          <a:ext cx="5920014" cy="370840"/>
        </p:xfrm>
        <a:graphic>
          <a:graphicData uri="http://schemas.openxmlformats.org/drawingml/2006/table">
            <a:tbl>
              <a:tblPr firstRow="1" bandRow="1">
                <a:tableStyleId>{2D5ABB26-0587-4C30-8999-92F81FD0307C}</a:tableStyleId>
              </a:tblPr>
              <a:tblGrid>
                <a:gridCol w="1557528">
                  <a:extLst>
                    <a:ext uri="{9D8B030D-6E8A-4147-A177-3AD203B41FA5}">
                      <a16:colId xmlns:a16="http://schemas.microsoft.com/office/drawing/2014/main" val="3768321597"/>
                    </a:ext>
                  </a:extLst>
                </a:gridCol>
                <a:gridCol w="755688">
                  <a:extLst>
                    <a:ext uri="{9D8B030D-6E8A-4147-A177-3AD203B41FA5}">
                      <a16:colId xmlns:a16="http://schemas.microsoft.com/office/drawing/2014/main" val="603146100"/>
                    </a:ext>
                  </a:extLst>
                </a:gridCol>
                <a:gridCol w="838200">
                  <a:extLst>
                    <a:ext uri="{9D8B030D-6E8A-4147-A177-3AD203B41FA5}">
                      <a16:colId xmlns:a16="http://schemas.microsoft.com/office/drawing/2014/main" val="2202000248"/>
                    </a:ext>
                  </a:extLst>
                </a:gridCol>
                <a:gridCol w="1104900">
                  <a:extLst>
                    <a:ext uri="{9D8B030D-6E8A-4147-A177-3AD203B41FA5}">
                      <a16:colId xmlns:a16="http://schemas.microsoft.com/office/drawing/2014/main" val="2237200760"/>
                    </a:ext>
                  </a:extLst>
                </a:gridCol>
                <a:gridCol w="1087596">
                  <a:extLst>
                    <a:ext uri="{9D8B030D-6E8A-4147-A177-3AD203B41FA5}">
                      <a16:colId xmlns:a16="http://schemas.microsoft.com/office/drawing/2014/main" val="2538769403"/>
                    </a:ext>
                  </a:extLst>
                </a:gridCol>
                <a:gridCol w="576102">
                  <a:extLst>
                    <a:ext uri="{9D8B030D-6E8A-4147-A177-3AD203B41FA5}">
                      <a16:colId xmlns:a16="http://schemas.microsoft.com/office/drawing/2014/main" val="1791742753"/>
                    </a:ext>
                  </a:extLst>
                </a:gridCol>
              </a:tblGrid>
              <a:tr h="370840">
                <a:tc>
                  <a:txBody>
                    <a:bodyPr/>
                    <a:lstStyle/>
                    <a:p>
                      <a:pPr algn="ctr"/>
                      <a:r>
                        <a:rPr lang="fr-FR" dirty="0"/>
                        <a:t>Semaine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BB9"/>
                    </a:solidFill>
                  </a:tcPr>
                </a:tc>
                <a:tc>
                  <a:txBody>
                    <a:bodyPr/>
                    <a:lstStyle/>
                    <a:p>
                      <a:pPr algn="ctr"/>
                      <a:r>
                        <a:rPr lang="fr-FR" dirty="0"/>
                        <a:t>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TP2 (IT)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COURS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5967402"/>
                  </a:ext>
                </a:extLst>
              </a:tr>
            </a:tbl>
          </a:graphicData>
        </a:graphic>
      </p:graphicFrame>
      <p:sp>
        <p:nvSpPr>
          <p:cNvPr id="10" name="Espace réservé du pied de page 9">
            <a:extLst>
              <a:ext uri="{FF2B5EF4-FFF2-40B4-BE49-F238E27FC236}">
                <a16:creationId xmlns:a16="http://schemas.microsoft.com/office/drawing/2014/main" id="{A79D4CA8-5A95-45BA-A4F1-2A2F23BA9B57}"/>
              </a:ext>
            </a:extLst>
          </p:cNvPr>
          <p:cNvSpPr>
            <a:spLocks noGrp="1"/>
          </p:cNvSpPr>
          <p:nvPr>
            <p:ph type="ftr" sz="quarter" idx="11"/>
          </p:nvPr>
        </p:nvSpPr>
        <p:spPr>
          <a:xfrm>
            <a:off x="4038600" y="6477454"/>
            <a:ext cx="4114800" cy="365125"/>
          </a:xfrm>
        </p:spPr>
        <p:txBody>
          <a:bodyPr/>
          <a:lstStyle/>
          <a:p>
            <a:r>
              <a:rPr lang="fr-FR" sz="1600" dirty="0">
                <a:solidFill>
                  <a:schemeClr val="tx1"/>
                </a:solidFill>
              </a:rPr>
              <a:t>N° Arthur PREVISANI</a:t>
            </a:r>
          </a:p>
        </p:txBody>
      </p:sp>
      <p:graphicFrame>
        <p:nvGraphicFramePr>
          <p:cNvPr id="5" name="Tableau 4">
            <a:extLst>
              <a:ext uri="{FF2B5EF4-FFF2-40B4-BE49-F238E27FC236}">
                <a16:creationId xmlns:a16="http://schemas.microsoft.com/office/drawing/2014/main" id="{C4A3362E-DFAA-529E-FEA4-AFF45366F44E}"/>
              </a:ext>
            </a:extLst>
          </p:cNvPr>
          <p:cNvGraphicFramePr>
            <a:graphicFrameLocks noGrp="1"/>
          </p:cNvGraphicFramePr>
          <p:nvPr>
            <p:extLst>
              <p:ext uri="{D42A27DB-BD31-4B8C-83A1-F6EECF244321}">
                <p14:modId xmlns:p14="http://schemas.microsoft.com/office/powerpoint/2010/main" val="3934078073"/>
              </p:ext>
            </p:extLst>
          </p:nvPr>
        </p:nvGraphicFramePr>
        <p:xfrm>
          <a:off x="3617684" y="3432233"/>
          <a:ext cx="5920014" cy="370840"/>
        </p:xfrm>
        <a:graphic>
          <a:graphicData uri="http://schemas.openxmlformats.org/drawingml/2006/table">
            <a:tbl>
              <a:tblPr firstRow="1" bandRow="1">
                <a:tableStyleId>{2D5ABB26-0587-4C30-8999-92F81FD0307C}</a:tableStyleId>
              </a:tblPr>
              <a:tblGrid>
                <a:gridCol w="1557528">
                  <a:extLst>
                    <a:ext uri="{9D8B030D-6E8A-4147-A177-3AD203B41FA5}">
                      <a16:colId xmlns:a16="http://schemas.microsoft.com/office/drawing/2014/main" val="3768321597"/>
                    </a:ext>
                  </a:extLst>
                </a:gridCol>
                <a:gridCol w="755688">
                  <a:extLst>
                    <a:ext uri="{9D8B030D-6E8A-4147-A177-3AD203B41FA5}">
                      <a16:colId xmlns:a16="http://schemas.microsoft.com/office/drawing/2014/main" val="603146100"/>
                    </a:ext>
                  </a:extLst>
                </a:gridCol>
                <a:gridCol w="838200">
                  <a:extLst>
                    <a:ext uri="{9D8B030D-6E8A-4147-A177-3AD203B41FA5}">
                      <a16:colId xmlns:a16="http://schemas.microsoft.com/office/drawing/2014/main" val="2202000248"/>
                    </a:ext>
                  </a:extLst>
                </a:gridCol>
                <a:gridCol w="1104900">
                  <a:extLst>
                    <a:ext uri="{9D8B030D-6E8A-4147-A177-3AD203B41FA5}">
                      <a16:colId xmlns:a16="http://schemas.microsoft.com/office/drawing/2014/main" val="2237200760"/>
                    </a:ext>
                  </a:extLst>
                </a:gridCol>
                <a:gridCol w="1087596">
                  <a:extLst>
                    <a:ext uri="{9D8B030D-6E8A-4147-A177-3AD203B41FA5}">
                      <a16:colId xmlns:a16="http://schemas.microsoft.com/office/drawing/2014/main" val="2538769403"/>
                    </a:ext>
                  </a:extLst>
                </a:gridCol>
                <a:gridCol w="576102">
                  <a:extLst>
                    <a:ext uri="{9D8B030D-6E8A-4147-A177-3AD203B41FA5}">
                      <a16:colId xmlns:a16="http://schemas.microsoft.com/office/drawing/2014/main" val="1791742753"/>
                    </a:ext>
                  </a:extLst>
                </a:gridCol>
              </a:tblGrid>
              <a:tr h="370840">
                <a:tc>
                  <a:txBody>
                    <a:bodyPr/>
                    <a:lstStyle/>
                    <a:p>
                      <a:pPr algn="ctr"/>
                      <a:r>
                        <a:rPr lang="fr-FR" dirty="0"/>
                        <a:t>Semaine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dirty="0"/>
                        <a:t>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BB9"/>
                    </a:solidFill>
                  </a:tcPr>
                </a:tc>
                <a:tc>
                  <a:txBody>
                    <a:bodyPr/>
                    <a:lstStyle/>
                    <a:p>
                      <a:pPr algn="ctr"/>
                      <a:r>
                        <a:rPr lang="fr-FR" dirty="0"/>
                        <a:t>TP2 (IT)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COURS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5967402"/>
                  </a:ext>
                </a:extLst>
              </a:tr>
            </a:tbl>
          </a:graphicData>
        </a:graphic>
      </p:graphicFrame>
    </p:spTree>
    <p:extLst>
      <p:ext uri="{BB962C8B-B14F-4D97-AF65-F5344CB8AC3E}">
        <p14:creationId xmlns:p14="http://schemas.microsoft.com/office/powerpoint/2010/main" val="1393055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81A4C-EC54-BD86-6537-6D17951A38F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89B9873-1F9D-C64A-D43B-BFF0DAF8E626}"/>
              </a:ext>
            </a:extLst>
          </p:cNvPr>
          <p:cNvSpPr>
            <a:spLocks noGrp="1"/>
          </p:cNvSpPr>
          <p:nvPr>
            <p:ph type="title"/>
          </p:nvPr>
        </p:nvSpPr>
        <p:spPr>
          <a:xfrm>
            <a:off x="838200" y="262717"/>
            <a:ext cx="10515600" cy="1325563"/>
          </a:xfrm>
        </p:spPr>
        <p:txBody>
          <a:bodyPr/>
          <a:lstStyle/>
          <a:p>
            <a:r>
              <a:rPr lang="fr-FR" dirty="0"/>
              <a:t>TP2 (IT) 3h</a:t>
            </a:r>
          </a:p>
        </p:txBody>
      </p:sp>
      <p:sp>
        <p:nvSpPr>
          <p:cNvPr id="7" name="Espace réservé du numéro de diapositive 6">
            <a:extLst>
              <a:ext uri="{FF2B5EF4-FFF2-40B4-BE49-F238E27FC236}">
                <a16:creationId xmlns:a16="http://schemas.microsoft.com/office/drawing/2014/main" id="{23E4AB98-6335-18B6-9B55-83B1EB782B2E}"/>
              </a:ext>
            </a:extLst>
          </p:cNvPr>
          <p:cNvSpPr>
            <a:spLocks noGrp="1"/>
          </p:cNvSpPr>
          <p:nvPr>
            <p:ph type="sldNum" sz="quarter" idx="12"/>
          </p:nvPr>
        </p:nvSpPr>
        <p:spPr/>
        <p:txBody>
          <a:bodyPr/>
          <a:lstStyle/>
          <a:p>
            <a:fld id="{201A5C1E-DE71-4D99-BC1E-739595F062E0}" type="slidenum">
              <a:rPr lang="fr-FR" sz="2000" smtClean="0"/>
              <a:t>8</a:t>
            </a:fld>
            <a:r>
              <a:rPr lang="fr-FR" sz="2000" dirty="0"/>
              <a:t>/22</a:t>
            </a:r>
          </a:p>
        </p:txBody>
      </p:sp>
      <p:sp>
        <p:nvSpPr>
          <p:cNvPr id="5" name="ZoneTexte 4">
            <a:extLst>
              <a:ext uri="{FF2B5EF4-FFF2-40B4-BE49-F238E27FC236}">
                <a16:creationId xmlns:a16="http://schemas.microsoft.com/office/drawing/2014/main" id="{D5D1C3A9-43D6-FE03-9538-4AAE4C719FF6}"/>
              </a:ext>
            </a:extLst>
          </p:cNvPr>
          <p:cNvSpPr txBox="1"/>
          <p:nvPr/>
        </p:nvSpPr>
        <p:spPr>
          <a:xfrm>
            <a:off x="838200" y="1265114"/>
            <a:ext cx="8494486" cy="1938992"/>
          </a:xfrm>
          <a:prstGeom prst="rect">
            <a:avLst/>
          </a:prstGeom>
          <a:noFill/>
        </p:spPr>
        <p:txBody>
          <a:bodyPr wrap="square" rtlCol="0">
            <a:spAutoFit/>
          </a:bodyPr>
          <a:lstStyle/>
          <a:p>
            <a:r>
              <a:rPr lang="fr-FR" sz="2400" dirty="0"/>
              <a:t>En demi-groupe , 3 groupes de 6 élèves</a:t>
            </a:r>
          </a:p>
          <a:p>
            <a:r>
              <a:rPr lang="fr-FR" sz="2400" dirty="0"/>
              <a:t>Mini projet sur l’analyse et la comparaison entre différentes solutions technologiques pour la réalisation d’une liaison dans une éolienne entre les pales et le bâti</a:t>
            </a:r>
          </a:p>
          <a:p>
            <a:r>
              <a:rPr lang="fr-FR" sz="2400" dirty="0"/>
              <a:t>Analyse de documents / dossiers techniques, analyse du besoin, </a:t>
            </a:r>
          </a:p>
        </p:txBody>
      </p:sp>
      <p:sp>
        <p:nvSpPr>
          <p:cNvPr id="10" name="ZoneTexte 9">
            <a:extLst>
              <a:ext uri="{FF2B5EF4-FFF2-40B4-BE49-F238E27FC236}">
                <a16:creationId xmlns:a16="http://schemas.microsoft.com/office/drawing/2014/main" id="{DEBE1CC3-B678-25E1-AE63-8256AEB7E3E4}"/>
              </a:ext>
            </a:extLst>
          </p:cNvPr>
          <p:cNvSpPr txBox="1"/>
          <p:nvPr/>
        </p:nvSpPr>
        <p:spPr>
          <a:xfrm>
            <a:off x="838200" y="4588565"/>
            <a:ext cx="11469914" cy="830997"/>
          </a:xfrm>
          <a:prstGeom prst="rect">
            <a:avLst/>
          </a:prstGeom>
          <a:noFill/>
        </p:spPr>
        <p:txBody>
          <a:bodyPr wrap="square" rtlCol="0">
            <a:spAutoFit/>
          </a:bodyPr>
          <a:lstStyle/>
          <a:p>
            <a:r>
              <a:rPr lang="fr-FR" sz="2400" dirty="0"/>
              <a:t>Classe entière</a:t>
            </a:r>
          </a:p>
          <a:p>
            <a:r>
              <a:rPr lang="fr-FR" sz="2400" dirty="0"/>
              <a:t>Modélisation des liaisons: représentation normalisée, mobilités possibles</a:t>
            </a:r>
          </a:p>
        </p:txBody>
      </p:sp>
      <p:sp>
        <p:nvSpPr>
          <p:cNvPr id="11" name="Titre 1">
            <a:extLst>
              <a:ext uri="{FF2B5EF4-FFF2-40B4-BE49-F238E27FC236}">
                <a16:creationId xmlns:a16="http://schemas.microsoft.com/office/drawing/2014/main" id="{0E0B2FC9-0D54-76F0-D2E3-E1793D693421}"/>
              </a:ext>
            </a:extLst>
          </p:cNvPr>
          <p:cNvSpPr txBox="1">
            <a:spLocks/>
          </p:cNvSpPr>
          <p:nvPr/>
        </p:nvSpPr>
        <p:spPr>
          <a:xfrm>
            <a:off x="838200" y="3772024"/>
            <a:ext cx="10515600" cy="86104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COURS 1 1h</a:t>
            </a:r>
          </a:p>
        </p:txBody>
      </p:sp>
      <p:sp>
        <p:nvSpPr>
          <p:cNvPr id="16" name="Espace réservé du pied de page 15">
            <a:extLst>
              <a:ext uri="{FF2B5EF4-FFF2-40B4-BE49-F238E27FC236}">
                <a16:creationId xmlns:a16="http://schemas.microsoft.com/office/drawing/2014/main" id="{1C91ADFD-A443-FB9C-5B88-436ACD697260}"/>
              </a:ext>
            </a:extLst>
          </p:cNvPr>
          <p:cNvSpPr>
            <a:spLocks noGrp="1"/>
          </p:cNvSpPr>
          <p:nvPr>
            <p:ph type="ftr" sz="quarter" idx="11"/>
          </p:nvPr>
        </p:nvSpPr>
        <p:spPr>
          <a:xfrm>
            <a:off x="4038600" y="6451683"/>
            <a:ext cx="4114800" cy="365125"/>
          </a:xfrm>
        </p:spPr>
        <p:txBody>
          <a:bodyPr/>
          <a:lstStyle/>
          <a:p>
            <a:r>
              <a:rPr lang="fr-FR" sz="1600" dirty="0">
                <a:solidFill>
                  <a:schemeClr val="tx1"/>
                </a:solidFill>
              </a:rPr>
              <a:t>N° Arthur PREVISANI</a:t>
            </a:r>
          </a:p>
        </p:txBody>
      </p:sp>
      <p:graphicFrame>
        <p:nvGraphicFramePr>
          <p:cNvPr id="3" name="Tableau 2">
            <a:extLst>
              <a:ext uri="{FF2B5EF4-FFF2-40B4-BE49-F238E27FC236}">
                <a16:creationId xmlns:a16="http://schemas.microsoft.com/office/drawing/2014/main" id="{269575FE-155B-FD22-7A26-6109ABCED19D}"/>
              </a:ext>
            </a:extLst>
          </p:cNvPr>
          <p:cNvGraphicFramePr>
            <a:graphicFrameLocks noGrp="1"/>
          </p:cNvGraphicFramePr>
          <p:nvPr>
            <p:extLst>
              <p:ext uri="{D42A27DB-BD31-4B8C-83A1-F6EECF244321}">
                <p14:modId xmlns:p14="http://schemas.microsoft.com/office/powerpoint/2010/main" val="868378482"/>
              </p:ext>
            </p:extLst>
          </p:nvPr>
        </p:nvGraphicFramePr>
        <p:xfrm>
          <a:off x="3796393" y="697658"/>
          <a:ext cx="5920014" cy="370840"/>
        </p:xfrm>
        <a:graphic>
          <a:graphicData uri="http://schemas.openxmlformats.org/drawingml/2006/table">
            <a:tbl>
              <a:tblPr firstRow="1" bandRow="1">
                <a:tableStyleId>{2D5ABB26-0587-4C30-8999-92F81FD0307C}</a:tableStyleId>
              </a:tblPr>
              <a:tblGrid>
                <a:gridCol w="1557528">
                  <a:extLst>
                    <a:ext uri="{9D8B030D-6E8A-4147-A177-3AD203B41FA5}">
                      <a16:colId xmlns:a16="http://schemas.microsoft.com/office/drawing/2014/main" val="3768321597"/>
                    </a:ext>
                  </a:extLst>
                </a:gridCol>
                <a:gridCol w="755688">
                  <a:extLst>
                    <a:ext uri="{9D8B030D-6E8A-4147-A177-3AD203B41FA5}">
                      <a16:colId xmlns:a16="http://schemas.microsoft.com/office/drawing/2014/main" val="603146100"/>
                    </a:ext>
                  </a:extLst>
                </a:gridCol>
                <a:gridCol w="838200">
                  <a:extLst>
                    <a:ext uri="{9D8B030D-6E8A-4147-A177-3AD203B41FA5}">
                      <a16:colId xmlns:a16="http://schemas.microsoft.com/office/drawing/2014/main" val="2202000248"/>
                    </a:ext>
                  </a:extLst>
                </a:gridCol>
                <a:gridCol w="1104900">
                  <a:extLst>
                    <a:ext uri="{9D8B030D-6E8A-4147-A177-3AD203B41FA5}">
                      <a16:colId xmlns:a16="http://schemas.microsoft.com/office/drawing/2014/main" val="2237200760"/>
                    </a:ext>
                  </a:extLst>
                </a:gridCol>
                <a:gridCol w="1087596">
                  <a:extLst>
                    <a:ext uri="{9D8B030D-6E8A-4147-A177-3AD203B41FA5}">
                      <a16:colId xmlns:a16="http://schemas.microsoft.com/office/drawing/2014/main" val="2538769403"/>
                    </a:ext>
                  </a:extLst>
                </a:gridCol>
                <a:gridCol w="576102">
                  <a:extLst>
                    <a:ext uri="{9D8B030D-6E8A-4147-A177-3AD203B41FA5}">
                      <a16:colId xmlns:a16="http://schemas.microsoft.com/office/drawing/2014/main" val="1791742753"/>
                    </a:ext>
                  </a:extLst>
                </a:gridCol>
              </a:tblGrid>
              <a:tr h="370840">
                <a:tc>
                  <a:txBody>
                    <a:bodyPr/>
                    <a:lstStyle/>
                    <a:p>
                      <a:pPr algn="ctr"/>
                      <a:r>
                        <a:rPr lang="fr-FR" dirty="0"/>
                        <a:t>Semaine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dirty="0"/>
                        <a:t>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TP2 (IT)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BB9"/>
                    </a:solidFill>
                  </a:tcPr>
                </a:tc>
                <a:tc>
                  <a:txBody>
                    <a:bodyPr/>
                    <a:lstStyle/>
                    <a:p>
                      <a:pPr algn="ctr"/>
                      <a:r>
                        <a:rPr lang="fr-FR" dirty="0"/>
                        <a:t>COURS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5967402"/>
                  </a:ext>
                </a:extLst>
              </a:tr>
            </a:tbl>
          </a:graphicData>
        </a:graphic>
      </p:graphicFrame>
      <p:graphicFrame>
        <p:nvGraphicFramePr>
          <p:cNvPr id="4" name="Tableau 3">
            <a:extLst>
              <a:ext uri="{FF2B5EF4-FFF2-40B4-BE49-F238E27FC236}">
                <a16:creationId xmlns:a16="http://schemas.microsoft.com/office/drawing/2014/main" id="{A33BC456-331A-1CC2-291C-1E0F1F690165}"/>
              </a:ext>
            </a:extLst>
          </p:cNvPr>
          <p:cNvGraphicFramePr>
            <a:graphicFrameLocks noGrp="1"/>
          </p:cNvGraphicFramePr>
          <p:nvPr>
            <p:extLst>
              <p:ext uri="{D42A27DB-BD31-4B8C-83A1-F6EECF244321}">
                <p14:modId xmlns:p14="http://schemas.microsoft.com/office/powerpoint/2010/main" val="4242599534"/>
              </p:ext>
            </p:extLst>
          </p:nvPr>
        </p:nvGraphicFramePr>
        <p:xfrm>
          <a:off x="4062186" y="3994875"/>
          <a:ext cx="5920014" cy="370840"/>
        </p:xfrm>
        <a:graphic>
          <a:graphicData uri="http://schemas.openxmlformats.org/drawingml/2006/table">
            <a:tbl>
              <a:tblPr firstRow="1" bandRow="1">
                <a:tableStyleId>{2D5ABB26-0587-4C30-8999-92F81FD0307C}</a:tableStyleId>
              </a:tblPr>
              <a:tblGrid>
                <a:gridCol w="1557528">
                  <a:extLst>
                    <a:ext uri="{9D8B030D-6E8A-4147-A177-3AD203B41FA5}">
                      <a16:colId xmlns:a16="http://schemas.microsoft.com/office/drawing/2014/main" val="3768321597"/>
                    </a:ext>
                  </a:extLst>
                </a:gridCol>
                <a:gridCol w="755688">
                  <a:extLst>
                    <a:ext uri="{9D8B030D-6E8A-4147-A177-3AD203B41FA5}">
                      <a16:colId xmlns:a16="http://schemas.microsoft.com/office/drawing/2014/main" val="603146100"/>
                    </a:ext>
                  </a:extLst>
                </a:gridCol>
                <a:gridCol w="838200">
                  <a:extLst>
                    <a:ext uri="{9D8B030D-6E8A-4147-A177-3AD203B41FA5}">
                      <a16:colId xmlns:a16="http://schemas.microsoft.com/office/drawing/2014/main" val="2202000248"/>
                    </a:ext>
                  </a:extLst>
                </a:gridCol>
                <a:gridCol w="1104900">
                  <a:extLst>
                    <a:ext uri="{9D8B030D-6E8A-4147-A177-3AD203B41FA5}">
                      <a16:colId xmlns:a16="http://schemas.microsoft.com/office/drawing/2014/main" val="2237200760"/>
                    </a:ext>
                  </a:extLst>
                </a:gridCol>
                <a:gridCol w="1087596">
                  <a:extLst>
                    <a:ext uri="{9D8B030D-6E8A-4147-A177-3AD203B41FA5}">
                      <a16:colId xmlns:a16="http://schemas.microsoft.com/office/drawing/2014/main" val="2538769403"/>
                    </a:ext>
                  </a:extLst>
                </a:gridCol>
                <a:gridCol w="576102">
                  <a:extLst>
                    <a:ext uri="{9D8B030D-6E8A-4147-A177-3AD203B41FA5}">
                      <a16:colId xmlns:a16="http://schemas.microsoft.com/office/drawing/2014/main" val="1791742753"/>
                    </a:ext>
                  </a:extLst>
                </a:gridCol>
              </a:tblGrid>
              <a:tr h="370840">
                <a:tc>
                  <a:txBody>
                    <a:bodyPr/>
                    <a:lstStyle/>
                    <a:p>
                      <a:pPr algn="ctr"/>
                      <a:r>
                        <a:rPr lang="fr-FR" dirty="0"/>
                        <a:t>Semaine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dirty="0"/>
                        <a:t>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TP2 (IT)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COURS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BB9"/>
                    </a:solidFill>
                  </a:tcPr>
                </a:tc>
                <a:tc>
                  <a:txBody>
                    <a:bodyPr/>
                    <a:lstStyle/>
                    <a:p>
                      <a:pPr algn="ctr"/>
                      <a:r>
                        <a:rPr lang="fr-FR" dirty="0"/>
                        <a:t>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5967402"/>
                  </a:ext>
                </a:extLst>
              </a:tr>
            </a:tbl>
          </a:graphicData>
        </a:graphic>
      </p:graphicFrame>
    </p:spTree>
    <p:extLst>
      <p:ext uri="{BB962C8B-B14F-4D97-AF65-F5344CB8AC3E}">
        <p14:creationId xmlns:p14="http://schemas.microsoft.com/office/powerpoint/2010/main" val="2259102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A28A6-7459-1768-BE5E-A721F82CA1A0}"/>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75660EF3-0B3B-80FA-0A52-32BA2736A317}"/>
              </a:ext>
            </a:extLst>
          </p:cNvPr>
          <p:cNvSpPr>
            <a:spLocks noGrp="1"/>
          </p:cNvSpPr>
          <p:nvPr>
            <p:ph type="sldNum" sz="quarter" idx="12"/>
          </p:nvPr>
        </p:nvSpPr>
        <p:spPr/>
        <p:txBody>
          <a:bodyPr/>
          <a:lstStyle/>
          <a:p>
            <a:fld id="{201A5C1E-DE71-4D99-BC1E-739595F062E0}" type="slidenum">
              <a:rPr lang="fr-FR" sz="2000" smtClean="0"/>
              <a:t>9</a:t>
            </a:fld>
            <a:r>
              <a:rPr lang="fr-FR" sz="2000" dirty="0"/>
              <a:t>/22</a:t>
            </a:r>
          </a:p>
        </p:txBody>
      </p:sp>
      <p:sp>
        <p:nvSpPr>
          <p:cNvPr id="9" name="Titre 1">
            <a:extLst>
              <a:ext uri="{FF2B5EF4-FFF2-40B4-BE49-F238E27FC236}">
                <a16:creationId xmlns:a16="http://schemas.microsoft.com/office/drawing/2014/main" id="{527844A1-A2FF-9885-BFAF-17F445244CAC}"/>
              </a:ext>
            </a:extLst>
          </p:cNvPr>
          <p:cNvSpPr>
            <a:spLocks noGrp="1"/>
          </p:cNvSpPr>
          <p:nvPr>
            <p:ph type="title"/>
          </p:nvPr>
        </p:nvSpPr>
        <p:spPr>
          <a:xfrm>
            <a:off x="954314" y="447636"/>
            <a:ext cx="10515600" cy="1325563"/>
          </a:xfrm>
        </p:spPr>
        <p:txBody>
          <a:bodyPr/>
          <a:lstStyle/>
          <a:p>
            <a:r>
              <a:rPr lang="fr-FR" dirty="0"/>
              <a:t>TP3 3h</a:t>
            </a:r>
          </a:p>
        </p:txBody>
      </p:sp>
      <p:sp>
        <p:nvSpPr>
          <p:cNvPr id="10" name="ZoneTexte 9">
            <a:extLst>
              <a:ext uri="{FF2B5EF4-FFF2-40B4-BE49-F238E27FC236}">
                <a16:creationId xmlns:a16="http://schemas.microsoft.com/office/drawing/2014/main" id="{2A7C0FE1-0B5E-3535-4117-1167EF57D808}"/>
              </a:ext>
            </a:extLst>
          </p:cNvPr>
          <p:cNvSpPr txBox="1"/>
          <p:nvPr/>
        </p:nvSpPr>
        <p:spPr>
          <a:xfrm>
            <a:off x="954314" y="1516817"/>
            <a:ext cx="7493000" cy="1200329"/>
          </a:xfrm>
          <a:prstGeom prst="rect">
            <a:avLst/>
          </a:prstGeom>
          <a:noFill/>
        </p:spPr>
        <p:txBody>
          <a:bodyPr wrap="square">
            <a:spAutoFit/>
          </a:bodyPr>
          <a:lstStyle/>
          <a:p>
            <a:r>
              <a:rPr lang="fr-FR" sz="2400" dirty="0"/>
              <a:t>En demi-groupe , 3 groupes de 6 élèves</a:t>
            </a:r>
          </a:p>
          <a:p>
            <a:r>
              <a:rPr lang="fr-FR" sz="2400" dirty="0"/>
              <a:t>Complétion de schémas cinématiques simples, après analyse du système quand aux liaisons présentes </a:t>
            </a:r>
          </a:p>
        </p:txBody>
      </p:sp>
      <p:sp>
        <p:nvSpPr>
          <p:cNvPr id="11" name="Titre 1">
            <a:extLst>
              <a:ext uri="{FF2B5EF4-FFF2-40B4-BE49-F238E27FC236}">
                <a16:creationId xmlns:a16="http://schemas.microsoft.com/office/drawing/2014/main" id="{7671BD5D-9572-E6F0-7C55-D6C7B4C145EE}"/>
              </a:ext>
            </a:extLst>
          </p:cNvPr>
          <p:cNvSpPr txBox="1">
            <a:spLocks/>
          </p:cNvSpPr>
          <p:nvPr/>
        </p:nvSpPr>
        <p:spPr>
          <a:xfrm>
            <a:off x="954314" y="312640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TD2 2h</a:t>
            </a:r>
          </a:p>
        </p:txBody>
      </p:sp>
      <p:sp>
        <p:nvSpPr>
          <p:cNvPr id="14" name="ZoneTexte 13">
            <a:extLst>
              <a:ext uri="{FF2B5EF4-FFF2-40B4-BE49-F238E27FC236}">
                <a16:creationId xmlns:a16="http://schemas.microsoft.com/office/drawing/2014/main" id="{7E862862-33E0-6DB6-ABAB-A857F2E86485}"/>
              </a:ext>
            </a:extLst>
          </p:cNvPr>
          <p:cNvSpPr txBox="1"/>
          <p:nvPr/>
        </p:nvSpPr>
        <p:spPr>
          <a:xfrm>
            <a:off x="954314" y="4221133"/>
            <a:ext cx="9655629" cy="1200329"/>
          </a:xfrm>
          <a:prstGeom prst="rect">
            <a:avLst/>
          </a:prstGeom>
          <a:noFill/>
        </p:spPr>
        <p:txBody>
          <a:bodyPr wrap="square">
            <a:spAutoFit/>
          </a:bodyPr>
          <a:lstStyle/>
          <a:p>
            <a:r>
              <a:rPr lang="fr-FR" sz="2400" dirty="0"/>
              <a:t>Classe entière</a:t>
            </a:r>
          </a:p>
          <a:p>
            <a:r>
              <a:rPr lang="fr-FR" sz="2400" dirty="0"/>
              <a:t>Découverte de composants permettant la Conversion/transmission de l'Energie dans les chaines de puissance moteur, réducteur, ampoule, </a:t>
            </a:r>
            <a:r>
              <a:rPr lang="fr-FR" sz="2400" dirty="0" err="1"/>
              <a:t>etc</a:t>
            </a:r>
            <a:endParaRPr lang="fr-FR" sz="2400" dirty="0"/>
          </a:p>
        </p:txBody>
      </p:sp>
      <p:sp>
        <p:nvSpPr>
          <p:cNvPr id="15" name="Espace réservé du pied de page 14">
            <a:extLst>
              <a:ext uri="{FF2B5EF4-FFF2-40B4-BE49-F238E27FC236}">
                <a16:creationId xmlns:a16="http://schemas.microsoft.com/office/drawing/2014/main" id="{0F4ABBB3-4AC0-4781-417D-9F136CBA6770}"/>
              </a:ext>
            </a:extLst>
          </p:cNvPr>
          <p:cNvSpPr>
            <a:spLocks noGrp="1"/>
          </p:cNvSpPr>
          <p:nvPr>
            <p:ph type="ftr" sz="quarter" idx="11"/>
          </p:nvPr>
        </p:nvSpPr>
        <p:spPr>
          <a:xfrm>
            <a:off x="4038600" y="6462939"/>
            <a:ext cx="4114800" cy="365125"/>
          </a:xfrm>
        </p:spPr>
        <p:txBody>
          <a:bodyPr/>
          <a:lstStyle/>
          <a:p>
            <a:r>
              <a:rPr lang="fr-FR" sz="1600" dirty="0">
                <a:solidFill>
                  <a:schemeClr val="tx1"/>
                </a:solidFill>
              </a:rPr>
              <a:t>N° Arthur PREVISANI</a:t>
            </a:r>
          </a:p>
        </p:txBody>
      </p:sp>
      <p:graphicFrame>
        <p:nvGraphicFramePr>
          <p:cNvPr id="2" name="Tableau 1">
            <a:extLst>
              <a:ext uri="{FF2B5EF4-FFF2-40B4-BE49-F238E27FC236}">
                <a16:creationId xmlns:a16="http://schemas.microsoft.com/office/drawing/2014/main" id="{91A98022-FFFA-454C-57D8-DEE68BE52064}"/>
              </a:ext>
            </a:extLst>
          </p:cNvPr>
          <p:cNvGraphicFramePr>
            <a:graphicFrameLocks noGrp="1"/>
          </p:cNvGraphicFramePr>
          <p:nvPr>
            <p:extLst>
              <p:ext uri="{D42A27DB-BD31-4B8C-83A1-F6EECF244321}">
                <p14:modId xmlns:p14="http://schemas.microsoft.com/office/powerpoint/2010/main" val="114752560"/>
              </p:ext>
            </p:extLst>
          </p:nvPr>
        </p:nvGraphicFramePr>
        <p:xfrm>
          <a:off x="3135993" y="899448"/>
          <a:ext cx="5920014" cy="370840"/>
        </p:xfrm>
        <a:graphic>
          <a:graphicData uri="http://schemas.openxmlformats.org/drawingml/2006/table">
            <a:tbl>
              <a:tblPr firstRow="1" bandRow="1">
                <a:tableStyleId>{2D5ABB26-0587-4C30-8999-92F81FD0307C}</a:tableStyleId>
              </a:tblPr>
              <a:tblGrid>
                <a:gridCol w="1557528">
                  <a:extLst>
                    <a:ext uri="{9D8B030D-6E8A-4147-A177-3AD203B41FA5}">
                      <a16:colId xmlns:a16="http://schemas.microsoft.com/office/drawing/2014/main" val="3768321597"/>
                    </a:ext>
                  </a:extLst>
                </a:gridCol>
                <a:gridCol w="755688">
                  <a:extLst>
                    <a:ext uri="{9D8B030D-6E8A-4147-A177-3AD203B41FA5}">
                      <a16:colId xmlns:a16="http://schemas.microsoft.com/office/drawing/2014/main" val="603146100"/>
                    </a:ext>
                  </a:extLst>
                </a:gridCol>
                <a:gridCol w="838200">
                  <a:extLst>
                    <a:ext uri="{9D8B030D-6E8A-4147-A177-3AD203B41FA5}">
                      <a16:colId xmlns:a16="http://schemas.microsoft.com/office/drawing/2014/main" val="2202000248"/>
                    </a:ext>
                  </a:extLst>
                </a:gridCol>
                <a:gridCol w="1104900">
                  <a:extLst>
                    <a:ext uri="{9D8B030D-6E8A-4147-A177-3AD203B41FA5}">
                      <a16:colId xmlns:a16="http://schemas.microsoft.com/office/drawing/2014/main" val="2237200760"/>
                    </a:ext>
                  </a:extLst>
                </a:gridCol>
                <a:gridCol w="1087596">
                  <a:extLst>
                    <a:ext uri="{9D8B030D-6E8A-4147-A177-3AD203B41FA5}">
                      <a16:colId xmlns:a16="http://schemas.microsoft.com/office/drawing/2014/main" val="2538769403"/>
                    </a:ext>
                  </a:extLst>
                </a:gridCol>
                <a:gridCol w="576102">
                  <a:extLst>
                    <a:ext uri="{9D8B030D-6E8A-4147-A177-3AD203B41FA5}">
                      <a16:colId xmlns:a16="http://schemas.microsoft.com/office/drawing/2014/main" val="1791742753"/>
                    </a:ext>
                  </a:extLst>
                </a:gridCol>
              </a:tblGrid>
              <a:tr h="370840">
                <a:tc>
                  <a:txBody>
                    <a:bodyPr/>
                    <a:lstStyle/>
                    <a:p>
                      <a:pPr algn="ctr"/>
                      <a:r>
                        <a:rPr lang="fr-FR" dirty="0"/>
                        <a:t>Semaine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dirty="0"/>
                        <a:t>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TP2 (IT)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COURS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BB9"/>
                    </a:solidFill>
                  </a:tcPr>
                </a:tc>
                <a:extLst>
                  <a:ext uri="{0D108BD9-81ED-4DB2-BD59-A6C34878D82A}">
                    <a16:rowId xmlns:a16="http://schemas.microsoft.com/office/drawing/2014/main" val="3665967402"/>
                  </a:ext>
                </a:extLst>
              </a:tr>
            </a:tbl>
          </a:graphicData>
        </a:graphic>
      </p:graphicFrame>
      <p:graphicFrame>
        <p:nvGraphicFramePr>
          <p:cNvPr id="3" name="Tableau 2">
            <a:extLst>
              <a:ext uri="{FF2B5EF4-FFF2-40B4-BE49-F238E27FC236}">
                <a16:creationId xmlns:a16="http://schemas.microsoft.com/office/drawing/2014/main" id="{F4EA97A5-FC85-9D0C-BB25-E94479F7EF5A}"/>
              </a:ext>
            </a:extLst>
          </p:cNvPr>
          <p:cNvGraphicFramePr>
            <a:graphicFrameLocks noGrp="1"/>
          </p:cNvGraphicFramePr>
          <p:nvPr>
            <p:extLst>
              <p:ext uri="{D42A27DB-BD31-4B8C-83A1-F6EECF244321}">
                <p14:modId xmlns:p14="http://schemas.microsoft.com/office/powerpoint/2010/main" val="2434800274"/>
              </p:ext>
            </p:extLst>
          </p:nvPr>
        </p:nvGraphicFramePr>
        <p:xfrm>
          <a:off x="3694793" y="3600907"/>
          <a:ext cx="5920014" cy="370840"/>
        </p:xfrm>
        <a:graphic>
          <a:graphicData uri="http://schemas.openxmlformats.org/drawingml/2006/table">
            <a:tbl>
              <a:tblPr firstRow="1" bandRow="1">
                <a:tableStyleId>{2D5ABB26-0587-4C30-8999-92F81FD0307C}</a:tableStyleId>
              </a:tblPr>
              <a:tblGrid>
                <a:gridCol w="1557528">
                  <a:extLst>
                    <a:ext uri="{9D8B030D-6E8A-4147-A177-3AD203B41FA5}">
                      <a16:colId xmlns:a16="http://schemas.microsoft.com/office/drawing/2014/main" val="3768321597"/>
                    </a:ext>
                  </a:extLst>
                </a:gridCol>
                <a:gridCol w="755688">
                  <a:extLst>
                    <a:ext uri="{9D8B030D-6E8A-4147-A177-3AD203B41FA5}">
                      <a16:colId xmlns:a16="http://schemas.microsoft.com/office/drawing/2014/main" val="603146100"/>
                    </a:ext>
                  </a:extLst>
                </a:gridCol>
                <a:gridCol w="838200">
                  <a:extLst>
                    <a:ext uri="{9D8B030D-6E8A-4147-A177-3AD203B41FA5}">
                      <a16:colId xmlns:a16="http://schemas.microsoft.com/office/drawing/2014/main" val="2202000248"/>
                    </a:ext>
                  </a:extLst>
                </a:gridCol>
                <a:gridCol w="1104900">
                  <a:extLst>
                    <a:ext uri="{9D8B030D-6E8A-4147-A177-3AD203B41FA5}">
                      <a16:colId xmlns:a16="http://schemas.microsoft.com/office/drawing/2014/main" val="2237200760"/>
                    </a:ext>
                  </a:extLst>
                </a:gridCol>
                <a:gridCol w="1087596">
                  <a:extLst>
                    <a:ext uri="{9D8B030D-6E8A-4147-A177-3AD203B41FA5}">
                      <a16:colId xmlns:a16="http://schemas.microsoft.com/office/drawing/2014/main" val="2538769403"/>
                    </a:ext>
                  </a:extLst>
                </a:gridCol>
                <a:gridCol w="576102">
                  <a:extLst>
                    <a:ext uri="{9D8B030D-6E8A-4147-A177-3AD203B41FA5}">
                      <a16:colId xmlns:a16="http://schemas.microsoft.com/office/drawing/2014/main" val="1791742753"/>
                    </a:ext>
                  </a:extLst>
                </a:gridCol>
              </a:tblGrid>
              <a:tr h="370840">
                <a:tc>
                  <a:txBody>
                    <a:bodyPr/>
                    <a:lstStyle/>
                    <a:p>
                      <a:pPr algn="ctr"/>
                      <a:r>
                        <a:rPr lang="fr-FR" dirty="0"/>
                        <a:t>Semaine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BB9"/>
                    </a:solidFill>
                  </a:tcPr>
                </a:tc>
                <a:tc>
                  <a:txBody>
                    <a:bodyPr/>
                    <a:lstStyle/>
                    <a:p>
                      <a:pPr algn="ctr"/>
                      <a:r>
                        <a:rPr lang="fr-FR" dirty="0"/>
                        <a:t>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TP5 (IT)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COURS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5967402"/>
                  </a:ext>
                </a:extLst>
              </a:tr>
            </a:tbl>
          </a:graphicData>
        </a:graphic>
      </p:graphicFrame>
    </p:spTree>
    <p:extLst>
      <p:ext uri="{BB962C8B-B14F-4D97-AF65-F5344CB8AC3E}">
        <p14:creationId xmlns:p14="http://schemas.microsoft.com/office/powerpoint/2010/main" val="15714273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93C2D-2749-87CE-02EE-5B2AE7F0ADE2}"/>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60AAF29C-7192-01D5-AF0F-26A662E705B0}"/>
              </a:ext>
            </a:extLst>
          </p:cNvPr>
          <p:cNvSpPr>
            <a:spLocks noGrp="1"/>
          </p:cNvSpPr>
          <p:nvPr>
            <p:ph type="sldNum" sz="quarter" idx="12"/>
          </p:nvPr>
        </p:nvSpPr>
        <p:spPr/>
        <p:txBody>
          <a:bodyPr/>
          <a:lstStyle/>
          <a:p>
            <a:fld id="{201A5C1E-DE71-4D99-BC1E-739595F062E0}" type="slidenum">
              <a:rPr lang="fr-FR" sz="2000" smtClean="0"/>
              <a:t>10</a:t>
            </a:fld>
            <a:r>
              <a:rPr lang="fr-FR" sz="2000" dirty="0"/>
              <a:t>/22</a:t>
            </a:r>
          </a:p>
        </p:txBody>
      </p:sp>
      <p:sp>
        <p:nvSpPr>
          <p:cNvPr id="11" name="ZoneTexte 10">
            <a:extLst>
              <a:ext uri="{FF2B5EF4-FFF2-40B4-BE49-F238E27FC236}">
                <a16:creationId xmlns:a16="http://schemas.microsoft.com/office/drawing/2014/main" id="{AACE3DE3-8112-817A-8DEA-8FFA1010425D}"/>
              </a:ext>
            </a:extLst>
          </p:cNvPr>
          <p:cNvSpPr txBox="1"/>
          <p:nvPr/>
        </p:nvSpPr>
        <p:spPr>
          <a:xfrm>
            <a:off x="838199" y="4792469"/>
            <a:ext cx="8973457" cy="1569660"/>
          </a:xfrm>
          <a:prstGeom prst="rect">
            <a:avLst/>
          </a:prstGeom>
          <a:noFill/>
        </p:spPr>
        <p:txBody>
          <a:bodyPr wrap="square" rtlCol="0">
            <a:spAutoFit/>
          </a:bodyPr>
          <a:lstStyle/>
          <a:p>
            <a:r>
              <a:rPr lang="fr-FR" sz="2400" dirty="0"/>
              <a:t>En demi-groupe , 3 groupes de 6 élèves</a:t>
            </a:r>
          </a:p>
          <a:p>
            <a:r>
              <a:rPr lang="fr-FR" sz="2400" dirty="0"/>
              <a:t>Poursuite du mini projet. Relevé de différentes paramètres (cout, complexité, rendement) des différentes liaisons avec une analyse de documents afin d’avoir des critères pour pouvoir faire un choix</a:t>
            </a:r>
          </a:p>
        </p:txBody>
      </p:sp>
      <p:sp>
        <p:nvSpPr>
          <p:cNvPr id="12" name="Titre 1">
            <a:extLst>
              <a:ext uri="{FF2B5EF4-FFF2-40B4-BE49-F238E27FC236}">
                <a16:creationId xmlns:a16="http://schemas.microsoft.com/office/drawing/2014/main" id="{31897C00-8224-CF47-6A2A-56DC2EB624C6}"/>
              </a:ext>
            </a:extLst>
          </p:cNvPr>
          <p:cNvSpPr>
            <a:spLocks noGrp="1"/>
          </p:cNvSpPr>
          <p:nvPr>
            <p:ph type="title"/>
          </p:nvPr>
        </p:nvSpPr>
        <p:spPr>
          <a:xfrm>
            <a:off x="838200" y="4084014"/>
            <a:ext cx="10515600" cy="616122"/>
          </a:xfrm>
        </p:spPr>
        <p:txBody>
          <a:bodyPr>
            <a:normAutofit fontScale="90000"/>
          </a:bodyPr>
          <a:lstStyle/>
          <a:p>
            <a:r>
              <a:rPr lang="fr-FR" dirty="0"/>
              <a:t>TP5(IT) 3h</a:t>
            </a:r>
          </a:p>
        </p:txBody>
      </p:sp>
      <p:sp>
        <p:nvSpPr>
          <p:cNvPr id="16" name="ZoneTexte 15">
            <a:extLst>
              <a:ext uri="{FF2B5EF4-FFF2-40B4-BE49-F238E27FC236}">
                <a16:creationId xmlns:a16="http://schemas.microsoft.com/office/drawing/2014/main" id="{67DB0CD1-F86B-0202-255F-E8C4B19854DD}"/>
              </a:ext>
            </a:extLst>
          </p:cNvPr>
          <p:cNvSpPr txBox="1"/>
          <p:nvPr/>
        </p:nvSpPr>
        <p:spPr>
          <a:xfrm>
            <a:off x="838199" y="1265946"/>
            <a:ext cx="9089572" cy="1569660"/>
          </a:xfrm>
          <a:prstGeom prst="rect">
            <a:avLst/>
          </a:prstGeom>
          <a:noFill/>
        </p:spPr>
        <p:txBody>
          <a:bodyPr wrap="square">
            <a:spAutoFit/>
          </a:bodyPr>
          <a:lstStyle/>
          <a:p>
            <a:r>
              <a:rPr lang="fr-FR" sz="2400" dirty="0"/>
              <a:t>En demi-groupe , 6 groupes de 3 élèves</a:t>
            </a:r>
          </a:p>
          <a:p>
            <a:r>
              <a:rPr lang="fr-FR" sz="2400" dirty="0"/>
              <a:t>Analyse de différentes solutions de transmission de puissance présents et de conversion d’énergie dans les systèmes du labo: poulie courroie, vis-écrou, réducteur, moteur électrique</a:t>
            </a:r>
          </a:p>
        </p:txBody>
      </p:sp>
      <p:sp>
        <p:nvSpPr>
          <p:cNvPr id="17" name="Titre 1">
            <a:extLst>
              <a:ext uri="{FF2B5EF4-FFF2-40B4-BE49-F238E27FC236}">
                <a16:creationId xmlns:a16="http://schemas.microsoft.com/office/drawing/2014/main" id="{EDA2B5F4-9E75-BA1A-68A0-C41F5BD36BC3}"/>
              </a:ext>
            </a:extLst>
          </p:cNvPr>
          <p:cNvSpPr txBox="1">
            <a:spLocks/>
          </p:cNvSpPr>
          <p:nvPr/>
        </p:nvSpPr>
        <p:spPr>
          <a:xfrm>
            <a:off x="838200" y="2231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TP4 3h</a:t>
            </a:r>
          </a:p>
        </p:txBody>
      </p:sp>
      <p:sp>
        <p:nvSpPr>
          <p:cNvPr id="20" name="Espace réservé du pied de page 19">
            <a:extLst>
              <a:ext uri="{FF2B5EF4-FFF2-40B4-BE49-F238E27FC236}">
                <a16:creationId xmlns:a16="http://schemas.microsoft.com/office/drawing/2014/main" id="{3FEEBEBB-96DD-A9A4-FB3A-9AE243BF1F3D}"/>
              </a:ext>
            </a:extLst>
          </p:cNvPr>
          <p:cNvSpPr>
            <a:spLocks noGrp="1"/>
          </p:cNvSpPr>
          <p:nvPr>
            <p:ph type="ftr" sz="quarter" idx="11"/>
          </p:nvPr>
        </p:nvSpPr>
        <p:spPr>
          <a:xfrm>
            <a:off x="4038600" y="6452276"/>
            <a:ext cx="4114800" cy="365125"/>
          </a:xfrm>
        </p:spPr>
        <p:txBody>
          <a:bodyPr/>
          <a:lstStyle/>
          <a:p>
            <a:r>
              <a:rPr lang="fr-FR" sz="1600" dirty="0">
                <a:solidFill>
                  <a:schemeClr val="tx1"/>
                </a:solidFill>
              </a:rPr>
              <a:t>N° Arthur PREVISANI</a:t>
            </a:r>
          </a:p>
        </p:txBody>
      </p:sp>
      <p:graphicFrame>
        <p:nvGraphicFramePr>
          <p:cNvPr id="2" name="Tableau 1">
            <a:extLst>
              <a:ext uri="{FF2B5EF4-FFF2-40B4-BE49-F238E27FC236}">
                <a16:creationId xmlns:a16="http://schemas.microsoft.com/office/drawing/2014/main" id="{3F10E3C1-A089-7177-3ED3-54E71E0BDCC9}"/>
              </a:ext>
            </a:extLst>
          </p:cNvPr>
          <p:cNvGraphicFramePr>
            <a:graphicFrameLocks noGrp="1"/>
          </p:cNvGraphicFramePr>
          <p:nvPr>
            <p:extLst>
              <p:ext uri="{D42A27DB-BD31-4B8C-83A1-F6EECF244321}">
                <p14:modId xmlns:p14="http://schemas.microsoft.com/office/powerpoint/2010/main" val="1173574462"/>
              </p:ext>
            </p:extLst>
          </p:nvPr>
        </p:nvGraphicFramePr>
        <p:xfrm>
          <a:off x="3135993" y="621048"/>
          <a:ext cx="5920014" cy="370840"/>
        </p:xfrm>
        <a:graphic>
          <a:graphicData uri="http://schemas.openxmlformats.org/drawingml/2006/table">
            <a:tbl>
              <a:tblPr firstRow="1" bandRow="1">
                <a:tableStyleId>{2D5ABB26-0587-4C30-8999-92F81FD0307C}</a:tableStyleId>
              </a:tblPr>
              <a:tblGrid>
                <a:gridCol w="1557528">
                  <a:extLst>
                    <a:ext uri="{9D8B030D-6E8A-4147-A177-3AD203B41FA5}">
                      <a16:colId xmlns:a16="http://schemas.microsoft.com/office/drawing/2014/main" val="3768321597"/>
                    </a:ext>
                  </a:extLst>
                </a:gridCol>
                <a:gridCol w="755688">
                  <a:extLst>
                    <a:ext uri="{9D8B030D-6E8A-4147-A177-3AD203B41FA5}">
                      <a16:colId xmlns:a16="http://schemas.microsoft.com/office/drawing/2014/main" val="603146100"/>
                    </a:ext>
                  </a:extLst>
                </a:gridCol>
                <a:gridCol w="838200">
                  <a:extLst>
                    <a:ext uri="{9D8B030D-6E8A-4147-A177-3AD203B41FA5}">
                      <a16:colId xmlns:a16="http://schemas.microsoft.com/office/drawing/2014/main" val="2202000248"/>
                    </a:ext>
                  </a:extLst>
                </a:gridCol>
                <a:gridCol w="1104900">
                  <a:extLst>
                    <a:ext uri="{9D8B030D-6E8A-4147-A177-3AD203B41FA5}">
                      <a16:colId xmlns:a16="http://schemas.microsoft.com/office/drawing/2014/main" val="2237200760"/>
                    </a:ext>
                  </a:extLst>
                </a:gridCol>
                <a:gridCol w="1087596">
                  <a:extLst>
                    <a:ext uri="{9D8B030D-6E8A-4147-A177-3AD203B41FA5}">
                      <a16:colId xmlns:a16="http://schemas.microsoft.com/office/drawing/2014/main" val="2538769403"/>
                    </a:ext>
                  </a:extLst>
                </a:gridCol>
                <a:gridCol w="576102">
                  <a:extLst>
                    <a:ext uri="{9D8B030D-6E8A-4147-A177-3AD203B41FA5}">
                      <a16:colId xmlns:a16="http://schemas.microsoft.com/office/drawing/2014/main" val="1791742753"/>
                    </a:ext>
                  </a:extLst>
                </a:gridCol>
              </a:tblGrid>
              <a:tr h="370840">
                <a:tc>
                  <a:txBody>
                    <a:bodyPr/>
                    <a:lstStyle/>
                    <a:p>
                      <a:pPr algn="ctr"/>
                      <a:r>
                        <a:rPr lang="fr-FR" dirty="0"/>
                        <a:t>Semaine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dirty="0"/>
                        <a:t>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BB9"/>
                    </a:solidFill>
                  </a:tcPr>
                </a:tc>
                <a:tc>
                  <a:txBody>
                    <a:bodyPr/>
                    <a:lstStyle/>
                    <a:p>
                      <a:pPr algn="ctr"/>
                      <a:r>
                        <a:rPr lang="fr-FR" dirty="0"/>
                        <a:t>TP5 (IT)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COURS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5967402"/>
                  </a:ext>
                </a:extLst>
              </a:tr>
            </a:tbl>
          </a:graphicData>
        </a:graphic>
      </p:graphicFrame>
      <p:graphicFrame>
        <p:nvGraphicFramePr>
          <p:cNvPr id="3" name="Tableau 2">
            <a:extLst>
              <a:ext uri="{FF2B5EF4-FFF2-40B4-BE49-F238E27FC236}">
                <a16:creationId xmlns:a16="http://schemas.microsoft.com/office/drawing/2014/main" id="{4BB5A45A-BEBC-3F4D-470A-88F0D36B9851}"/>
              </a:ext>
            </a:extLst>
          </p:cNvPr>
          <p:cNvGraphicFramePr>
            <a:graphicFrameLocks noGrp="1"/>
          </p:cNvGraphicFramePr>
          <p:nvPr>
            <p:extLst>
              <p:ext uri="{D42A27DB-BD31-4B8C-83A1-F6EECF244321}">
                <p14:modId xmlns:p14="http://schemas.microsoft.com/office/powerpoint/2010/main" val="635872962"/>
              </p:ext>
            </p:extLst>
          </p:nvPr>
        </p:nvGraphicFramePr>
        <p:xfrm>
          <a:off x="3262993" y="4147571"/>
          <a:ext cx="5920014" cy="370840"/>
        </p:xfrm>
        <a:graphic>
          <a:graphicData uri="http://schemas.openxmlformats.org/drawingml/2006/table">
            <a:tbl>
              <a:tblPr firstRow="1" bandRow="1">
                <a:tableStyleId>{2D5ABB26-0587-4C30-8999-92F81FD0307C}</a:tableStyleId>
              </a:tblPr>
              <a:tblGrid>
                <a:gridCol w="1557528">
                  <a:extLst>
                    <a:ext uri="{9D8B030D-6E8A-4147-A177-3AD203B41FA5}">
                      <a16:colId xmlns:a16="http://schemas.microsoft.com/office/drawing/2014/main" val="3768321597"/>
                    </a:ext>
                  </a:extLst>
                </a:gridCol>
                <a:gridCol w="755688">
                  <a:extLst>
                    <a:ext uri="{9D8B030D-6E8A-4147-A177-3AD203B41FA5}">
                      <a16:colId xmlns:a16="http://schemas.microsoft.com/office/drawing/2014/main" val="603146100"/>
                    </a:ext>
                  </a:extLst>
                </a:gridCol>
                <a:gridCol w="838200">
                  <a:extLst>
                    <a:ext uri="{9D8B030D-6E8A-4147-A177-3AD203B41FA5}">
                      <a16:colId xmlns:a16="http://schemas.microsoft.com/office/drawing/2014/main" val="2202000248"/>
                    </a:ext>
                  </a:extLst>
                </a:gridCol>
                <a:gridCol w="1104900">
                  <a:extLst>
                    <a:ext uri="{9D8B030D-6E8A-4147-A177-3AD203B41FA5}">
                      <a16:colId xmlns:a16="http://schemas.microsoft.com/office/drawing/2014/main" val="2237200760"/>
                    </a:ext>
                  </a:extLst>
                </a:gridCol>
                <a:gridCol w="1087596">
                  <a:extLst>
                    <a:ext uri="{9D8B030D-6E8A-4147-A177-3AD203B41FA5}">
                      <a16:colId xmlns:a16="http://schemas.microsoft.com/office/drawing/2014/main" val="2538769403"/>
                    </a:ext>
                  </a:extLst>
                </a:gridCol>
                <a:gridCol w="576102">
                  <a:extLst>
                    <a:ext uri="{9D8B030D-6E8A-4147-A177-3AD203B41FA5}">
                      <a16:colId xmlns:a16="http://schemas.microsoft.com/office/drawing/2014/main" val="1791742753"/>
                    </a:ext>
                  </a:extLst>
                </a:gridCol>
              </a:tblGrid>
              <a:tr h="370840">
                <a:tc>
                  <a:txBody>
                    <a:bodyPr/>
                    <a:lstStyle/>
                    <a:p>
                      <a:pPr algn="ctr"/>
                      <a:r>
                        <a:rPr lang="fr-FR" dirty="0"/>
                        <a:t>Semaine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dirty="0"/>
                        <a:t>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TP5 (IT)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BB9"/>
                    </a:solidFill>
                  </a:tcPr>
                </a:tc>
                <a:tc>
                  <a:txBody>
                    <a:bodyPr/>
                    <a:lstStyle/>
                    <a:p>
                      <a:pPr algn="ctr"/>
                      <a:r>
                        <a:rPr lang="fr-FR" dirty="0"/>
                        <a:t>COURS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5967402"/>
                  </a:ext>
                </a:extLst>
              </a:tr>
            </a:tbl>
          </a:graphicData>
        </a:graphic>
      </p:graphicFrame>
    </p:spTree>
    <p:extLst>
      <p:ext uri="{BB962C8B-B14F-4D97-AF65-F5344CB8AC3E}">
        <p14:creationId xmlns:p14="http://schemas.microsoft.com/office/powerpoint/2010/main" val="829924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44F11-37A0-FCA6-41DC-D295C37DECBC}"/>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4A8C3FDC-8432-4489-FAF9-8A66062FB3BA}"/>
              </a:ext>
            </a:extLst>
          </p:cNvPr>
          <p:cNvSpPr>
            <a:spLocks noGrp="1"/>
          </p:cNvSpPr>
          <p:nvPr>
            <p:ph type="sldNum" sz="quarter" idx="12"/>
          </p:nvPr>
        </p:nvSpPr>
        <p:spPr/>
        <p:txBody>
          <a:bodyPr/>
          <a:lstStyle/>
          <a:p>
            <a:fld id="{201A5C1E-DE71-4D99-BC1E-739595F062E0}" type="slidenum">
              <a:rPr lang="fr-FR" sz="2000" smtClean="0"/>
              <a:t>11</a:t>
            </a:fld>
            <a:r>
              <a:rPr lang="fr-FR" sz="2000" dirty="0"/>
              <a:t>/22</a:t>
            </a:r>
          </a:p>
        </p:txBody>
      </p:sp>
      <p:sp>
        <p:nvSpPr>
          <p:cNvPr id="4" name="Titre 1">
            <a:extLst>
              <a:ext uri="{FF2B5EF4-FFF2-40B4-BE49-F238E27FC236}">
                <a16:creationId xmlns:a16="http://schemas.microsoft.com/office/drawing/2014/main" id="{68075DBC-3972-6370-1102-7293C7710DE6}"/>
              </a:ext>
            </a:extLst>
          </p:cNvPr>
          <p:cNvSpPr txBox="1">
            <a:spLocks/>
          </p:cNvSpPr>
          <p:nvPr/>
        </p:nvSpPr>
        <p:spPr>
          <a:xfrm>
            <a:off x="736600" y="29039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COURS 2 1h</a:t>
            </a:r>
          </a:p>
        </p:txBody>
      </p:sp>
      <p:sp>
        <p:nvSpPr>
          <p:cNvPr id="3" name="Titre 1">
            <a:extLst>
              <a:ext uri="{FF2B5EF4-FFF2-40B4-BE49-F238E27FC236}">
                <a16:creationId xmlns:a16="http://schemas.microsoft.com/office/drawing/2014/main" id="{60C5C25C-B762-2C3C-A5F5-73911686C8A3}"/>
              </a:ext>
            </a:extLst>
          </p:cNvPr>
          <p:cNvSpPr txBox="1">
            <a:spLocks/>
          </p:cNvSpPr>
          <p:nvPr/>
        </p:nvSpPr>
        <p:spPr>
          <a:xfrm>
            <a:off x="838200" y="3253315"/>
            <a:ext cx="10515600" cy="7246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TP6 3h</a:t>
            </a:r>
          </a:p>
        </p:txBody>
      </p:sp>
      <p:sp>
        <p:nvSpPr>
          <p:cNvPr id="12" name="ZoneTexte 11">
            <a:extLst>
              <a:ext uri="{FF2B5EF4-FFF2-40B4-BE49-F238E27FC236}">
                <a16:creationId xmlns:a16="http://schemas.microsoft.com/office/drawing/2014/main" id="{21FB749B-092D-B64D-1C22-BD19EB68539B}"/>
              </a:ext>
            </a:extLst>
          </p:cNvPr>
          <p:cNvSpPr txBox="1"/>
          <p:nvPr/>
        </p:nvSpPr>
        <p:spPr>
          <a:xfrm>
            <a:off x="838200" y="3854226"/>
            <a:ext cx="6096000" cy="1569660"/>
          </a:xfrm>
          <a:prstGeom prst="rect">
            <a:avLst/>
          </a:prstGeom>
          <a:noFill/>
        </p:spPr>
        <p:txBody>
          <a:bodyPr wrap="square">
            <a:spAutoFit/>
          </a:bodyPr>
          <a:lstStyle/>
          <a:p>
            <a:r>
              <a:rPr lang="fr-FR" sz="2400" dirty="0"/>
              <a:t>En demi-groupe , 6 groupes de 3 élèves</a:t>
            </a:r>
          </a:p>
          <a:p>
            <a:r>
              <a:rPr lang="fr-FR" sz="2400" dirty="0"/>
              <a:t>Mesure de rendement d’un moteur électrique, mesure du rapport de réduction / transmission (ex poulie courroie)</a:t>
            </a:r>
          </a:p>
        </p:txBody>
      </p:sp>
      <p:sp>
        <p:nvSpPr>
          <p:cNvPr id="15" name="Espace réservé du pied de page 14">
            <a:extLst>
              <a:ext uri="{FF2B5EF4-FFF2-40B4-BE49-F238E27FC236}">
                <a16:creationId xmlns:a16="http://schemas.microsoft.com/office/drawing/2014/main" id="{5C455E31-DBC5-B390-E306-1DB1C7C304B6}"/>
              </a:ext>
            </a:extLst>
          </p:cNvPr>
          <p:cNvSpPr>
            <a:spLocks noGrp="1"/>
          </p:cNvSpPr>
          <p:nvPr>
            <p:ph type="ftr" sz="quarter" idx="11"/>
          </p:nvPr>
        </p:nvSpPr>
        <p:spPr>
          <a:xfrm>
            <a:off x="4038600" y="6492875"/>
            <a:ext cx="4114800" cy="365125"/>
          </a:xfrm>
        </p:spPr>
        <p:txBody>
          <a:bodyPr/>
          <a:lstStyle/>
          <a:p>
            <a:r>
              <a:rPr lang="fr-FR" sz="1600" dirty="0">
                <a:solidFill>
                  <a:schemeClr val="tx1"/>
                </a:solidFill>
              </a:rPr>
              <a:t>N° Arthur PREVISANI</a:t>
            </a:r>
          </a:p>
        </p:txBody>
      </p:sp>
      <p:graphicFrame>
        <p:nvGraphicFramePr>
          <p:cNvPr id="2" name="Tableau 1">
            <a:extLst>
              <a:ext uri="{FF2B5EF4-FFF2-40B4-BE49-F238E27FC236}">
                <a16:creationId xmlns:a16="http://schemas.microsoft.com/office/drawing/2014/main" id="{886E04AC-C406-8963-40C9-D06B334630CD}"/>
              </a:ext>
            </a:extLst>
          </p:cNvPr>
          <p:cNvGraphicFramePr>
            <a:graphicFrameLocks noGrp="1"/>
          </p:cNvGraphicFramePr>
          <p:nvPr>
            <p:extLst>
              <p:ext uri="{D42A27DB-BD31-4B8C-83A1-F6EECF244321}">
                <p14:modId xmlns:p14="http://schemas.microsoft.com/office/powerpoint/2010/main" val="3640401347"/>
              </p:ext>
            </p:extLst>
          </p:nvPr>
        </p:nvGraphicFramePr>
        <p:xfrm>
          <a:off x="3886200" y="808612"/>
          <a:ext cx="5920014" cy="370840"/>
        </p:xfrm>
        <a:graphic>
          <a:graphicData uri="http://schemas.openxmlformats.org/drawingml/2006/table">
            <a:tbl>
              <a:tblPr firstRow="1" bandRow="1">
                <a:tableStyleId>{2D5ABB26-0587-4C30-8999-92F81FD0307C}</a:tableStyleId>
              </a:tblPr>
              <a:tblGrid>
                <a:gridCol w="1557528">
                  <a:extLst>
                    <a:ext uri="{9D8B030D-6E8A-4147-A177-3AD203B41FA5}">
                      <a16:colId xmlns:a16="http://schemas.microsoft.com/office/drawing/2014/main" val="3768321597"/>
                    </a:ext>
                  </a:extLst>
                </a:gridCol>
                <a:gridCol w="755688">
                  <a:extLst>
                    <a:ext uri="{9D8B030D-6E8A-4147-A177-3AD203B41FA5}">
                      <a16:colId xmlns:a16="http://schemas.microsoft.com/office/drawing/2014/main" val="603146100"/>
                    </a:ext>
                  </a:extLst>
                </a:gridCol>
                <a:gridCol w="838200">
                  <a:extLst>
                    <a:ext uri="{9D8B030D-6E8A-4147-A177-3AD203B41FA5}">
                      <a16:colId xmlns:a16="http://schemas.microsoft.com/office/drawing/2014/main" val="2202000248"/>
                    </a:ext>
                  </a:extLst>
                </a:gridCol>
                <a:gridCol w="1104900">
                  <a:extLst>
                    <a:ext uri="{9D8B030D-6E8A-4147-A177-3AD203B41FA5}">
                      <a16:colId xmlns:a16="http://schemas.microsoft.com/office/drawing/2014/main" val="2237200760"/>
                    </a:ext>
                  </a:extLst>
                </a:gridCol>
                <a:gridCol w="1087596">
                  <a:extLst>
                    <a:ext uri="{9D8B030D-6E8A-4147-A177-3AD203B41FA5}">
                      <a16:colId xmlns:a16="http://schemas.microsoft.com/office/drawing/2014/main" val="2538769403"/>
                    </a:ext>
                  </a:extLst>
                </a:gridCol>
                <a:gridCol w="576102">
                  <a:extLst>
                    <a:ext uri="{9D8B030D-6E8A-4147-A177-3AD203B41FA5}">
                      <a16:colId xmlns:a16="http://schemas.microsoft.com/office/drawing/2014/main" val="1791742753"/>
                    </a:ext>
                  </a:extLst>
                </a:gridCol>
              </a:tblGrid>
              <a:tr h="370840">
                <a:tc>
                  <a:txBody>
                    <a:bodyPr/>
                    <a:lstStyle/>
                    <a:p>
                      <a:pPr algn="ctr"/>
                      <a:r>
                        <a:rPr lang="fr-FR" dirty="0"/>
                        <a:t>Semaine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dirty="0"/>
                        <a:t>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TP5 (IT)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COURS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BB9"/>
                    </a:solidFill>
                  </a:tcPr>
                </a:tc>
                <a:tc>
                  <a:txBody>
                    <a:bodyPr/>
                    <a:lstStyle/>
                    <a:p>
                      <a:pPr algn="ctr"/>
                      <a:r>
                        <a:rPr lang="fr-FR" dirty="0"/>
                        <a:t>TP6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5967402"/>
                  </a:ext>
                </a:extLst>
              </a:tr>
            </a:tbl>
          </a:graphicData>
        </a:graphic>
      </p:graphicFrame>
      <p:graphicFrame>
        <p:nvGraphicFramePr>
          <p:cNvPr id="5" name="Tableau 4">
            <a:extLst>
              <a:ext uri="{FF2B5EF4-FFF2-40B4-BE49-F238E27FC236}">
                <a16:creationId xmlns:a16="http://schemas.microsoft.com/office/drawing/2014/main" id="{539F6322-8142-3956-42EB-7AADCAA880F1}"/>
              </a:ext>
            </a:extLst>
          </p:cNvPr>
          <p:cNvGraphicFramePr>
            <a:graphicFrameLocks noGrp="1"/>
          </p:cNvGraphicFramePr>
          <p:nvPr>
            <p:extLst>
              <p:ext uri="{D42A27DB-BD31-4B8C-83A1-F6EECF244321}">
                <p14:modId xmlns:p14="http://schemas.microsoft.com/office/powerpoint/2010/main" val="3336379269"/>
              </p:ext>
            </p:extLst>
          </p:nvPr>
        </p:nvGraphicFramePr>
        <p:xfrm>
          <a:off x="3643993" y="3423215"/>
          <a:ext cx="5920014" cy="370840"/>
        </p:xfrm>
        <a:graphic>
          <a:graphicData uri="http://schemas.openxmlformats.org/drawingml/2006/table">
            <a:tbl>
              <a:tblPr firstRow="1" bandRow="1">
                <a:tableStyleId>{2D5ABB26-0587-4C30-8999-92F81FD0307C}</a:tableStyleId>
              </a:tblPr>
              <a:tblGrid>
                <a:gridCol w="1557528">
                  <a:extLst>
                    <a:ext uri="{9D8B030D-6E8A-4147-A177-3AD203B41FA5}">
                      <a16:colId xmlns:a16="http://schemas.microsoft.com/office/drawing/2014/main" val="3768321597"/>
                    </a:ext>
                  </a:extLst>
                </a:gridCol>
                <a:gridCol w="755688">
                  <a:extLst>
                    <a:ext uri="{9D8B030D-6E8A-4147-A177-3AD203B41FA5}">
                      <a16:colId xmlns:a16="http://schemas.microsoft.com/office/drawing/2014/main" val="603146100"/>
                    </a:ext>
                  </a:extLst>
                </a:gridCol>
                <a:gridCol w="838200">
                  <a:extLst>
                    <a:ext uri="{9D8B030D-6E8A-4147-A177-3AD203B41FA5}">
                      <a16:colId xmlns:a16="http://schemas.microsoft.com/office/drawing/2014/main" val="2202000248"/>
                    </a:ext>
                  </a:extLst>
                </a:gridCol>
                <a:gridCol w="1104900">
                  <a:extLst>
                    <a:ext uri="{9D8B030D-6E8A-4147-A177-3AD203B41FA5}">
                      <a16:colId xmlns:a16="http://schemas.microsoft.com/office/drawing/2014/main" val="2237200760"/>
                    </a:ext>
                  </a:extLst>
                </a:gridCol>
                <a:gridCol w="1087596">
                  <a:extLst>
                    <a:ext uri="{9D8B030D-6E8A-4147-A177-3AD203B41FA5}">
                      <a16:colId xmlns:a16="http://schemas.microsoft.com/office/drawing/2014/main" val="2538769403"/>
                    </a:ext>
                  </a:extLst>
                </a:gridCol>
                <a:gridCol w="576102">
                  <a:extLst>
                    <a:ext uri="{9D8B030D-6E8A-4147-A177-3AD203B41FA5}">
                      <a16:colId xmlns:a16="http://schemas.microsoft.com/office/drawing/2014/main" val="1791742753"/>
                    </a:ext>
                  </a:extLst>
                </a:gridCol>
              </a:tblGrid>
              <a:tr h="370840">
                <a:tc>
                  <a:txBody>
                    <a:bodyPr/>
                    <a:lstStyle/>
                    <a:p>
                      <a:pPr algn="ctr"/>
                      <a:r>
                        <a:rPr lang="fr-FR" dirty="0"/>
                        <a:t>Semaine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dirty="0"/>
                        <a:t>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TP5 (IT)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COURS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BB9"/>
                    </a:solidFill>
                  </a:tcPr>
                </a:tc>
                <a:extLst>
                  <a:ext uri="{0D108BD9-81ED-4DB2-BD59-A6C34878D82A}">
                    <a16:rowId xmlns:a16="http://schemas.microsoft.com/office/drawing/2014/main" val="3665967402"/>
                  </a:ext>
                </a:extLst>
              </a:tr>
            </a:tbl>
          </a:graphicData>
        </a:graphic>
      </p:graphicFrame>
      <p:sp>
        <p:nvSpPr>
          <p:cNvPr id="6" name="ZoneTexte 5">
            <a:extLst>
              <a:ext uri="{FF2B5EF4-FFF2-40B4-BE49-F238E27FC236}">
                <a16:creationId xmlns:a16="http://schemas.microsoft.com/office/drawing/2014/main" id="{28773C00-CC32-C7CD-2A83-A536A1A1EC81}"/>
              </a:ext>
            </a:extLst>
          </p:cNvPr>
          <p:cNvSpPr txBox="1"/>
          <p:nvPr/>
        </p:nvSpPr>
        <p:spPr>
          <a:xfrm>
            <a:off x="838200" y="1349352"/>
            <a:ext cx="6096000" cy="1569660"/>
          </a:xfrm>
          <a:prstGeom prst="rect">
            <a:avLst/>
          </a:prstGeom>
          <a:noFill/>
        </p:spPr>
        <p:txBody>
          <a:bodyPr wrap="square">
            <a:spAutoFit/>
          </a:bodyPr>
          <a:lstStyle/>
          <a:p>
            <a:r>
              <a:rPr lang="fr-FR" sz="2400" dirty="0"/>
              <a:t>Classe entière</a:t>
            </a:r>
          </a:p>
          <a:p>
            <a:r>
              <a:rPr lang="fr-FR" sz="2400" dirty="0"/>
              <a:t>Définition des systèmes de conversion d’énergie, de transmission de puissance</a:t>
            </a:r>
          </a:p>
          <a:p>
            <a:endParaRPr lang="fr-FR" sz="2400" dirty="0"/>
          </a:p>
        </p:txBody>
      </p:sp>
    </p:spTree>
    <p:extLst>
      <p:ext uri="{BB962C8B-B14F-4D97-AF65-F5344CB8AC3E}">
        <p14:creationId xmlns:p14="http://schemas.microsoft.com/office/powerpoint/2010/main" val="1226650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3C89F-8A44-1EB8-D00E-A888675B3B8B}"/>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7E4E0323-5B7A-6A40-AEDA-DA0E2E3E50DD}"/>
              </a:ext>
            </a:extLst>
          </p:cNvPr>
          <p:cNvSpPr>
            <a:spLocks noGrp="1"/>
          </p:cNvSpPr>
          <p:nvPr>
            <p:ph type="sldNum" sz="quarter" idx="12"/>
          </p:nvPr>
        </p:nvSpPr>
        <p:spPr/>
        <p:txBody>
          <a:bodyPr/>
          <a:lstStyle/>
          <a:p>
            <a:fld id="{201A5C1E-DE71-4D99-BC1E-739595F062E0}" type="slidenum">
              <a:rPr lang="fr-FR" sz="2000" smtClean="0"/>
              <a:t>12</a:t>
            </a:fld>
            <a:r>
              <a:rPr lang="fr-FR" sz="2000" dirty="0"/>
              <a:t>/22</a:t>
            </a:r>
          </a:p>
        </p:txBody>
      </p:sp>
      <p:sp>
        <p:nvSpPr>
          <p:cNvPr id="9" name="Titre 1">
            <a:extLst>
              <a:ext uri="{FF2B5EF4-FFF2-40B4-BE49-F238E27FC236}">
                <a16:creationId xmlns:a16="http://schemas.microsoft.com/office/drawing/2014/main" id="{13901AB8-B4CC-6B46-AA8D-100279F8F651}"/>
              </a:ext>
            </a:extLst>
          </p:cNvPr>
          <p:cNvSpPr>
            <a:spLocks noGrp="1"/>
          </p:cNvSpPr>
          <p:nvPr>
            <p:ph type="title"/>
          </p:nvPr>
        </p:nvSpPr>
        <p:spPr>
          <a:xfrm>
            <a:off x="954314" y="447636"/>
            <a:ext cx="10515600" cy="1325563"/>
          </a:xfrm>
        </p:spPr>
        <p:txBody>
          <a:bodyPr/>
          <a:lstStyle/>
          <a:p>
            <a:r>
              <a:rPr lang="fr-FR" dirty="0"/>
              <a:t>TD3 2h</a:t>
            </a:r>
          </a:p>
        </p:txBody>
      </p:sp>
      <p:sp>
        <p:nvSpPr>
          <p:cNvPr id="10" name="ZoneTexte 9">
            <a:extLst>
              <a:ext uri="{FF2B5EF4-FFF2-40B4-BE49-F238E27FC236}">
                <a16:creationId xmlns:a16="http://schemas.microsoft.com/office/drawing/2014/main" id="{3287D81E-E026-A292-B24E-255C9761D10C}"/>
              </a:ext>
            </a:extLst>
          </p:cNvPr>
          <p:cNvSpPr txBox="1"/>
          <p:nvPr/>
        </p:nvSpPr>
        <p:spPr>
          <a:xfrm>
            <a:off x="954314" y="1516817"/>
            <a:ext cx="7493000" cy="1938992"/>
          </a:xfrm>
          <a:prstGeom prst="rect">
            <a:avLst/>
          </a:prstGeom>
          <a:noFill/>
        </p:spPr>
        <p:txBody>
          <a:bodyPr wrap="square">
            <a:spAutoFit/>
          </a:bodyPr>
          <a:lstStyle/>
          <a:p>
            <a:r>
              <a:rPr lang="fr-FR" sz="2400" dirty="0"/>
              <a:t>Classe entière</a:t>
            </a:r>
          </a:p>
          <a:p>
            <a:r>
              <a:rPr lang="fr-FR" sz="2400" dirty="0"/>
              <a:t>Quizz formatif sur les liaisons et les notions de transmission de puissance</a:t>
            </a:r>
          </a:p>
          <a:p>
            <a:r>
              <a:rPr lang="fr-FR" sz="2400" dirty="0"/>
              <a:t>Etude de cas sur une trottinette électrique</a:t>
            </a:r>
          </a:p>
          <a:p>
            <a:endParaRPr lang="fr-FR" sz="2400" dirty="0"/>
          </a:p>
        </p:txBody>
      </p:sp>
      <p:sp>
        <p:nvSpPr>
          <p:cNvPr id="11" name="Titre 1">
            <a:extLst>
              <a:ext uri="{FF2B5EF4-FFF2-40B4-BE49-F238E27FC236}">
                <a16:creationId xmlns:a16="http://schemas.microsoft.com/office/drawing/2014/main" id="{1693EA97-CEFD-50FA-09F1-1AD0CB7552DA}"/>
              </a:ext>
            </a:extLst>
          </p:cNvPr>
          <p:cNvSpPr txBox="1">
            <a:spLocks/>
          </p:cNvSpPr>
          <p:nvPr/>
        </p:nvSpPr>
        <p:spPr>
          <a:xfrm>
            <a:off x="954314" y="312640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TP7 3h</a:t>
            </a:r>
          </a:p>
        </p:txBody>
      </p:sp>
      <p:sp>
        <p:nvSpPr>
          <p:cNvPr id="14" name="ZoneTexte 13">
            <a:extLst>
              <a:ext uri="{FF2B5EF4-FFF2-40B4-BE49-F238E27FC236}">
                <a16:creationId xmlns:a16="http://schemas.microsoft.com/office/drawing/2014/main" id="{C35C0E91-9D18-D1EC-975D-FB07EFEDE2C9}"/>
              </a:ext>
            </a:extLst>
          </p:cNvPr>
          <p:cNvSpPr txBox="1"/>
          <p:nvPr/>
        </p:nvSpPr>
        <p:spPr>
          <a:xfrm>
            <a:off x="954314" y="4221133"/>
            <a:ext cx="9655629" cy="830997"/>
          </a:xfrm>
          <a:prstGeom prst="rect">
            <a:avLst/>
          </a:prstGeom>
          <a:noFill/>
        </p:spPr>
        <p:txBody>
          <a:bodyPr wrap="square">
            <a:spAutoFit/>
          </a:bodyPr>
          <a:lstStyle/>
          <a:p>
            <a:r>
              <a:rPr lang="fr-FR" sz="2400" dirty="0"/>
              <a:t>En demi-groupe , 6 groupes de 3 élèves</a:t>
            </a:r>
          </a:p>
          <a:p>
            <a:r>
              <a:rPr lang="fr-FR" sz="2400" dirty="0"/>
              <a:t>Séance à caractère expérimental qui sera détaillé après.</a:t>
            </a:r>
          </a:p>
        </p:txBody>
      </p:sp>
      <p:sp>
        <p:nvSpPr>
          <p:cNvPr id="15" name="Espace réservé du pied de page 14">
            <a:extLst>
              <a:ext uri="{FF2B5EF4-FFF2-40B4-BE49-F238E27FC236}">
                <a16:creationId xmlns:a16="http://schemas.microsoft.com/office/drawing/2014/main" id="{12AFCEE0-9A44-55E3-2F84-9823129EF037}"/>
              </a:ext>
            </a:extLst>
          </p:cNvPr>
          <p:cNvSpPr>
            <a:spLocks noGrp="1"/>
          </p:cNvSpPr>
          <p:nvPr>
            <p:ph type="ftr" sz="quarter" idx="11"/>
          </p:nvPr>
        </p:nvSpPr>
        <p:spPr>
          <a:xfrm>
            <a:off x="4038600" y="6462939"/>
            <a:ext cx="4114800" cy="365125"/>
          </a:xfrm>
        </p:spPr>
        <p:txBody>
          <a:bodyPr/>
          <a:lstStyle/>
          <a:p>
            <a:r>
              <a:rPr lang="fr-FR" sz="1600" dirty="0">
                <a:solidFill>
                  <a:schemeClr val="tx1"/>
                </a:solidFill>
              </a:rPr>
              <a:t>N° Arthur PREVISANI</a:t>
            </a:r>
          </a:p>
        </p:txBody>
      </p:sp>
      <p:graphicFrame>
        <p:nvGraphicFramePr>
          <p:cNvPr id="4" name="Tableau 3">
            <a:extLst>
              <a:ext uri="{FF2B5EF4-FFF2-40B4-BE49-F238E27FC236}">
                <a16:creationId xmlns:a16="http://schemas.microsoft.com/office/drawing/2014/main" id="{B6EAF218-934A-480E-A7F2-CC0BD5B3F60E}"/>
              </a:ext>
            </a:extLst>
          </p:cNvPr>
          <p:cNvGraphicFramePr>
            <a:graphicFrameLocks noGrp="1"/>
          </p:cNvGraphicFramePr>
          <p:nvPr>
            <p:extLst>
              <p:ext uri="{D42A27DB-BD31-4B8C-83A1-F6EECF244321}">
                <p14:modId xmlns:p14="http://schemas.microsoft.com/office/powerpoint/2010/main" val="1749366192"/>
              </p:ext>
            </p:extLst>
          </p:nvPr>
        </p:nvGraphicFramePr>
        <p:xfrm>
          <a:off x="3252107" y="941349"/>
          <a:ext cx="5920014" cy="370840"/>
        </p:xfrm>
        <a:graphic>
          <a:graphicData uri="http://schemas.openxmlformats.org/drawingml/2006/table">
            <a:tbl>
              <a:tblPr firstRow="1" bandRow="1">
                <a:tableStyleId>{2D5ABB26-0587-4C30-8999-92F81FD0307C}</a:tableStyleId>
              </a:tblPr>
              <a:tblGrid>
                <a:gridCol w="1557528">
                  <a:extLst>
                    <a:ext uri="{9D8B030D-6E8A-4147-A177-3AD203B41FA5}">
                      <a16:colId xmlns:a16="http://schemas.microsoft.com/office/drawing/2014/main" val="3768321597"/>
                    </a:ext>
                  </a:extLst>
                </a:gridCol>
                <a:gridCol w="755688">
                  <a:extLst>
                    <a:ext uri="{9D8B030D-6E8A-4147-A177-3AD203B41FA5}">
                      <a16:colId xmlns:a16="http://schemas.microsoft.com/office/drawing/2014/main" val="603146100"/>
                    </a:ext>
                  </a:extLst>
                </a:gridCol>
                <a:gridCol w="838200">
                  <a:extLst>
                    <a:ext uri="{9D8B030D-6E8A-4147-A177-3AD203B41FA5}">
                      <a16:colId xmlns:a16="http://schemas.microsoft.com/office/drawing/2014/main" val="2202000248"/>
                    </a:ext>
                  </a:extLst>
                </a:gridCol>
                <a:gridCol w="1104900">
                  <a:extLst>
                    <a:ext uri="{9D8B030D-6E8A-4147-A177-3AD203B41FA5}">
                      <a16:colId xmlns:a16="http://schemas.microsoft.com/office/drawing/2014/main" val="2237200760"/>
                    </a:ext>
                  </a:extLst>
                </a:gridCol>
                <a:gridCol w="1087596">
                  <a:extLst>
                    <a:ext uri="{9D8B030D-6E8A-4147-A177-3AD203B41FA5}">
                      <a16:colId xmlns:a16="http://schemas.microsoft.com/office/drawing/2014/main" val="2538769403"/>
                    </a:ext>
                  </a:extLst>
                </a:gridCol>
                <a:gridCol w="576102">
                  <a:extLst>
                    <a:ext uri="{9D8B030D-6E8A-4147-A177-3AD203B41FA5}">
                      <a16:colId xmlns:a16="http://schemas.microsoft.com/office/drawing/2014/main" val="1791742753"/>
                    </a:ext>
                  </a:extLst>
                </a:gridCol>
              </a:tblGrid>
              <a:tr h="370840">
                <a:tc>
                  <a:txBody>
                    <a:bodyPr/>
                    <a:lstStyle/>
                    <a:p>
                      <a:pPr algn="ctr"/>
                      <a:r>
                        <a:rPr lang="fr-FR" dirty="0"/>
                        <a:t>Semaine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BB9"/>
                    </a:solidFill>
                  </a:tcPr>
                </a:tc>
                <a:tc>
                  <a:txBody>
                    <a:bodyPr/>
                    <a:lstStyle/>
                    <a:p>
                      <a:pPr algn="ctr"/>
                      <a:r>
                        <a:rPr lang="fr-FR" dirty="0"/>
                        <a:t>TP7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TP8 (IT)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COURS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5967402"/>
                  </a:ext>
                </a:extLst>
              </a:tr>
            </a:tbl>
          </a:graphicData>
        </a:graphic>
      </p:graphicFrame>
      <p:graphicFrame>
        <p:nvGraphicFramePr>
          <p:cNvPr id="5" name="Tableau 4">
            <a:extLst>
              <a:ext uri="{FF2B5EF4-FFF2-40B4-BE49-F238E27FC236}">
                <a16:creationId xmlns:a16="http://schemas.microsoft.com/office/drawing/2014/main" id="{119452AE-D7F5-0AF2-70D8-435B00D6DF19}"/>
              </a:ext>
            </a:extLst>
          </p:cNvPr>
          <p:cNvGraphicFramePr>
            <a:graphicFrameLocks noGrp="1"/>
          </p:cNvGraphicFramePr>
          <p:nvPr>
            <p:extLst>
              <p:ext uri="{D42A27DB-BD31-4B8C-83A1-F6EECF244321}">
                <p14:modId xmlns:p14="http://schemas.microsoft.com/office/powerpoint/2010/main" val="4282467562"/>
              </p:ext>
            </p:extLst>
          </p:nvPr>
        </p:nvGraphicFramePr>
        <p:xfrm>
          <a:off x="3722007" y="3626456"/>
          <a:ext cx="5920014" cy="370840"/>
        </p:xfrm>
        <a:graphic>
          <a:graphicData uri="http://schemas.openxmlformats.org/drawingml/2006/table">
            <a:tbl>
              <a:tblPr firstRow="1" bandRow="1">
                <a:tableStyleId>{2D5ABB26-0587-4C30-8999-92F81FD0307C}</a:tableStyleId>
              </a:tblPr>
              <a:tblGrid>
                <a:gridCol w="1557528">
                  <a:extLst>
                    <a:ext uri="{9D8B030D-6E8A-4147-A177-3AD203B41FA5}">
                      <a16:colId xmlns:a16="http://schemas.microsoft.com/office/drawing/2014/main" val="3768321597"/>
                    </a:ext>
                  </a:extLst>
                </a:gridCol>
                <a:gridCol w="755688">
                  <a:extLst>
                    <a:ext uri="{9D8B030D-6E8A-4147-A177-3AD203B41FA5}">
                      <a16:colId xmlns:a16="http://schemas.microsoft.com/office/drawing/2014/main" val="603146100"/>
                    </a:ext>
                  </a:extLst>
                </a:gridCol>
                <a:gridCol w="838200">
                  <a:extLst>
                    <a:ext uri="{9D8B030D-6E8A-4147-A177-3AD203B41FA5}">
                      <a16:colId xmlns:a16="http://schemas.microsoft.com/office/drawing/2014/main" val="2202000248"/>
                    </a:ext>
                  </a:extLst>
                </a:gridCol>
                <a:gridCol w="1104900">
                  <a:extLst>
                    <a:ext uri="{9D8B030D-6E8A-4147-A177-3AD203B41FA5}">
                      <a16:colId xmlns:a16="http://schemas.microsoft.com/office/drawing/2014/main" val="2237200760"/>
                    </a:ext>
                  </a:extLst>
                </a:gridCol>
                <a:gridCol w="1087596">
                  <a:extLst>
                    <a:ext uri="{9D8B030D-6E8A-4147-A177-3AD203B41FA5}">
                      <a16:colId xmlns:a16="http://schemas.microsoft.com/office/drawing/2014/main" val="2538769403"/>
                    </a:ext>
                  </a:extLst>
                </a:gridCol>
                <a:gridCol w="576102">
                  <a:extLst>
                    <a:ext uri="{9D8B030D-6E8A-4147-A177-3AD203B41FA5}">
                      <a16:colId xmlns:a16="http://schemas.microsoft.com/office/drawing/2014/main" val="1791742753"/>
                    </a:ext>
                  </a:extLst>
                </a:gridCol>
              </a:tblGrid>
              <a:tr h="370840">
                <a:tc>
                  <a:txBody>
                    <a:bodyPr/>
                    <a:lstStyle/>
                    <a:p>
                      <a:pPr algn="ctr"/>
                      <a:r>
                        <a:rPr lang="fr-FR" dirty="0"/>
                        <a:t>Semaine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dirty="0"/>
                        <a:t>TP7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BB9"/>
                    </a:solidFill>
                  </a:tcPr>
                </a:tc>
                <a:tc>
                  <a:txBody>
                    <a:bodyPr/>
                    <a:lstStyle/>
                    <a:p>
                      <a:pPr algn="ctr"/>
                      <a:r>
                        <a:rPr lang="fr-FR" dirty="0"/>
                        <a:t>TP8 (IT)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COURS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5967402"/>
                  </a:ext>
                </a:extLst>
              </a:tr>
            </a:tbl>
          </a:graphicData>
        </a:graphic>
      </p:graphicFrame>
    </p:spTree>
    <p:extLst>
      <p:ext uri="{BB962C8B-B14F-4D97-AF65-F5344CB8AC3E}">
        <p14:creationId xmlns:p14="http://schemas.microsoft.com/office/powerpoint/2010/main" val="12110174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A550F-F573-C650-4A3B-57FEBE49D745}"/>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BF4D4F49-8BA5-46A6-A828-0D2ED1AC8232}"/>
              </a:ext>
            </a:extLst>
          </p:cNvPr>
          <p:cNvSpPr>
            <a:spLocks noGrp="1"/>
          </p:cNvSpPr>
          <p:nvPr>
            <p:ph type="sldNum" sz="quarter" idx="12"/>
          </p:nvPr>
        </p:nvSpPr>
        <p:spPr/>
        <p:txBody>
          <a:bodyPr/>
          <a:lstStyle/>
          <a:p>
            <a:fld id="{201A5C1E-DE71-4D99-BC1E-739595F062E0}" type="slidenum">
              <a:rPr lang="fr-FR" sz="2000" smtClean="0"/>
              <a:t>13</a:t>
            </a:fld>
            <a:r>
              <a:rPr lang="fr-FR" sz="2000" dirty="0"/>
              <a:t>/22</a:t>
            </a:r>
          </a:p>
        </p:txBody>
      </p:sp>
      <p:sp>
        <p:nvSpPr>
          <p:cNvPr id="11" name="ZoneTexte 10">
            <a:extLst>
              <a:ext uri="{FF2B5EF4-FFF2-40B4-BE49-F238E27FC236}">
                <a16:creationId xmlns:a16="http://schemas.microsoft.com/office/drawing/2014/main" id="{4A1EEB1D-E3AD-55E0-FF3D-2506CC5D67C3}"/>
              </a:ext>
            </a:extLst>
          </p:cNvPr>
          <p:cNvSpPr txBox="1"/>
          <p:nvPr/>
        </p:nvSpPr>
        <p:spPr>
          <a:xfrm>
            <a:off x="838199" y="4792469"/>
            <a:ext cx="8973457" cy="1200329"/>
          </a:xfrm>
          <a:prstGeom prst="rect">
            <a:avLst/>
          </a:prstGeom>
          <a:noFill/>
        </p:spPr>
        <p:txBody>
          <a:bodyPr wrap="square" rtlCol="0">
            <a:spAutoFit/>
          </a:bodyPr>
          <a:lstStyle/>
          <a:p>
            <a:r>
              <a:rPr lang="fr-FR" sz="2400" dirty="0"/>
              <a:t>Classe entière</a:t>
            </a:r>
          </a:p>
          <a:p>
            <a:r>
              <a:rPr lang="fr-FR" sz="2400" dirty="0"/>
              <a:t>Remédiation grâce au quizz et au suivi fait par le professeur lors des </a:t>
            </a:r>
            <a:r>
              <a:rPr lang="fr-FR" sz="2400" dirty="0" err="1"/>
              <a:t>TPs</a:t>
            </a:r>
            <a:r>
              <a:rPr lang="fr-FR" sz="2400" dirty="0"/>
              <a:t> précédents, à adapter en fonction de la classe</a:t>
            </a:r>
          </a:p>
        </p:txBody>
      </p:sp>
      <p:sp>
        <p:nvSpPr>
          <p:cNvPr id="12" name="Titre 1">
            <a:extLst>
              <a:ext uri="{FF2B5EF4-FFF2-40B4-BE49-F238E27FC236}">
                <a16:creationId xmlns:a16="http://schemas.microsoft.com/office/drawing/2014/main" id="{EDEB2CAF-1823-0B36-2336-955F09DAAE7D}"/>
              </a:ext>
            </a:extLst>
          </p:cNvPr>
          <p:cNvSpPr>
            <a:spLocks noGrp="1"/>
          </p:cNvSpPr>
          <p:nvPr>
            <p:ph type="title"/>
          </p:nvPr>
        </p:nvSpPr>
        <p:spPr>
          <a:xfrm>
            <a:off x="838200" y="4084014"/>
            <a:ext cx="10515600" cy="616122"/>
          </a:xfrm>
        </p:spPr>
        <p:txBody>
          <a:bodyPr>
            <a:normAutofit fontScale="90000"/>
          </a:bodyPr>
          <a:lstStyle/>
          <a:p>
            <a:r>
              <a:rPr lang="fr-FR" dirty="0"/>
              <a:t>COURS 3 1h</a:t>
            </a:r>
          </a:p>
        </p:txBody>
      </p:sp>
      <p:sp>
        <p:nvSpPr>
          <p:cNvPr id="16" name="ZoneTexte 15">
            <a:extLst>
              <a:ext uri="{FF2B5EF4-FFF2-40B4-BE49-F238E27FC236}">
                <a16:creationId xmlns:a16="http://schemas.microsoft.com/office/drawing/2014/main" id="{CE2584C0-6C76-4D4D-571C-B85F8C17E9A3}"/>
              </a:ext>
            </a:extLst>
          </p:cNvPr>
          <p:cNvSpPr txBox="1"/>
          <p:nvPr/>
        </p:nvSpPr>
        <p:spPr>
          <a:xfrm>
            <a:off x="838199" y="1265946"/>
            <a:ext cx="9089572" cy="1569660"/>
          </a:xfrm>
          <a:prstGeom prst="rect">
            <a:avLst/>
          </a:prstGeom>
          <a:noFill/>
        </p:spPr>
        <p:txBody>
          <a:bodyPr wrap="square">
            <a:spAutoFit/>
          </a:bodyPr>
          <a:lstStyle/>
          <a:p>
            <a:r>
              <a:rPr lang="fr-FR" sz="2400" dirty="0"/>
              <a:t>En demi-groupe , 6 groupes de 3 élèves</a:t>
            </a:r>
          </a:p>
          <a:p>
            <a:r>
              <a:rPr lang="fr-FR" sz="2400" dirty="0"/>
              <a:t>Finalisation d’un petit diaporama et de l’analyse des solutions pour présenter leurs résultats aux autres élèves lors d’un oral de 5min + 5 min de questions</a:t>
            </a:r>
          </a:p>
        </p:txBody>
      </p:sp>
      <p:sp>
        <p:nvSpPr>
          <p:cNvPr id="17" name="Titre 1">
            <a:extLst>
              <a:ext uri="{FF2B5EF4-FFF2-40B4-BE49-F238E27FC236}">
                <a16:creationId xmlns:a16="http://schemas.microsoft.com/office/drawing/2014/main" id="{0F9E46F8-281B-E52A-9D9D-BD025A958CDF}"/>
              </a:ext>
            </a:extLst>
          </p:cNvPr>
          <p:cNvSpPr txBox="1">
            <a:spLocks/>
          </p:cNvSpPr>
          <p:nvPr/>
        </p:nvSpPr>
        <p:spPr>
          <a:xfrm>
            <a:off x="838200" y="2231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TP8(IT) 3h</a:t>
            </a:r>
          </a:p>
        </p:txBody>
      </p:sp>
      <p:sp>
        <p:nvSpPr>
          <p:cNvPr id="20" name="Espace réservé du pied de page 19">
            <a:extLst>
              <a:ext uri="{FF2B5EF4-FFF2-40B4-BE49-F238E27FC236}">
                <a16:creationId xmlns:a16="http://schemas.microsoft.com/office/drawing/2014/main" id="{6E8D5E66-4266-D817-A2A6-0F4EA66ABCD0}"/>
              </a:ext>
            </a:extLst>
          </p:cNvPr>
          <p:cNvSpPr>
            <a:spLocks noGrp="1"/>
          </p:cNvSpPr>
          <p:nvPr>
            <p:ph type="ftr" sz="quarter" idx="11"/>
          </p:nvPr>
        </p:nvSpPr>
        <p:spPr>
          <a:xfrm>
            <a:off x="4038600" y="6452276"/>
            <a:ext cx="4114800" cy="365125"/>
          </a:xfrm>
        </p:spPr>
        <p:txBody>
          <a:bodyPr/>
          <a:lstStyle/>
          <a:p>
            <a:r>
              <a:rPr lang="fr-FR" sz="1600" dirty="0">
                <a:solidFill>
                  <a:schemeClr val="tx1"/>
                </a:solidFill>
              </a:rPr>
              <a:t>N° Arthur PREVISANI</a:t>
            </a:r>
          </a:p>
        </p:txBody>
      </p:sp>
      <p:graphicFrame>
        <p:nvGraphicFramePr>
          <p:cNvPr id="4" name="Tableau 3">
            <a:extLst>
              <a:ext uri="{FF2B5EF4-FFF2-40B4-BE49-F238E27FC236}">
                <a16:creationId xmlns:a16="http://schemas.microsoft.com/office/drawing/2014/main" id="{34120088-39EE-8F09-96D0-FD4DA0A60AFB}"/>
              </a:ext>
            </a:extLst>
          </p:cNvPr>
          <p:cNvGraphicFramePr>
            <a:graphicFrameLocks noGrp="1"/>
          </p:cNvGraphicFramePr>
          <p:nvPr>
            <p:extLst>
              <p:ext uri="{D42A27DB-BD31-4B8C-83A1-F6EECF244321}">
                <p14:modId xmlns:p14="http://schemas.microsoft.com/office/powerpoint/2010/main" val="96513196"/>
              </p:ext>
            </p:extLst>
          </p:nvPr>
        </p:nvGraphicFramePr>
        <p:xfrm>
          <a:off x="3290207" y="640234"/>
          <a:ext cx="5920014" cy="370840"/>
        </p:xfrm>
        <a:graphic>
          <a:graphicData uri="http://schemas.openxmlformats.org/drawingml/2006/table">
            <a:tbl>
              <a:tblPr firstRow="1" bandRow="1">
                <a:tableStyleId>{2D5ABB26-0587-4C30-8999-92F81FD0307C}</a:tableStyleId>
              </a:tblPr>
              <a:tblGrid>
                <a:gridCol w="1557528">
                  <a:extLst>
                    <a:ext uri="{9D8B030D-6E8A-4147-A177-3AD203B41FA5}">
                      <a16:colId xmlns:a16="http://schemas.microsoft.com/office/drawing/2014/main" val="3768321597"/>
                    </a:ext>
                  </a:extLst>
                </a:gridCol>
                <a:gridCol w="755688">
                  <a:extLst>
                    <a:ext uri="{9D8B030D-6E8A-4147-A177-3AD203B41FA5}">
                      <a16:colId xmlns:a16="http://schemas.microsoft.com/office/drawing/2014/main" val="603146100"/>
                    </a:ext>
                  </a:extLst>
                </a:gridCol>
                <a:gridCol w="838200">
                  <a:extLst>
                    <a:ext uri="{9D8B030D-6E8A-4147-A177-3AD203B41FA5}">
                      <a16:colId xmlns:a16="http://schemas.microsoft.com/office/drawing/2014/main" val="2202000248"/>
                    </a:ext>
                  </a:extLst>
                </a:gridCol>
                <a:gridCol w="1104900">
                  <a:extLst>
                    <a:ext uri="{9D8B030D-6E8A-4147-A177-3AD203B41FA5}">
                      <a16:colId xmlns:a16="http://schemas.microsoft.com/office/drawing/2014/main" val="2237200760"/>
                    </a:ext>
                  </a:extLst>
                </a:gridCol>
                <a:gridCol w="1087596">
                  <a:extLst>
                    <a:ext uri="{9D8B030D-6E8A-4147-A177-3AD203B41FA5}">
                      <a16:colId xmlns:a16="http://schemas.microsoft.com/office/drawing/2014/main" val="2538769403"/>
                    </a:ext>
                  </a:extLst>
                </a:gridCol>
                <a:gridCol w="576102">
                  <a:extLst>
                    <a:ext uri="{9D8B030D-6E8A-4147-A177-3AD203B41FA5}">
                      <a16:colId xmlns:a16="http://schemas.microsoft.com/office/drawing/2014/main" val="1791742753"/>
                    </a:ext>
                  </a:extLst>
                </a:gridCol>
              </a:tblGrid>
              <a:tr h="370840">
                <a:tc>
                  <a:txBody>
                    <a:bodyPr/>
                    <a:lstStyle/>
                    <a:p>
                      <a:pPr algn="ctr"/>
                      <a:r>
                        <a:rPr lang="fr-FR" dirty="0"/>
                        <a:t>Semaine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dirty="0"/>
                        <a:t>TP7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TP8 (IT)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BB9"/>
                    </a:solidFill>
                  </a:tcPr>
                </a:tc>
                <a:tc>
                  <a:txBody>
                    <a:bodyPr/>
                    <a:lstStyle/>
                    <a:p>
                      <a:pPr algn="ctr"/>
                      <a:r>
                        <a:rPr lang="fr-FR" dirty="0"/>
                        <a:t>COURS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5967402"/>
                  </a:ext>
                </a:extLst>
              </a:tr>
            </a:tbl>
          </a:graphicData>
        </a:graphic>
      </p:graphicFrame>
      <p:graphicFrame>
        <p:nvGraphicFramePr>
          <p:cNvPr id="5" name="Tableau 4">
            <a:extLst>
              <a:ext uri="{FF2B5EF4-FFF2-40B4-BE49-F238E27FC236}">
                <a16:creationId xmlns:a16="http://schemas.microsoft.com/office/drawing/2014/main" id="{9CAF33CE-AEAF-879B-E71D-A6A2A8F289A2}"/>
              </a:ext>
            </a:extLst>
          </p:cNvPr>
          <p:cNvGraphicFramePr>
            <a:graphicFrameLocks noGrp="1"/>
          </p:cNvGraphicFramePr>
          <p:nvPr>
            <p:extLst>
              <p:ext uri="{D42A27DB-BD31-4B8C-83A1-F6EECF244321}">
                <p14:modId xmlns:p14="http://schemas.microsoft.com/office/powerpoint/2010/main" val="4288911267"/>
              </p:ext>
            </p:extLst>
          </p:nvPr>
        </p:nvGraphicFramePr>
        <p:xfrm>
          <a:off x="3516993" y="4190043"/>
          <a:ext cx="5920014" cy="370840"/>
        </p:xfrm>
        <a:graphic>
          <a:graphicData uri="http://schemas.openxmlformats.org/drawingml/2006/table">
            <a:tbl>
              <a:tblPr firstRow="1" bandRow="1">
                <a:tableStyleId>{2D5ABB26-0587-4C30-8999-92F81FD0307C}</a:tableStyleId>
              </a:tblPr>
              <a:tblGrid>
                <a:gridCol w="1557528">
                  <a:extLst>
                    <a:ext uri="{9D8B030D-6E8A-4147-A177-3AD203B41FA5}">
                      <a16:colId xmlns:a16="http://schemas.microsoft.com/office/drawing/2014/main" val="3768321597"/>
                    </a:ext>
                  </a:extLst>
                </a:gridCol>
                <a:gridCol w="755688">
                  <a:extLst>
                    <a:ext uri="{9D8B030D-6E8A-4147-A177-3AD203B41FA5}">
                      <a16:colId xmlns:a16="http://schemas.microsoft.com/office/drawing/2014/main" val="603146100"/>
                    </a:ext>
                  </a:extLst>
                </a:gridCol>
                <a:gridCol w="838200">
                  <a:extLst>
                    <a:ext uri="{9D8B030D-6E8A-4147-A177-3AD203B41FA5}">
                      <a16:colId xmlns:a16="http://schemas.microsoft.com/office/drawing/2014/main" val="2202000248"/>
                    </a:ext>
                  </a:extLst>
                </a:gridCol>
                <a:gridCol w="1104900">
                  <a:extLst>
                    <a:ext uri="{9D8B030D-6E8A-4147-A177-3AD203B41FA5}">
                      <a16:colId xmlns:a16="http://schemas.microsoft.com/office/drawing/2014/main" val="2237200760"/>
                    </a:ext>
                  </a:extLst>
                </a:gridCol>
                <a:gridCol w="1087596">
                  <a:extLst>
                    <a:ext uri="{9D8B030D-6E8A-4147-A177-3AD203B41FA5}">
                      <a16:colId xmlns:a16="http://schemas.microsoft.com/office/drawing/2014/main" val="2538769403"/>
                    </a:ext>
                  </a:extLst>
                </a:gridCol>
                <a:gridCol w="576102">
                  <a:extLst>
                    <a:ext uri="{9D8B030D-6E8A-4147-A177-3AD203B41FA5}">
                      <a16:colId xmlns:a16="http://schemas.microsoft.com/office/drawing/2014/main" val="1791742753"/>
                    </a:ext>
                  </a:extLst>
                </a:gridCol>
              </a:tblGrid>
              <a:tr h="370840">
                <a:tc>
                  <a:txBody>
                    <a:bodyPr/>
                    <a:lstStyle/>
                    <a:p>
                      <a:pPr algn="ctr"/>
                      <a:r>
                        <a:rPr lang="fr-FR" dirty="0"/>
                        <a:t>Semaine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dirty="0"/>
                        <a:t>TP7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TP8 (IT)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COURS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BB9"/>
                    </a:solidFill>
                  </a:tcPr>
                </a:tc>
                <a:tc>
                  <a:txBody>
                    <a:bodyPr/>
                    <a:lstStyle/>
                    <a:p>
                      <a:pPr algn="ctr"/>
                      <a:r>
                        <a:rPr lang="fr-FR" dirty="0"/>
                        <a:t>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5967402"/>
                  </a:ext>
                </a:extLst>
              </a:tr>
            </a:tbl>
          </a:graphicData>
        </a:graphic>
      </p:graphicFrame>
    </p:spTree>
    <p:extLst>
      <p:ext uri="{BB962C8B-B14F-4D97-AF65-F5344CB8AC3E}">
        <p14:creationId xmlns:p14="http://schemas.microsoft.com/office/powerpoint/2010/main" val="4451930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AE9AB-7E87-F6F2-5699-0CDCF78D0883}"/>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38361E2E-7228-9905-B6F5-F5A27EB156EB}"/>
              </a:ext>
            </a:extLst>
          </p:cNvPr>
          <p:cNvSpPr>
            <a:spLocks noGrp="1"/>
          </p:cNvSpPr>
          <p:nvPr>
            <p:ph type="sldNum" sz="quarter" idx="12"/>
          </p:nvPr>
        </p:nvSpPr>
        <p:spPr/>
        <p:txBody>
          <a:bodyPr/>
          <a:lstStyle/>
          <a:p>
            <a:fld id="{201A5C1E-DE71-4D99-BC1E-739595F062E0}" type="slidenum">
              <a:rPr lang="fr-FR" sz="2000" smtClean="0"/>
              <a:t>14</a:t>
            </a:fld>
            <a:r>
              <a:rPr lang="fr-FR" sz="2000" dirty="0"/>
              <a:t>/22</a:t>
            </a:r>
          </a:p>
        </p:txBody>
      </p:sp>
      <p:sp>
        <p:nvSpPr>
          <p:cNvPr id="4" name="Titre 1">
            <a:extLst>
              <a:ext uri="{FF2B5EF4-FFF2-40B4-BE49-F238E27FC236}">
                <a16:creationId xmlns:a16="http://schemas.microsoft.com/office/drawing/2014/main" id="{9A4490AE-3A5A-A0F5-A7E8-1E241C063B0B}"/>
              </a:ext>
            </a:extLst>
          </p:cNvPr>
          <p:cNvSpPr txBox="1">
            <a:spLocks/>
          </p:cNvSpPr>
          <p:nvPr/>
        </p:nvSpPr>
        <p:spPr>
          <a:xfrm>
            <a:off x="736600" y="29039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TP9 3h</a:t>
            </a:r>
          </a:p>
        </p:txBody>
      </p:sp>
      <p:sp>
        <p:nvSpPr>
          <p:cNvPr id="9" name="ZoneTexte 8">
            <a:extLst>
              <a:ext uri="{FF2B5EF4-FFF2-40B4-BE49-F238E27FC236}">
                <a16:creationId xmlns:a16="http://schemas.microsoft.com/office/drawing/2014/main" id="{068AF723-BAC8-D37C-8056-03BA23A123AC}"/>
              </a:ext>
            </a:extLst>
          </p:cNvPr>
          <p:cNvSpPr txBox="1"/>
          <p:nvPr/>
        </p:nvSpPr>
        <p:spPr>
          <a:xfrm>
            <a:off x="936170" y="1336772"/>
            <a:ext cx="9046030" cy="4154984"/>
          </a:xfrm>
          <a:prstGeom prst="rect">
            <a:avLst/>
          </a:prstGeom>
          <a:noFill/>
        </p:spPr>
        <p:txBody>
          <a:bodyPr wrap="square">
            <a:spAutoFit/>
          </a:bodyPr>
          <a:lstStyle/>
          <a:p>
            <a:r>
              <a:rPr lang="fr-FR" sz="2400" dirty="0"/>
              <a:t>En demi-groupe</a:t>
            </a:r>
          </a:p>
          <a:p>
            <a:r>
              <a:rPr lang="fr-FR" sz="2400" dirty="0"/>
              <a:t>TP DS</a:t>
            </a:r>
          </a:p>
          <a:p>
            <a:r>
              <a:rPr lang="fr-FR" sz="2400" dirty="0"/>
              <a:t>1h d’évaluation individuelle sur table sur les notions de cours: complétion d’un schéma cinématique,  fonctions de différents composants de puissance</a:t>
            </a:r>
          </a:p>
          <a:p>
            <a:r>
              <a:rPr lang="fr-FR" sz="2400" dirty="0"/>
              <a:t>Ensuite 6 groupes de 3 élèves</a:t>
            </a:r>
          </a:p>
          <a:p>
            <a:r>
              <a:rPr lang="fr-FR" sz="2400" dirty="0"/>
              <a:t>2h pendant lesquelles ils </a:t>
            </a:r>
            <a:r>
              <a:rPr lang="fr-FR" sz="2400" dirty="0" err="1"/>
              <a:t>manipent</a:t>
            </a:r>
            <a:r>
              <a:rPr lang="fr-FR" sz="2400" dirty="0"/>
              <a:t> et ils doivent réaliser un TP qui  mesure un rapport de réduction, identification des composants sur le système,</a:t>
            </a:r>
          </a:p>
          <a:p>
            <a:endParaRPr lang="fr-FR" sz="2400" dirty="0"/>
          </a:p>
          <a:p>
            <a:endParaRPr lang="fr-FR" sz="2400" dirty="0"/>
          </a:p>
        </p:txBody>
      </p:sp>
      <p:sp>
        <p:nvSpPr>
          <p:cNvPr id="15" name="Espace réservé du pied de page 14">
            <a:extLst>
              <a:ext uri="{FF2B5EF4-FFF2-40B4-BE49-F238E27FC236}">
                <a16:creationId xmlns:a16="http://schemas.microsoft.com/office/drawing/2014/main" id="{B10D6E9F-B0D9-A4C0-6F67-682AFDB7E512}"/>
              </a:ext>
            </a:extLst>
          </p:cNvPr>
          <p:cNvSpPr>
            <a:spLocks noGrp="1"/>
          </p:cNvSpPr>
          <p:nvPr>
            <p:ph type="ftr" sz="quarter" idx="11"/>
          </p:nvPr>
        </p:nvSpPr>
        <p:spPr>
          <a:xfrm>
            <a:off x="4038600" y="6492875"/>
            <a:ext cx="4114800" cy="365125"/>
          </a:xfrm>
        </p:spPr>
        <p:txBody>
          <a:bodyPr/>
          <a:lstStyle/>
          <a:p>
            <a:r>
              <a:rPr lang="fr-FR" sz="1600" dirty="0">
                <a:solidFill>
                  <a:schemeClr val="tx1"/>
                </a:solidFill>
              </a:rPr>
              <a:t>N° Arthur PREVISANI</a:t>
            </a:r>
          </a:p>
        </p:txBody>
      </p:sp>
      <p:graphicFrame>
        <p:nvGraphicFramePr>
          <p:cNvPr id="6" name="Tableau 5">
            <a:extLst>
              <a:ext uri="{FF2B5EF4-FFF2-40B4-BE49-F238E27FC236}">
                <a16:creationId xmlns:a16="http://schemas.microsoft.com/office/drawing/2014/main" id="{B74A7220-82FA-E1A5-A864-075211C86AA9}"/>
              </a:ext>
            </a:extLst>
          </p:cNvPr>
          <p:cNvGraphicFramePr>
            <a:graphicFrameLocks noGrp="1"/>
          </p:cNvGraphicFramePr>
          <p:nvPr>
            <p:extLst>
              <p:ext uri="{D42A27DB-BD31-4B8C-83A1-F6EECF244321}">
                <p14:modId xmlns:p14="http://schemas.microsoft.com/office/powerpoint/2010/main" val="207433328"/>
              </p:ext>
            </p:extLst>
          </p:nvPr>
        </p:nvGraphicFramePr>
        <p:xfrm>
          <a:off x="3034393" y="767759"/>
          <a:ext cx="5920014" cy="370840"/>
        </p:xfrm>
        <a:graphic>
          <a:graphicData uri="http://schemas.openxmlformats.org/drawingml/2006/table">
            <a:tbl>
              <a:tblPr firstRow="1" bandRow="1">
                <a:tableStyleId>{2D5ABB26-0587-4C30-8999-92F81FD0307C}</a:tableStyleId>
              </a:tblPr>
              <a:tblGrid>
                <a:gridCol w="1557528">
                  <a:extLst>
                    <a:ext uri="{9D8B030D-6E8A-4147-A177-3AD203B41FA5}">
                      <a16:colId xmlns:a16="http://schemas.microsoft.com/office/drawing/2014/main" val="3768321597"/>
                    </a:ext>
                  </a:extLst>
                </a:gridCol>
                <a:gridCol w="755688">
                  <a:extLst>
                    <a:ext uri="{9D8B030D-6E8A-4147-A177-3AD203B41FA5}">
                      <a16:colId xmlns:a16="http://schemas.microsoft.com/office/drawing/2014/main" val="603146100"/>
                    </a:ext>
                  </a:extLst>
                </a:gridCol>
                <a:gridCol w="838200">
                  <a:extLst>
                    <a:ext uri="{9D8B030D-6E8A-4147-A177-3AD203B41FA5}">
                      <a16:colId xmlns:a16="http://schemas.microsoft.com/office/drawing/2014/main" val="2202000248"/>
                    </a:ext>
                  </a:extLst>
                </a:gridCol>
                <a:gridCol w="1104900">
                  <a:extLst>
                    <a:ext uri="{9D8B030D-6E8A-4147-A177-3AD203B41FA5}">
                      <a16:colId xmlns:a16="http://schemas.microsoft.com/office/drawing/2014/main" val="2237200760"/>
                    </a:ext>
                  </a:extLst>
                </a:gridCol>
                <a:gridCol w="1087596">
                  <a:extLst>
                    <a:ext uri="{9D8B030D-6E8A-4147-A177-3AD203B41FA5}">
                      <a16:colId xmlns:a16="http://schemas.microsoft.com/office/drawing/2014/main" val="2538769403"/>
                    </a:ext>
                  </a:extLst>
                </a:gridCol>
                <a:gridCol w="576102">
                  <a:extLst>
                    <a:ext uri="{9D8B030D-6E8A-4147-A177-3AD203B41FA5}">
                      <a16:colId xmlns:a16="http://schemas.microsoft.com/office/drawing/2014/main" val="1791742753"/>
                    </a:ext>
                  </a:extLst>
                </a:gridCol>
              </a:tblGrid>
              <a:tr h="370840">
                <a:tc>
                  <a:txBody>
                    <a:bodyPr/>
                    <a:lstStyle/>
                    <a:p>
                      <a:pPr algn="ctr"/>
                      <a:r>
                        <a:rPr lang="fr-FR" dirty="0"/>
                        <a:t>Semaine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dirty="0"/>
                        <a:t>TP7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TP8 (IT)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COURS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BB9"/>
                    </a:solidFill>
                  </a:tcPr>
                </a:tc>
                <a:extLst>
                  <a:ext uri="{0D108BD9-81ED-4DB2-BD59-A6C34878D82A}">
                    <a16:rowId xmlns:a16="http://schemas.microsoft.com/office/drawing/2014/main" val="3665967402"/>
                  </a:ext>
                </a:extLst>
              </a:tr>
            </a:tbl>
          </a:graphicData>
        </a:graphic>
      </p:graphicFrame>
    </p:spTree>
    <p:extLst>
      <p:ext uri="{BB962C8B-B14F-4D97-AF65-F5344CB8AC3E}">
        <p14:creationId xmlns:p14="http://schemas.microsoft.com/office/powerpoint/2010/main" val="2967227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5DC3A-DA93-CB05-F0F0-02EDFE34A856}"/>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ABB074AC-C9DF-6A61-EEAA-B38C3D11CD9F}"/>
              </a:ext>
            </a:extLst>
          </p:cNvPr>
          <p:cNvSpPr>
            <a:spLocks noGrp="1"/>
          </p:cNvSpPr>
          <p:nvPr>
            <p:ph type="sldNum" sz="quarter" idx="12"/>
          </p:nvPr>
        </p:nvSpPr>
        <p:spPr/>
        <p:txBody>
          <a:bodyPr/>
          <a:lstStyle/>
          <a:p>
            <a:fld id="{201A5C1E-DE71-4D99-BC1E-739595F062E0}" type="slidenum">
              <a:rPr lang="fr-FR" sz="2000" smtClean="0"/>
              <a:t>15</a:t>
            </a:fld>
            <a:r>
              <a:rPr lang="fr-FR" sz="2000" dirty="0"/>
              <a:t>/22</a:t>
            </a:r>
          </a:p>
        </p:txBody>
      </p:sp>
      <p:sp>
        <p:nvSpPr>
          <p:cNvPr id="4" name="Espace réservé du pied de page 3">
            <a:extLst>
              <a:ext uri="{FF2B5EF4-FFF2-40B4-BE49-F238E27FC236}">
                <a16:creationId xmlns:a16="http://schemas.microsoft.com/office/drawing/2014/main" id="{952F77DC-0B39-3F42-F5C4-304DD5231649}"/>
              </a:ext>
            </a:extLst>
          </p:cNvPr>
          <p:cNvSpPr>
            <a:spLocks noGrp="1"/>
          </p:cNvSpPr>
          <p:nvPr>
            <p:ph type="ftr" sz="quarter" idx="11"/>
          </p:nvPr>
        </p:nvSpPr>
        <p:spPr/>
        <p:txBody>
          <a:bodyPr/>
          <a:lstStyle/>
          <a:p>
            <a:r>
              <a:rPr lang="fr-FR" sz="1600" dirty="0">
                <a:solidFill>
                  <a:schemeClr val="tx1"/>
                </a:solidFill>
              </a:rPr>
              <a:t>N° Arthur PREVISANI</a:t>
            </a:r>
          </a:p>
        </p:txBody>
      </p:sp>
      <p:sp>
        <p:nvSpPr>
          <p:cNvPr id="6" name="Titre 1">
            <a:extLst>
              <a:ext uri="{FF2B5EF4-FFF2-40B4-BE49-F238E27FC236}">
                <a16:creationId xmlns:a16="http://schemas.microsoft.com/office/drawing/2014/main" id="{898ED1ED-148B-F6CD-0733-2B61AA909788}"/>
              </a:ext>
            </a:extLst>
          </p:cNvPr>
          <p:cNvSpPr>
            <a:spLocks noGrp="1"/>
          </p:cNvSpPr>
          <p:nvPr>
            <p:ph type="title"/>
          </p:nvPr>
        </p:nvSpPr>
        <p:spPr>
          <a:xfrm>
            <a:off x="838200" y="365125"/>
            <a:ext cx="10515600" cy="1325563"/>
          </a:xfrm>
        </p:spPr>
        <p:txBody>
          <a:bodyPr/>
          <a:lstStyle/>
          <a:p>
            <a:r>
              <a:rPr lang="fr-FR" dirty="0"/>
              <a:t>Evaluations</a:t>
            </a:r>
          </a:p>
        </p:txBody>
      </p:sp>
      <p:sp>
        <p:nvSpPr>
          <p:cNvPr id="8" name="Espace réservé du contenu 2">
            <a:extLst>
              <a:ext uri="{FF2B5EF4-FFF2-40B4-BE49-F238E27FC236}">
                <a16:creationId xmlns:a16="http://schemas.microsoft.com/office/drawing/2014/main" id="{BF298742-C09A-6F60-9723-17AFAA44DE24}"/>
              </a:ext>
            </a:extLst>
          </p:cNvPr>
          <p:cNvSpPr>
            <a:spLocks noGrp="1"/>
          </p:cNvSpPr>
          <p:nvPr>
            <p:ph idx="1"/>
          </p:nvPr>
        </p:nvSpPr>
        <p:spPr>
          <a:xfrm>
            <a:off x="838200" y="1492946"/>
            <a:ext cx="10515600" cy="4351338"/>
          </a:xfrm>
        </p:spPr>
        <p:txBody>
          <a:bodyPr/>
          <a:lstStyle/>
          <a:p>
            <a:r>
              <a:rPr lang="fr-FR" dirty="0"/>
              <a:t>Evaluation formative:</a:t>
            </a:r>
          </a:p>
          <a:p>
            <a:pPr marL="0" indent="0">
              <a:buNone/>
            </a:pPr>
            <a:r>
              <a:rPr lang="fr-FR" dirty="0"/>
              <a:t>	Quizz sur les notions de cours liaison, transmission de puissance</a:t>
            </a:r>
          </a:p>
          <a:p>
            <a:r>
              <a:rPr lang="fr-FR" dirty="0"/>
              <a:t>Evaluation sommative</a:t>
            </a:r>
          </a:p>
          <a:p>
            <a:pPr marL="0" indent="0">
              <a:buNone/>
            </a:pPr>
            <a:r>
              <a:rPr lang="fr-FR" dirty="0"/>
              <a:t>	Oral lors du TP8 IT</a:t>
            </a:r>
          </a:p>
          <a:p>
            <a:pPr marL="0" indent="0">
              <a:buNone/>
            </a:pPr>
            <a:r>
              <a:rPr lang="fr-FR" dirty="0"/>
              <a:t>	Evaluation sur table d’1H sur les compétences attendues </a:t>
            </a:r>
          </a:p>
          <a:p>
            <a:pPr marL="0" indent="0">
              <a:buNone/>
            </a:pPr>
            <a:r>
              <a:rPr lang="fr-FR" dirty="0"/>
              <a:t>	puis 2H ou on peut plus discuter avec eux tout en évaluant le 	coté pratique des compétences. </a:t>
            </a:r>
          </a:p>
        </p:txBody>
      </p:sp>
    </p:spTree>
    <p:extLst>
      <p:ext uri="{BB962C8B-B14F-4D97-AF65-F5344CB8AC3E}">
        <p14:creationId xmlns:p14="http://schemas.microsoft.com/office/powerpoint/2010/main" val="33198764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5FD0B-E821-7CC0-59B7-FF7B43433174}"/>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8EDBC118-2545-03CC-12BE-ACB1AA120600}"/>
              </a:ext>
            </a:extLst>
          </p:cNvPr>
          <p:cNvSpPr>
            <a:spLocks noGrp="1"/>
          </p:cNvSpPr>
          <p:nvPr>
            <p:ph type="sldNum" sz="quarter" idx="12"/>
          </p:nvPr>
        </p:nvSpPr>
        <p:spPr/>
        <p:txBody>
          <a:bodyPr/>
          <a:lstStyle/>
          <a:p>
            <a:fld id="{201A5C1E-DE71-4D99-BC1E-739595F062E0}" type="slidenum">
              <a:rPr lang="fr-FR" sz="2000" smtClean="0"/>
              <a:t>16</a:t>
            </a:fld>
            <a:r>
              <a:rPr lang="fr-FR" sz="2000" dirty="0"/>
              <a:t>/22</a:t>
            </a:r>
          </a:p>
        </p:txBody>
      </p:sp>
      <p:sp>
        <p:nvSpPr>
          <p:cNvPr id="4" name="Espace réservé du pied de page 3">
            <a:extLst>
              <a:ext uri="{FF2B5EF4-FFF2-40B4-BE49-F238E27FC236}">
                <a16:creationId xmlns:a16="http://schemas.microsoft.com/office/drawing/2014/main" id="{B7DDD118-2E9B-BED7-B314-685FE292249E}"/>
              </a:ext>
            </a:extLst>
          </p:cNvPr>
          <p:cNvSpPr>
            <a:spLocks noGrp="1"/>
          </p:cNvSpPr>
          <p:nvPr>
            <p:ph type="ftr" sz="quarter" idx="11"/>
          </p:nvPr>
        </p:nvSpPr>
        <p:spPr/>
        <p:txBody>
          <a:bodyPr/>
          <a:lstStyle/>
          <a:p>
            <a:r>
              <a:rPr lang="fr-FR" sz="1600" dirty="0">
                <a:solidFill>
                  <a:schemeClr val="tx1"/>
                </a:solidFill>
              </a:rPr>
              <a:t>N° Arthur PREVISANI</a:t>
            </a:r>
          </a:p>
        </p:txBody>
      </p:sp>
      <p:sp>
        <p:nvSpPr>
          <p:cNvPr id="2" name="Titre 1">
            <a:extLst>
              <a:ext uri="{FF2B5EF4-FFF2-40B4-BE49-F238E27FC236}">
                <a16:creationId xmlns:a16="http://schemas.microsoft.com/office/drawing/2014/main" id="{77454FFE-5851-801A-0B3A-AC394EB24688}"/>
              </a:ext>
            </a:extLst>
          </p:cNvPr>
          <p:cNvSpPr>
            <a:spLocks noGrp="1"/>
          </p:cNvSpPr>
          <p:nvPr>
            <p:ph type="title"/>
          </p:nvPr>
        </p:nvSpPr>
        <p:spPr>
          <a:xfrm>
            <a:off x="431800" y="289401"/>
            <a:ext cx="10515600" cy="1325563"/>
          </a:xfrm>
        </p:spPr>
        <p:txBody>
          <a:bodyPr/>
          <a:lstStyle/>
          <a:p>
            <a:r>
              <a:rPr lang="fr-FR" dirty="0"/>
              <a:t>Pertinence du robot </a:t>
            </a:r>
            <a:r>
              <a:rPr lang="fr-FR" dirty="0" err="1"/>
              <a:t>MaxPID</a:t>
            </a:r>
            <a:r>
              <a:rPr lang="fr-FR" dirty="0"/>
              <a:t> </a:t>
            </a:r>
            <a:br>
              <a:rPr lang="fr-FR" dirty="0"/>
            </a:br>
            <a:r>
              <a:rPr lang="fr-FR" dirty="0"/>
              <a:t>pour la séquence</a:t>
            </a:r>
          </a:p>
        </p:txBody>
      </p:sp>
      <p:pic>
        <p:nvPicPr>
          <p:cNvPr id="3" name="Image 2">
            <a:extLst>
              <a:ext uri="{FF2B5EF4-FFF2-40B4-BE49-F238E27FC236}">
                <a16:creationId xmlns:a16="http://schemas.microsoft.com/office/drawing/2014/main" id="{B5C7F424-DE81-916C-101E-EC23F7E4D563}"/>
              </a:ext>
            </a:extLst>
          </p:cNvPr>
          <p:cNvPicPr>
            <a:picLocks noChangeAspect="1"/>
          </p:cNvPicPr>
          <p:nvPr/>
        </p:nvPicPr>
        <p:blipFill>
          <a:blip r:embed="rId3"/>
          <a:stretch>
            <a:fillRect/>
          </a:stretch>
        </p:blipFill>
        <p:spPr>
          <a:xfrm>
            <a:off x="121736" y="1932020"/>
            <a:ext cx="7173326" cy="3867690"/>
          </a:xfrm>
          <a:prstGeom prst="rect">
            <a:avLst/>
          </a:prstGeom>
        </p:spPr>
      </p:pic>
      <p:pic>
        <p:nvPicPr>
          <p:cNvPr id="5" name="Image 4">
            <a:extLst>
              <a:ext uri="{FF2B5EF4-FFF2-40B4-BE49-F238E27FC236}">
                <a16:creationId xmlns:a16="http://schemas.microsoft.com/office/drawing/2014/main" id="{84094CB6-4383-1188-91BF-280BEDF3E7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17762" y="0"/>
            <a:ext cx="4552502" cy="3451273"/>
          </a:xfrm>
          <a:prstGeom prst="rect">
            <a:avLst/>
          </a:prstGeom>
        </p:spPr>
      </p:pic>
      <p:pic>
        <p:nvPicPr>
          <p:cNvPr id="6" name="Image 5">
            <a:extLst>
              <a:ext uri="{FF2B5EF4-FFF2-40B4-BE49-F238E27FC236}">
                <a16:creationId xmlns:a16="http://schemas.microsoft.com/office/drawing/2014/main" id="{2DEF8889-060A-D18B-DBD8-3EB4F36429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60547" y="3114977"/>
            <a:ext cx="4523882" cy="3241373"/>
          </a:xfrm>
          <a:prstGeom prst="rect">
            <a:avLst/>
          </a:prstGeom>
        </p:spPr>
      </p:pic>
    </p:spTree>
    <p:extLst>
      <p:ext uri="{BB962C8B-B14F-4D97-AF65-F5344CB8AC3E}">
        <p14:creationId xmlns:p14="http://schemas.microsoft.com/office/powerpoint/2010/main" val="6005549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64B26-C642-3223-3D57-939B21492A82}"/>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E6E49DEA-8AAE-9277-11B4-EBF2B8200E80}"/>
              </a:ext>
            </a:extLst>
          </p:cNvPr>
          <p:cNvSpPr>
            <a:spLocks noGrp="1"/>
          </p:cNvSpPr>
          <p:nvPr>
            <p:ph type="sldNum" sz="quarter" idx="12"/>
          </p:nvPr>
        </p:nvSpPr>
        <p:spPr/>
        <p:txBody>
          <a:bodyPr/>
          <a:lstStyle/>
          <a:p>
            <a:fld id="{201A5C1E-DE71-4D99-BC1E-739595F062E0}" type="slidenum">
              <a:rPr lang="fr-FR" sz="2000" smtClean="0"/>
              <a:t>17</a:t>
            </a:fld>
            <a:r>
              <a:rPr lang="fr-FR" sz="2000" dirty="0"/>
              <a:t>/22</a:t>
            </a:r>
          </a:p>
        </p:txBody>
      </p:sp>
      <p:sp>
        <p:nvSpPr>
          <p:cNvPr id="4" name="Titre 1">
            <a:extLst>
              <a:ext uri="{FF2B5EF4-FFF2-40B4-BE49-F238E27FC236}">
                <a16:creationId xmlns:a16="http://schemas.microsoft.com/office/drawing/2014/main" id="{CDD944AD-A040-39A8-0A8D-89DB2689E310}"/>
              </a:ext>
            </a:extLst>
          </p:cNvPr>
          <p:cNvSpPr txBox="1">
            <a:spLocks/>
          </p:cNvSpPr>
          <p:nvPr/>
        </p:nvSpPr>
        <p:spPr>
          <a:xfrm>
            <a:off x="736600" y="27376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Séance à caractère expérimentale: TP2 3h</a:t>
            </a:r>
          </a:p>
        </p:txBody>
      </p:sp>
      <p:sp>
        <p:nvSpPr>
          <p:cNvPr id="15" name="ZoneTexte 14">
            <a:extLst>
              <a:ext uri="{FF2B5EF4-FFF2-40B4-BE49-F238E27FC236}">
                <a16:creationId xmlns:a16="http://schemas.microsoft.com/office/drawing/2014/main" id="{8E17E065-4388-DDA4-FE8C-0EA9CCEA2DAC}"/>
              </a:ext>
            </a:extLst>
          </p:cNvPr>
          <p:cNvSpPr txBox="1"/>
          <p:nvPr/>
        </p:nvSpPr>
        <p:spPr>
          <a:xfrm>
            <a:off x="939800" y="1202454"/>
            <a:ext cx="10414000" cy="5262979"/>
          </a:xfrm>
          <a:prstGeom prst="rect">
            <a:avLst/>
          </a:prstGeom>
          <a:noFill/>
        </p:spPr>
        <p:txBody>
          <a:bodyPr wrap="square">
            <a:spAutoFit/>
          </a:bodyPr>
          <a:lstStyle/>
          <a:p>
            <a:r>
              <a:rPr lang="fr-FR" sz="2400" dirty="0"/>
              <a:t>Placé en semaine 3 </a:t>
            </a:r>
          </a:p>
          <a:p>
            <a:r>
              <a:rPr lang="fr-FR" sz="2400" dirty="0"/>
              <a:t>But: </a:t>
            </a:r>
            <a:r>
              <a:rPr lang="fr-FR" sz="2400" dirty="0" err="1"/>
              <a:t>caracteriser</a:t>
            </a:r>
            <a:r>
              <a:rPr lang="fr-FR" sz="2400" dirty="0"/>
              <a:t> le </a:t>
            </a:r>
            <a:r>
              <a:rPr lang="fr-FR" sz="2400" dirty="0" err="1"/>
              <a:t>comportetent</a:t>
            </a:r>
            <a:r>
              <a:rPr lang="fr-FR" sz="2400" dirty="0"/>
              <a:t> </a:t>
            </a:r>
            <a:r>
              <a:rPr lang="fr-FR" sz="2400" dirty="0" err="1"/>
              <a:t>géométriuqe</a:t>
            </a:r>
            <a:r>
              <a:rPr lang="fr-FR" sz="2400" dirty="0"/>
              <a:t> pour attraper un citron a 20 ° d’arc le lien entre une mesure expérimentale et une approche géométrique. CO 3.4, 7.2,  </a:t>
            </a:r>
          </a:p>
          <a:p>
            <a:r>
              <a:rPr lang="fr-FR" sz="2400" dirty="0"/>
              <a:t>Systèmes dispo: Ouvre portail, CoMax, control x, axe linéaire, robot </a:t>
            </a:r>
            <a:r>
              <a:rPr lang="fr-FR" sz="2400" dirty="0" err="1"/>
              <a:t>Ericc</a:t>
            </a:r>
            <a:r>
              <a:rPr lang="fr-FR" sz="2400" dirty="0"/>
              <a:t>, </a:t>
            </a:r>
            <a:r>
              <a:rPr lang="fr-FR" sz="2400" dirty="0" err="1"/>
              <a:t>Slider</a:t>
            </a:r>
            <a:endParaRPr lang="fr-FR" sz="2400" dirty="0"/>
          </a:p>
          <a:p>
            <a:r>
              <a:rPr lang="fr-FR" sz="2400" dirty="0"/>
              <a:t>Compte rendu en fin de séance</a:t>
            </a:r>
          </a:p>
          <a:p>
            <a:r>
              <a:rPr lang="fr-FR" sz="2400" dirty="0"/>
              <a:t>En demi-groupe , 6 groupes de 3 élèves, en ilots</a:t>
            </a:r>
          </a:p>
          <a:p>
            <a:pPr marL="342900" indent="-342900">
              <a:buFont typeface="Arial" panose="020B0604020202020204" pitchFamily="34" charset="0"/>
              <a:buChar char="•"/>
            </a:pPr>
            <a:r>
              <a:rPr lang="fr-FR" sz="2400" dirty="0"/>
              <a:t>1 élève « chef de groupe » qui aidera ses 2 camarades</a:t>
            </a:r>
          </a:p>
          <a:p>
            <a:pPr marL="342900" indent="-342900">
              <a:buFont typeface="Arial" panose="020B0604020202020204" pitchFamily="34" charset="0"/>
              <a:buChar char="•"/>
            </a:pPr>
            <a:r>
              <a:rPr lang="fr-FR" sz="2400" dirty="0"/>
              <a:t>1 élève en charge de la modélisation</a:t>
            </a:r>
          </a:p>
          <a:p>
            <a:pPr marL="342900" indent="-342900">
              <a:buFont typeface="Arial" panose="020B0604020202020204" pitchFamily="34" charset="0"/>
              <a:buChar char="•"/>
            </a:pPr>
            <a:r>
              <a:rPr lang="fr-FR" sz="2400" dirty="0"/>
              <a:t>1 élève en charge de l’expérimentation</a:t>
            </a:r>
          </a:p>
          <a:p>
            <a:r>
              <a:rPr lang="fr-FR" sz="2400" dirty="0"/>
              <a:t>Organisation:</a:t>
            </a:r>
          </a:p>
          <a:p>
            <a:pPr marL="342900" indent="-342900">
              <a:buFont typeface="Arial" panose="020B0604020202020204" pitchFamily="34" charset="0"/>
              <a:buChar char="•"/>
            </a:pPr>
            <a:r>
              <a:rPr lang="fr-FR" sz="2400" dirty="0"/>
              <a:t>30 min: chaine information/énergie pour le système étudié, analyse des liaisons 1h 30: Détermination de manière géométrique de la loi entre l’angle du moteur et l’angle du bras</a:t>
            </a:r>
          </a:p>
          <a:p>
            <a:pPr marL="342900" indent="-342900">
              <a:buFont typeface="Arial" panose="020B0604020202020204" pitchFamily="34" charset="0"/>
              <a:buChar char="•"/>
            </a:pPr>
            <a:r>
              <a:rPr lang="fr-FR" sz="2400" dirty="0"/>
              <a:t>1h: Mesure expérimentale de cette loi</a:t>
            </a:r>
          </a:p>
        </p:txBody>
      </p:sp>
      <p:sp>
        <p:nvSpPr>
          <p:cNvPr id="5" name="Espace réservé du pied de page 4">
            <a:extLst>
              <a:ext uri="{FF2B5EF4-FFF2-40B4-BE49-F238E27FC236}">
                <a16:creationId xmlns:a16="http://schemas.microsoft.com/office/drawing/2014/main" id="{362EDB8A-B547-EB76-500E-7E025567A761}"/>
              </a:ext>
            </a:extLst>
          </p:cNvPr>
          <p:cNvSpPr>
            <a:spLocks noGrp="1"/>
          </p:cNvSpPr>
          <p:nvPr>
            <p:ph type="ftr" sz="quarter" idx="11"/>
          </p:nvPr>
        </p:nvSpPr>
        <p:spPr>
          <a:xfrm>
            <a:off x="4038600" y="6465433"/>
            <a:ext cx="4114800" cy="365125"/>
          </a:xfrm>
        </p:spPr>
        <p:txBody>
          <a:bodyPr/>
          <a:lstStyle/>
          <a:p>
            <a:r>
              <a:rPr lang="fr-FR" sz="1600" dirty="0">
                <a:solidFill>
                  <a:schemeClr val="tx1"/>
                </a:solidFill>
              </a:rPr>
              <a:t>N° Arthur PREVISANI</a:t>
            </a:r>
          </a:p>
        </p:txBody>
      </p:sp>
      <p:graphicFrame>
        <p:nvGraphicFramePr>
          <p:cNvPr id="2" name="Tableau 1">
            <a:extLst>
              <a:ext uri="{FF2B5EF4-FFF2-40B4-BE49-F238E27FC236}">
                <a16:creationId xmlns:a16="http://schemas.microsoft.com/office/drawing/2014/main" id="{34C62A26-4488-E051-5D1C-B1B837ACF492}"/>
              </a:ext>
            </a:extLst>
          </p:cNvPr>
          <p:cNvGraphicFramePr>
            <a:graphicFrameLocks noGrp="1"/>
          </p:cNvGraphicFramePr>
          <p:nvPr>
            <p:extLst>
              <p:ext uri="{D42A27DB-BD31-4B8C-83A1-F6EECF244321}">
                <p14:modId xmlns:p14="http://schemas.microsoft.com/office/powerpoint/2010/main" val="379499407"/>
              </p:ext>
            </p:extLst>
          </p:nvPr>
        </p:nvGraphicFramePr>
        <p:xfrm>
          <a:off x="5650593" y="133979"/>
          <a:ext cx="5920014" cy="370840"/>
        </p:xfrm>
        <a:graphic>
          <a:graphicData uri="http://schemas.openxmlformats.org/drawingml/2006/table">
            <a:tbl>
              <a:tblPr firstRow="1" bandRow="1">
                <a:tableStyleId>{2D5ABB26-0587-4C30-8999-92F81FD0307C}</a:tableStyleId>
              </a:tblPr>
              <a:tblGrid>
                <a:gridCol w="1557528">
                  <a:extLst>
                    <a:ext uri="{9D8B030D-6E8A-4147-A177-3AD203B41FA5}">
                      <a16:colId xmlns:a16="http://schemas.microsoft.com/office/drawing/2014/main" val="3768321597"/>
                    </a:ext>
                  </a:extLst>
                </a:gridCol>
                <a:gridCol w="755688">
                  <a:extLst>
                    <a:ext uri="{9D8B030D-6E8A-4147-A177-3AD203B41FA5}">
                      <a16:colId xmlns:a16="http://schemas.microsoft.com/office/drawing/2014/main" val="603146100"/>
                    </a:ext>
                  </a:extLst>
                </a:gridCol>
                <a:gridCol w="838200">
                  <a:extLst>
                    <a:ext uri="{9D8B030D-6E8A-4147-A177-3AD203B41FA5}">
                      <a16:colId xmlns:a16="http://schemas.microsoft.com/office/drawing/2014/main" val="2202000248"/>
                    </a:ext>
                  </a:extLst>
                </a:gridCol>
                <a:gridCol w="1104900">
                  <a:extLst>
                    <a:ext uri="{9D8B030D-6E8A-4147-A177-3AD203B41FA5}">
                      <a16:colId xmlns:a16="http://schemas.microsoft.com/office/drawing/2014/main" val="2237200760"/>
                    </a:ext>
                  </a:extLst>
                </a:gridCol>
                <a:gridCol w="1087596">
                  <a:extLst>
                    <a:ext uri="{9D8B030D-6E8A-4147-A177-3AD203B41FA5}">
                      <a16:colId xmlns:a16="http://schemas.microsoft.com/office/drawing/2014/main" val="2538769403"/>
                    </a:ext>
                  </a:extLst>
                </a:gridCol>
                <a:gridCol w="576102">
                  <a:extLst>
                    <a:ext uri="{9D8B030D-6E8A-4147-A177-3AD203B41FA5}">
                      <a16:colId xmlns:a16="http://schemas.microsoft.com/office/drawing/2014/main" val="1791742753"/>
                    </a:ext>
                  </a:extLst>
                </a:gridCol>
              </a:tblGrid>
              <a:tr h="370840">
                <a:tc>
                  <a:txBody>
                    <a:bodyPr/>
                    <a:lstStyle/>
                    <a:p>
                      <a:pPr algn="ctr"/>
                      <a:r>
                        <a:rPr lang="fr-FR" dirty="0"/>
                        <a:t>Semaine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dirty="0"/>
                        <a:t>TP7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BB9"/>
                    </a:solidFill>
                  </a:tcPr>
                </a:tc>
                <a:tc>
                  <a:txBody>
                    <a:bodyPr/>
                    <a:lstStyle/>
                    <a:p>
                      <a:pPr algn="ctr"/>
                      <a:r>
                        <a:rPr lang="fr-FR" dirty="0"/>
                        <a:t>TP8 (IT)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COURS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5967402"/>
                  </a:ext>
                </a:extLst>
              </a:tr>
            </a:tbl>
          </a:graphicData>
        </a:graphic>
      </p:graphicFrame>
    </p:spTree>
    <p:extLst>
      <p:ext uri="{BB962C8B-B14F-4D97-AF65-F5344CB8AC3E}">
        <p14:creationId xmlns:p14="http://schemas.microsoft.com/office/powerpoint/2010/main" val="34236221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1F25D-79A6-6FEF-1C11-74165D8067BE}"/>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3E2E3F08-AD28-B6F6-DB9A-9EAE441EEC09}"/>
              </a:ext>
            </a:extLst>
          </p:cNvPr>
          <p:cNvSpPr>
            <a:spLocks noGrp="1"/>
          </p:cNvSpPr>
          <p:nvPr>
            <p:ph type="sldNum" sz="quarter" idx="12"/>
          </p:nvPr>
        </p:nvSpPr>
        <p:spPr/>
        <p:txBody>
          <a:bodyPr/>
          <a:lstStyle/>
          <a:p>
            <a:fld id="{201A5C1E-DE71-4D99-BC1E-739595F062E0}" type="slidenum">
              <a:rPr lang="fr-FR" sz="2000" smtClean="0"/>
              <a:t>18</a:t>
            </a:fld>
            <a:r>
              <a:rPr lang="fr-FR" sz="2000" dirty="0"/>
              <a:t>/22</a:t>
            </a:r>
          </a:p>
        </p:txBody>
      </p:sp>
      <p:sp>
        <p:nvSpPr>
          <p:cNvPr id="4" name="Espace réservé du pied de page 3">
            <a:extLst>
              <a:ext uri="{FF2B5EF4-FFF2-40B4-BE49-F238E27FC236}">
                <a16:creationId xmlns:a16="http://schemas.microsoft.com/office/drawing/2014/main" id="{07EE74C8-A652-982F-8DB0-2816A292B955}"/>
              </a:ext>
            </a:extLst>
          </p:cNvPr>
          <p:cNvSpPr>
            <a:spLocks noGrp="1"/>
          </p:cNvSpPr>
          <p:nvPr>
            <p:ph type="ftr" sz="quarter" idx="11"/>
          </p:nvPr>
        </p:nvSpPr>
        <p:spPr/>
        <p:txBody>
          <a:bodyPr/>
          <a:lstStyle/>
          <a:p>
            <a:r>
              <a:rPr lang="fr-FR" sz="1600" dirty="0">
                <a:solidFill>
                  <a:schemeClr val="tx1"/>
                </a:solidFill>
              </a:rPr>
              <a:t>N° Arthur PREVISANI</a:t>
            </a:r>
          </a:p>
        </p:txBody>
      </p:sp>
      <p:sp>
        <p:nvSpPr>
          <p:cNvPr id="2" name="Titre 1">
            <a:extLst>
              <a:ext uri="{FF2B5EF4-FFF2-40B4-BE49-F238E27FC236}">
                <a16:creationId xmlns:a16="http://schemas.microsoft.com/office/drawing/2014/main" id="{C2D5E6E8-14DA-D088-2F6D-CE2ABCFDA316}"/>
              </a:ext>
            </a:extLst>
          </p:cNvPr>
          <p:cNvSpPr>
            <a:spLocks noGrp="1"/>
          </p:cNvSpPr>
          <p:nvPr>
            <p:ph type="title"/>
          </p:nvPr>
        </p:nvSpPr>
        <p:spPr>
          <a:xfrm>
            <a:off x="838200" y="365125"/>
            <a:ext cx="10515600" cy="1325563"/>
          </a:xfrm>
        </p:spPr>
        <p:txBody>
          <a:bodyPr/>
          <a:lstStyle/>
          <a:p>
            <a:r>
              <a:rPr lang="fr-FR" dirty="0"/>
              <a:t>Déroulé</a:t>
            </a:r>
          </a:p>
        </p:txBody>
      </p:sp>
      <p:sp>
        <p:nvSpPr>
          <p:cNvPr id="3" name="Espace réservé du contenu 2">
            <a:extLst>
              <a:ext uri="{FF2B5EF4-FFF2-40B4-BE49-F238E27FC236}">
                <a16:creationId xmlns:a16="http://schemas.microsoft.com/office/drawing/2014/main" id="{A6C54B38-E152-C6DA-AE1A-FBDD8BF6CB05}"/>
              </a:ext>
            </a:extLst>
          </p:cNvPr>
          <p:cNvSpPr>
            <a:spLocks noGrp="1"/>
          </p:cNvSpPr>
          <p:nvPr>
            <p:ph idx="1"/>
          </p:nvPr>
        </p:nvSpPr>
        <p:spPr>
          <a:xfrm>
            <a:off x="838200" y="1457324"/>
            <a:ext cx="10769600" cy="5035551"/>
          </a:xfrm>
        </p:spPr>
        <p:txBody>
          <a:bodyPr>
            <a:normAutofit fontScale="92500" lnSpcReduction="10000"/>
          </a:bodyPr>
          <a:lstStyle/>
          <a:p>
            <a:r>
              <a:rPr lang="fr-FR" dirty="0"/>
              <a:t>Activité 1:  30 minutes: Complétion d’une chaine information/énergie pour le système étudié, analyse des liaisons.</a:t>
            </a:r>
          </a:p>
          <a:p>
            <a:r>
              <a:rPr lang="fr-FR" dirty="0"/>
              <a:t>Activité 2: 1H30: Détermination de manière géométrique de la loi entre l’angle du moteur et l’angle du bras</a:t>
            </a:r>
          </a:p>
          <a:p>
            <a:pPr lvl="1"/>
            <a:r>
              <a:rPr lang="fr-FR" dirty="0"/>
              <a:t>Repérage du triangle dans lequel travailler</a:t>
            </a:r>
          </a:p>
          <a:p>
            <a:pPr lvl="1"/>
            <a:r>
              <a:rPr lang="fr-FR" dirty="0"/>
              <a:t>Utilisation du théorème d’al Kashi (donné en annexe)</a:t>
            </a:r>
          </a:p>
          <a:p>
            <a:pPr lvl="1"/>
            <a:r>
              <a:rPr lang="fr-FR" dirty="0"/>
              <a:t>Loi des angles dans un triangle</a:t>
            </a:r>
          </a:p>
          <a:p>
            <a:pPr lvl="1"/>
            <a:r>
              <a:rPr lang="fr-FR" dirty="0"/>
              <a:t>Lien entre le pas de la vis, l’angle du moteur et la longueur d’un coté du triangle</a:t>
            </a:r>
          </a:p>
          <a:p>
            <a:r>
              <a:rPr lang="fr-FR" dirty="0"/>
              <a:t>Activité 3: 1H Mesure expérimentale de cette loi</a:t>
            </a:r>
          </a:p>
          <a:p>
            <a:pPr lvl="1"/>
            <a:r>
              <a:rPr lang="fr-FR" dirty="0"/>
              <a:t>Relevé de l’angle du bras pour chaque tour réalisé entre 0 et 90°</a:t>
            </a:r>
          </a:p>
          <a:p>
            <a:pPr lvl="1"/>
            <a:r>
              <a:rPr lang="fr-FR" dirty="0"/>
              <a:t>Mesure des dimensions utiles de </a:t>
            </a:r>
            <a:r>
              <a:rPr lang="fr-FR" dirty="0" err="1"/>
              <a:t>MaxPID</a:t>
            </a:r>
            <a:endParaRPr lang="fr-FR" dirty="0"/>
          </a:p>
          <a:p>
            <a:pPr lvl="1"/>
            <a:r>
              <a:rPr lang="fr-FR" dirty="0"/>
              <a:t>Tracé sous Excel de ces points et de la formule qui ont trouvé précèdent</a:t>
            </a:r>
          </a:p>
          <a:p>
            <a:pPr lvl="1"/>
            <a:r>
              <a:rPr lang="fr-FR" dirty="0"/>
              <a:t>Comparaison entre les deux courbes</a:t>
            </a:r>
          </a:p>
        </p:txBody>
      </p:sp>
      <p:graphicFrame>
        <p:nvGraphicFramePr>
          <p:cNvPr id="5" name="Tableau 4">
            <a:extLst>
              <a:ext uri="{FF2B5EF4-FFF2-40B4-BE49-F238E27FC236}">
                <a16:creationId xmlns:a16="http://schemas.microsoft.com/office/drawing/2014/main" id="{9002D2D0-82B3-C4F9-2293-F5195D307B81}"/>
              </a:ext>
            </a:extLst>
          </p:cNvPr>
          <p:cNvGraphicFramePr>
            <a:graphicFrameLocks noGrp="1"/>
          </p:cNvGraphicFramePr>
          <p:nvPr>
            <p:extLst>
              <p:ext uri="{D42A27DB-BD31-4B8C-83A1-F6EECF244321}">
                <p14:modId xmlns:p14="http://schemas.microsoft.com/office/powerpoint/2010/main" val="3314574564"/>
              </p:ext>
            </p:extLst>
          </p:nvPr>
        </p:nvGraphicFramePr>
        <p:xfrm>
          <a:off x="5650593" y="133979"/>
          <a:ext cx="5920014" cy="370840"/>
        </p:xfrm>
        <a:graphic>
          <a:graphicData uri="http://schemas.openxmlformats.org/drawingml/2006/table">
            <a:tbl>
              <a:tblPr firstRow="1" bandRow="1">
                <a:tableStyleId>{2D5ABB26-0587-4C30-8999-92F81FD0307C}</a:tableStyleId>
              </a:tblPr>
              <a:tblGrid>
                <a:gridCol w="1557528">
                  <a:extLst>
                    <a:ext uri="{9D8B030D-6E8A-4147-A177-3AD203B41FA5}">
                      <a16:colId xmlns:a16="http://schemas.microsoft.com/office/drawing/2014/main" val="3768321597"/>
                    </a:ext>
                  </a:extLst>
                </a:gridCol>
                <a:gridCol w="755688">
                  <a:extLst>
                    <a:ext uri="{9D8B030D-6E8A-4147-A177-3AD203B41FA5}">
                      <a16:colId xmlns:a16="http://schemas.microsoft.com/office/drawing/2014/main" val="603146100"/>
                    </a:ext>
                  </a:extLst>
                </a:gridCol>
                <a:gridCol w="838200">
                  <a:extLst>
                    <a:ext uri="{9D8B030D-6E8A-4147-A177-3AD203B41FA5}">
                      <a16:colId xmlns:a16="http://schemas.microsoft.com/office/drawing/2014/main" val="2202000248"/>
                    </a:ext>
                  </a:extLst>
                </a:gridCol>
                <a:gridCol w="1104900">
                  <a:extLst>
                    <a:ext uri="{9D8B030D-6E8A-4147-A177-3AD203B41FA5}">
                      <a16:colId xmlns:a16="http://schemas.microsoft.com/office/drawing/2014/main" val="2237200760"/>
                    </a:ext>
                  </a:extLst>
                </a:gridCol>
                <a:gridCol w="1087596">
                  <a:extLst>
                    <a:ext uri="{9D8B030D-6E8A-4147-A177-3AD203B41FA5}">
                      <a16:colId xmlns:a16="http://schemas.microsoft.com/office/drawing/2014/main" val="2538769403"/>
                    </a:ext>
                  </a:extLst>
                </a:gridCol>
                <a:gridCol w="576102">
                  <a:extLst>
                    <a:ext uri="{9D8B030D-6E8A-4147-A177-3AD203B41FA5}">
                      <a16:colId xmlns:a16="http://schemas.microsoft.com/office/drawing/2014/main" val="1791742753"/>
                    </a:ext>
                  </a:extLst>
                </a:gridCol>
              </a:tblGrid>
              <a:tr h="370840">
                <a:tc>
                  <a:txBody>
                    <a:bodyPr/>
                    <a:lstStyle/>
                    <a:p>
                      <a:pPr algn="ctr"/>
                      <a:r>
                        <a:rPr lang="fr-FR" dirty="0"/>
                        <a:t>Semaine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dirty="0"/>
                        <a:t>TP7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BB9"/>
                    </a:solidFill>
                  </a:tcPr>
                </a:tc>
                <a:tc>
                  <a:txBody>
                    <a:bodyPr/>
                    <a:lstStyle/>
                    <a:p>
                      <a:pPr algn="ctr"/>
                      <a:r>
                        <a:rPr lang="fr-FR" dirty="0"/>
                        <a:t>TP8 (IT)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COURS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5967402"/>
                  </a:ext>
                </a:extLst>
              </a:tr>
            </a:tbl>
          </a:graphicData>
        </a:graphic>
      </p:graphicFrame>
    </p:spTree>
    <p:extLst>
      <p:ext uri="{BB962C8B-B14F-4D97-AF65-F5344CB8AC3E}">
        <p14:creationId xmlns:p14="http://schemas.microsoft.com/office/powerpoint/2010/main" val="25460179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B2212-8AF9-A0FF-7AFF-A290F133C9EF}"/>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327DD702-CDB1-3115-EC8A-973F5E0E20E7}"/>
              </a:ext>
            </a:extLst>
          </p:cNvPr>
          <p:cNvSpPr>
            <a:spLocks noGrp="1"/>
          </p:cNvSpPr>
          <p:nvPr>
            <p:ph type="sldNum" sz="quarter" idx="12"/>
          </p:nvPr>
        </p:nvSpPr>
        <p:spPr/>
        <p:txBody>
          <a:bodyPr/>
          <a:lstStyle/>
          <a:p>
            <a:fld id="{201A5C1E-DE71-4D99-BC1E-739595F062E0}" type="slidenum">
              <a:rPr lang="fr-FR" sz="2000" smtClean="0"/>
              <a:t>19</a:t>
            </a:fld>
            <a:r>
              <a:rPr lang="fr-FR" sz="2000" dirty="0"/>
              <a:t>/22</a:t>
            </a:r>
          </a:p>
        </p:txBody>
      </p:sp>
      <p:sp>
        <p:nvSpPr>
          <p:cNvPr id="4" name="Espace réservé du pied de page 3">
            <a:extLst>
              <a:ext uri="{FF2B5EF4-FFF2-40B4-BE49-F238E27FC236}">
                <a16:creationId xmlns:a16="http://schemas.microsoft.com/office/drawing/2014/main" id="{8B06C32F-E2D5-7F46-A565-514CBF7A37D9}"/>
              </a:ext>
            </a:extLst>
          </p:cNvPr>
          <p:cNvSpPr>
            <a:spLocks noGrp="1"/>
          </p:cNvSpPr>
          <p:nvPr>
            <p:ph type="ftr" sz="quarter" idx="11"/>
          </p:nvPr>
        </p:nvSpPr>
        <p:spPr/>
        <p:txBody>
          <a:bodyPr/>
          <a:lstStyle/>
          <a:p>
            <a:r>
              <a:rPr lang="fr-FR" sz="1600" dirty="0">
                <a:solidFill>
                  <a:schemeClr val="tx1"/>
                </a:solidFill>
              </a:rPr>
              <a:t>N° Arthur PREVISANI</a:t>
            </a:r>
          </a:p>
        </p:txBody>
      </p:sp>
      <p:sp>
        <p:nvSpPr>
          <p:cNvPr id="2" name="Titre 1">
            <a:extLst>
              <a:ext uri="{FF2B5EF4-FFF2-40B4-BE49-F238E27FC236}">
                <a16:creationId xmlns:a16="http://schemas.microsoft.com/office/drawing/2014/main" id="{48E38EF2-355C-BCF5-7661-8F048AA4EFDA}"/>
              </a:ext>
            </a:extLst>
          </p:cNvPr>
          <p:cNvSpPr>
            <a:spLocks noGrp="1"/>
          </p:cNvSpPr>
          <p:nvPr>
            <p:ph type="title"/>
          </p:nvPr>
        </p:nvSpPr>
        <p:spPr>
          <a:xfrm>
            <a:off x="838200" y="365125"/>
            <a:ext cx="10515600" cy="1325563"/>
          </a:xfrm>
        </p:spPr>
        <p:txBody>
          <a:bodyPr/>
          <a:lstStyle/>
          <a:p>
            <a:r>
              <a:rPr lang="fr-FR" dirty="0"/>
              <a:t>Activité 2: loi géométrique du bras</a:t>
            </a:r>
          </a:p>
        </p:txBody>
      </p:sp>
      <p:pic>
        <p:nvPicPr>
          <p:cNvPr id="3" name="Image 2">
            <a:extLst>
              <a:ext uri="{FF2B5EF4-FFF2-40B4-BE49-F238E27FC236}">
                <a16:creationId xmlns:a16="http://schemas.microsoft.com/office/drawing/2014/main" id="{71023314-25B6-C682-BFC0-A1B8E0AEF8C5}"/>
              </a:ext>
            </a:extLst>
          </p:cNvPr>
          <p:cNvPicPr>
            <a:picLocks noChangeAspect="1"/>
          </p:cNvPicPr>
          <p:nvPr/>
        </p:nvPicPr>
        <p:blipFill>
          <a:blip r:embed="rId3"/>
          <a:stretch>
            <a:fillRect/>
          </a:stretch>
        </p:blipFill>
        <p:spPr>
          <a:xfrm>
            <a:off x="5838438" y="1519204"/>
            <a:ext cx="5544324" cy="1771897"/>
          </a:xfrm>
          <a:prstGeom prst="rect">
            <a:avLst/>
          </a:prstGeom>
        </p:spPr>
      </p:pic>
      <p:sp>
        <p:nvSpPr>
          <p:cNvPr id="5" name="ZoneTexte 4">
            <a:extLst>
              <a:ext uri="{FF2B5EF4-FFF2-40B4-BE49-F238E27FC236}">
                <a16:creationId xmlns:a16="http://schemas.microsoft.com/office/drawing/2014/main" id="{0A9964BD-D9DE-0E47-3651-0F235B8D5970}"/>
              </a:ext>
            </a:extLst>
          </p:cNvPr>
          <p:cNvSpPr txBox="1"/>
          <p:nvPr/>
        </p:nvSpPr>
        <p:spPr>
          <a:xfrm>
            <a:off x="952500" y="2974788"/>
            <a:ext cx="4267200" cy="2677656"/>
          </a:xfrm>
          <a:prstGeom prst="rect">
            <a:avLst/>
          </a:prstGeom>
          <a:noFill/>
        </p:spPr>
        <p:txBody>
          <a:bodyPr wrap="square" rtlCol="0">
            <a:spAutoFit/>
          </a:bodyPr>
          <a:lstStyle/>
          <a:p>
            <a:r>
              <a:rPr lang="fr-FR" sz="2400" dirty="0"/>
              <a:t>Problèmes qui pourraient être rencontrés:</a:t>
            </a:r>
          </a:p>
          <a:p>
            <a:r>
              <a:rPr lang="fr-FR" sz="2400" dirty="0"/>
              <a:t>Compréhension de la formule d’al Kashi</a:t>
            </a:r>
          </a:p>
          <a:p>
            <a:r>
              <a:rPr lang="fr-FR" sz="2400" dirty="0"/>
              <a:t>Faire un point de cours la dessus</a:t>
            </a:r>
          </a:p>
          <a:p>
            <a:r>
              <a:rPr lang="fr-FR" sz="2400" dirty="0"/>
              <a:t>Repérer le triangle dans le système réel</a:t>
            </a:r>
          </a:p>
        </p:txBody>
      </p:sp>
      <p:grpSp>
        <p:nvGrpSpPr>
          <p:cNvPr id="6" name="Groupe 5">
            <a:extLst>
              <a:ext uri="{FF2B5EF4-FFF2-40B4-BE49-F238E27FC236}">
                <a16:creationId xmlns:a16="http://schemas.microsoft.com/office/drawing/2014/main" id="{BFAA0BDB-03F3-FD2E-421F-C66A23323511}"/>
              </a:ext>
            </a:extLst>
          </p:cNvPr>
          <p:cNvGrpSpPr/>
          <p:nvPr/>
        </p:nvGrpSpPr>
        <p:grpSpPr>
          <a:xfrm>
            <a:off x="8233564" y="3531544"/>
            <a:ext cx="2843376" cy="2448785"/>
            <a:chOff x="8081164" y="3429000"/>
            <a:chExt cx="2843376" cy="2448785"/>
          </a:xfrm>
        </p:grpSpPr>
        <p:pic>
          <p:nvPicPr>
            <p:cNvPr id="8" name="Image 7">
              <a:extLst>
                <a:ext uri="{FF2B5EF4-FFF2-40B4-BE49-F238E27FC236}">
                  <a16:creationId xmlns:a16="http://schemas.microsoft.com/office/drawing/2014/main" id="{017580AC-BCE2-DA28-326D-CD085D6C11B8}"/>
                </a:ext>
              </a:extLst>
            </p:cNvPr>
            <p:cNvPicPr>
              <a:picLocks noChangeAspect="1"/>
            </p:cNvPicPr>
            <p:nvPr/>
          </p:nvPicPr>
          <p:blipFill>
            <a:blip r:embed="rId4"/>
            <a:stretch>
              <a:fillRect/>
            </a:stretch>
          </p:blipFill>
          <p:spPr>
            <a:xfrm>
              <a:off x="8081164" y="3429000"/>
              <a:ext cx="2843376" cy="2448785"/>
            </a:xfrm>
            <a:prstGeom prst="rect">
              <a:avLst/>
            </a:prstGeom>
          </p:spPr>
        </p:pic>
        <p:cxnSp>
          <p:nvCxnSpPr>
            <p:cNvPr id="9" name="Connecteur droit 8">
              <a:extLst>
                <a:ext uri="{FF2B5EF4-FFF2-40B4-BE49-F238E27FC236}">
                  <a16:creationId xmlns:a16="http://schemas.microsoft.com/office/drawing/2014/main" id="{91DE0374-6243-51E2-B585-84C65569A819}"/>
                </a:ext>
              </a:extLst>
            </p:cNvPr>
            <p:cNvCxnSpPr>
              <a:cxnSpLocks/>
            </p:cNvCxnSpPr>
            <p:nvPr/>
          </p:nvCxnSpPr>
          <p:spPr>
            <a:xfrm>
              <a:off x="8543290" y="4419600"/>
              <a:ext cx="990600" cy="11303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aphicFrame>
        <p:nvGraphicFramePr>
          <p:cNvPr id="10" name="Tableau 9">
            <a:extLst>
              <a:ext uri="{FF2B5EF4-FFF2-40B4-BE49-F238E27FC236}">
                <a16:creationId xmlns:a16="http://schemas.microsoft.com/office/drawing/2014/main" id="{EA4978E2-1EEA-7352-201B-13753913AF6B}"/>
              </a:ext>
            </a:extLst>
          </p:cNvPr>
          <p:cNvGraphicFramePr>
            <a:graphicFrameLocks noGrp="1"/>
          </p:cNvGraphicFramePr>
          <p:nvPr>
            <p:extLst>
              <p:ext uri="{D42A27DB-BD31-4B8C-83A1-F6EECF244321}">
                <p14:modId xmlns:p14="http://schemas.microsoft.com/office/powerpoint/2010/main" val="3314574564"/>
              </p:ext>
            </p:extLst>
          </p:nvPr>
        </p:nvGraphicFramePr>
        <p:xfrm>
          <a:off x="5650593" y="133979"/>
          <a:ext cx="5920014" cy="370840"/>
        </p:xfrm>
        <a:graphic>
          <a:graphicData uri="http://schemas.openxmlformats.org/drawingml/2006/table">
            <a:tbl>
              <a:tblPr firstRow="1" bandRow="1">
                <a:tableStyleId>{2D5ABB26-0587-4C30-8999-92F81FD0307C}</a:tableStyleId>
              </a:tblPr>
              <a:tblGrid>
                <a:gridCol w="1557528">
                  <a:extLst>
                    <a:ext uri="{9D8B030D-6E8A-4147-A177-3AD203B41FA5}">
                      <a16:colId xmlns:a16="http://schemas.microsoft.com/office/drawing/2014/main" val="3768321597"/>
                    </a:ext>
                  </a:extLst>
                </a:gridCol>
                <a:gridCol w="755688">
                  <a:extLst>
                    <a:ext uri="{9D8B030D-6E8A-4147-A177-3AD203B41FA5}">
                      <a16:colId xmlns:a16="http://schemas.microsoft.com/office/drawing/2014/main" val="603146100"/>
                    </a:ext>
                  </a:extLst>
                </a:gridCol>
                <a:gridCol w="838200">
                  <a:extLst>
                    <a:ext uri="{9D8B030D-6E8A-4147-A177-3AD203B41FA5}">
                      <a16:colId xmlns:a16="http://schemas.microsoft.com/office/drawing/2014/main" val="2202000248"/>
                    </a:ext>
                  </a:extLst>
                </a:gridCol>
                <a:gridCol w="1104900">
                  <a:extLst>
                    <a:ext uri="{9D8B030D-6E8A-4147-A177-3AD203B41FA5}">
                      <a16:colId xmlns:a16="http://schemas.microsoft.com/office/drawing/2014/main" val="2237200760"/>
                    </a:ext>
                  </a:extLst>
                </a:gridCol>
                <a:gridCol w="1087596">
                  <a:extLst>
                    <a:ext uri="{9D8B030D-6E8A-4147-A177-3AD203B41FA5}">
                      <a16:colId xmlns:a16="http://schemas.microsoft.com/office/drawing/2014/main" val="2538769403"/>
                    </a:ext>
                  </a:extLst>
                </a:gridCol>
                <a:gridCol w="576102">
                  <a:extLst>
                    <a:ext uri="{9D8B030D-6E8A-4147-A177-3AD203B41FA5}">
                      <a16:colId xmlns:a16="http://schemas.microsoft.com/office/drawing/2014/main" val="1791742753"/>
                    </a:ext>
                  </a:extLst>
                </a:gridCol>
              </a:tblGrid>
              <a:tr h="370840">
                <a:tc>
                  <a:txBody>
                    <a:bodyPr/>
                    <a:lstStyle/>
                    <a:p>
                      <a:pPr algn="ctr"/>
                      <a:r>
                        <a:rPr lang="fr-FR" dirty="0"/>
                        <a:t>Semaine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dirty="0"/>
                        <a:t>TP7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BB9"/>
                    </a:solidFill>
                  </a:tcPr>
                </a:tc>
                <a:tc>
                  <a:txBody>
                    <a:bodyPr/>
                    <a:lstStyle/>
                    <a:p>
                      <a:pPr algn="ctr"/>
                      <a:r>
                        <a:rPr lang="fr-FR" dirty="0"/>
                        <a:t>TP8 (IT)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COURS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5967402"/>
                  </a:ext>
                </a:extLst>
              </a:tr>
            </a:tbl>
          </a:graphicData>
        </a:graphic>
      </p:graphicFrame>
    </p:spTree>
    <p:extLst>
      <p:ext uri="{BB962C8B-B14F-4D97-AF65-F5344CB8AC3E}">
        <p14:creationId xmlns:p14="http://schemas.microsoft.com/office/powerpoint/2010/main" val="30628782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DFA68-A557-9486-E0D9-ABDDDBE4B679}"/>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F40D9709-3E05-8C89-0F8D-8947A41FC831}"/>
              </a:ext>
            </a:extLst>
          </p:cNvPr>
          <p:cNvSpPr>
            <a:spLocks noGrp="1"/>
          </p:cNvSpPr>
          <p:nvPr>
            <p:ph type="sldNum" sz="quarter" idx="12"/>
          </p:nvPr>
        </p:nvSpPr>
        <p:spPr/>
        <p:txBody>
          <a:bodyPr/>
          <a:lstStyle/>
          <a:p>
            <a:fld id="{201A5C1E-DE71-4D99-BC1E-739595F062E0}" type="slidenum">
              <a:rPr lang="fr-FR" sz="2000" smtClean="0"/>
              <a:t>20</a:t>
            </a:fld>
            <a:r>
              <a:rPr lang="fr-FR" sz="2000" dirty="0"/>
              <a:t>/22</a:t>
            </a:r>
          </a:p>
        </p:txBody>
      </p:sp>
      <p:sp>
        <p:nvSpPr>
          <p:cNvPr id="4" name="Espace réservé du pied de page 3">
            <a:extLst>
              <a:ext uri="{FF2B5EF4-FFF2-40B4-BE49-F238E27FC236}">
                <a16:creationId xmlns:a16="http://schemas.microsoft.com/office/drawing/2014/main" id="{FCF97F30-85D3-0D3E-FFDC-EDF2BE4A7B6B}"/>
              </a:ext>
            </a:extLst>
          </p:cNvPr>
          <p:cNvSpPr>
            <a:spLocks noGrp="1"/>
          </p:cNvSpPr>
          <p:nvPr>
            <p:ph type="ftr" sz="quarter" idx="11"/>
          </p:nvPr>
        </p:nvSpPr>
        <p:spPr/>
        <p:txBody>
          <a:bodyPr/>
          <a:lstStyle/>
          <a:p>
            <a:r>
              <a:rPr lang="fr-FR" sz="1600" dirty="0">
                <a:solidFill>
                  <a:schemeClr val="tx1"/>
                </a:solidFill>
              </a:rPr>
              <a:t>N° Arthur PREVISANI</a:t>
            </a:r>
          </a:p>
        </p:txBody>
      </p:sp>
      <p:sp>
        <p:nvSpPr>
          <p:cNvPr id="2" name="Titre 1">
            <a:extLst>
              <a:ext uri="{FF2B5EF4-FFF2-40B4-BE49-F238E27FC236}">
                <a16:creationId xmlns:a16="http://schemas.microsoft.com/office/drawing/2014/main" id="{A0DF4E2E-DF75-0D64-3FCB-AEED24268936}"/>
              </a:ext>
            </a:extLst>
          </p:cNvPr>
          <p:cNvSpPr>
            <a:spLocks noGrp="1"/>
          </p:cNvSpPr>
          <p:nvPr>
            <p:ph type="title"/>
          </p:nvPr>
        </p:nvSpPr>
        <p:spPr>
          <a:xfrm>
            <a:off x="838200" y="365125"/>
            <a:ext cx="10515600" cy="1325563"/>
          </a:xfrm>
        </p:spPr>
        <p:txBody>
          <a:bodyPr/>
          <a:lstStyle/>
          <a:p>
            <a:r>
              <a:rPr lang="fr-FR" dirty="0"/>
              <a:t>Activité 3: mesure expérimentale de la loi</a:t>
            </a:r>
          </a:p>
        </p:txBody>
      </p:sp>
      <p:sp>
        <p:nvSpPr>
          <p:cNvPr id="3" name="ZoneTexte 2">
            <a:extLst>
              <a:ext uri="{FF2B5EF4-FFF2-40B4-BE49-F238E27FC236}">
                <a16:creationId xmlns:a16="http://schemas.microsoft.com/office/drawing/2014/main" id="{8C80F5AD-46A7-EE65-A6F4-E40ED72A2C74}"/>
              </a:ext>
            </a:extLst>
          </p:cNvPr>
          <p:cNvSpPr txBox="1"/>
          <p:nvPr/>
        </p:nvSpPr>
        <p:spPr>
          <a:xfrm>
            <a:off x="838200" y="1732190"/>
            <a:ext cx="6999514" cy="4093428"/>
          </a:xfrm>
          <a:prstGeom prst="rect">
            <a:avLst/>
          </a:prstGeom>
          <a:noFill/>
        </p:spPr>
        <p:txBody>
          <a:bodyPr wrap="square" rtlCol="0">
            <a:spAutoFit/>
          </a:bodyPr>
          <a:lstStyle/>
          <a:p>
            <a:r>
              <a:rPr lang="fr-FR" sz="2400" dirty="0"/>
              <a:t>Protocole: Faire tourner la vis a la main, tour par tour, et relever l’angle du bras ainsi que le nombre de tours moteurs dans un tableur Excel.</a:t>
            </a:r>
          </a:p>
          <a:p>
            <a:r>
              <a:rPr lang="fr-FR" sz="2400" dirty="0"/>
              <a:t>Tracez la courbe liant l’angle du bras de </a:t>
            </a:r>
            <a:r>
              <a:rPr lang="fr-FR" sz="2400" dirty="0" err="1"/>
              <a:t>MaxPID</a:t>
            </a:r>
            <a:r>
              <a:rPr lang="fr-FR" sz="2400" dirty="0"/>
              <a:t> en fonction du nombre de tours moteurs.</a:t>
            </a:r>
          </a:p>
          <a:p>
            <a:r>
              <a:rPr lang="fr-FR" sz="2400" dirty="0"/>
              <a:t>Tracez aussi cette courbe avec la formule trouvée dans la partie précédente en mesurant sur </a:t>
            </a:r>
            <a:r>
              <a:rPr lang="fr-FR" sz="2400" dirty="0" err="1"/>
              <a:t>MaxPID</a:t>
            </a:r>
            <a:r>
              <a:rPr lang="fr-FR" sz="2400" dirty="0"/>
              <a:t> les distances nécessaires </a:t>
            </a:r>
          </a:p>
          <a:p>
            <a:r>
              <a:rPr lang="fr-FR" sz="2400" dirty="0"/>
              <a:t>Superposez les deux courbes et comparez les résultats obtenus.</a:t>
            </a:r>
          </a:p>
          <a:p>
            <a:endParaRPr lang="fr-FR" sz="2000" dirty="0"/>
          </a:p>
        </p:txBody>
      </p:sp>
      <p:graphicFrame>
        <p:nvGraphicFramePr>
          <p:cNvPr id="5" name="Tableau 4">
            <a:extLst>
              <a:ext uri="{FF2B5EF4-FFF2-40B4-BE49-F238E27FC236}">
                <a16:creationId xmlns:a16="http://schemas.microsoft.com/office/drawing/2014/main" id="{21EA7C23-40AB-11B4-7737-9B39274FFA38}"/>
              </a:ext>
            </a:extLst>
          </p:cNvPr>
          <p:cNvGraphicFramePr>
            <a:graphicFrameLocks noGrp="1"/>
          </p:cNvGraphicFramePr>
          <p:nvPr>
            <p:extLst>
              <p:ext uri="{D42A27DB-BD31-4B8C-83A1-F6EECF244321}">
                <p14:modId xmlns:p14="http://schemas.microsoft.com/office/powerpoint/2010/main" val="3314574564"/>
              </p:ext>
            </p:extLst>
          </p:nvPr>
        </p:nvGraphicFramePr>
        <p:xfrm>
          <a:off x="5650593" y="133979"/>
          <a:ext cx="5920014" cy="370840"/>
        </p:xfrm>
        <a:graphic>
          <a:graphicData uri="http://schemas.openxmlformats.org/drawingml/2006/table">
            <a:tbl>
              <a:tblPr firstRow="1" bandRow="1">
                <a:tableStyleId>{2D5ABB26-0587-4C30-8999-92F81FD0307C}</a:tableStyleId>
              </a:tblPr>
              <a:tblGrid>
                <a:gridCol w="1557528">
                  <a:extLst>
                    <a:ext uri="{9D8B030D-6E8A-4147-A177-3AD203B41FA5}">
                      <a16:colId xmlns:a16="http://schemas.microsoft.com/office/drawing/2014/main" val="3768321597"/>
                    </a:ext>
                  </a:extLst>
                </a:gridCol>
                <a:gridCol w="755688">
                  <a:extLst>
                    <a:ext uri="{9D8B030D-6E8A-4147-A177-3AD203B41FA5}">
                      <a16:colId xmlns:a16="http://schemas.microsoft.com/office/drawing/2014/main" val="603146100"/>
                    </a:ext>
                  </a:extLst>
                </a:gridCol>
                <a:gridCol w="838200">
                  <a:extLst>
                    <a:ext uri="{9D8B030D-6E8A-4147-A177-3AD203B41FA5}">
                      <a16:colId xmlns:a16="http://schemas.microsoft.com/office/drawing/2014/main" val="2202000248"/>
                    </a:ext>
                  </a:extLst>
                </a:gridCol>
                <a:gridCol w="1104900">
                  <a:extLst>
                    <a:ext uri="{9D8B030D-6E8A-4147-A177-3AD203B41FA5}">
                      <a16:colId xmlns:a16="http://schemas.microsoft.com/office/drawing/2014/main" val="2237200760"/>
                    </a:ext>
                  </a:extLst>
                </a:gridCol>
                <a:gridCol w="1087596">
                  <a:extLst>
                    <a:ext uri="{9D8B030D-6E8A-4147-A177-3AD203B41FA5}">
                      <a16:colId xmlns:a16="http://schemas.microsoft.com/office/drawing/2014/main" val="2538769403"/>
                    </a:ext>
                  </a:extLst>
                </a:gridCol>
                <a:gridCol w="576102">
                  <a:extLst>
                    <a:ext uri="{9D8B030D-6E8A-4147-A177-3AD203B41FA5}">
                      <a16:colId xmlns:a16="http://schemas.microsoft.com/office/drawing/2014/main" val="1791742753"/>
                    </a:ext>
                  </a:extLst>
                </a:gridCol>
              </a:tblGrid>
              <a:tr h="370840">
                <a:tc>
                  <a:txBody>
                    <a:bodyPr/>
                    <a:lstStyle/>
                    <a:p>
                      <a:pPr algn="ctr"/>
                      <a:r>
                        <a:rPr lang="fr-FR" dirty="0"/>
                        <a:t>Semaine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dirty="0"/>
                        <a:t>TP7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BB9"/>
                    </a:solidFill>
                  </a:tcPr>
                </a:tc>
                <a:tc>
                  <a:txBody>
                    <a:bodyPr/>
                    <a:lstStyle/>
                    <a:p>
                      <a:pPr algn="ctr"/>
                      <a:r>
                        <a:rPr lang="fr-FR" dirty="0"/>
                        <a:t>TP8 (IT)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COURS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5967402"/>
                  </a:ext>
                </a:extLst>
              </a:tr>
            </a:tbl>
          </a:graphicData>
        </a:graphic>
      </p:graphicFrame>
    </p:spTree>
    <p:extLst>
      <p:ext uri="{BB962C8B-B14F-4D97-AF65-F5344CB8AC3E}">
        <p14:creationId xmlns:p14="http://schemas.microsoft.com/office/powerpoint/2010/main" val="15378087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5F5C5-1A2D-BAD3-39C4-9E8E034DF9B9}"/>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44F7E20A-702A-5801-BAAD-FD10CA999FC5}"/>
              </a:ext>
            </a:extLst>
          </p:cNvPr>
          <p:cNvSpPr>
            <a:spLocks noGrp="1"/>
          </p:cNvSpPr>
          <p:nvPr>
            <p:ph type="sldNum" sz="quarter" idx="12"/>
          </p:nvPr>
        </p:nvSpPr>
        <p:spPr/>
        <p:txBody>
          <a:bodyPr/>
          <a:lstStyle/>
          <a:p>
            <a:fld id="{201A5C1E-DE71-4D99-BC1E-739595F062E0}" type="slidenum">
              <a:rPr lang="fr-FR" sz="2000" smtClean="0"/>
              <a:t>21</a:t>
            </a:fld>
            <a:r>
              <a:rPr lang="fr-FR" sz="2000" dirty="0"/>
              <a:t>/22</a:t>
            </a:r>
          </a:p>
        </p:txBody>
      </p:sp>
      <p:sp>
        <p:nvSpPr>
          <p:cNvPr id="4" name="Espace réservé du pied de page 3">
            <a:extLst>
              <a:ext uri="{FF2B5EF4-FFF2-40B4-BE49-F238E27FC236}">
                <a16:creationId xmlns:a16="http://schemas.microsoft.com/office/drawing/2014/main" id="{0B8584A5-3F87-2596-1FF5-6A5D6BAB6EC2}"/>
              </a:ext>
            </a:extLst>
          </p:cNvPr>
          <p:cNvSpPr>
            <a:spLocks noGrp="1"/>
          </p:cNvSpPr>
          <p:nvPr>
            <p:ph type="ftr" sz="quarter" idx="11"/>
          </p:nvPr>
        </p:nvSpPr>
        <p:spPr/>
        <p:txBody>
          <a:bodyPr/>
          <a:lstStyle/>
          <a:p>
            <a:r>
              <a:rPr lang="fr-FR" sz="1600" dirty="0">
                <a:solidFill>
                  <a:schemeClr val="tx1"/>
                </a:solidFill>
              </a:rPr>
              <a:t>N° Arthur PREVISANI</a:t>
            </a:r>
          </a:p>
        </p:txBody>
      </p:sp>
      <p:sp>
        <p:nvSpPr>
          <p:cNvPr id="2" name="Titre 1">
            <a:extLst>
              <a:ext uri="{FF2B5EF4-FFF2-40B4-BE49-F238E27FC236}">
                <a16:creationId xmlns:a16="http://schemas.microsoft.com/office/drawing/2014/main" id="{6DED6F45-A000-2030-8673-3DD4CA7FFCB7}"/>
              </a:ext>
            </a:extLst>
          </p:cNvPr>
          <p:cNvSpPr>
            <a:spLocks noGrp="1"/>
          </p:cNvSpPr>
          <p:nvPr>
            <p:ph type="title"/>
          </p:nvPr>
        </p:nvSpPr>
        <p:spPr>
          <a:xfrm>
            <a:off x="622300" y="136525"/>
            <a:ext cx="10731500" cy="1325563"/>
          </a:xfrm>
        </p:spPr>
        <p:txBody>
          <a:bodyPr/>
          <a:lstStyle/>
          <a:p>
            <a:r>
              <a:rPr lang="fr-FR" dirty="0"/>
              <a:t>Activité 3: Mesure expérimentale: résultats:</a:t>
            </a:r>
          </a:p>
        </p:txBody>
      </p:sp>
      <p:graphicFrame>
        <p:nvGraphicFramePr>
          <p:cNvPr id="3" name="Graphique 2">
            <a:extLst>
              <a:ext uri="{FF2B5EF4-FFF2-40B4-BE49-F238E27FC236}">
                <a16:creationId xmlns:a16="http://schemas.microsoft.com/office/drawing/2014/main" id="{C2CF9E6B-9843-B701-C9A1-048E623C39C6}"/>
              </a:ext>
            </a:extLst>
          </p:cNvPr>
          <p:cNvGraphicFramePr>
            <a:graphicFrameLocks/>
          </p:cNvGraphicFramePr>
          <p:nvPr>
            <p:extLst>
              <p:ext uri="{D42A27DB-BD31-4B8C-83A1-F6EECF244321}">
                <p14:modId xmlns:p14="http://schemas.microsoft.com/office/powerpoint/2010/main" val="2645508866"/>
              </p:ext>
            </p:extLst>
          </p:nvPr>
        </p:nvGraphicFramePr>
        <p:xfrm>
          <a:off x="4013200" y="1311691"/>
          <a:ext cx="6921500" cy="4900612"/>
        </p:xfrm>
        <a:graphic>
          <a:graphicData uri="http://schemas.openxmlformats.org/drawingml/2006/chart">
            <c:chart xmlns:c="http://schemas.openxmlformats.org/drawingml/2006/chart" xmlns:r="http://schemas.openxmlformats.org/officeDocument/2006/relationships" r:id="rId3"/>
          </a:graphicData>
        </a:graphic>
      </p:graphicFrame>
      <p:pic>
        <p:nvPicPr>
          <p:cNvPr id="5" name="Image 4">
            <a:extLst>
              <a:ext uri="{FF2B5EF4-FFF2-40B4-BE49-F238E27FC236}">
                <a16:creationId xmlns:a16="http://schemas.microsoft.com/office/drawing/2014/main" id="{10A4B9F8-2D94-E9D6-236D-59846A79F707}"/>
              </a:ext>
            </a:extLst>
          </p:cNvPr>
          <p:cNvPicPr>
            <a:picLocks noChangeAspect="1"/>
          </p:cNvPicPr>
          <p:nvPr/>
        </p:nvPicPr>
        <p:blipFill>
          <a:blip r:embed="rId4"/>
          <a:stretch>
            <a:fillRect/>
          </a:stretch>
        </p:blipFill>
        <p:spPr>
          <a:xfrm>
            <a:off x="953924" y="1061283"/>
            <a:ext cx="2333951" cy="5401429"/>
          </a:xfrm>
          <a:prstGeom prst="rect">
            <a:avLst/>
          </a:prstGeom>
        </p:spPr>
      </p:pic>
      <p:graphicFrame>
        <p:nvGraphicFramePr>
          <p:cNvPr id="6" name="Tableau 5">
            <a:extLst>
              <a:ext uri="{FF2B5EF4-FFF2-40B4-BE49-F238E27FC236}">
                <a16:creationId xmlns:a16="http://schemas.microsoft.com/office/drawing/2014/main" id="{6D14C5F5-CD5E-4300-ED16-C87BA30FCCCD}"/>
              </a:ext>
            </a:extLst>
          </p:cNvPr>
          <p:cNvGraphicFramePr>
            <a:graphicFrameLocks noGrp="1"/>
          </p:cNvGraphicFramePr>
          <p:nvPr>
            <p:extLst>
              <p:ext uri="{D42A27DB-BD31-4B8C-83A1-F6EECF244321}">
                <p14:modId xmlns:p14="http://schemas.microsoft.com/office/powerpoint/2010/main" val="3314574564"/>
              </p:ext>
            </p:extLst>
          </p:nvPr>
        </p:nvGraphicFramePr>
        <p:xfrm>
          <a:off x="5650593" y="133979"/>
          <a:ext cx="5920014" cy="370840"/>
        </p:xfrm>
        <a:graphic>
          <a:graphicData uri="http://schemas.openxmlformats.org/drawingml/2006/table">
            <a:tbl>
              <a:tblPr firstRow="1" bandRow="1">
                <a:tableStyleId>{2D5ABB26-0587-4C30-8999-92F81FD0307C}</a:tableStyleId>
              </a:tblPr>
              <a:tblGrid>
                <a:gridCol w="1557528">
                  <a:extLst>
                    <a:ext uri="{9D8B030D-6E8A-4147-A177-3AD203B41FA5}">
                      <a16:colId xmlns:a16="http://schemas.microsoft.com/office/drawing/2014/main" val="3768321597"/>
                    </a:ext>
                  </a:extLst>
                </a:gridCol>
                <a:gridCol w="755688">
                  <a:extLst>
                    <a:ext uri="{9D8B030D-6E8A-4147-A177-3AD203B41FA5}">
                      <a16:colId xmlns:a16="http://schemas.microsoft.com/office/drawing/2014/main" val="603146100"/>
                    </a:ext>
                  </a:extLst>
                </a:gridCol>
                <a:gridCol w="838200">
                  <a:extLst>
                    <a:ext uri="{9D8B030D-6E8A-4147-A177-3AD203B41FA5}">
                      <a16:colId xmlns:a16="http://schemas.microsoft.com/office/drawing/2014/main" val="2202000248"/>
                    </a:ext>
                  </a:extLst>
                </a:gridCol>
                <a:gridCol w="1104900">
                  <a:extLst>
                    <a:ext uri="{9D8B030D-6E8A-4147-A177-3AD203B41FA5}">
                      <a16:colId xmlns:a16="http://schemas.microsoft.com/office/drawing/2014/main" val="2237200760"/>
                    </a:ext>
                  </a:extLst>
                </a:gridCol>
                <a:gridCol w="1087596">
                  <a:extLst>
                    <a:ext uri="{9D8B030D-6E8A-4147-A177-3AD203B41FA5}">
                      <a16:colId xmlns:a16="http://schemas.microsoft.com/office/drawing/2014/main" val="2538769403"/>
                    </a:ext>
                  </a:extLst>
                </a:gridCol>
                <a:gridCol w="576102">
                  <a:extLst>
                    <a:ext uri="{9D8B030D-6E8A-4147-A177-3AD203B41FA5}">
                      <a16:colId xmlns:a16="http://schemas.microsoft.com/office/drawing/2014/main" val="1791742753"/>
                    </a:ext>
                  </a:extLst>
                </a:gridCol>
              </a:tblGrid>
              <a:tr h="370840">
                <a:tc>
                  <a:txBody>
                    <a:bodyPr/>
                    <a:lstStyle/>
                    <a:p>
                      <a:pPr algn="ctr"/>
                      <a:r>
                        <a:rPr lang="fr-FR" dirty="0"/>
                        <a:t>Semaine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dirty="0"/>
                        <a:t>TP7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BB9"/>
                    </a:solidFill>
                  </a:tcPr>
                </a:tc>
                <a:tc>
                  <a:txBody>
                    <a:bodyPr/>
                    <a:lstStyle/>
                    <a:p>
                      <a:pPr algn="ctr"/>
                      <a:r>
                        <a:rPr lang="fr-FR" dirty="0"/>
                        <a:t>TP8 (IT)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COURS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5967402"/>
                  </a:ext>
                </a:extLst>
              </a:tr>
            </a:tbl>
          </a:graphicData>
        </a:graphic>
      </p:graphicFrame>
    </p:spTree>
    <p:extLst>
      <p:ext uri="{BB962C8B-B14F-4D97-AF65-F5344CB8AC3E}">
        <p14:creationId xmlns:p14="http://schemas.microsoft.com/office/powerpoint/2010/main" val="9069125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F18F6-5FDC-97A4-6AAE-0CD62327EC8B}"/>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9D293AB7-A2AD-301E-82A1-51E3FBFE9982}"/>
              </a:ext>
            </a:extLst>
          </p:cNvPr>
          <p:cNvSpPr>
            <a:spLocks noGrp="1"/>
          </p:cNvSpPr>
          <p:nvPr>
            <p:ph type="sldNum" sz="quarter" idx="12"/>
          </p:nvPr>
        </p:nvSpPr>
        <p:spPr/>
        <p:txBody>
          <a:bodyPr/>
          <a:lstStyle/>
          <a:p>
            <a:fld id="{201A5C1E-DE71-4D99-BC1E-739595F062E0}" type="slidenum">
              <a:rPr lang="fr-FR" sz="2000" smtClean="0"/>
              <a:t>22</a:t>
            </a:fld>
            <a:r>
              <a:rPr lang="fr-FR" sz="2000" dirty="0"/>
              <a:t>/22</a:t>
            </a:r>
          </a:p>
        </p:txBody>
      </p:sp>
      <p:sp>
        <p:nvSpPr>
          <p:cNvPr id="4" name="Espace réservé du pied de page 3">
            <a:extLst>
              <a:ext uri="{FF2B5EF4-FFF2-40B4-BE49-F238E27FC236}">
                <a16:creationId xmlns:a16="http://schemas.microsoft.com/office/drawing/2014/main" id="{C5ACC104-D149-6DCF-DADB-626BA231B253}"/>
              </a:ext>
            </a:extLst>
          </p:cNvPr>
          <p:cNvSpPr>
            <a:spLocks noGrp="1"/>
          </p:cNvSpPr>
          <p:nvPr>
            <p:ph type="ftr" sz="quarter" idx="11"/>
          </p:nvPr>
        </p:nvSpPr>
        <p:spPr/>
        <p:txBody>
          <a:bodyPr/>
          <a:lstStyle/>
          <a:p>
            <a:r>
              <a:rPr lang="fr-FR" sz="1600" dirty="0">
                <a:solidFill>
                  <a:schemeClr val="tx1"/>
                </a:solidFill>
              </a:rPr>
              <a:t>N° Arthur PREVISANI</a:t>
            </a:r>
          </a:p>
        </p:txBody>
      </p:sp>
      <p:sp>
        <p:nvSpPr>
          <p:cNvPr id="2" name="Titre 1">
            <a:extLst>
              <a:ext uri="{FF2B5EF4-FFF2-40B4-BE49-F238E27FC236}">
                <a16:creationId xmlns:a16="http://schemas.microsoft.com/office/drawing/2014/main" id="{01E8DD93-F37D-3481-DFC4-B32C851949F2}"/>
              </a:ext>
            </a:extLst>
          </p:cNvPr>
          <p:cNvSpPr>
            <a:spLocks noGrp="1"/>
          </p:cNvSpPr>
          <p:nvPr>
            <p:ph type="title"/>
          </p:nvPr>
        </p:nvSpPr>
        <p:spPr>
          <a:xfrm>
            <a:off x="838200" y="365125"/>
            <a:ext cx="10515600" cy="1325563"/>
          </a:xfrm>
        </p:spPr>
        <p:txBody>
          <a:bodyPr/>
          <a:lstStyle/>
          <a:p>
            <a:r>
              <a:rPr lang="fr-FR" dirty="0"/>
              <a:t>Conclusion du TP</a:t>
            </a:r>
          </a:p>
        </p:txBody>
      </p:sp>
      <p:sp>
        <p:nvSpPr>
          <p:cNvPr id="3" name="ZoneTexte 2">
            <a:extLst>
              <a:ext uri="{FF2B5EF4-FFF2-40B4-BE49-F238E27FC236}">
                <a16:creationId xmlns:a16="http://schemas.microsoft.com/office/drawing/2014/main" id="{F028A2C5-0883-86B7-C4A2-21D69161919C}"/>
              </a:ext>
            </a:extLst>
          </p:cNvPr>
          <p:cNvSpPr txBox="1"/>
          <p:nvPr/>
        </p:nvSpPr>
        <p:spPr>
          <a:xfrm>
            <a:off x="1638300" y="2628851"/>
            <a:ext cx="8915400" cy="2246769"/>
          </a:xfrm>
          <a:prstGeom prst="rect">
            <a:avLst/>
          </a:prstGeom>
          <a:noFill/>
        </p:spPr>
        <p:txBody>
          <a:bodyPr wrap="square" rtlCol="0">
            <a:spAutoFit/>
          </a:bodyPr>
          <a:lstStyle/>
          <a:p>
            <a:r>
              <a:rPr lang="fr-FR" sz="2800" dirty="0"/>
              <a:t>A permis de leur monter le fait que l’on peut retrouver par le calcul le lien entre deux grandeurs dans un système plan articulé et que de manière équivalente, on peut aussi la mesurer</a:t>
            </a:r>
          </a:p>
          <a:p>
            <a:endParaRPr lang="fr-FR" sz="2800" dirty="0"/>
          </a:p>
        </p:txBody>
      </p:sp>
      <p:graphicFrame>
        <p:nvGraphicFramePr>
          <p:cNvPr id="5" name="Tableau 4">
            <a:extLst>
              <a:ext uri="{FF2B5EF4-FFF2-40B4-BE49-F238E27FC236}">
                <a16:creationId xmlns:a16="http://schemas.microsoft.com/office/drawing/2014/main" id="{68914B71-A9AE-52C5-81B2-8CBF7F5A888D}"/>
              </a:ext>
            </a:extLst>
          </p:cNvPr>
          <p:cNvGraphicFramePr>
            <a:graphicFrameLocks noGrp="1"/>
          </p:cNvGraphicFramePr>
          <p:nvPr>
            <p:extLst>
              <p:ext uri="{D42A27DB-BD31-4B8C-83A1-F6EECF244321}">
                <p14:modId xmlns:p14="http://schemas.microsoft.com/office/powerpoint/2010/main" val="3314574564"/>
              </p:ext>
            </p:extLst>
          </p:nvPr>
        </p:nvGraphicFramePr>
        <p:xfrm>
          <a:off x="5650593" y="133979"/>
          <a:ext cx="5920014" cy="370840"/>
        </p:xfrm>
        <a:graphic>
          <a:graphicData uri="http://schemas.openxmlformats.org/drawingml/2006/table">
            <a:tbl>
              <a:tblPr firstRow="1" bandRow="1">
                <a:tableStyleId>{2D5ABB26-0587-4C30-8999-92F81FD0307C}</a:tableStyleId>
              </a:tblPr>
              <a:tblGrid>
                <a:gridCol w="1557528">
                  <a:extLst>
                    <a:ext uri="{9D8B030D-6E8A-4147-A177-3AD203B41FA5}">
                      <a16:colId xmlns:a16="http://schemas.microsoft.com/office/drawing/2014/main" val="3768321597"/>
                    </a:ext>
                  </a:extLst>
                </a:gridCol>
                <a:gridCol w="755688">
                  <a:extLst>
                    <a:ext uri="{9D8B030D-6E8A-4147-A177-3AD203B41FA5}">
                      <a16:colId xmlns:a16="http://schemas.microsoft.com/office/drawing/2014/main" val="603146100"/>
                    </a:ext>
                  </a:extLst>
                </a:gridCol>
                <a:gridCol w="838200">
                  <a:extLst>
                    <a:ext uri="{9D8B030D-6E8A-4147-A177-3AD203B41FA5}">
                      <a16:colId xmlns:a16="http://schemas.microsoft.com/office/drawing/2014/main" val="2202000248"/>
                    </a:ext>
                  </a:extLst>
                </a:gridCol>
                <a:gridCol w="1104900">
                  <a:extLst>
                    <a:ext uri="{9D8B030D-6E8A-4147-A177-3AD203B41FA5}">
                      <a16:colId xmlns:a16="http://schemas.microsoft.com/office/drawing/2014/main" val="2237200760"/>
                    </a:ext>
                  </a:extLst>
                </a:gridCol>
                <a:gridCol w="1087596">
                  <a:extLst>
                    <a:ext uri="{9D8B030D-6E8A-4147-A177-3AD203B41FA5}">
                      <a16:colId xmlns:a16="http://schemas.microsoft.com/office/drawing/2014/main" val="2538769403"/>
                    </a:ext>
                  </a:extLst>
                </a:gridCol>
                <a:gridCol w="576102">
                  <a:extLst>
                    <a:ext uri="{9D8B030D-6E8A-4147-A177-3AD203B41FA5}">
                      <a16:colId xmlns:a16="http://schemas.microsoft.com/office/drawing/2014/main" val="1791742753"/>
                    </a:ext>
                  </a:extLst>
                </a:gridCol>
              </a:tblGrid>
              <a:tr h="370840">
                <a:tc>
                  <a:txBody>
                    <a:bodyPr/>
                    <a:lstStyle/>
                    <a:p>
                      <a:pPr algn="ctr"/>
                      <a:r>
                        <a:rPr lang="fr-FR" dirty="0"/>
                        <a:t>Semaine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dirty="0"/>
                        <a:t>TP7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BB9"/>
                    </a:solidFill>
                  </a:tcPr>
                </a:tc>
                <a:tc>
                  <a:txBody>
                    <a:bodyPr/>
                    <a:lstStyle/>
                    <a:p>
                      <a:pPr algn="ctr"/>
                      <a:r>
                        <a:rPr lang="fr-FR" dirty="0"/>
                        <a:t>TP8 (IT)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COURS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5967402"/>
                  </a:ext>
                </a:extLst>
              </a:tr>
            </a:tbl>
          </a:graphicData>
        </a:graphic>
      </p:graphicFrame>
    </p:spTree>
    <p:extLst>
      <p:ext uri="{BB962C8B-B14F-4D97-AF65-F5344CB8AC3E}">
        <p14:creationId xmlns:p14="http://schemas.microsoft.com/office/powerpoint/2010/main" val="30284141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E73848-1DDC-C86D-4897-50BA36860424}"/>
              </a:ext>
            </a:extLst>
          </p:cNvPr>
          <p:cNvSpPr>
            <a:spLocks noGrp="1"/>
          </p:cNvSpPr>
          <p:nvPr>
            <p:ph type="title"/>
          </p:nvPr>
        </p:nvSpPr>
        <p:spPr/>
        <p:txBody>
          <a:bodyPr/>
          <a:lstStyle/>
          <a:p>
            <a:r>
              <a:rPr lang="fr-FR" dirty="0"/>
              <a:t>Conclusion de la séquence</a:t>
            </a:r>
          </a:p>
        </p:txBody>
      </p:sp>
      <p:sp>
        <p:nvSpPr>
          <p:cNvPr id="4" name="Espace réservé du numéro de diapositive 3">
            <a:extLst>
              <a:ext uri="{FF2B5EF4-FFF2-40B4-BE49-F238E27FC236}">
                <a16:creationId xmlns:a16="http://schemas.microsoft.com/office/drawing/2014/main" id="{8937FC83-8E1F-123D-5446-A6D19C5AB040}"/>
              </a:ext>
            </a:extLst>
          </p:cNvPr>
          <p:cNvSpPr>
            <a:spLocks noGrp="1"/>
          </p:cNvSpPr>
          <p:nvPr>
            <p:ph type="sldNum" sz="quarter" idx="12"/>
          </p:nvPr>
        </p:nvSpPr>
        <p:spPr/>
        <p:txBody>
          <a:bodyPr/>
          <a:lstStyle/>
          <a:p>
            <a:fld id="{201A5C1E-DE71-4D99-BC1E-739595F062E0}" type="slidenum">
              <a:rPr lang="fr-FR" sz="2000" smtClean="0"/>
              <a:t>23</a:t>
            </a:fld>
            <a:r>
              <a:rPr lang="fr-FR" sz="2000" dirty="0"/>
              <a:t>/21</a:t>
            </a:r>
            <a:endParaRPr lang="fr-FR" dirty="0"/>
          </a:p>
        </p:txBody>
      </p:sp>
      <p:sp>
        <p:nvSpPr>
          <p:cNvPr id="9" name="Espace réservé du pied de page 8">
            <a:extLst>
              <a:ext uri="{FF2B5EF4-FFF2-40B4-BE49-F238E27FC236}">
                <a16:creationId xmlns:a16="http://schemas.microsoft.com/office/drawing/2014/main" id="{3A58C7D3-A1E5-3549-4086-21825BCDCCCA}"/>
              </a:ext>
            </a:extLst>
          </p:cNvPr>
          <p:cNvSpPr>
            <a:spLocks noGrp="1"/>
          </p:cNvSpPr>
          <p:nvPr>
            <p:ph type="ftr" sz="quarter" idx="11"/>
          </p:nvPr>
        </p:nvSpPr>
        <p:spPr>
          <a:xfrm>
            <a:off x="4038599" y="6492875"/>
            <a:ext cx="4114800" cy="365125"/>
          </a:xfrm>
        </p:spPr>
        <p:txBody>
          <a:bodyPr/>
          <a:lstStyle/>
          <a:p>
            <a:r>
              <a:rPr lang="fr-FR" sz="1600" dirty="0">
                <a:solidFill>
                  <a:schemeClr val="tx1"/>
                </a:solidFill>
              </a:rPr>
              <a:t>N° Arthur PREVISANI</a:t>
            </a:r>
          </a:p>
        </p:txBody>
      </p:sp>
      <p:graphicFrame>
        <p:nvGraphicFramePr>
          <p:cNvPr id="10" name="Tableau 9">
            <a:extLst>
              <a:ext uri="{FF2B5EF4-FFF2-40B4-BE49-F238E27FC236}">
                <a16:creationId xmlns:a16="http://schemas.microsoft.com/office/drawing/2014/main" id="{38647AC5-F87E-308F-E144-56EBAF8CB54F}"/>
              </a:ext>
            </a:extLst>
          </p:cNvPr>
          <p:cNvGraphicFramePr>
            <a:graphicFrameLocks noGrp="1"/>
          </p:cNvGraphicFramePr>
          <p:nvPr/>
        </p:nvGraphicFramePr>
        <p:xfrm>
          <a:off x="631371" y="1981715"/>
          <a:ext cx="10383764" cy="3474720"/>
        </p:xfrm>
        <a:graphic>
          <a:graphicData uri="http://schemas.openxmlformats.org/drawingml/2006/table">
            <a:tbl>
              <a:tblPr firstRow="1" bandRow="1">
                <a:tableStyleId>{2D5ABB26-0587-4C30-8999-92F81FD0307C}</a:tableStyleId>
              </a:tblPr>
              <a:tblGrid>
                <a:gridCol w="1516743">
                  <a:extLst>
                    <a:ext uri="{9D8B030D-6E8A-4147-A177-3AD203B41FA5}">
                      <a16:colId xmlns:a16="http://schemas.microsoft.com/office/drawing/2014/main" val="510414834"/>
                    </a:ext>
                  </a:extLst>
                </a:gridCol>
                <a:gridCol w="1814286">
                  <a:extLst>
                    <a:ext uri="{9D8B030D-6E8A-4147-A177-3AD203B41FA5}">
                      <a16:colId xmlns:a16="http://schemas.microsoft.com/office/drawing/2014/main" val="477646523"/>
                    </a:ext>
                  </a:extLst>
                </a:gridCol>
                <a:gridCol w="1712686">
                  <a:extLst>
                    <a:ext uri="{9D8B030D-6E8A-4147-A177-3AD203B41FA5}">
                      <a16:colId xmlns:a16="http://schemas.microsoft.com/office/drawing/2014/main" val="2362536329"/>
                    </a:ext>
                  </a:extLst>
                </a:gridCol>
                <a:gridCol w="2206171">
                  <a:extLst>
                    <a:ext uri="{9D8B030D-6E8A-4147-A177-3AD203B41FA5}">
                      <a16:colId xmlns:a16="http://schemas.microsoft.com/office/drawing/2014/main" val="1517061753"/>
                    </a:ext>
                  </a:extLst>
                </a:gridCol>
                <a:gridCol w="1727200">
                  <a:extLst>
                    <a:ext uri="{9D8B030D-6E8A-4147-A177-3AD203B41FA5}">
                      <a16:colId xmlns:a16="http://schemas.microsoft.com/office/drawing/2014/main" val="3565309784"/>
                    </a:ext>
                  </a:extLst>
                </a:gridCol>
                <a:gridCol w="1406678">
                  <a:extLst>
                    <a:ext uri="{9D8B030D-6E8A-4147-A177-3AD203B41FA5}">
                      <a16:colId xmlns:a16="http://schemas.microsoft.com/office/drawing/2014/main" val="4233430214"/>
                    </a:ext>
                  </a:extLst>
                </a:gridCol>
              </a:tblGrid>
              <a:tr h="589981">
                <a:tc>
                  <a:txBody>
                    <a:bodyPr/>
                    <a:lstStyle/>
                    <a:p>
                      <a:pPr algn="ctr"/>
                      <a:r>
                        <a:rPr lang="fr-FR" sz="2400" b="0" dirty="0"/>
                        <a:t>Semaine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2400" dirty="0"/>
                        <a:t>Cours 1 </a:t>
                      </a:r>
                    </a:p>
                    <a:p>
                      <a:pPr algn="ctr"/>
                      <a:r>
                        <a:rPr lang="fr-FR" sz="2400" dirty="0"/>
                        <a:t>Introduction concept de résistance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2400" dirty="0"/>
                        <a:t>TP1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2400" dirty="0"/>
                        <a:t>Découverte Re, </a:t>
                      </a:r>
                      <a:r>
                        <a:rPr lang="fr-FR" sz="2400" dirty="0" err="1"/>
                        <a:t>Rm</a:t>
                      </a:r>
                      <a:endParaRPr lang="fr-FR"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2400" dirty="0"/>
                        <a:t>TD1 </a:t>
                      </a:r>
                    </a:p>
                    <a:p>
                      <a:pPr algn="ctr"/>
                      <a:r>
                        <a:rPr lang="fr-FR" sz="2400" dirty="0"/>
                        <a:t>Quizz</a:t>
                      </a:r>
                    </a:p>
                    <a:p>
                      <a:pPr algn="ctr"/>
                      <a:r>
                        <a:rPr lang="fr-FR" sz="2400" dirty="0"/>
                        <a:t>Essai normalisé </a:t>
                      </a:r>
                    </a:p>
                    <a:p>
                      <a:pPr algn="ctr"/>
                      <a:r>
                        <a:rPr lang="fr-FR" sz="2400" dirty="0"/>
                        <a:t>caractéristiques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2400" dirty="0"/>
                        <a:t>TP2</a:t>
                      </a:r>
                    </a:p>
                    <a:p>
                      <a:pPr algn="ctr"/>
                      <a:r>
                        <a:rPr lang="fr-FR" sz="2400" dirty="0"/>
                        <a:t>Lien matériau résistance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2400" dirty="0"/>
                        <a:t>TP3</a:t>
                      </a:r>
                    </a:p>
                    <a:p>
                      <a:pPr algn="ctr"/>
                      <a:r>
                        <a:rPr lang="fr-FR" sz="2400" dirty="0"/>
                        <a:t>Suite + oral et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4558022"/>
                  </a:ext>
                </a:extLst>
              </a:tr>
              <a:tr h="0">
                <a:tc>
                  <a:txBody>
                    <a:bodyPr/>
                    <a:lstStyle/>
                    <a:p>
                      <a:pPr algn="ctr"/>
                      <a:r>
                        <a:rPr lang="fr-FR" sz="2400" b="0" dirty="0"/>
                        <a:t>Semaine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2400" dirty="0"/>
                        <a:t>Cours2</a:t>
                      </a:r>
                    </a:p>
                    <a:p>
                      <a:pPr algn="ctr"/>
                      <a:r>
                        <a:rPr lang="fr-FR" sz="2400" dirty="0"/>
                        <a:t>Sollicitations: traction, flexion,…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2400" dirty="0"/>
                        <a:t>TP4</a:t>
                      </a:r>
                    </a:p>
                    <a:p>
                      <a:pPr algn="ctr"/>
                      <a:r>
                        <a:rPr lang="fr-FR" sz="2400" dirty="0"/>
                        <a:t>Découverte rigidité, module d’Young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2400" dirty="0"/>
                        <a:t>TD2 comparaison essais réels et simulations, remédiation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2400" dirty="0"/>
                        <a:t>TP5</a:t>
                      </a:r>
                    </a:p>
                    <a:p>
                      <a:pPr algn="ctr"/>
                      <a:r>
                        <a:rPr lang="fr-FR" sz="2400" dirty="0"/>
                        <a:t>Lien type de chargement/ déformation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2400" dirty="0"/>
                        <a:t>TD3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2400" dirty="0"/>
                        <a:t>Fin du TD + </a:t>
                      </a:r>
                      <a:r>
                        <a:rPr lang="fr-FR" sz="2400" dirty="0" err="1"/>
                        <a:t>eval</a:t>
                      </a:r>
                      <a:endParaRPr lang="fr-FR"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89175682"/>
                  </a:ext>
                </a:extLst>
              </a:tr>
            </a:tbl>
          </a:graphicData>
        </a:graphic>
      </p:graphicFrame>
      <p:sp>
        <p:nvSpPr>
          <p:cNvPr id="11" name="ZoneTexte 10">
            <a:extLst>
              <a:ext uri="{FF2B5EF4-FFF2-40B4-BE49-F238E27FC236}">
                <a16:creationId xmlns:a16="http://schemas.microsoft.com/office/drawing/2014/main" id="{91E7AC75-F7F9-F988-56FE-F8E2055E422C}"/>
              </a:ext>
            </a:extLst>
          </p:cNvPr>
          <p:cNvSpPr txBox="1"/>
          <p:nvPr/>
        </p:nvSpPr>
        <p:spPr>
          <a:xfrm>
            <a:off x="838200" y="5605323"/>
            <a:ext cx="7489371" cy="461665"/>
          </a:xfrm>
          <a:prstGeom prst="rect">
            <a:avLst/>
          </a:prstGeom>
          <a:noFill/>
        </p:spPr>
        <p:txBody>
          <a:bodyPr wrap="square" rtlCol="0">
            <a:spAutoFit/>
          </a:bodyPr>
          <a:lstStyle/>
          <a:p>
            <a:r>
              <a:rPr lang="fr-FR" sz="2400" dirty="0"/>
              <a:t>1 évaluation formative, 2 sommatives</a:t>
            </a:r>
          </a:p>
        </p:txBody>
      </p:sp>
    </p:spTree>
    <p:extLst>
      <p:ext uri="{BB962C8B-B14F-4D97-AF65-F5344CB8AC3E}">
        <p14:creationId xmlns:p14="http://schemas.microsoft.com/office/powerpoint/2010/main" val="5359085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987D919-81CB-8576-9193-0093C7ADDEBD}"/>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F84E53C1-9D21-5297-8F8F-870600CE0EDB}"/>
              </a:ext>
            </a:extLst>
          </p:cNvPr>
          <p:cNvSpPr>
            <a:spLocks noGrp="1"/>
          </p:cNvSpPr>
          <p:nvPr>
            <p:ph type="sldNum" sz="quarter" idx="12"/>
          </p:nvPr>
        </p:nvSpPr>
        <p:spPr/>
        <p:txBody>
          <a:bodyPr/>
          <a:lstStyle/>
          <a:p>
            <a:fld id="{201A5C1E-DE71-4D99-BC1E-739595F062E0}" type="slidenum">
              <a:rPr lang="fr-FR" sz="2000" smtClean="0"/>
              <a:t>24</a:t>
            </a:fld>
            <a:r>
              <a:rPr lang="fr-FR" sz="2000" dirty="0"/>
              <a:t>/21</a:t>
            </a:r>
          </a:p>
        </p:txBody>
      </p:sp>
      <p:sp>
        <p:nvSpPr>
          <p:cNvPr id="4" name="Espace réservé du pied de page 3">
            <a:extLst>
              <a:ext uri="{FF2B5EF4-FFF2-40B4-BE49-F238E27FC236}">
                <a16:creationId xmlns:a16="http://schemas.microsoft.com/office/drawing/2014/main" id="{54C192C1-21C2-9960-43E5-3FACD9D3932E}"/>
              </a:ext>
            </a:extLst>
          </p:cNvPr>
          <p:cNvSpPr>
            <a:spLocks noGrp="1"/>
          </p:cNvSpPr>
          <p:nvPr>
            <p:ph type="ftr" sz="quarter" idx="11"/>
          </p:nvPr>
        </p:nvSpPr>
        <p:spPr/>
        <p:txBody>
          <a:bodyPr/>
          <a:lstStyle/>
          <a:p>
            <a:r>
              <a:rPr lang="fr-FR" sz="1600" dirty="0">
                <a:solidFill>
                  <a:schemeClr val="tx1"/>
                </a:solidFill>
              </a:rPr>
              <a:t>N° Arthur PREVISANI</a:t>
            </a:r>
          </a:p>
        </p:txBody>
      </p:sp>
    </p:spTree>
    <p:extLst>
      <p:ext uri="{BB962C8B-B14F-4D97-AF65-F5344CB8AC3E}">
        <p14:creationId xmlns:p14="http://schemas.microsoft.com/office/powerpoint/2010/main" val="11611372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1DB8AD6-BECA-3EE9-F234-AD7EBBCC8E6F}"/>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6F083EF4-1BBD-A016-A519-629E42E884DA}"/>
              </a:ext>
            </a:extLst>
          </p:cNvPr>
          <p:cNvSpPr>
            <a:spLocks noGrp="1"/>
          </p:cNvSpPr>
          <p:nvPr>
            <p:ph type="sldNum" sz="quarter" idx="12"/>
          </p:nvPr>
        </p:nvSpPr>
        <p:spPr/>
        <p:txBody>
          <a:bodyPr/>
          <a:lstStyle/>
          <a:p>
            <a:fld id="{201A5C1E-DE71-4D99-BC1E-739595F062E0}" type="slidenum">
              <a:rPr lang="fr-FR" sz="2000" smtClean="0"/>
              <a:t>25</a:t>
            </a:fld>
            <a:r>
              <a:rPr lang="fr-FR" sz="2000" dirty="0"/>
              <a:t>/21</a:t>
            </a:r>
          </a:p>
        </p:txBody>
      </p:sp>
      <p:sp>
        <p:nvSpPr>
          <p:cNvPr id="4" name="Espace réservé du pied de page 3">
            <a:extLst>
              <a:ext uri="{FF2B5EF4-FFF2-40B4-BE49-F238E27FC236}">
                <a16:creationId xmlns:a16="http://schemas.microsoft.com/office/drawing/2014/main" id="{F85E8A0B-1E7A-EC7E-E25C-DE62823C9B63}"/>
              </a:ext>
            </a:extLst>
          </p:cNvPr>
          <p:cNvSpPr>
            <a:spLocks noGrp="1"/>
          </p:cNvSpPr>
          <p:nvPr>
            <p:ph type="ftr" sz="quarter" idx="11"/>
          </p:nvPr>
        </p:nvSpPr>
        <p:spPr/>
        <p:txBody>
          <a:bodyPr/>
          <a:lstStyle/>
          <a:p>
            <a:r>
              <a:rPr lang="fr-FR" sz="1600" dirty="0">
                <a:solidFill>
                  <a:schemeClr val="tx1"/>
                </a:solidFill>
              </a:rPr>
              <a:t>N° Arthur PREVISANI</a:t>
            </a:r>
          </a:p>
        </p:txBody>
      </p:sp>
      <p:graphicFrame>
        <p:nvGraphicFramePr>
          <p:cNvPr id="2" name="Tableau 1">
            <a:extLst>
              <a:ext uri="{FF2B5EF4-FFF2-40B4-BE49-F238E27FC236}">
                <a16:creationId xmlns:a16="http://schemas.microsoft.com/office/drawing/2014/main" id="{22078F24-5F7A-6A9E-4DAC-13A94EF92FF4}"/>
              </a:ext>
            </a:extLst>
          </p:cNvPr>
          <p:cNvGraphicFramePr>
            <a:graphicFrameLocks noGrp="1"/>
          </p:cNvGraphicFramePr>
          <p:nvPr>
            <p:extLst>
              <p:ext uri="{D42A27DB-BD31-4B8C-83A1-F6EECF244321}">
                <p14:modId xmlns:p14="http://schemas.microsoft.com/office/powerpoint/2010/main" val="2420898756"/>
              </p:ext>
            </p:extLst>
          </p:nvPr>
        </p:nvGraphicFramePr>
        <p:xfrm>
          <a:off x="136141" y="454749"/>
          <a:ext cx="11919717" cy="8080329"/>
        </p:xfrm>
        <a:graphic>
          <a:graphicData uri="http://schemas.openxmlformats.org/drawingml/2006/table">
            <a:tbl>
              <a:tblPr firstRow="1" bandRow="1">
                <a:tableStyleId>{C083E6E3-FA7D-4D7B-A595-EF9225AFEA82}</a:tableStyleId>
              </a:tblPr>
              <a:tblGrid>
                <a:gridCol w="1425893">
                  <a:extLst>
                    <a:ext uri="{9D8B030D-6E8A-4147-A177-3AD203B41FA5}">
                      <a16:colId xmlns:a16="http://schemas.microsoft.com/office/drawing/2014/main" val="830447667"/>
                    </a:ext>
                  </a:extLst>
                </a:gridCol>
                <a:gridCol w="4108370">
                  <a:extLst>
                    <a:ext uri="{9D8B030D-6E8A-4147-A177-3AD203B41FA5}">
                      <a16:colId xmlns:a16="http://schemas.microsoft.com/office/drawing/2014/main" val="925519965"/>
                    </a:ext>
                  </a:extLst>
                </a:gridCol>
                <a:gridCol w="3264046">
                  <a:extLst>
                    <a:ext uri="{9D8B030D-6E8A-4147-A177-3AD203B41FA5}">
                      <a16:colId xmlns:a16="http://schemas.microsoft.com/office/drawing/2014/main" val="2285352266"/>
                    </a:ext>
                  </a:extLst>
                </a:gridCol>
                <a:gridCol w="1288904">
                  <a:extLst>
                    <a:ext uri="{9D8B030D-6E8A-4147-A177-3AD203B41FA5}">
                      <a16:colId xmlns:a16="http://schemas.microsoft.com/office/drawing/2014/main" val="4246726365"/>
                    </a:ext>
                  </a:extLst>
                </a:gridCol>
                <a:gridCol w="1832504">
                  <a:extLst>
                    <a:ext uri="{9D8B030D-6E8A-4147-A177-3AD203B41FA5}">
                      <a16:colId xmlns:a16="http://schemas.microsoft.com/office/drawing/2014/main" val="145018786"/>
                    </a:ext>
                  </a:extLst>
                </a:gridCol>
              </a:tblGrid>
              <a:tr h="563373">
                <a:tc>
                  <a:txBody>
                    <a:bodyPr/>
                    <a:lstStyle/>
                    <a:p>
                      <a:r>
                        <a:rPr lang="fr-FR" b="0" dirty="0"/>
                        <a:t>Séquence 1 </a:t>
                      </a:r>
                    </a:p>
                  </a:txBody>
                  <a:tcPr/>
                </a:tc>
                <a:tc>
                  <a:txBody>
                    <a:bodyPr/>
                    <a:lstStyle/>
                    <a:p>
                      <a:r>
                        <a:rPr lang="fr-FR" b="0" dirty="0"/>
                        <a:t>Comment décrire l’organisation d’un produit ?</a:t>
                      </a:r>
                    </a:p>
                  </a:txBody>
                  <a:tcPr/>
                </a:tc>
                <a:tc>
                  <a:txBody>
                    <a:bodyPr/>
                    <a:lstStyle/>
                    <a:p>
                      <a:r>
                        <a:rPr lang="fr-FR" b="0" dirty="0"/>
                        <a:t>Chaine de puissance, représentation de l’information</a:t>
                      </a:r>
                    </a:p>
                  </a:txBody>
                  <a:tcPr/>
                </a:tc>
                <a:tc>
                  <a:txBody>
                    <a:bodyPr/>
                    <a:lstStyle/>
                    <a:p>
                      <a:r>
                        <a:rPr lang="fr-FR" b="0" dirty="0"/>
                        <a:t>3 semaines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0" dirty="0"/>
                        <a:t>Début septembre</a:t>
                      </a:r>
                    </a:p>
                    <a:p>
                      <a:endParaRPr lang="fr-FR" b="0" dirty="0"/>
                    </a:p>
                  </a:txBody>
                  <a:tcPr/>
                </a:tc>
                <a:extLst>
                  <a:ext uri="{0D108BD9-81ED-4DB2-BD59-A6C34878D82A}">
                    <a16:rowId xmlns:a16="http://schemas.microsoft.com/office/drawing/2014/main" val="3693449095"/>
                  </a:ext>
                </a:extLst>
              </a:tr>
              <a:tr h="8048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Séquence 2</a:t>
                      </a:r>
                    </a:p>
                  </a:txBody>
                  <a:tcPr>
                    <a:solidFill>
                      <a:schemeClr val="accent4">
                        <a:lumMod val="75000"/>
                        <a:alpha val="20000"/>
                      </a:schemeClr>
                    </a:solidFill>
                  </a:tcPr>
                </a:tc>
                <a:tc>
                  <a:txBody>
                    <a:bodyPr/>
                    <a:lstStyle/>
                    <a:p>
                      <a:r>
                        <a:rPr lang="fr-FR" dirty="0"/>
                        <a:t>Comment optimiser l’utilisation de l’énergie ?</a:t>
                      </a:r>
                    </a:p>
                  </a:txBody>
                  <a:tcPr>
                    <a:solidFill>
                      <a:schemeClr val="accent4">
                        <a:lumMod val="75000"/>
                        <a:alpha val="20000"/>
                      </a:schemeClr>
                    </a:solidFill>
                  </a:tcPr>
                </a:tc>
                <a:tc>
                  <a:txBody>
                    <a:bodyPr/>
                    <a:lstStyle/>
                    <a:p>
                      <a:r>
                        <a:rPr lang="fr-FR" dirty="0"/>
                        <a:t>Concept de mouvement </a:t>
                      </a:r>
                    </a:p>
                    <a:p>
                      <a:r>
                        <a:rPr lang="fr-FR" dirty="0"/>
                        <a:t>Transmission de puissance</a:t>
                      </a:r>
                    </a:p>
                  </a:txBody>
                  <a:tcPr>
                    <a:solidFill>
                      <a:schemeClr val="accent4">
                        <a:lumMod val="75000"/>
                        <a:alpha val="2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3 semaines</a:t>
                      </a:r>
                    </a:p>
                    <a:p>
                      <a:endParaRPr lang="fr-FR" dirty="0"/>
                    </a:p>
                  </a:txBody>
                  <a:tcPr>
                    <a:solidFill>
                      <a:schemeClr val="accent4">
                        <a:lumMod val="75000"/>
                        <a:alpha val="20000"/>
                      </a:schemeClr>
                    </a:solidFill>
                  </a:tcPr>
                </a:tc>
                <a:tc>
                  <a:txBody>
                    <a:bodyPr/>
                    <a:lstStyle/>
                    <a:p>
                      <a:endParaRPr lang="fr-FR" dirty="0"/>
                    </a:p>
                  </a:txBody>
                  <a:tcPr>
                    <a:solidFill>
                      <a:schemeClr val="accent4">
                        <a:lumMod val="75000"/>
                        <a:alpha val="20000"/>
                      </a:schemeClr>
                    </a:solidFill>
                  </a:tcPr>
                </a:tc>
                <a:extLst>
                  <a:ext uri="{0D108BD9-81ED-4DB2-BD59-A6C34878D82A}">
                    <a16:rowId xmlns:a16="http://schemas.microsoft.com/office/drawing/2014/main" val="131932535"/>
                  </a:ext>
                </a:extLst>
              </a:tr>
              <a:tr h="8048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Séquence 3 </a:t>
                      </a:r>
                    </a:p>
                  </a:txBody>
                  <a:tcPr/>
                </a:tc>
                <a:tc>
                  <a:txBody>
                    <a:bodyPr/>
                    <a:lstStyle/>
                    <a:p>
                      <a:r>
                        <a:rPr lang="fr-FR" dirty="0"/>
                        <a:t>Comment assurer la surveillance des ouvrages ?</a:t>
                      </a:r>
                    </a:p>
                  </a:txBody>
                  <a:tcPr/>
                </a:tc>
                <a:tc>
                  <a:txBody>
                    <a:bodyPr/>
                    <a:lstStyle/>
                    <a:p>
                      <a:r>
                        <a:rPr lang="fr-FR" dirty="0"/>
                        <a:t>Ossatures, équilibre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3 semaines</a:t>
                      </a:r>
                    </a:p>
                    <a:p>
                      <a:endParaRPr lang="fr-FR" dirty="0"/>
                    </a:p>
                  </a:txBody>
                  <a:tcPr/>
                </a:tc>
                <a:tc>
                  <a:txBody>
                    <a:bodyPr/>
                    <a:lstStyle/>
                    <a:p>
                      <a:endParaRPr lang="fr-FR"/>
                    </a:p>
                  </a:txBody>
                  <a:tcPr/>
                </a:tc>
                <a:extLst>
                  <a:ext uri="{0D108BD9-81ED-4DB2-BD59-A6C34878D82A}">
                    <a16:rowId xmlns:a16="http://schemas.microsoft.com/office/drawing/2014/main" val="86632203"/>
                  </a:ext>
                </a:extLst>
              </a:tr>
              <a:tr h="8048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Séquence 4 </a:t>
                      </a:r>
                    </a:p>
                  </a:txBody>
                  <a:tcPr>
                    <a:solidFill>
                      <a:schemeClr val="bg1">
                        <a:lumMod val="65000"/>
                        <a:alpha val="20000"/>
                      </a:schemeClr>
                    </a:solidFill>
                  </a:tcPr>
                </a:tc>
                <a:tc>
                  <a:txBody>
                    <a:bodyPr/>
                    <a:lstStyle/>
                    <a:p>
                      <a:r>
                        <a:rPr lang="fr-FR" dirty="0"/>
                        <a:t>Comment consommer moins dans l’habitat ?</a:t>
                      </a:r>
                    </a:p>
                  </a:txBody>
                  <a:tcPr>
                    <a:solidFill>
                      <a:schemeClr val="bg1">
                        <a:lumMod val="65000"/>
                        <a:alpha val="20000"/>
                      </a:schemeClr>
                    </a:solidFill>
                  </a:tcPr>
                </a:tc>
                <a:tc>
                  <a:txBody>
                    <a:bodyPr/>
                    <a:lstStyle/>
                    <a:p>
                      <a:r>
                        <a:rPr lang="fr-FR" dirty="0"/>
                        <a:t>Efficacité énergétique, </a:t>
                      </a:r>
                    </a:p>
                    <a:p>
                      <a:r>
                        <a:rPr lang="fr-FR" dirty="0"/>
                        <a:t>Simulation et modèles</a:t>
                      </a:r>
                    </a:p>
                  </a:txBody>
                  <a:tcPr>
                    <a:solidFill>
                      <a:schemeClr val="bg1">
                        <a:lumMod val="65000"/>
                        <a:alpha val="2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3 semaines</a:t>
                      </a:r>
                    </a:p>
                    <a:p>
                      <a:endParaRPr lang="fr-FR" dirty="0"/>
                    </a:p>
                  </a:txBody>
                  <a:tcPr>
                    <a:solidFill>
                      <a:schemeClr val="bg1">
                        <a:lumMod val="65000"/>
                        <a:alpha val="20000"/>
                      </a:schemeClr>
                    </a:solidFill>
                  </a:tcPr>
                </a:tc>
                <a:tc>
                  <a:txBody>
                    <a:bodyPr/>
                    <a:lstStyle/>
                    <a:p>
                      <a:endParaRPr lang="fr-FR" dirty="0"/>
                    </a:p>
                  </a:txBody>
                  <a:tcPr>
                    <a:solidFill>
                      <a:schemeClr val="bg1">
                        <a:lumMod val="65000"/>
                        <a:alpha val="20000"/>
                      </a:schemeClr>
                    </a:solidFill>
                  </a:tcPr>
                </a:tc>
                <a:extLst>
                  <a:ext uri="{0D108BD9-81ED-4DB2-BD59-A6C34878D82A}">
                    <a16:rowId xmlns:a16="http://schemas.microsoft.com/office/drawing/2014/main" val="2328525563"/>
                  </a:ext>
                </a:extLst>
              </a:tr>
              <a:tr h="8048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Séquence 5</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txBody>
                  <a:tcPr/>
                </a:tc>
                <a:tc>
                  <a:txBody>
                    <a:bodyPr/>
                    <a:lstStyle/>
                    <a:p>
                      <a:r>
                        <a:rPr lang="fr-FR" dirty="0"/>
                        <a:t>Pourquoi concevoir une ville connectée? </a:t>
                      </a:r>
                    </a:p>
                  </a:txBody>
                  <a:tcPr/>
                </a:tc>
                <a:tc>
                  <a:txBody>
                    <a:bodyPr/>
                    <a:lstStyle/>
                    <a:p>
                      <a:r>
                        <a:rPr lang="fr-FR" dirty="0"/>
                        <a:t>Approche environnementale</a:t>
                      </a:r>
                    </a:p>
                    <a:p>
                      <a:r>
                        <a:rPr lang="fr-FR" dirty="0"/>
                        <a:t>ossatures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3 semaines</a:t>
                      </a:r>
                    </a:p>
                    <a:p>
                      <a:endParaRPr lang="fr-FR" dirty="0"/>
                    </a:p>
                  </a:txBody>
                  <a:tcPr/>
                </a:tc>
                <a:tc>
                  <a:txBody>
                    <a:bodyPr/>
                    <a:lstStyle/>
                    <a:p>
                      <a:r>
                        <a:rPr lang="fr-FR" dirty="0"/>
                        <a:t>Début janvier</a:t>
                      </a:r>
                    </a:p>
                  </a:txBody>
                  <a:tcPr/>
                </a:tc>
                <a:extLst>
                  <a:ext uri="{0D108BD9-81ED-4DB2-BD59-A6C34878D82A}">
                    <a16:rowId xmlns:a16="http://schemas.microsoft.com/office/drawing/2014/main" val="2887470768"/>
                  </a:ext>
                </a:extLst>
              </a:tr>
              <a:tr h="8048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Séquence 6</a:t>
                      </a:r>
                    </a:p>
                  </a:txBody>
                  <a:tcPr/>
                </a:tc>
                <a:tc>
                  <a:txBody>
                    <a:bodyPr/>
                    <a:lstStyle/>
                    <a:p>
                      <a:r>
                        <a:rPr lang="fr-FR" dirty="0"/>
                        <a:t>Comment le traitement de l’information contribue à l’amélioration de l’efficacité énergétique d’un produit ?</a:t>
                      </a:r>
                    </a:p>
                  </a:txBody>
                  <a:tcPr/>
                </a:tc>
                <a:tc>
                  <a:txBody>
                    <a:bodyPr/>
                    <a:lstStyle/>
                    <a:p>
                      <a:r>
                        <a:rPr lang="fr-FR" dirty="0"/>
                        <a:t>Réseaux, transmission de l’info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3 semaines</a:t>
                      </a:r>
                    </a:p>
                  </a:txBody>
                  <a:tcPr/>
                </a:tc>
                <a:tc>
                  <a:txBody>
                    <a:bodyPr/>
                    <a:lstStyle/>
                    <a:p>
                      <a:endParaRPr lang="fr-FR" dirty="0"/>
                    </a:p>
                  </a:txBody>
                  <a:tcPr/>
                </a:tc>
                <a:extLst>
                  <a:ext uri="{0D108BD9-81ED-4DB2-BD59-A6C34878D82A}">
                    <a16:rowId xmlns:a16="http://schemas.microsoft.com/office/drawing/2014/main" val="1458943850"/>
                  </a:ext>
                </a:extLst>
              </a:tr>
              <a:tr h="8048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Séquence 7</a:t>
                      </a:r>
                    </a:p>
                  </a:txBody>
                  <a:tcPr>
                    <a:solidFill>
                      <a:schemeClr val="bg1"/>
                    </a:solidFill>
                  </a:tcPr>
                </a:tc>
                <a:tc>
                  <a:txBody>
                    <a:bodyPr/>
                    <a:lstStyle/>
                    <a:p>
                      <a:r>
                        <a:rPr lang="fr-FR" dirty="0"/>
                        <a:t>Comment gérer la puissance et les mécanismes pour  la mobilité ?</a:t>
                      </a:r>
                    </a:p>
                  </a:txBody>
                  <a:tcPr>
                    <a:solidFill>
                      <a:schemeClr val="bg1"/>
                    </a:solidFill>
                  </a:tcPr>
                </a:tc>
                <a:tc>
                  <a:txBody>
                    <a:bodyPr/>
                    <a:lstStyle/>
                    <a:p>
                      <a:r>
                        <a:rPr lang="fr-FR" dirty="0"/>
                        <a:t>Équilibre, transmission de puissance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Simulation et modèles</a:t>
                      </a:r>
                    </a:p>
                  </a:txBody>
                  <a:tcPr>
                    <a:solidFill>
                      <a:schemeClr val="bg1"/>
                    </a:solidFill>
                  </a:tcPr>
                </a:tc>
                <a:tc>
                  <a:txBody>
                    <a:bodyPr/>
                    <a:lstStyle/>
                    <a:p>
                      <a:r>
                        <a:rPr lang="fr-FR" dirty="0"/>
                        <a:t>3 semaines</a:t>
                      </a:r>
                    </a:p>
                  </a:txBody>
                  <a:tcPr>
                    <a:solidFill>
                      <a:schemeClr val="bg1"/>
                    </a:solidFill>
                  </a:tcPr>
                </a:tc>
                <a:tc>
                  <a:txBody>
                    <a:bodyPr/>
                    <a:lstStyle/>
                    <a:p>
                      <a:endParaRPr lang="fr-FR" dirty="0"/>
                    </a:p>
                  </a:txBody>
                  <a:tcPr>
                    <a:solidFill>
                      <a:schemeClr val="bg1"/>
                    </a:solidFill>
                  </a:tcPr>
                </a:tc>
                <a:extLst>
                  <a:ext uri="{0D108BD9-81ED-4DB2-BD59-A6C34878D82A}">
                    <a16:rowId xmlns:a16="http://schemas.microsoft.com/office/drawing/2014/main" val="2164510391"/>
                  </a:ext>
                </a:extLst>
              </a:tr>
              <a:tr h="8048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Séquence 8</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txBody>
                  <a:tcPr/>
                </a:tc>
                <a:tc>
                  <a:txBody>
                    <a:bodyPr/>
                    <a:lstStyle/>
                    <a:p>
                      <a:r>
                        <a:rPr lang="fr-FR" dirty="0"/>
                        <a:t>Comment assurer la résistance et la stabilité des produits avec un usage raisonné des ressources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RDM</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Simulation et modèles</a:t>
                      </a:r>
                    </a:p>
                  </a:txBody>
                  <a:tcPr/>
                </a:tc>
                <a:tc>
                  <a:txBody>
                    <a:bodyPr/>
                    <a:lstStyle/>
                    <a:p>
                      <a:r>
                        <a:rPr lang="fr-FR" dirty="0"/>
                        <a:t>3 semaines</a:t>
                      </a:r>
                    </a:p>
                  </a:txBody>
                  <a:tcPr/>
                </a:tc>
                <a:tc>
                  <a:txBody>
                    <a:bodyPr/>
                    <a:lstStyle/>
                    <a:p>
                      <a:r>
                        <a:rPr lang="fr-FR" dirty="0"/>
                        <a:t>Fin mars/début avril</a:t>
                      </a:r>
                    </a:p>
                  </a:txBody>
                  <a:tcPr/>
                </a:tc>
                <a:extLst>
                  <a:ext uri="{0D108BD9-81ED-4DB2-BD59-A6C34878D82A}">
                    <a16:rowId xmlns:a16="http://schemas.microsoft.com/office/drawing/2014/main" val="1665486995"/>
                  </a:ext>
                </a:extLst>
              </a:tr>
              <a:tr h="8048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Séquence 9</a:t>
                      </a:r>
                    </a:p>
                  </a:txBody>
                  <a:tcPr/>
                </a:tc>
                <a:tc>
                  <a:txBody>
                    <a:bodyPr/>
                    <a:lstStyle/>
                    <a:p>
                      <a:r>
                        <a:rPr lang="fr-FR" dirty="0"/>
                        <a:t>Comment l'asservissement et la régulation améliorent le confort dans l'habitat?</a:t>
                      </a:r>
                    </a:p>
                  </a:txBody>
                  <a:tcPr/>
                </a:tc>
                <a:tc>
                  <a:txBody>
                    <a:bodyPr/>
                    <a:lstStyle/>
                    <a:p>
                      <a:r>
                        <a:rPr lang="fr-FR" dirty="0"/>
                        <a:t>Modulation de puissance</a:t>
                      </a:r>
                    </a:p>
                    <a:p>
                      <a:r>
                        <a:rPr lang="fr-FR" dirty="0"/>
                        <a:t>Systèmes asservis</a:t>
                      </a:r>
                    </a:p>
                  </a:txBody>
                  <a:tcPr/>
                </a:tc>
                <a:tc>
                  <a:txBody>
                    <a:bodyPr/>
                    <a:lstStyle/>
                    <a:p>
                      <a:r>
                        <a:rPr lang="fr-FR" dirty="0"/>
                        <a:t>3 semaines</a:t>
                      </a:r>
                    </a:p>
                  </a:txBody>
                  <a:tcPr/>
                </a:tc>
                <a:tc>
                  <a:txBody>
                    <a:bodyPr/>
                    <a:lstStyle/>
                    <a:p>
                      <a:endParaRPr lang="fr-FR" dirty="0"/>
                    </a:p>
                  </a:txBody>
                  <a:tcPr/>
                </a:tc>
                <a:extLst>
                  <a:ext uri="{0D108BD9-81ED-4DB2-BD59-A6C34878D82A}">
                    <a16:rowId xmlns:a16="http://schemas.microsoft.com/office/drawing/2014/main" val="642257291"/>
                  </a:ext>
                </a:extLst>
              </a:tr>
              <a:tr h="5633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Séquence 10</a:t>
                      </a:r>
                    </a:p>
                  </a:txBody>
                  <a:tcPr/>
                </a:tc>
                <a:tc>
                  <a:txBody>
                    <a:bodyPr/>
                    <a:lstStyle/>
                    <a:p>
                      <a:r>
                        <a:rPr lang="fr-FR" dirty="0"/>
                        <a:t>Projet</a:t>
                      </a:r>
                    </a:p>
                  </a:txBody>
                  <a:tcPr/>
                </a:tc>
                <a:tc>
                  <a:txBody>
                    <a:bodyPr/>
                    <a:lstStyle/>
                    <a:p>
                      <a:endParaRPr lang="fr-FR" dirty="0"/>
                    </a:p>
                  </a:txBody>
                  <a:tcPr/>
                </a:tc>
                <a:tc>
                  <a:txBody>
                    <a:bodyPr/>
                    <a:lstStyle/>
                    <a:p>
                      <a:r>
                        <a:rPr lang="fr-FR" dirty="0"/>
                        <a:t>9 semaines</a:t>
                      </a:r>
                    </a:p>
                  </a:txBody>
                  <a:tcPr/>
                </a:tc>
                <a:tc>
                  <a:txBody>
                    <a:bodyPr/>
                    <a:lstStyle/>
                    <a:p>
                      <a:r>
                        <a:rPr lang="fr-FR" dirty="0"/>
                        <a:t>Mai/juin</a:t>
                      </a:r>
                    </a:p>
                  </a:txBody>
                  <a:tcPr/>
                </a:tc>
                <a:extLst>
                  <a:ext uri="{0D108BD9-81ED-4DB2-BD59-A6C34878D82A}">
                    <a16:rowId xmlns:a16="http://schemas.microsoft.com/office/drawing/2014/main" val="634317777"/>
                  </a:ext>
                </a:extLst>
              </a:tr>
            </a:tbl>
          </a:graphicData>
        </a:graphic>
      </p:graphicFrame>
      <p:sp>
        <p:nvSpPr>
          <p:cNvPr id="3" name="Titre 1">
            <a:extLst>
              <a:ext uri="{FF2B5EF4-FFF2-40B4-BE49-F238E27FC236}">
                <a16:creationId xmlns:a16="http://schemas.microsoft.com/office/drawing/2014/main" id="{E725936E-BD2B-AD30-73C1-C0A8E749D944}"/>
              </a:ext>
            </a:extLst>
          </p:cNvPr>
          <p:cNvSpPr txBox="1">
            <a:spLocks/>
          </p:cNvSpPr>
          <p:nvPr/>
        </p:nvSpPr>
        <p:spPr>
          <a:xfrm>
            <a:off x="632010" y="254623"/>
            <a:ext cx="10927977" cy="65914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a:t>Progression annuelle</a:t>
            </a:r>
            <a:endParaRPr lang="fr-FR" dirty="0"/>
          </a:p>
        </p:txBody>
      </p:sp>
    </p:spTree>
    <p:extLst>
      <p:ext uri="{BB962C8B-B14F-4D97-AF65-F5344CB8AC3E}">
        <p14:creationId xmlns:p14="http://schemas.microsoft.com/office/powerpoint/2010/main" val="17040358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476D10E-53DA-F939-A4B4-4EA9165FF666}"/>
              </a:ext>
            </a:extLst>
          </p:cNvPr>
          <p:cNvSpPr>
            <a:spLocks noGrp="1"/>
          </p:cNvSpPr>
          <p:nvPr>
            <p:ph idx="1"/>
          </p:nvPr>
        </p:nvSpPr>
        <p:spPr>
          <a:xfrm>
            <a:off x="838200" y="136525"/>
            <a:ext cx="10515600" cy="5584296"/>
          </a:xfrm>
        </p:spPr>
        <p:txBody>
          <a:bodyPr/>
          <a:lstStyle/>
          <a:p>
            <a:r>
              <a:rPr lang="fr-FR" dirty="0"/>
              <a:t>Activité 1</a:t>
            </a:r>
          </a:p>
          <a:p>
            <a:r>
              <a:rPr lang="fr-FR" dirty="0"/>
              <a:t>Correcteur P facteur 20</a:t>
            </a:r>
          </a:p>
          <a:p>
            <a:r>
              <a:rPr lang="fr-FR" dirty="0"/>
              <a:t>De 50 a 75° erreur statique c75° </a:t>
            </a:r>
            <a:r>
              <a:rPr lang="fr-FR" dirty="0" err="1"/>
              <a:t>réél</a:t>
            </a:r>
            <a:r>
              <a:rPr lang="fr-FR" dirty="0"/>
              <a:t> 71,6°</a:t>
            </a:r>
          </a:p>
          <a:p>
            <a:r>
              <a:rPr lang="fr-FR" dirty="0"/>
              <a:t>De 50 a25 erreur </a:t>
            </a:r>
            <a:r>
              <a:rPr lang="fr-FR" dirty="0" err="1"/>
              <a:t>satique</a:t>
            </a:r>
            <a:r>
              <a:rPr lang="fr-FR" dirty="0"/>
              <a:t> c25,2, </a:t>
            </a:r>
            <a:r>
              <a:rPr lang="fr-FR" dirty="0" err="1"/>
              <a:t>réél</a:t>
            </a:r>
            <a:r>
              <a:rPr lang="fr-FR" dirty="0"/>
              <a:t> 22,4</a:t>
            </a:r>
          </a:p>
          <a:p>
            <a:r>
              <a:rPr lang="fr-FR" dirty="0"/>
              <a:t>Activité 2 </a:t>
            </a:r>
            <a:r>
              <a:rPr lang="fr-FR" dirty="0" err="1">
                <a:hlinkClick r:id="rId3"/>
              </a:rPr>
              <a:t>Maxpid</a:t>
            </a:r>
            <a:r>
              <a:rPr lang="fr-FR" dirty="0">
                <a:hlinkClick r:id="rId3"/>
              </a:rPr>
              <a:t> V2 - La chaîne de puissance</a:t>
            </a:r>
            <a:endParaRPr lang="fr-FR" dirty="0"/>
          </a:p>
        </p:txBody>
      </p:sp>
      <p:sp>
        <p:nvSpPr>
          <p:cNvPr id="4" name="Espace réservé du numéro de diapositive 3">
            <a:extLst>
              <a:ext uri="{FF2B5EF4-FFF2-40B4-BE49-F238E27FC236}">
                <a16:creationId xmlns:a16="http://schemas.microsoft.com/office/drawing/2014/main" id="{F142DD04-E57B-F3B8-16A6-9E37D928A7AF}"/>
              </a:ext>
            </a:extLst>
          </p:cNvPr>
          <p:cNvSpPr>
            <a:spLocks noGrp="1"/>
          </p:cNvSpPr>
          <p:nvPr>
            <p:ph type="sldNum" sz="quarter" idx="12"/>
          </p:nvPr>
        </p:nvSpPr>
        <p:spPr/>
        <p:txBody>
          <a:bodyPr/>
          <a:lstStyle/>
          <a:p>
            <a:fld id="{201A5C1E-DE71-4D99-BC1E-739595F062E0}" type="slidenum">
              <a:rPr lang="fr-FR" smtClean="0"/>
              <a:t>26</a:t>
            </a:fld>
            <a:endParaRPr lang="fr-FR"/>
          </a:p>
        </p:txBody>
      </p:sp>
      <p:pic>
        <p:nvPicPr>
          <p:cNvPr id="8" name="Image 7">
            <a:extLst>
              <a:ext uri="{FF2B5EF4-FFF2-40B4-BE49-F238E27FC236}">
                <a16:creationId xmlns:a16="http://schemas.microsoft.com/office/drawing/2014/main" id="{441B6FD9-8E69-7980-6DF7-DD50B40F985E}"/>
              </a:ext>
            </a:extLst>
          </p:cNvPr>
          <p:cNvPicPr>
            <a:picLocks noChangeAspect="1"/>
          </p:cNvPicPr>
          <p:nvPr/>
        </p:nvPicPr>
        <p:blipFill>
          <a:blip r:embed="rId4"/>
          <a:stretch>
            <a:fillRect/>
          </a:stretch>
        </p:blipFill>
        <p:spPr>
          <a:xfrm>
            <a:off x="1451914" y="2657156"/>
            <a:ext cx="9288171" cy="4182059"/>
          </a:xfrm>
          <a:prstGeom prst="rect">
            <a:avLst/>
          </a:prstGeom>
        </p:spPr>
      </p:pic>
    </p:spTree>
    <p:extLst>
      <p:ext uri="{BB962C8B-B14F-4D97-AF65-F5344CB8AC3E}">
        <p14:creationId xmlns:p14="http://schemas.microsoft.com/office/powerpoint/2010/main" val="16423646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8825DA-573C-43E3-256F-23F29F10A84A}"/>
              </a:ext>
            </a:extLst>
          </p:cNvPr>
          <p:cNvSpPr>
            <a:spLocks noGrp="1"/>
          </p:cNvSpPr>
          <p:nvPr>
            <p:ph type="title"/>
          </p:nvPr>
        </p:nvSpPr>
        <p:spPr/>
        <p:txBody>
          <a:bodyPr/>
          <a:lstStyle/>
          <a:p>
            <a:r>
              <a:rPr lang="fr-FR" dirty="0"/>
              <a:t>SCE</a:t>
            </a:r>
          </a:p>
        </p:txBody>
      </p:sp>
      <p:sp>
        <p:nvSpPr>
          <p:cNvPr id="3" name="Espace réservé du contenu 2">
            <a:extLst>
              <a:ext uri="{FF2B5EF4-FFF2-40B4-BE49-F238E27FC236}">
                <a16:creationId xmlns:a16="http://schemas.microsoft.com/office/drawing/2014/main" id="{708911D9-AF36-7621-C119-AF352C0A91D6}"/>
              </a:ext>
            </a:extLst>
          </p:cNvPr>
          <p:cNvSpPr>
            <a:spLocks noGrp="1"/>
          </p:cNvSpPr>
          <p:nvPr>
            <p:ph idx="1"/>
          </p:nvPr>
        </p:nvSpPr>
        <p:spPr/>
        <p:txBody>
          <a:bodyPr/>
          <a:lstStyle/>
          <a:p>
            <a:r>
              <a:rPr lang="fr-FR" dirty="0"/>
              <a:t>2chelon de vitesse 145rad /s mot = 0,1 rad/s axe</a:t>
            </a:r>
          </a:p>
          <a:p>
            <a:r>
              <a:rPr lang="fr-FR" dirty="0"/>
              <a:t>Réponse plutôt linéaire</a:t>
            </a:r>
          </a:p>
        </p:txBody>
      </p:sp>
      <p:sp>
        <p:nvSpPr>
          <p:cNvPr id="4" name="Espace réservé du numéro de diapositive 3">
            <a:extLst>
              <a:ext uri="{FF2B5EF4-FFF2-40B4-BE49-F238E27FC236}">
                <a16:creationId xmlns:a16="http://schemas.microsoft.com/office/drawing/2014/main" id="{B3745E05-1DBE-A079-4B35-4F5AB0FE696B}"/>
              </a:ext>
            </a:extLst>
          </p:cNvPr>
          <p:cNvSpPr>
            <a:spLocks noGrp="1"/>
          </p:cNvSpPr>
          <p:nvPr>
            <p:ph type="sldNum" sz="quarter" idx="12"/>
          </p:nvPr>
        </p:nvSpPr>
        <p:spPr/>
        <p:txBody>
          <a:bodyPr/>
          <a:lstStyle/>
          <a:p>
            <a:fld id="{201A5C1E-DE71-4D99-BC1E-739595F062E0}" type="slidenum">
              <a:rPr lang="fr-FR" smtClean="0"/>
              <a:t>27</a:t>
            </a:fld>
            <a:endParaRPr lang="fr-FR"/>
          </a:p>
        </p:txBody>
      </p:sp>
    </p:spTree>
    <p:extLst>
      <p:ext uri="{BB962C8B-B14F-4D97-AF65-F5344CB8AC3E}">
        <p14:creationId xmlns:p14="http://schemas.microsoft.com/office/powerpoint/2010/main" val="6046632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3969E10-8A52-BE84-71F9-CEE19A459758}"/>
              </a:ext>
            </a:extLst>
          </p:cNvPr>
          <p:cNvSpPr>
            <a:spLocks noGrp="1"/>
          </p:cNvSpPr>
          <p:nvPr>
            <p:ph type="title"/>
          </p:nvPr>
        </p:nvSpPr>
        <p:spPr/>
        <p:txBody>
          <a:bodyPr/>
          <a:lstStyle/>
          <a:p>
            <a:r>
              <a:rPr lang="fr-FR" dirty="0"/>
              <a:t>Partie 1.4</a:t>
            </a:r>
          </a:p>
        </p:txBody>
      </p:sp>
      <p:sp>
        <p:nvSpPr>
          <p:cNvPr id="3" name="Espace réservé du contenu 2">
            <a:extLst>
              <a:ext uri="{FF2B5EF4-FFF2-40B4-BE49-F238E27FC236}">
                <a16:creationId xmlns:a16="http://schemas.microsoft.com/office/drawing/2014/main" id="{56502267-B310-52D4-8F4B-1F794E4E87DC}"/>
              </a:ext>
            </a:extLst>
          </p:cNvPr>
          <p:cNvSpPr>
            <a:spLocks noGrp="1"/>
          </p:cNvSpPr>
          <p:nvPr>
            <p:ph idx="1"/>
          </p:nvPr>
        </p:nvSpPr>
        <p:spPr/>
        <p:txBody>
          <a:bodyPr>
            <a:normAutofit fontScale="77500" lnSpcReduction="20000"/>
          </a:bodyPr>
          <a:lstStyle/>
          <a:p>
            <a:r>
              <a:rPr lang="fr-FR" dirty="0"/>
              <a:t>O</a:t>
            </a:r>
            <a:r>
              <a:rPr lang="fr-FR" dirty="0">
                <a:solidFill>
                  <a:srgbClr val="FF0000"/>
                </a:solidFill>
              </a:rPr>
              <a:t>bj</a:t>
            </a:r>
            <a:r>
              <a:rPr lang="fr-FR" dirty="0"/>
              <a:t>ectifs: monter l’influence des différents correcteurs sur la réponse du système.</a:t>
            </a:r>
          </a:p>
          <a:p>
            <a:r>
              <a:rPr lang="fr-FR" dirty="0">
                <a:solidFill>
                  <a:srgbClr val="FF0000"/>
                </a:solidFill>
              </a:rPr>
              <a:t>Pré</a:t>
            </a:r>
            <a:r>
              <a:rPr lang="fr-FR" dirty="0"/>
              <a:t>requis: ce qu’ils devaient savoir en début de séquence + bases vues dans les deux 1ers cours sur les schémas blocs et la fonction d’un correcteur.</a:t>
            </a:r>
          </a:p>
          <a:p>
            <a:r>
              <a:rPr lang="fr-FR" dirty="0">
                <a:solidFill>
                  <a:srgbClr val="FF0000"/>
                </a:solidFill>
              </a:rPr>
              <a:t>Pla</a:t>
            </a:r>
            <a:r>
              <a:rPr lang="fr-FR" dirty="0"/>
              <a:t>cement milieu de semaine 2</a:t>
            </a:r>
          </a:p>
          <a:p>
            <a:r>
              <a:rPr lang="fr-FR" dirty="0"/>
              <a:t>Problématique+ déroulé : Comment améliorer les performances d’un système</a:t>
            </a:r>
          </a:p>
          <a:p>
            <a:r>
              <a:rPr lang="fr-FR" dirty="0"/>
              <a:t>Chane Energie info et but </a:t>
            </a:r>
            <a:r>
              <a:rPr lang="fr-FR" dirty="0" err="1"/>
              <a:t>tp</a:t>
            </a:r>
            <a:r>
              <a:rPr lang="fr-FR" dirty="0"/>
              <a:t> compléter le tableau des performances des différents correcteurs par comparaison de ce ci sur les trics habituels stabilité rapidité précision</a:t>
            </a:r>
          </a:p>
          <a:p>
            <a:r>
              <a:rPr lang="fr-FR" dirty="0"/>
              <a:t>Organisation en demi groupe ( donc 18 élèves) sur une séance de deux heures de TP si on a 7 systèmes cela fait ici 7+1=8 </a:t>
            </a:r>
            <a:r>
              <a:rPr lang="fr-FR" dirty="0" err="1"/>
              <a:t>sys</a:t>
            </a:r>
            <a:r>
              <a:rPr lang="fr-FR" dirty="0"/>
              <a:t> dispo donc 6*3 élèves</a:t>
            </a:r>
          </a:p>
          <a:p>
            <a:r>
              <a:rPr lang="fr-FR" dirty="0"/>
              <a:t>Tous les supports de </a:t>
            </a:r>
            <a:r>
              <a:rPr lang="fr-FR" dirty="0" err="1"/>
              <a:t>TPs</a:t>
            </a:r>
            <a:r>
              <a:rPr lang="fr-FR" dirty="0"/>
              <a:t> présents dans la salle sont compatibles avec le même TP car tous ont un correcteur =&gt; </a:t>
            </a:r>
            <a:r>
              <a:rPr lang="fr-FR" dirty="0" err="1"/>
              <a:t>mme</a:t>
            </a:r>
            <a:r>
              <a:rPr lang="fr-FR" dirty="0"/>
              <a:t> sujet </a:t>
            </a:r>
            <a:r>
              <a:rPr lang="fr-FR" dirty="0" err="1"/>
              <a:t>pr</a:t>
            </a:r>
            <a:r>
              <a:rPr lang="fr-FR" dirty="0"/>
              <a:t> chaque </a:t>
            </a:r>
            <a:r>
              <a:rPr lang="fr-FR" dirty="0" err="1"/>
              <a:t>grpe</a:t>
            </a:r>
            <a:endParaRPr lang="fr-FR" dirty="0"/>
          </a:p>
          <a:p>
            <a:r>
              <a:rPr lang="fr-FR" dirty="0"/>
              <a:t>Le sujet donne les différentes manips a faire et les gains correcteurs associées</a:t>
            </a:r>
          </a:p>
          <a:p>
            <a:endParaRPr lang="fr-FR" dirty="0"/>
          </a:p>
        </p:txBody>
      </p:sp>
      <p:sp>
        <p:nvSpPr>
          <p:cNvPr id="5" name="Espace réservé du numéro de diapositive 4">
            <a:extLst>
              <a:ext uri="{FF2B5EF4-FFF2-40B4-BE49-F238E27FC236}">
                <a16:creationId xmlns:a16="http://schemas.microsoft.com/office/drawing/2014/main" id="{4F3C85C8-1ADD-A891-8BC4-E06B3C023D12}"/>
              </a:ext>
            </a:extLst>
          </p:cNvPr>
          <p:cNvSpPr>
            <a:spLocks noGrp="1"/>
          </p:cNvSpPr>
          <p:nvPr>
            <p:ph type="sldNum" sz="quarter" idx="12"/>
          </p:nvPr>
        </p:nvSpPr>
        <p:spPr/>
        <p:txBody>
          <a:bodyPr/>
          <a:lstStyle/>
          <a:p>
            <a:fld id="{201A5C1E-DE71-4D99-BC1E-739595F062E0}" type="slidenum">
              <a:rPr lang="fr-FR" sz="2000" smtClean="0"/>
              <a:t>28</a:t>
            </a:fld>
            <a:endParaRPr lang="fr-FR" dirty="0"/>
          </a:p>
        </p:txBody>
      </p:sp>
    </p:spTree>
    <p:extLst>
      <p:ext uri="{BB962C8B-B14F-4D97-AF65-F5344CB8AC3E}">
        <p14:creationId xmlns:p14="http://schemas.microsoft.com/office/powerpoint/2010/main" val="11199081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12493E-5A77-5443-E5F8-E25B74772BC7}"/>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A0A3C46A-A7E0-DAC9-2E32-4F60AC37358A}"/>
              </a:ext>
            </a:extLst>
          </p:cNvPr>
          <p:cNvSpPr>
            <a:spLocks noGrp="1"/>
          </p:cNvSpPr>
          <p:nvPr>
            <p:ph idx="1"/>
          </p:nvPr>
        </p:nvSpPr>
        <p:spPr/>
        <p:txBody>
          <a:bodyPr/>
          <a:lstStyle/>
          <a:p>
            <a:r>
              <a:rPr lang="fr-FR" dirty="0"/>
              <a:t>Faire mesure avec tels valeurs qq constatez vous remplir un tableau pour chaque valeur puis a la fin faire tableau récapitulatif</a:t>
            </a:r>
          </a:p>
          <a:p>
            <a:r>
              <a:rPr lang="fr-FR" dirty="0"/>
              <a:t>Mesurer tr 5% es et oscillation </a:t>
            </a:r>
          </a:p>
          <a:p>
            <a:r>
              <a:rPr lang="fr-FR" dirty="0"/>
              <a:t>Aller plus vers l’écran du projecteur: être dynamique</a:t>
            </a:r>
          </a:p>
          <a:p>
            <a:r>
              <a:rPr lang="fr-FR" dirty="0"/>
              <a:t>Pourquoi pas écrire au tableau</a:t>
            </a:r>
          </a:p>
          <a:p>
            <a:r>
              <a:rPr lang="fr-FR" dirty="0"/>
              <a:t>Faire le trace pour la mesure du temps de réponse</a:t>
            </a:r>
          </a:p>
          <a:p>
            <a:r>
              <a:rPr lang="fr-FR" dirty="0"/>
              <a:t>Point clé attention lien BO connaissances compétences illustrer</a:t>
            </a:r>
          </a:p>
        </p:txBody>
      </p:sp>
      <p:sp>
        <p:nvSpPr>
          <p:cNvPr id="5" name="Espace réservé du numéro de diapositive 4">
            <a:extLst>
              <a:ext uri="{FF2B5EF4-FFF2-40B4-BE49-F238E27FC236}">
                <a16:creationId xmlns:a16="http://schemas.microsoft.com/office/drawing/2014/main" id="{564B285A-8FBC-444E-FD0B-ED0DD93920EC}"/>
              </a:ext>
            </a:extLst>
          </p:cNvPr>
          <p:cNvSpPr>
            <a:spLocks noGrp="1"/>
          </p:cNvSpPr>
          <p:nvPr>
            <p:ph type="sldNum" sz="quarter" idx="12"/>
          </p:nvPr>
        </p:nvSpPr>
        <p:spPr/>
        <p:txBody>
          <a:bodyPr/>
          <a:lstStyle/>
          <a:p>
            <a:fld id="{201A5C1E-DE71-4D99-BC1E-739595F062E0}" type="slidenum">
              <a:rPr lang="fr-FR" sz="2000" smtClean="0"/>
              <a:t>29</a:t>
            </a:fld>
            <a:endParaRPr lang="fr-FR" dirty="0"/>
          </a:p>
        </p:txBody>
      </p:sp>
      <p:sp>
        <p:nvSpPr>
          <p:cNvPr id="7" name="Rectangle 6">
            <a:extLst>
              <a:ext uri="{FF2B5EF4-FFF2-40B4-BE49-F238E27FC236}">
                <a16:creationId xmlns:a16="http://schemas.microsoft.com/office/drawing/2014/main" id="{1D96F342-07BE-38AB-9C4B-E6D8542FB1C8}"/>
              </a:ext>
            </a:extLst>
          </p:cNvPr>
          <p:cNvSpPr/>
          <p:nvPr/>
        </p:nvSpPr>
        <p:spPr>
          <a:xfrm>
            <a:off x="2361844" y="5835142"/>
            <a:ext cx="965437" cy="521208"/>
          </a:xfrm>
          <a:prstGeom prst="rect">
            <a:avLst/>
          </a:prstGeom>
          <a:solidFill>
            <a:srgbClr val="FFEBB9"/>
          </a:solidFill>
          <a:ln>
            <a:solidFill>
              <a:srgbClr val="FFEB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9" name="Connecteur droit 8">
            <a:extLst>
              <a:ext uri="{FF2B5EF4-FFF2-40B4-BE49-F238E27FC236}">
                <a16:creationId xmlns:a16="http://schemas.microsoft.com/office/drawing/2014/main" id="{E58AD993-A170-31EC-A6B8-B28D5DFCC69D}"/>
              </a:ext>
            </a:extLst>
          </p:cNvPr>
          <p:cNvCxnSpPr>
            <a:cxnSpLocks/>
          </p:cNvCxnSpPr>
          <p:nvPr/>
        </p:nvCxnSpPr>
        <p:spPr>
          <a:xfrm>
            <a:off x="3232031" y="4339971"/>
            <a:ext cx="190500" cy="0"/>
          </a:xfrm>
          <a:prstGeom prst="line">
            <a:avLst/>
          </a:prstGeom>
          <a:ln w="57150"/>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414660089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2716</Words>
  <Application>Microsoft Office PowerPoint</Application>
  <PresentationFormat>Grand écran</PresentationFormat>
  <Paragraphs>482</Paragraphs>
  <Slides>29</Slides>
  <Notes>27</Notes>
  <HiddenSlides>7</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29</vt:i4>
      </vt:variant>
    </vt:vector>
  </HeadingPairs>
  <TitlesOfParts>
    <vt:vector size="33" baseType="lpstr">
      <vt:lpstr>Arial</vt:lpstr>
      <vt:lpstr>Calibri</vt:lpstr>
      <vt:lpstr>Calibri Light</vt:lpstr>
      <vt:lpstr>Thème Office</vt:lpstr>
      <vt:lpstr>Epreuve d’activité pratique et d’exploitation pédagogique relatives à l’approche globale d’un système pluri technologique</vt:lpstr>
      <vt:lpstr>Sommaire</vt:lpstr>
      <vt:lpstr>Contexte pédagogique</vt:lpstr>
      <vt:lpstr>Contexte pédagogique</vt:lpstr>
      <vt:lpstr>Compétences</vt:lpstr>
      <vt:lpstr>Compétences à acquérir pour cette séquence</vt:lpstr>
      <vt:lpstr>TD1 2h</vt:lpstr>
      <vt:lpstr>TP2 (IT) 3h</vt:lpstr>
      <vt:lpstr>TP3 3h</vt:lpstr>
      <vt:lpstr>TP5(IT) 3h</vt:lpstr>
      <vt:lpstr>Présentation PowerPoint</vt:lpstr>
      <vt:lpstr>TD3 2h</vt:lpstr>
      <vt:lpstr>COURS 3 1h</vt:lpstr>
      <vt:lpstr>Présentation PowerPoint</vt:lpstr>
      <vt:lpstr>Evaluations</vt:lpstr>
      <vt:lpstr>Pertinence du robot MaxPID  pour la séquence</vt:lpstr>
      <vt:lpstr>Présentation PowerPoint</vt:lpstr>
      <vt:lpstr>Déroulé</vt:lpstr>
      <vt:lpstr>Activité 2: loi géométrique du bras</vt:lpstr>
      <vt:lpstr>Activité 3: mesure expérimentale de la loi</vt:lpstr>
      <vt:lpstr>Activité 3: Mesure expérimentale: résultats:</vt:lpstr>
      <vt:lpstr>Conclusion du TP</vt:lpstr>
      <vt:lpstr>Conclusion de la séquence</vt:lpstr>
      <vt:lpstr>Présentation PowerPoint</vt:lpstr>
      <vt:lpstr>Présentation PowerPoint</vt:lpstr>
      <vt:lpstr>Présentation PowerPoint</vt:lpstr>
      <vt:lpstr>SCE</vt:lpstr>
      <vt:lpstr>Partie 1.4</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Previsani Arthur</dc:creator>
  <cp:lastModifiedBy>Hugues Brice</cp:lastModifiedBy>
  <cp:revision>19</cp:revision>
  <dcterms:created xsi:type="dcterms:W3CDTF">2026-03-05T13:15:03Z</dcterms:created>
  <dcterms:modified xsi:type="dcterms:W3CDTF">2026-06-05T18:16:57Z</dcterms:modified>
</cp:coreProperties>
</file>