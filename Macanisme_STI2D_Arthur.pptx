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omments/comment1.xml" ContentType="application/vnd.openxmlformats-officedocument.presentationml.comments+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86" r:id="rId2"/>
    <p:sldId id="289" r:id="rId3"/>
    <p:sldId id="293" r:id="rId4"/>
    <p:sldId id="290" r:id="rId5"/>
    <p:sldId id="294" r:id="rId6"/>
    <p:sldId id="295" r:id="rId7"/>
    <p:sldId id="296" r:id="rId8"/>
    <p:sldId id="297" r:id="rId9"/>
    <p:sldId id="298" r:id="rId10"/>
    <p:sldId id="299" r:id="rId11"/>
    <p:sldId id="300" r:id="rId12"/>
    <p:sldId id="303" r:id="rId13"/>
    <p:sldId id="304" r:id="rId14"/>
    <p:sldId id="305" r:id="rId15"/>
    <p:sldId id="292" r:id="rId16"/>
    <p:sldId id="306" r:id="rId17"/>
    <p:sldId id="301" r:id="rId18"/>
    <p:sldId id="310" r:id="rId19"/>
    <p:sldId id="309" r:id="rId20"/>
    <p:sldId id="308" r:id="rId21"/>
    <p:sldId id="311" r:id="rId22"/>
    <p:sldId id="312" r:id="rId23"/>
    <p:sldId id="281" r:id="rId24"/>
    <p:sldId id="313" r:id="rId25"/>
    <p:sldId id="291" r:id="rId26"/>
    <p:sldId id="287" r:id="rId27"/>
    <p:sldId id="288" r:id="rId28"/>
    <p:sldId id="270" r:id="rId29"/>
    <p:sldId id="272" r:id="rId30"/>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revisani Arthur" initials="AP" lastIdx="1" clrIdx="0">
    <p:extLst>
      <p:ext uri="{19B8F6BF-5375-455C-9EA6-DF929625EA0E}">
        <p15:presenceInfo xmlns:p15="http://schemas.microsoft.com/office/powerpoint/2012/main" userId="S::arthur.previsani@ens-rennes.fr::121b42a6-0d5d-437c-9257-bdea03a971e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EB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1D8D08E-947C-426A-A892-DFCC1C69A54F}" v="1" dt="2026-06-07T12:00:15.421"/>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702" autoAdjust="0"/>
    <p:restoredTop sz="75621" autoAdjust="0"/>
  </p:normalViewPr>
  <p:slideViewPr>
    <p:cSldViewPr snapToGrid="0">
      <p:cViewPr varScale="1">
        <p:scale>
          <a:sx n="84" d="100"/>
          <a:sy n="84" d="100"/>
        </p:scale>
        <p:origin x="1530"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ugues Brice" userId="c7df3fbd-a2ff-4947-a36f-3c79731735f9" providerId="ADAL" clId="{11C87FC2-1AF0-40DF-92CC-B891D987192B}"/>
    <pc:docChg chg="modSld">
      <pc:chgData name="Hugues Brice" userId="c7df3fbd-a2ff-4947-a36f-3c79731735f9" providerId="ADAL" clId="{11C87FC2-1AF0-40DF-92CC-B891D987192B}" dt="2026-06-07T12:23:22.475" v="1" actId="20577"/>
      <pc:docMkLst>
        <pc:docMk/>
      </pc:docMkLst>
      <pc:sldChg chg="modSp mod">
        <pc:chgData name="Hugues Brice" userId="c7df3fbd-a2ff-4947-a36f-3c79731735f9" providerId="ADAL" clId="{11C87FC2-1AF0-40DF-92CC-B891D987192B}" dt="2026-06-07T12:23:22.475" v="1" actId="20577"/>
        <pc:sldMkLst>
          <pc:docMk/>
          <pc:sldMk cId="2208400122" sldId="293"/>
        </pc:sldMkLst>
        <pc:spChg chg="mod">
          <ac:chgData name="Hugues Brice" userId="c7df3fbd-a2ff-4947-a36f-3c79731735f9" providerId="ADAL" clId="{11C87FC2-1AF0-40DF-92CC-B891D987192B}" dt="2026-06-07T12:23:22.475" v="1" actId="20577"/>
          <ac:spMkLst>
            <pc:docMk/>
            <pc:sldMk cId="2208400122" sldId="293"/>
            <ac:spMk id="6" creationId="{C44D3443-A7A0-E1C5-08ED-AE723CB105B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C:\Users\Nounouille\Documents\Cle_esd\3eme_ann&#233;e\3B\Prepa%20oral%20commun\MaxPID\test%20tp%20&#233;lev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000" b="0" i="0" u="none" strike="noStrike" kern="1200" spc="0" baseline="0">
                <a:solidFill>
                  <a:schemeClr val="tx1">
                    <a:lumMod val="65000"/>
                    <a:lumOff val="35000"/>
                  </a:schemeClr>
                </a:solidFill>
                <a:latin typeface="+mn-lt"/>
                <a:ea typeface="+mn-ea"/>
                <a:cs typeface="+mn-cs"/>
              </a:defRPr>
            </a:pPr>
            <a:r>
              <a:rPr lang="fr-FR" sz="2000"/>
              <a:t>Angle</a:t>
            </a:r>
            <a:r>
              <a:rPr lang="fr-FR" sz="2000" baseline="0"/>
              <a:t> b</a:t>
            </a:r>
            <a:r>
              <a:rPr lang="fr-FR" sz="2000"/>
              <a:t>ras</a:t>
            </a:r>
            <a:r>
              <a:rPr lang="fr-FR" sz="2000" baseline="0"/>
              <a:t> géométrique vs mesuré</a:t>
            </a:r>
            <a:endParaRPr lang="fr-FR" sz="2000"/>
          </a:p>
        </c:rich>
      </c:tx>
      <c:overlay val="0"/>
      <c:spPr>
        <a:noFill/>
        <a:ln>
          <a:noFill/>
        </a:ln>
        <a:effectLst/>
      </c:spPr>
      <c:txPr>
        <a:bodyPr rot="0" spcFirstLastPara="1" vertOverflow="ellipsis" vert="horz" wrap="square" anchor="ctr" anchorCtr="1"/>
        <a:lstStyle/>
        <a:p>
          <a:pPr>
            <a:defRPr sz="2000" b="0" i="0" u="none" strike="noStrike" kern="1200" spc="0" baseline="0">
              <a:solidFill>
                <a:schemeClr val="tx1">
                  <a:lumMod val="65000"/>
                  <a:lumOff val="35000"/>
                </a:schemeClr>
              </a:solidFill>
              <a:latin typeface="+mn-lt"/>
              <a:ea typeface="+mn-ea"/>
              <a:cs typeface="+mn-cs"/>
            </a:defRPr>
          </a:pPr>
          <a:endParaRPr lang="fr-FR"/>
        </a:p>
      </c:txPr>
    </c:title>
    <c:autoTitleDeleted val="0"/>
    <c:plotArea>
      <c:layout/>
      <c:scatterChart>
        <c:scatterStyle val="smoothMarker"/>
        <c:varyColors val="0"/>
        <c:ser>
          <c:idx val="1"/>
          <c:order val="1"/>
          <c:tx>
            <c:strRef>
              <c:f>Feuil1!$E$2</c:f>
              <c:strCache>
                <c:ptCount val="1"/>
                <c:pt idx="0">
                  <c:v>theta bras</c:v>
                </c:pt>
              </c:strCache>
            </c:strRef>
          </c:tx>
          <c:spPr>
            <a:ln w="19050" cap="rnd">
              <a:solidFill>
                <a:schemeClr val="accent2"/>
              </a:solidFill>
              <a:round/>
            </a:ln>
            <a:effectLst/>
          </c:spPr>
          <c:marker>
            <c:symbol val="none"/>
          </c:marker>
          <c:xVal>
            <c:numRef>
              <c:f>Feuil1!$B$3:$B$29</c:f>
              <c:numCache>
                <c:formatCode>General</c:formatCode>
                <c:ptCount val="27"/>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numCache>
            </c:numRef>
          </c:xVal>
          <c:yVal>
            <c:numRef>
              <c:f>Feuil1!$E$3:$E$29</c:f>
              <c:numCache>
                <c:formatCode>General</c:formatCode>
                <c:ptCount val="27"/>
                <c:pt idx="0">
                  <c:v>1.4886657508795054</c:v>
                </c:pt>
                <c:pt idx="1">
                  <c:v>7.1171683766062444</c:v>
                </c:pt>
                <c:pt idx="2">
                  <c:v>12.021886846648044</c:v>
                </c:pt>
                <c:pt idx="3">
                  <c:v>16.595269320894602</c:v>
                </c:pt>
                <c:pt idx="4">
                  <c:v>20.90336657954569</c:v>
                </c:pt>
                <c:pt idx="5">
                  <c:v>25.098495583814866</c:v>
                </c:pt>
                <c:pt idx="6">
                  <c:v>28.900810221608864</c:v>
                </c:pt>
                <c:pt idx="7">
                  <c:v>32.652543306471244</c:v>
                </c:pt>
                <c:pt idx="8">
                  <c:v>36.363656567816975</c:v>
                </c:pt>
                <c:pt idx="9">
                  <c:v>39.952101070170343</c:v>
                </c:pt>
                <c:pt idx="10">
                  <c:v>43.345147592760753</c:v>
                </c:pt>
                <c:pt idx="11">
                  <c:v>46.648082360029136</c:v>
                </c:pt>
                <c:pt idx="12">
                  <c:v>49.787081075042067</c:v>
                </c:pt>
                <c:pt idx="13">
                  <c:v>52.858162916071592</c:v>
                </c:pt>
                <c:pt idx="14">
                  <c:v>56.270775119020072</c:v>
                </c:pt>
                <c:pt idx="15">
                  <c:v>60.086244664550733</c:v>
                </c:pt>
                <c:pt idx="16">
                  <c:v>62.352423873148453</c:v>
                </c:pt>
                <c:pt idx="17">
                  <c:v>65.282173360681369</c:v>
                </c:pt>
                <c:pt idx="18">
                  <c:v>68.246899095079769</c:v>
                </c:pt>
                <c:pt idx="19">
                  <c:v>71.173873670547195</c:v>
                </c:pt>
                <c:pt idx="20">
                  <c:v>74.067799984362139</c:v>
                </c:pt>
                <c:pt idx="21">
                  <c:v>77.006359700021193</c:v>
                </c:pt>
                <c:pt idx="22">
                  <c:v>80.064877172088671</c:v>
                </c:pt>
                <c:pt idx="23">
                  <c:v>83.029283161227411</c:v>
                </c:pt>
                <c:pt idx="24">
                  <c:v>85.691058976200011</c:v>
                </c:pt>
                <c:pt idx="25">
                  <c:v>88.917782633432452</c:v>
                </c:pt>
                <c:pt idx="26">
                  <c:v>91.4247611972702</c:v>
                </c:pt>
              </c:numCache>
            </c:numRef>
          </c:yVal>
          <c:smooth val="1"/>
          <c:extLst>
            <c:ext xmlns:c16="http://schemas.microsoft.com/office/drawing/2014/chart" uri="{C3380CC4-5D6E-409C-BE32-E72D297353CC}">
              <c16:uniqueId val="{00000000-040E-4CAC-88F8-8D24F2ACDA82}"/>
            </c:ext>
          </c:extLst>
        </c:ser>
        <c:dLbls>
          <c:showLegendKey val="0"/>
          <c:showVal val="0"/>
          <c:showCatName val="0"/>
          <c:showSerName val="0"/>
          <c:showPercent val="0"/>
          <c:showBubbleSize val="0"/>
        </c:dLbls>
        <c:axId val="500908064"/>
        <c:axId val="112438768"/>
      </c:scatterChart>
      <c:scatterChart>
        <c:scatterStyle val="lineMarker"/>
        <c:varyColors val="0"/>
        <c:ser>
          <c:idx val="0"/>
          <c:order val="0"/>
          <c:tx>
            <c:strRef>
              <c:f>Feuil1!$D$2</c:f>
              <c:strCache>
                <c:ptCount val="1"/>
                <c:pt idx="0">
                  <c:v>therta bras réél</c:v>
                </c:pt>
              </c:strCache>
            </c:strRef>
          </c:tx>
          <c:spPr>
            <a:ln w="25400" cap="rnd">
              <a:noFill/>
              <a:round/>
            </a:ln>
            <a:effectLst/>
          </c:spPr>
          <c:marker>
            <c:symbol val="circle"/>
            <c:size val="5"/>
            <c:spPr>
              <a:solidFill>
                <a:schemeClr val="accent1"/>
              </a:solidFill>
              <a:ln w="9525">
                <a:solidFill>
                  <a:schemeClr val="accent1"/>
                </a:solidFill>
              </a:ln>
              <a:effectLst/>
            </c:spPr>
          </c:marker>
          <c:xVal>
            <c:numRef>
              <c:f>Feuil1!$B$3:$B$29</c:f>
              <c:numCache>
                <c:formatCode>General</c:formatCode>
                <c:ptCount val="27"/>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numCache>
            </c:numRef>
          </c:xVal>
          <c:yVal>
            <c:numRef>
              <c:f>Feuil1!$D$3:$D$29</c:f>
              <c:numCache>
                <c:formatCode>General</c:formatCode>
                <c:ptCount val="27"/>
                <c:pt idx="0">
                  <c:v>1.6</c:v>
                </c:pt>
                <c:pt idx="1">
                  <c:v>7</c:v>
                </c:pt>
                <c:pt idx="2">
                  <c:v>12</c:v>
                </c:pt>
                <c:pt idx="3">
                  <c:v>16.600000000000001</c:v>
                </c:pt>
                <c:pt idx="4">
                  <c:v>20.9</c:v>
                </c:pt>
                <c:pt idx="5">
                  <c:v>25.1</c:v>
                </c:pt>
                <c:pt idx="6">
                  <c:v>28.9</c:v>
                </c:pt>
                <c:pt idx="7">
                  <c:v>32.700000000000003</c:v>
                </c:pt>
                <c:pt idx="8">
                  <c:v>36.14</c:v>
                </c:pt>
                <c:pt idx="9">
                  <c:v>40</c:v>
                </c:pt>
                <c:pt idx="10">
                  <c:v>43.4</c:v>
                </c:pt>
                <c:pt idx="11">
                  <c:v>46.7</c:v>
                </c:pt>
                <c:pt idx="12">
                  <c:v>49.8</c:v>
                </c:pt>
                <c:pt idx="13">
                  <c:v>52.9</c:v>
                </c:pt>
                <c:pt idx="14">
                  <c:v>56.3</c:v>
                </c:pt>
                <c:pt idx="15">
                  <c:v>59.3</c:v>
                </c:pt>
                <c:pt idx="16">
                  <c:v>62.4</c:v>
                </c:pt>
                <c:pt idx="17">
                  <c:v>65.3</c:v>
                </c:pt>
                <c:pt idx="18">
                  <c:v>68.3</c:v>
                </c:pt>
                <c:pt idx="19">
                  <c:v>71.2</c:v>
                </c:pt>
                <c:pt idx="20">
                  <c:v>74.099999999999994</c:v>
                </c:pt>
                <c:pt idx="21">
                  <c:v>77</c:v>
                </c:pt>
                <c:pt idx="22">
                  <c:v>80.099999999999994</c:v>
                </c:pt>
                <c:pt idx="23">
                  <c:v>83.1</c:v>
                </c:pt>
                <c:pt idx="24">
                  <c:v>85.7</c:v>
                </c:pt>
                <c:pt idx="25">
                  <c:v>88.6</c:v>
                </c:pt>
                <c:pt idx="26">
                  <c:v>91.4</c:v>
                </c:pt>
              </c:numCache>
            </c:numRef>
          </c:yVal>
          <c:smooth val="0"/>
          <c:extLst>
            <c:ext xmlns:c16="http://schemas.microsoft.com/office/drawing/2014/chart" uri="{C3380CC4-5D6E-409C-BE32-E72D297353CC}">
              <c16:uniqueId val="{00000001-040E-4CAC-88F8-8D24F2ACDA82}"/>
            </c:ext>
          </c:extLst>
        </c:ser>
        <c:dLbls>
          <c:showLegendKey val="0"/>
          <c:showVal val="0"/>
          <c:showCatName val="0"/>
          <c:showSerName val="0"/>
          <c:showPercent val="0"/>
          <c:showBubbleSize val="0"/>
        </c:dLbls>
        <c:axId val="500908064"/>
        <c:axId val="112438768"/>
      </c:scatterChart>
      <c:valAx>
        <c:axId val="50090806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r>
                  <a:rPr lang="fr-FR" sz="1600"/>
                  <a:t>Nb</a:t>
                </a:r>
                <a:r>
                  <a:rPr lang="fr-FR" sz="1600" baseline="0"/>
                  <a:t> tours moteur</a:t>
                </a:r>
                <a:endParaRPr lang="fr-FR" sz="1600"/>
              </a:p>
            </c:rich>
          </c:tx>
          <c:overlay val="0"/>
          <c:spPr>
            <a:noFill/>
            <a:ln>
              <a:noFill/>
            </a:ln>
            <a:effectLst/>
          </c:spPr>
          <c:txPr>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fr-FR"/>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fr-FR"/>
          </a:p>
        </c:txPr>
        <c:crossAx val="112438768"/>
        <c:crosses val="autoZero"/>
        <c:crossBetween val="midCat"/>
      </c:valAx>
      <c:valAx>
        <c:axId val="112438768"/>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fr-FR" sz="1800" dirty="0" err="1"/>
                  <a:t>Theta</a:t>
                </a:r>
                <a:r>
                  <a:rPr lang="fr-FR" sz="1800" baseline="0" dirty="0"/>
                  <a:t> (</a:t>
                </a:r>
                <a:r>
                  <a:rPr lang="fr-FR" sz="1800" baseline="0" dirty="0" err="1"/>
                  <a:t>deg</a:t>
                </a:r>
                <a:r>
                  <a:rPr lang="fr-FR" sz="1800" baseline="0" dirty="0"/>
                  <a:t>)</a:t>
                </a:r>
                <a:endParaRPr lang="fr-FR" dirty="0"/>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fr-FR"/>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fr-FR"/>
          </a:p>
        </c:txPr>
        <c:crossAx val="500908064"/>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1" dt="2026-04-09T00:51:47.169" idx="1">
    <p:pos x="10" y="10"/>
    <p:text/>
    <p:extLst>
      <p:ext uri="{C676402C-5697-4E1C-873F-D02D1690AC5C}">
        <p15:threadingInfo xmlns:p15="http://schemas.microsoft.com/office/powerpoint/2012/main" timeZoneBias="-12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236737-801A-413E-B812-23FEA7ECAC28}" type="datetimeFigureOut">
              <a:rPr lang="fr-FR" smtClean="0"/>
              <a:t>07/06/2026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2E731D1-85AE-4366-B364-066FEADE3F45}" type="slidenum">
              <a:rPr lang="fr-FR" smtClean="0"/>
              <a:t>‹N°›</a:t>
            </a:fld>
            <a:endParaRPr lang="fr-FR"/>
          </a:p>
        </p:txBody>
      </p:sp>
    </p:spTree>
    <p:extLst>
      <p:ext uri="{BB962C8B-B14F-4D97-AF65-F5344CB8AC3E}">
        <p14:creationId xmlns:p14="http://schemas.microsoft.com/office/powerpoint/2010/main" val="18338069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5"/>
          </p:nvPr>
        </p:nvSpPr>
        <p:spPr/>
        <p:txBody>
          <a:bodyPr/>
          <a:lstStyle/>
          <a:p>
            <a:fld id="{B2E731D1-85AE-4366-B364-066FEADE3F45}" type="slidenum">
              <a:rPr lang="fr-FR" smtClean="0"/>
              <a:t>1</a:t>
            </a:fld>
            <a:endParaRPr lang="fr-FR"/>
          </a:p>
        </p:txBody>
      </p:sp>
    </p:spTree>
    <p:extLst>
      <p:ext uri="{BB962C8B-B14F-4D97-AF65-F5344CB8AC3E}">
        <p14:creationId xmlns:p14="http://schemas.microsoft.com/office/powerpoint/2010/main" val="12302219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0A278B-2F82-28AE-8320-546178616D9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0B0257B-1588-154B-4B3C-70FBE8E72E3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6487B09-F6EE-27A6-5104-867A8C536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a:extLst>
              <a:ext uri="{FF2B5EF4-FFF2-40B4-BE49-F238E27FC236}">
                <a16:creationId xmlns:a16="http://schemas.microsoft.com/office/drawing/2014/main" id="{B5BB907E-A0D7-7B0D-9D8F-2178DBF79958}"/>
              </a:ext>
            </a:extLst>
          </p:cNvPr>
          <p:cNvSpPr>
            <a:spLocks noGrp="1"/>
          </p:cNvSpPr>
          <p:nvPr>
            <p:ph type="sldNum" sz="quarter" idx="5"/>
          </p:nvPr>
        </p:nvSpPr>
        <p:spPr/>
        <p:txBody>
          <a:bodyPr/>
          <a:lstStyle/>
          <a:p>
            <a:fld id="{B2E731D1-85AE-4366-B364-066FEADE3F45}" type="slidenum">
              <a:rPr lang="fr-FR" smtClean="0"/>
              <a:t>2</a:t>
            </a:fld>
            <a:endParaRPr lang="fr-FR"/>
          </a:p>
        </p:txBody>
      </p:sp>
    </p:spTree>
    <p:extLst>
      <p:ext uri="{BB962C8B-B14F-4D97-AF65-F5344CB8AC3E}">
        <p14:creationId xmlns:p14="http://schemas.microsoft.com/office/powerpoint/2010/main" val="5992581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Taille classe nb heure placer séquence dans année</a:t>
            </a:r>
          </a:p>
          <a:p>
            <a:r>
              <a:rPr lang="fr-FR" dirty="0"/>
              <a:t>Pas TP, cours, TD (réservé a la prépa) mais activité pratique et activité dirigée (Cours TD) pour les sti2d</a:t>
            </a:r>
          </a:p>
          <a:p>
            <a:r>
              <a:rPr lang="fr-FR" dirty="0"/>
              <a:t>Objectifs séquence</a:t>
            </a:r>
          </a:p>
          <a:p>
            <a:r>
              <a:rPr lang="fr-FR" dirty="0"/>
              <a:t>Prérequis connaissances a transmettre</a:t>
            </a:r>
          </a:p>
          <a:p>
            <a:r>
              <a:rPr lang="fr-FR" dirty="0"/>
              <a:t>Prog annuelle les grades lignes</a:t>
            </a:r>
          </a:p>
          <a:p>
            <a:r>
              <a:rPr lang="fr-FR" dirty="0"/>
              <a:t>Puis architecture séquence bien détailler chaque module</a:t>
            </a:r>
          </a:p>
          <a:p>
            <a:r>
              <a:rPr lang="fr-FR" dirty="0"/>
              <a:t>Innovation, ingénierie et développement durable</a:t>
            </a:r>
          </a:p>
          <a:p>
            <a:r>
              <a:rPr lang="fr-FR" sz="1200" b="1" i="0" kern="1200" dirty="0">
                <a:solidFill>
                  <a:schemeClr val="tx1"/>
                </a:solidFill>
                <a:effectLst/>
                <a:latin typeface="+mn-lt"/>
                <a:ea typeface="+mn-ea"/>
                <a:cs typeface="+mn-cs"/>
              </a:rPr>
              <a:t>Innovation Technologique et Éco-Conception</a:t>
            </a:r>
            <a:endParaRPr lang="fr-FR" dirty="0"/>
          </a:p>
          <a:p>
            <a:r>
              <a:rPr lang="fr-FR" dirty="0" err="1"/>
              <a:t>Ac</a:t>
            </a:r>
            <a:r>
              <a:rPr lang="fr-FR" dirty="0"/>
              <a:t> </a:t>
            </a:r>
            <a:r>
              <a:rPr lang="fr-FR" dirty="0" err="1"/>
              <a:t>monpelier</a:t>
            </a:r>
            <a:r>
              <a:rPr lang="fr-FR" dirty="0"/>
              <a:t> limoges ou orléans et </a:t>
            </a:r>
            <a:r>
              <a:rPr lang="fr-FR" dirty="0" err="1"/>
              <a:t>éduscol</a:t>
            </a:r>
            <a:endParaRPr lang="fr-FR" dirty="0"/>
          </a:p>
          <a:p>
            <a:r>
              <a:rPr lang="fr-FR" dirty="0" err="1"/>
              <a:t>Preciser</a:t>
            </a:r>
            <a:r>
              <a:rPr lang="fr-FR" dirty="0"/>
              <a:t> </a:t>
            </a:r>
            <a:r>
              <a:rPr lang="fr-FR" dirty="0" err="1"/>
              <a:t>effictif</a:t>
            </a:r>
            <a:r>
              <a:rPr lang="fr-FR" dirty="0"/>
              <a:t> </a:t>
            </a:r>
            <a:r>
              <a:rPr lang="fr-FR" dirty="0" err="1"/>
              <a:t>allége</a:t>
            </a:r>
            <a:r>
              <a:rPr lang="fr-FR" dirty="0"/>
              <a:t> classe </a:t>
            </a:r>
            <a:r>
              <a:rPr lang="fr-FR" dirty="0" err="1"/>
              <a:t>entiere</a:t>
            </a:r>
            <a:endParaRPr lang="fr-FR" dirty="0"/>
          </a:p>
          <a:p>
            <a:r>
              <a:rPr lang="fr-FR" dirty="0"/>
              <a:t>2i2d 3h demi 1h complet spé 6h demi 2h demi</a:t>
            </a:r>
          </a:p>
        </p:txBody>
      </p:sp>
      <p:sp>
        <p:nvSpPr>
          <p:cNvPr id="4" name="Espace réservé du numéro de diapositive 3"/>
          <p:cNvSpPr>
            <a:spLocks noGrp="1"/>
          </p:cNvSpPr>
          <p:nvPr>
            <p:ph type="sldNum" sz="quarter" idx="5"/>
          </p:nvPr>
        </p:nvSpPr>
        <p:spPr/>
        <p:txBody>
          <a:bodyPr/>
          <a:lstStyle/>
          <a:p>
            <a:fld id="{B2E731D1-85AE-4366-B364-066FEADE3F45}" type="slidenum">
              <a:rPr lang="fr-FR" smtClean="0"/>
              <a:t>3</a:t>
            </a:fld>
            <a:endParaRPr lang="fr-FR"/>
          </a:p>
        </p:txBody>
      </p:sp>
    </p:spTree>
    <p:extLst>
      <p:ext uri="{BB962C8B-B14F-4D97-AF65-F5344CB8AC3E}">
        <p14:creationId xmlns:p14="http://schemas.microsoft.com/office/powerpoint/2010/main" val="23307221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9B4E1-1D79-FC71-9ED7-449084A2DF5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FDC4E8F-D9FD-962A-A1E2-09DA0BC6B58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199CA46-B780-930F-C12C-E1076D2D5D1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solidFill>
                  <a:srgbClr val="FF0000"/>
                </a:solidFill>
              </a:rPr>
              <a:t>Séquence 2 (7 et 10 )</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a:extLst>
              <a:ext uri="{FF2B5EF4-FFF2-40B4-BE49-F238E27FC236}">
                <a16:creationId xmlns:a16="http://schemas.microsoft.com/office/drawing/2014/main" id="{EE13B35F-F2E1-A50B-A291-D18B43B6DFAE}"/>
              </a:ext>
            </a:extLst>
          </p:cNvPr>
          <p:cNvSpPr>
            <a:spLocks noGrp="1"/>
          </p:cNvSpPr>
          <p:nvPr>
            <p:ph type="sldNum" sz="quarter" idx="5"/>
          </p:nvPr>
        </p:nvSpPr>
        <p:spPr/>
        <p:txBody>
          <a:bodyPr/>
          <a:lstStyle/>
          <a:p>
            <a:fld id="{B2E731D1-85AE-4366-B364-066FEADE3F45}" type="slidenum">
              <a:rPr lang="fr-FR" smtClean="0"/>
              <a:t>4</a:t>
            </a:fld>
            <a:endParaRPr lang="fr-FR"/>
          </a:p>
        </p:txBody>
      </p:sp>
    </p:spTree>
    <p:extLst>
      <p:ext uri="{BB962C8B-B14F-4D97-AF65-F5344CB8AC3E}">
        <p14:creationId xmlns:p14="http://schemas.microsoft.com/office/powerpoint/2010/main" val="3561162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3FA27-FB54-CA67-6B67-0F02ABA923B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C796CA6-7400-02A9-00EB-2A940D29B65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3532D0B7-D5BA-6012-E3B0-0BC1CF84F6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a:extLst>
              <a:ext uri="{FF2B5EF4-FFF2-40B4-BE49-F238E27FC236}">
                <a16:creationId xmlns:a16="http://schemas.microsoft.com/office/drawing/2014/main" id="{B91D5D22-A674-A9A8-7CC2-70C7858FF831}"/>
              </a:ext>
            </a:extLst>
          </p:cNvPr>
          <p:cNvSpPr>
            <a:spLocks noGrp="1"/>
          </p:cNvSpPr>
          <p:nvPr>
            <p:ph type="sldNum" sz="quarter" idx="5"/>
          </p:nvPr>
        </p:nvSpPr>
        <p:spPr/>
        <p:txBody>
          <a:bodyPr/>
          <a:lstStyle/>
          <a:p>
            <a:fld id="{B2E731D1-85AE-4366-B364-066FEADE3F45}" type="slidenum">
              <a:rPr lang="fr-FR" smtClean="0"/>
              <a:t>5</a:t>
            </a:fld>
            <a:endParaRPr lang="fr-FR"/>
          </a:p>
        </p:txBody>
      </p:sp>
    </p:spTree>
    <p:extLst>
      <p:ext uri="{BB962C8B-B14F-4D97-AF65-F5344CB8AC3E}">
        <p14:creationId xmlns:p14="http://schemas.microsoft.com/office/powerpoint/2010/main" val="35916815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05FBA-1815-5BF0-76AC-286B45DC92D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5DD06FE-5259-9D0C-2CE8-DF790AB5EE6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D7AF649-8226-FE40-CEA7-A62F2E8BE02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a:extLst>
              <a:ext uri="{FF2B5EF4-FFF2-40B4-BE49-F238E27FC236}">
                <a16:creationId xmlns:a16="http://schemas.microsoft.com/office/drawing/2014/main" id="{1CAD525A-C2F4-CA78-721A-BA497776A342}"/>
              </a:ext>
            </a:extLst>
          </p:cNvPr>
          <p:cNvSpPr>
            <a:spLocks noGrp="1"/>
          </p:cNvSpPr>
          <p:nvPr>
            <p:ph type="sldNum" sz="quarter" idx="5"/>
          </p:nvPr>
        </p:nvSpPr>
        <p:spPr/>
        <p:txBody>
          <a:bodyPr/>
          <a:lstStyle/>
          <a:p>
            <a:fld id="{B2E731D1-85AE-4366-B364-066FEADE3F45}" type="slidenum">
              <a:rPr lang="fr-FR" smtClean="0"/>
              <a:t>6</a:t>
            </a:fld>
            <a:endParaRPr lang="fr-FR"/>
          </a:p>
        </p:txBody>
      </p:sp>
    </p:spTree>
    <p:extLst>
      <p:ext uri="{BB962C8B-B14F-4D97-AF65-F5344CB8AC3E}">
        <p14:creationId xmlns:p14="http://schemas.microsoft.com/office/powerpoint/2010/main" val="17780593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ADDD-99D9-35F7-7726-F51F9851B03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9F7C728-517C-39FE-6465-F7329B902A6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81B7F2F-81FB-8063-C269-6D288F4F056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Rigidité déformations/allongement</a:t>
            </a:r>
          </a:p>
        </p:txBody>
      </p:sp>
      <p:sp>
        <p:nvSpPr>
          <p:cNvPr id="4" name="Espace réservé du numéro de diapositive 3">
            <a:extLst>
              <a:ext uri="{FF2B5EF4-FFF2-40B4-BE49-F238E27FC236}">
                <a16:creationId xmlns:a16="http://schemas.microsoft.com/office/drawing/2014/main" id="{7ED40436-AA9A-A159-A0DE-1903BF42D7A8}"/>
              </a:ext>
            </a:extLst>
          </p:cNvPr>
          <p:cNvSpPr>
            <a:spLocks noGrp="1"/>
          </p:cNvSpPr>
          <p:nvPr>
            <p:ph type="sldNum" sz="quarter" idx="5"/>
          </p:nvPr>
        </p:nvSpPr>
        <p:spPr/>
        <p:txBody>
          <a:bodyPr/>
          <a:lstStyle/>
          <a:p>
            <a:fld id="{B2E731D1-85AE-4366-B364-066FEADE3F45}" type="slidenum">
              <a:rPr lang="fr-FR" smtClean="0"/>
              <a:t>7</a:t>
            </a:fld>
            <a:endParaRPr lang="fr-FR"/>
          </a:p>
        </p:txBody>
      </p:sp>
    </p:spTree>
    <p:extLst>
      <p:ext uri="{BB962C8B-B14F-4D97-AF65-F5344CB8AC3E}">
        <p14:creationId xmlns:p14="http://schemas.microsoft.com/office/powerpoint/2010/main" val="2263816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01244-A1F0-38F6-AEBD-F413F7B975E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FE928EA-667B-E5CE-0453-781D05D3F56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DB21576-FB24-453F-2295-EB93F50B924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Préciser le logiciel du quizz</a:t>
            </a:r>
          </a:p>
        </p:txBody>
      </p:sp>
      <p:sp>
        <p:nvSpPr>
          <p:cNvPr id="4" name="Espace réservé du numéro de diapositive 3">
            <a:extLst>
              <a:ext uri="{FF2B5EF4-FFF2-40B4-BE49-F238E27FC236}">
                <a16:creationId xmlns:a16="http://schemas.microsoft.com/office/drawing/2014/main" id="{186F57F9-592D-6700-F695-76DB03119B06}"/>
              </a:ext>
            </a:extLst>
          </p:cNvPr>
          <p:cNvSpPr>
            <a:spLocks noGrp="1"/>
          </p:cNvSpPr>
          <p:nvPr>
            <p:ph type="sldNum" sz="quarter" idx="5"/>
          </p:nvPr>
        </p:nvSpPr>
        <p:spPr/>
        <p:txBody>
          <a:bodyPr/>
          <a:lstStyle/>
          <a:p>
            <a:fld id="{B2E731D1-85AE-4366-B364-066FEADE3F45}" type="slidenum">
              <a:rPr lang="fr-FR" smtClean="0"/>
              <a:t>8</a:t>
            </a:fld>
            <a:endParaRPr lang="fr-FR"/>
          </a:p>
        </p:txBody>
      </p:sp>
    </p:spTree>
    <p:extLst>
      <p:ext uri="{BB962C8B-B14F-4D97-AF65-F5344CB8AC3E}">
        <p14:creationId xmlns:p14="http://schemas.microsoft.com/office/powerpoint/2010/main" val="823818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16D53-56A9-752D-39D2-4D8DAF5A175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BCAFA9D-4563-3A27-2A80-377C5C8DD8D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763DED0-4EA3-76B8-6422-1830596C8A30}"/>
              </a:ext>
            </a:extLst>
          </p:cNvPr>
          <p:cNvSpPr>
            <a:spLocks noGrp="1"/>
          </p:cNvSpPr>
          <p:nvPr>
            <p:ph type="body" idx="1"/>
          </p:nvPr>
        </p:nvSpPr>
        <p:spPr/>
        <p:txBody>
          <a:bodyPr/>
          <a:lstStyle/>
          <a:p>
            <a:r>
              <a:rPr lang="fr-FR" dirty="0"/>
              <a:t>2,3: comment choisir le nombre d’échantillons: est ce que c’est de la qualification de nouveau produit ou alors juste un contrôle qualité habituel: ici contrôle qualité habituel donc échantillon plus petit ( voir même faire 2 essais par échantillon en le coupant en 2) disons 3-5 colliers pour un paquet de 100 il faut être précis de quand date la norme, son nom iso et son nom complet dire vite fait quels critères on choisit (ici S-2, II) la seule variable de notre essai de traction doit être le collier (et pas sont positionnement ou son serrage ou la course initiale)</a:t>
            </a:r>
          </a:p>
          <a:p>
            <a:r>
              <a:rPr lang="fr-FR" dirty="0"/>
              <a:t>Tests traction (RM ou Re), fatigue, résistance aux </a:t>
            </a:r>
            <a:r>
              <a:rPr lang="fr-FR" dirty="0" err="1"/>
              <a:t>UVs</a:t>
            </a:r>
            <a:r>
              <a:rPr lang="fr-FR" dirty="0"/>
              <a:t>, résistance a abrasion</a:t>
            </a:r>
          </a:p>
          <a:p>
            <a:r>
              <a:rPr lang="fr-FR" dirty="0"/>
              <a:t>Regarder le guide équipement officiel d’un labo de si pour le niveau considéré</a:t>
            </a:r>
          </a:p>
          <a:p>
            <a:r>
              <a:rPr lang="fr-FR" dirty="0"/>
              <a:t>Serrer clé </a:t>
            </a:r>
            <a:r>
              <a:rPr lang="fr-FR" dirty="0" err="1"/>
              <a:t>dymao</a:t>
            </a:r>
            <a:r>
              <a:rPr lang="fr-FR" dirty="0"/>
              <a:t> pour montrer la relativité (et pk pas le monter le glissement quand ce n’est pas assez serré ou la rupture au niveau du mords quand c’est trop serré)</a:t>
            </a:r>
          </a:p>
          <a:p>
            <a:r>
              <a:rPr lang="fr-FR" dirty="0"/>
              <a:t>Garder le plus longtemps possibles valeurs mesurés brutes afin que l’on puisse changer les paramètres (aka section ici ) pour faire des incertitudes par exemple</a:t>
            </a:r>
          </a:p>
          <a:p>
            <a:r>
              <a:rPr lang="fr-FR" dirty="0"/>
              <a:t>Couper tète, couper en deux, installer bien droit, d entre mords 40mm, et serre correctement (rilsan sur la totalité des mords), régler v déplacement( 45mm/min), mettre à 0, lancer acquisition et appui bouton monter exporter courbe en csv</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a:extLst>
              <a:ext uri="{FF2B5EF4-FFF2-40B4-BE49-F238E27FC236}">
                <a16:creationId xmlns:a16="http://schemas.microsoft.com/office/drawing/2014/main" id="{A8CD29C5-9050-1A3D-E8A1-0261E4F14F45}"/>
              </a:ext>
            </a:extLst>
          </p:cNvPr>
          <p:cNvSpPr>
            <a:spLocks noGrp="1"/>
          </p:cNvSpPr>
          <p:nvPr>
            <p:ph type="sldNum" sz="quarter" idx="5"/>
          </p:nvPr>
        </p:nvSpPr>
        <p:spPr/>
        <p:txBody>
          <a:bodyPr/>
          <a:lstStyle/>
          <a:p>
            <a:fld id="{B2E731D1-85AE-4366-B364-066FEADE3F45}" type="slidenum">
              <a:rPr lang="fr-FR" smtClean="0"/>
              <a:t>9</a:t>
            </a:fld>
            <a:endParaRPr lang="fr-FR"/>
          </a:p>
        </p:txBody>
      </p:sp>
    </p:spTree>
    <p:extLst>
      <p:ext uri="{BB962C8B-B14F-4D97-AF65-F5344CB8AC3E}">
        <p14:creationId xmlns:p14="http://schemas.microsoft.com/office/powerpoint/2010/main" val="29142752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7DDD35-2939-3B88-A71C-6B0C9CE0656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C4F8C8B-D5BA-C9D0-19E2-F882D7796AE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8B259AF-D7A1-7E6F-1FC8-6D3A589A146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a:extLst>
              <a:ext uri="{FF2B5EF4-FFF2-40B4-BE49-F238E27FC236}">
                <a16:creationId xmlns:a16="http://schemas.microsoft.com/office/drawing/2014/main" id="{7B1EFAEE-1C50-EA86-5D30-9453AEF820B0}"/>
              </a:ext>
            </a:extLst>
          </p:cNvPr>
          <p:cNvSpPr>
            <a:spLocks noGrp="1"/>
          </p:cNvSpPr>
          <p:nvPr>
            <p:ph type="sldNum" sz="quarter" idx="5"/>
          </p:nvPr>
        </p:nvSpPr>
        <p:spPr/>
        <p:txBody>
          <a:bodyPr/>
          <a:lstStyle/>
          <a:p>
            <a:fld id="{B2E731D1-85AE-4366-B364-066FEADE3F45}" type="slidenum">
              <a:rPr lang="fr-FR" smtClean="0"/>
              <a:t>10</a:t>
            </a:fld>
            <a:endParaRPr lang="fr-FR"/>
          </a:p>
        </p:txBody>
      </p:sp>
    </p:spTree>
    <p:extLst>
      <p:ext uri="{BB962C8B-B14F-4D97-AF65-F5344CB8AC3E}">
        <p14:creationId xmlns:p14="http://schemas.microsoft.com/office/powerpoint/2010/main" val="8283743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600D2-5951-5EFD-A377-C5A7C8E26EC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9CF88C7-DA28-9DED-CC78-FAA9ECECC9E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8D6AC76-B23A-DBAC-88B3-50488BC8B83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err="1"/>
              <a:t>preciser</a:t>
            </a:r>
            <a:r>
              <a:rPr lang="fr-FR" dirty="0"/>
              <a:t> le type de pont vis a vis des </a:t>
            </a:r>
            <a:r>
              <a:rPr lang="fr-FR" dirty="0" err="1"/>
              <a:t>hypotheses</a:t>
            </a:r>
            <a:endParaRPr lang="fr-FR" dirty="0"/>
          </a:p>
        </p:txBody>
      </p:sp>
      <p:sp>
        <p:nvSpPr>
          <p:cNvPr id="4" name="Espace réservé du numéro de diapositive 3">
            <a:extLst>
              <a:ext uri="{FF2B5EF4-FFF2-40B4-BE49-F238E27FC236}">
                <a16:creationId xmlns:a16="http://schemas.microsoft.com/office/drawing/2014/main" id="{993C7FFF-1CC7-FAF6-3B94-F0C86E8A19E9}"/>
              </a:ext>
            </a:extLst>
          </p:cNvPr>
          <p:cNvSpPr>
            <a:spLocks noGrp="1"/>
          </p:cNvSpPr>
          <p:nvPr>
            <p:ph type="sldNum" sz="quarter" idx="5"/>
          </p:nvPr>
        </p:nvSpPr>
        <p:spPr/>
        <p:txBody>
          <a:bodyPr/>
          <a:lstStyle/>
          <a:p>
            <a:fld id="{B2E731D1-85AE-4366-B364-066FEADE3F45}" type="slidenum">
              <a:rPr lang="fr-FR" smtClean="0"/>
              <a:t>11</a:t>
            </a:fld>
            <a:endParaRPr lang="fr-FR"/>
          </a:p>
        </p:txBody>
      </p:sp>
    </p:spTree>
    <p:extLst>
      <p:ext uri="{BB962C8B-B14F-4D97-AF65-F5344CB8AC3E}">
        <p14:creationId xmlns:p14="http://schemas.microsoft.com/office/powerpoint/2010/main" val="13334163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E28CF-F470-88C5-5F8F-9A350FFB0E5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96C145C-5121-8306-95AB-C71F88EAF20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488420E-E076-E71F-2B06-AB8A06078986}"/>
              </a:ext>
            </a:extLst>
          </p:cNvPr>
          <p:cNvSpPr>
            <a:spLocks noGrp="1"/>
          </p:cNvSpPr>
          <p:nvPr>
            <p:ph type="body" idx="1"/>
          </p:nvPr>
        </p:nvSpPr>
        <p:spPr/>
        <p:txBody>
          <a:bodyPr/>
          <a:lstStyle/>
          <a:p>
            <a:r>
              <a:rPr lang="fr-FR" dirty="0"/>
              <a:t>2,3: comment choisir le nombre d’échantillons: est ce que c’est de la qualification de nouveau produit ou alors juste un contrôle qualité habituel: ici contrôle qualité habituel donc échantillon plus petit ( voir même faire 2 essais par échantillon en le coupant en 2) disons 3-5 colliers pour un paquet de 100 il faut être précis de quand date la norme, son nom iso et son nom complet dire vite fait quels critères on choisit (ici S-2, II) la seule variable de notre essai de traction doit être le collier (et pas sont positionnement ou son serrage ou la course initiale)</a:t>
            </a:r>
          </a:p>
          <a:p>
            <a:r>
              <a:rPr lang="fr-FR" dirty="0"/>
              <a:t>Tests traction (RM ou Re), fatigue, résistance aux </a:t>
            </a:r>
            <a:r>
              <a:rPr lang="fr-FR" dirty="0" err="1"/>
              <a:t>UVs</a:t>
            </a:r>
            <a:r>
              <a:rPr lang="fr-FR" dirty="0"/>
              <a:t>, résistance a abrasion</a:t>
            </a:r>
          </a:p>
          <a:p>
            <a:r>
              <a:rPr lang="fr-FR" dirty="0"/>
              <a:t>Regarder le guide équipement officiel d’un labo de si pour le niveau considéré</a:t>
            </a:r>
          </a:p>
          <a:p>
            <a:r>
              <a:rPr lang="fr-FR" dirty="0"/>
              <a:t>Serrer clé </a:t>
            </a:r>
            <a:r>
              <a:rPr lang="fr-FR" dirty="0" err="1"/>
              <a:t>dymao</a:t>
            </a:r>
            <a:r>
              <a:rPr lang="fr-FR" dirty="0"/>
              <a:t> pour montrer la relativité (et pk pas le monter le glissement quand ce n’est pas assez serré ou la rupture au niveau du mords quand c’est trop serré)</a:t>
            </a:r>
          </a:p>
          <a:p>
            <a:r>
              <a:rPr lang="fr-FR" dirty="0"/>
              <a:t>Garder le plus longtemps possibles valeurs mesurés brutes afin que l’on puisse changer les paramètres (aka section ici ) pour faire des incertitudes par exemple</a:t>
            </a:r>
          </a:p>
          <a:p>
            <a:r>
              <a:rPr lang="fr-FR" dirty="0"/>
              <a:t>Couper tète, couper en deux, installer bien droit, d entre mords 40mm, et serre correctement (rilsan sur la totalité des mords), régler v déplacement( 45mm/min), mettre à 0, lancer acquisition et appui bouton monter exporter courbe en csv</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a:extLst>
              <a:ext uri="{FF2B5EF4-FFF2-40B4-BE49-F238E27FC236}">
                <a16:creationId xmlns:a16="http://schemas.microsoft.com/office/drawing/2014/main" id="{A5B74723-3D53-86A4-FB2F-3FA23267435D}"/>
              </a:ext>
            </a:extLst>
          </p:cNvPr>
          <p:cNvSpPr>
            <a:spLocks noGrp="1"/>
          </p:cNvSpPr>
          <p:nvPr>
            <p:ph type="sldNum" sz="quarter" idx="5"/>
          </p:nvPr>
        </p:nvSpPr>
        <p:spPr/>
        <p:txBody>
          <a:bodyPr/>
          <a:lstStyle/>
          <a:p>
            <a:fld id="{B2E731D1-85AE-4366-B364-066FEADE3F45}" type="slidenum">
              <a:rPr lang="fr-FR" smtClean="0"/>
              <a:t>12</a:t>
            </a:fld>
            <a:endParaRPr lang="fr-FR"/>
          </a:p>
        </p:txBody>
      </p:sp>
    </p:spTree>
    <p:extLst>
      <p:ext uri="{BB962C8B-B14F-4D97-AF65-F5344CB8AC3E}">
        <p14:creationId xmlns:p14="http://schemas.microsoft.com/office/powerpoint/2010/main" val="1813422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D5836-1E8F-BA54-4D29-9BF1A9D8CB3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693FE29-BD8C-C2FD-7C37-0DE8B7E764E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326FA37-89CB-5BCD-2AD8-94CBE93AA8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a:extLst>
              <a:ext uri="{FF2B5EF4-FFF2-40B4-BE49-F238E27FC236}">
                <a16:creationId xmlns:a16="http://schemas.microsoft.com/office/drawing/2014/main" id="{55C865FB-D8E5-7295-0DFE-C17877F0CEF8}"/>
              </a:ext>
            </a:extLst>
          </p:cNvPr>
          <p:cNvSpPr>
            <a:spLocks noGrp="1"/>
          </p:cNvSpPr>
          <p:nvPr>
            <p:ph type="sldNum" sz="quarter" idx="5"/>
          </p:nvPr>
        </p:nvSpPr>
        <p:spPr/>
        <p:txBody>
          <a:bodyPr/>
          <a:lstStyle/>
          <a:p>
            <a:fld id="{B2E731D1-85AE-4366-B364-066FEADE3F45}" type="slidenum">
              <a:rPr lang="fr-FR" smtClean="0"/>
              <a:t>13</a:t>
            </a:fld>
            <a:endParaRPr lang="fr-FR"/>
          </a:p>
        </p:txBody>
      </p:sp>
    </p:spTree>
    <p:extLst>
      <p:ext uri="{BB962C8B-B14F-4D97-AF65-F5344CB8AC3E}">
        <p14:creationId xmlns:p14="http://schemas.microsoft.com/office/powerpoint/2010/main" val="14130333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25A8E-003B-CE2B-36D1-A7F2EAF6D08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7AC294A-E52C-5478-F884-D71CFC688F6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75A7330-1D67-EBD0-12FE-68D1A6BF098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err="1"/>
              <a:t>preciser</a:t>
            </a:r>
            <a:r>
              <a:rPr lang="fr-FR" dirty="0"/>
              <a:t> le type de pont vis a vis des </a:t>
            </a:r>
            <a:r>
              <a:rPr lang="fr-FR" dirty="0" err="1"/>
              <a:t>hypotheses</a:t>
            </a:r>
            <a:endParaRPr lang="fr-FR" dirty="0"/>
          </a:p>
        </p:txBody>
      </p:sp>
      <p:sp>
        <p:nvSpPr>
          <p:cNvPr id="4" name="Espace réservé du numéro de diapositive 3">
            <a:extLst>
              <a:ext uri="{FF2B5EF4-FFF2-40B4-BE49-F238E27FC236}">
                <a16:creationId xmlns:a16="http://schemas.microsoft.com/office/drawing/2014/main" id="{1D148202-BDF9-0C47-8C21-929D845997A9}"/>
              </a:ext>
            </a:extLst>
          </p:cNvPr>
          <p:cNvSpPr>
            <a:spLocks noGrp="1"/>
          </p:cNvSpPr>
          <p:nvPr>
            <p:ph type="sldNum" sz="quarter" idx="5"/>
          </p:nvPr>
        </p:nvSpPr>
        <p:spPr/>
        <p:txBody>
          <a:bodyPr/>
          <a:lstStyle/>
          <a:p>
            <a:fld id="{B2E731D1-85AE-4366-B364-066FEADE3F45}" type="slidenum">
              <a:rPr lang="fr-FR" smtClean="0"/>
              <a:t>14</a:t>
            </a:fld>
            <a:endParaRPr lang="fr-FR"/>
          </a:p>
        </p:txBody>
      </p:sp>
    </p:spTree>
    <p:extLst>
      <p:ext uri="{BB962C8B-B14F-4D97-AF65-F5344CB8AC3E}">
        <p14:creationId xmlns:p14="http://schemas.microsoft.com/office/powerpoint/2010/main" val="26691893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07311-631F-F85B-A73A-1520087EC2E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4910829-677B-826C-2D1F-284A3727481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79ECC5F-9CE6-CD23-21C8-1F1EFE49CA4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a:extLst>
              <a:ext uri="{FF2B5EF4-FFF2-40B4-BE49-F238E27FC236}">
                <a16:creationId xmlns:a16="http://schemas.microsoft.com/office/drawing/2014/main" id="{BF45FCFA-9859-07D8-0B4C-9E795CC674CA}"/>
              </a:ext>
            </a:extLst>
          </p:cNvPr>
          <p:cNvSpPr>
            <a:spLocks noGrp="1"/>
          </p:cNvSpPr>
          <p:nvPr>
            <p:ph type="sldNum" sz="quarter" idx="5"/>
          </p:nvPr>
        </p:nvSpPr>
        <p:spPr/>
        <p:txBody>
          <a:bodyPr/>
          <a:lstStyle/>
          <a:p>
            <a:fld id="{B2E731D1-85AE-4366-B364-066FEADE3F45}" type="slidenum">
              <a:rPr lang="fr-FR" smtClean="0"/>
              <a:t>15</a:t>
            </a:fld>
            <a:endParaRPr lang="fr-FR"/>
          </a:p>
        </p:txBody>
      </p:sp>
    </p:spTree>
    <p:extLst>
      <p:ext uri="{BB962C8B-B14F-4D97-AF65-F5344CB8AC3E}">
        <p14:creationId xmlns:p14="http://schemas.microsoft.com/office/powerpoint/2010/main" val="16510412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AEA70-E407-7444-DF88-70E7C5DC3BD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662DB59-9F53-C7AF-126C-7B5C3D74960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7E38882-0C56-990E-1CF9-7ECB3DC2994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a:extLst>
              <a:ext uri="{FF2B5EF4-FFF2-40B4-BE49-F238E27FC236}">
                <a16:creationId xmlns:a16="http://schemas.microsoft.com/office/drawing/2014/main" id="{21282C3B-5190-ED22-0102-47272BFDBE54}"/>
              </a:ext>
            </a:extLst>
          </p:cNvPr>
          <p:cNvSpPr>
            <a:spLocks noGrp="1"/>
          </p:cNvSpPr>
          <p:nvPr>
            <p:ph type="sldNum" sz="quarter" idx="5"/>
          </p:nvPr>
        </p:nvSpPr>
        <p:spPr/>
        <p:txBody>
          <a:bodyPr/>
          <a:lstStyle/>
          <a:p>
            <a:fld id="{B2E731D1-85AE-4366-B364-066FEADE3F45}" type="slidenum">
              <a:rPr lang="fr-FR" smtClean="0"/>
              <a:t>16</a:t>
            </a:fld>
            <a:endParaRPr lang="fr-FR"/>
          </a:p>
        </p:txBody>
      </p:sp>
    </p:spTree>
    <p:extLst>
      <p:ext uri="{BB962C8B-B14F-4D97-AF65-F5344CB8AC3E}">
        <p14:creationId xmlns:p14="http://schemas.microsoft.com/office/powerpoint/2010/main" val="32839353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19CF4-A951-36DE-DE18-5793A894FFE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A718F63-90E4-D6CA-5175-74E1D915188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5C8F986-80D9-474A-5C56-CDE34E26EC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a:extLst>
              <a:ext uri="{FF2B5EF4-FFF2-40B4-BE49-F238E27FC236}">
                <a16:creationId xmlns:a16="http://schemas.microsoft.com/office/drawing/2014/main" id="{6DE1B40C-27D4-55F9-1EF5-B9D3130C4AD2}"/>
              </a:ext>
            </a:extLst>
          </p:cNvPr>
          <p:cNvSpPr>
            <a:spLocks noGrp="1"/>
          </p:cNvSpPr>
          <p:nvPr>
            <p:ph type="sldNum" sz="quarter" idx="5"/>
          </p:nvPr>
        </p:nvSpPr>
        <p:spPr/>
        <p:txBody>
          <a:bodyPr/>
          <a:lstStyle/>
          <a:p>
            <a:fld id="{B2E731D1-85AE-4366-B364-066FEADE3F45}" type="slidenum">
              <a:rPr lang="fr-FR" smtClean="0"/>
              <a:t>17</a:t>
            </a:fld>
            <a:endParaRPr lang="fr-FR"/>
          </a:p>
        </p:txBody>
      </p:sp>
    </p:spTree>
    <p:extLst>
      <p:ext uri="{BB962C8B-B14F-4D97-AF65-F5344CB8AC3E}">
        <p14:creationId xmlns:p14="http://schemas.microsoft.com/office/powerpoint/2010/main" val="23179551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0FE2F-8A8A-687A-1CB9-423C70E4D64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06DA0FD-7156-FA2E-D6ED-D6E0038F101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E43A040-B39D-5051-0827-FF44F83B8D4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a:extLst>
              <a:ext uri="{FF2B5EF4-FFF2-40B4-BE49-F238E27FC236}">
                <a16:creationId xmlns:a16="http://schemas.microsoft.com/office/drawing/2014/main" id="{59462338-EADB-5825-B5F9-1ED189B315E5}"/>
              </a:ext>
            </a:extLst>
          </p:cNvPr>
          <p:cNvSpPr>
            <a:spLocks noGrp="1"/>
          </p:cNvSpPr>
          <p:nvPr>
            <p:ph type="sldNum" sz="quarter" idx="5"/>
          </p:nvPr>
        </p:nvSpPr>
        <p:spPr/>
        <p:txBody>
          <a:bodyPr/>
          <a:lstStyle/>
          <a:p>
            <a:fld id="{B2E731D1-85AE-4366-B364-066FEADE3F45}" type="slidenum">
              <a:rPr lang="fr-FR" smtClean="0"/>
              <a:t>18</a:t>
            </a:fld>
            <a:endParaRPr lang="fr-FR"/>
          </a:p>
        </p:txBody>
      </p:sp>
    </p:spTree>
    <p:extLst>
      <p:ext uri="{BB962C8B-B14F-4D97-AF65-F5344CB8AC3E}">
        <p14:creationId xmlns:p14="http://schemas.microsoft.com/office/powerpoint/2010/main" val="1892243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DC9A9-1139-84E5-0571-D446AD35BDF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FC0BC21-94E8-169E-C168-08E0DB996FAF}"/>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F343BE7-31A8-C071-BE89-23F3DA2C294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a:extLst>
              <a:ext uri="{FF2B5EF4-FFF2-40B4-BE49-F238E27FC236}">
                <a16:creationId xmlns:a16="http://schemas.microsoft.com/office/drawing/2014/main" id="{5B857BB4-E677-14AC-2E8C-B75FEC272672}"/>
              </a:ext>
            </a:extLst>
          </p:cNvPr>
          <p:cNvSpPr>
            <a:spLocks noGrp="1"/>
          </p:cNvSpPr>
          <p:nvPr>
            <p:ph type="sldNum" sz="quarter" idx="5"/>
          </p:nvPr>
        </p:nvSpPr>
        <p:spPr/>
        <p:txBody>
          <a:bodyPr/>
          <a:lstStyle/>
          <a:p>
            <a:fld id="{B2E731D1-85AE-4366-B364-066FEADE3F45}" type="slidenum">
              <a:rPr lang="fr-FR" smtClean="0"/>
              <a:t>19</a:t>
            </a:fld>
            <a:endParaRPr lang="fr-FR"/>
          </a:p>
        </p:txBody>
      </p:sp>
    </p:spTree>
    <p:extLst>
      <p:ext uri="{BB962C8B-B14F-4D97-AF65-F5344CB8AC3E}">
        <p14:creationId xmlns:p14="http://schemas.microsoft.com/office/powerpoint/2010/main" val="40822430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46DCF-AB44-C09D-F7D1-BCFD8ACB079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D65A8C6-0456-92F2-8E25-BDDF0118566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B617E6D-F5A5-7EA8-9E36-7B2E3637EA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a:extLst>
              <a:ext uri="{FF2B5EF4-FFF2-40B4-BE49-F238E27FC236}">
                <a16:creationId xmlns:a16="http://schemas.microsoft.com/office/drawing/2014/main" id="{567CA4CB-7697-317B-E711-38B4F5DA44CD}"/>
              </a:ext>
            </a:extLst>
          </p:cNvPr>
          <p:cNvSpPr>
            <a:spLocks noGrp="1"/>
          </p:cNvSpPr>
          <p:nvPr>
            <p:ph type="sldNum" sz="quarter" idx="5"/>
          </p:nvPr>
        </p:nvSpPr>
        <p:spPr/>
        <p:txBody>
          <a:bodyPr/>
          <a:lstStyle/>
          <a:p>
            <a:fld id="{B2E731D1-85AE-4366-B364-066FEADE3F45}" type="slidenum">
              <a:rPr lang="fr-FR" smtClean="0"/>
              <a:t>20</a:t>
            </a:fld>
            <a:endParaRPr lang="fr-FR"/>
          </a:p>
        </p:txBody>
      </p:sp>
    </p:spTree>
    <p:extLst>
      <p:ext uri="{BB962C8B-B14F-4D97-AF65-F5344CB8AC3E}">
        <p14:creationId xmlns:p14="http://schemas.microsoft.com/office/powerpoint/2010/main" val="22357525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76108-E98E-F8F3-FF8D-D3184722249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2591376-7D7D-983F-36B5-908BB898F76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78C5F16-99A0-5328-2C23-38F04D9DF40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a:extLst>
              <a:ext uri="{FF2B5EF4-FFF2-40B4-BE49-F238E27FC236}">
                <a16:creationId xmlns:a16="http://schemas.microsoft.com/office/drawing/2014/main" id="{189F8E25-9D41-E0F2-BFC9-06C0159738A9}"/>
              </a:ext>
            </a:extLst>
          </p:cNvPr>
          <p:cNvSpPr>
            <a:spLocks noGrp="1"/>
          </p:cNvSpPr>
          <p:nvPr>
            <p:ph type="sldNum" sz="quarter" idx="5"/>
          </p:nvPr>
        </p:nvSpPr>
        <p:spPr/>
        <p:txBody>
          <a:bodyPr/>
          <a:lstStyle/>
          <a:p>
            <a:fld id="{B2E731D1-85AE-4366-B364-066FEADE3F45}" type="slidenum">
              <a:rPr lang="fr-FR" smtClean="0"/>
              <a:t>21</a:t>
            </a:fld>
            <a:endParaRPr lang="fr-FR"/>
          </a:p>
        </p:txBody>
      </p:sp>
    </p:spTree>
    <p:extLst>
      <p:ext uri="{BB962C8B-B14F-4D97-AF65-F5344CB8AC3E}">
        <p14:creationId xmlns:p14="http://schemas.microsoft.com/office/powerpoint/2010/main" val="28478054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6AE5D-66C4-B345-48D4-6213FD4EAA6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67E1A8F-8A8F-5E9E-96E9-7443D6D4838C}"/>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E4F15F6-B549-A225-53F8-B319EAD7C26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a:extLst>
              <a:ext uri="{FF2B5EF4-FFF2-40B4-BE49-F238E27FC236}">
                <a16:creationId xmlns:a16="http://schemas.microsoft.com/office/drawing/2014/main" id="{40D210F9-A372-C638-1A22-649EA657FB6C}"/>
              </a:ext>
            </a:extLst>
          </p:cNvPr>
          <p:cNvSpPr>
            <a:spLocks noGrp="1"/>
          </p:cNvSpPr>
          <p:nvPr>
            <p:ph type="sldNum" sz="quarter" idx="5"/>
          </p:nvPr>
        </p:nvSpPr>
        <p:spPr/>
        <p:txBody>
          <a:bodyPr/>
          <a:lstStyle/>
          <a:p>
            <a:fld id="{B2E731D1-85AE-4366-B364-066FEADE3F45}" type="slidenum">
              <a:rPr lang="fr-FR" smtClean="0"/>
              <a:t>22</a:t>
            </a:fld>
            <a:endParaRPr lang="fr-FR"/>
          </a:p>
        </p:txBody>
      </p:sp>
    </p:spTree>
    <p:extLst>
      <p:ext uri="{BB962C8B-B14F-4D97-AF65-F5344CB8AC3E}">
        <p14:creationId xmlns:p14="http://schemas.microsoft.com/office/powerpoint/2010/main" val="16106434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Lourd les compétences a un moment pas de peut être il faut être sur de ses choix</a:t>
            </a:r>
          </a:p>
          <a:p>
            <a:r>
              <a:rPr lang="fr-FR" dirty="0"/>
              <a:t>Faire en sorte que le jury se retrouve toujours a quel endroit on est dans la diapo</a:t>
            </a:r>
          </a:p>
          <a:p>
            <a:r>
              <a:rPr lang="fr-FR" dirty="0"/>
              <a:t>Voir la près éros par mail se faire un plan type et adapter au truc donné bonne idée le jeu</a:t>
            </a:r>
          </a:p>
        </p:txBody>
      </p:sp>
      <p:sp>
        <p:nvSpPr>
          <p:cNvPr id="4" name="Espace réservé du numéro de diapositive 3"/>
          <p:cNvSpPr>
            <a:spLocks noGrp="1"/>
          </p:cNvSpPr>
          <p:nvPr>
            <p:ph type="sldNum" sz="quarter" idx="5"/>
          </p:nvPr>
        </p:nvSpPr>
        <p:spPr/>
        <p:txBody>
          <a:bodyPr/>
          <a:lstStyle/>
          <a:p>
            <a:fld id="{B2E731D1-85AE-4366-B364-066FEADE3F45}" type="slidenum">
              <a:rPr lang="fr-FR" smtClean="0"/>
              <a:t>23</a:t>
            </a:fld>
            <a:endParaRPr lang="fr-FR"/>
          </a:p>
        </p:txBody>
      </p:sp>
    </p:spTree>
    <p:extLst>
      <p:ext uri="{BB962C8B-B14F-4D97-AF65-F5344CB8AC3E}">
        <p14:creationId xmlns:p14="http://schemas.microsoft.com/office/powerpoint/2010/main" val="40794924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B3FA2-C075-49D0-6C88-876ED4FBA3A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E35856C-C4E2-CE4E-E154-2D5525BBAC6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CD07381-D5BD-D659-2982-A959D1A66F9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a:extLst>
              <a:ext uri="{FF2B5EF4-FFF2-40B4-BE49-F238E27FC236}">
                <a16:creationId xmlns:a16="http://schemas.microsoft.com/office/drawing/2014/main" id="{EDCF4291-537B-9698-EDB3-B0C65DB5844F}"/>
              </a:ext>
            </a:extLst>
          </p:cNvPr>
          <p:cNvSpPr>
            <a:spLocks noGrp="1"/>
          </p:cNvSpPr>
          <p:nvPr>
            <p:ph type="sldNum" sz="quarter" idx="5"/>
          </p:nvPr>
        </p:nvSpPr>
        <p:spPr/>
        <p:txBody>
          <a:bodyPr/>
          <a:lstStyle/>
          <a:p>
            <a:fld id="{B2E731D1-85AE-4366-B364-066FEADE3F45}" type="slidenum">
              <a:rPr lang="fr-FR" smtClean="0"/>
              <a:t>24</a:t>
            </a:fld>
            <a:endParaRPr lang="fr-FR"/>
          </a:p>
        </p:txBody>
      </p:sp>
    </p:spTree>
    <p:extLst>
      <p:ext uri="{BB962C8B-B14F-4D97-AF65-F5344CB8AC3E}">
        <p14:creationId xmlns:p14="http://schemas.microsoft.com/office/powerpoint/2010/main" val="5811265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E6087D-1B9A-7F5B-C848-E889DBF5122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7618EE2-D940-33D5-A93D-BB33A6BFD4E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F5D5C26-BF7D-B6CE-39B0-43908C10875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a:extLst>
              <a:ext uri="{FF2B5EF4-FFF2-40B4-BE49-F238E27FC236}">
                <a16:creationId xmlns:a16="http://schemas.microsoft.com/office/drawing/2014/main" id="{1CEA6703-2652-C9F5-44D2-2EFCF681E667}"/>
              </a:ext>
            </a:extLst>
          </p:cNvPr>
          <p:cNvSpPr>
            <a:spLocks noGrp="1"/>
          </p:cNvSpPr>
          <p:nvPr>
            <p:ph type="sldNum" sz="quarter" idx="5"/>
          </p:nvPr>
        </p:nvSpPr>
        <p:spPr/>
        <p:txBody>
          <a:bodyPr/>
          <a:lstStyle/>
          <a:p>
            <a:fld id="{B2E731D1-85AE-4366-B364-066FEADE3F45}" type="slidenum">
              <a:rPr lang="fr-FR" smtClean="0"/>
              <a:t>25</a:t>
            </a:fld>
            <a:endParaRPr lang="fr-FR"/>
          </a:p>
        </p:txBody>
      </p:sp>
    </p:spTree>
    <p:extLst>
      <p:ext uri="{BB962C8B-B14F-4D97-AF65-F5344CB8AC3E}">
        <p14:creationId xmlns:p14="http://schemas.microsoft.com/office/powerpoint/2010/main" val="7334115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B2E731D1-85AE-4366-B364-066FEADE3F45}" type="slidenum">
              <a:rPr lang="fr-FR" smtClean="0"/>
              <a:t>26</a:t>
            </a:fld>
            <a:endParaRPr lang="fr-FR"/>
          </a:p>
        </p:txBody>
      </p:sp>
    </p:spTree>
    <p:extLst>
      <p:ext uri="{BB962C8B-B14F-4D97-AF65-F5344CB8AC3E}">
        <p14:creationId xmlns:p14="http://schemas.microsoft.com/office/powerpoint/2010/main" val="87771661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B2E731D1-85AE-4366-B364-066FEADE3F45}" type="slidenum">
              <a:rPr lang="fr-FR" smtClean="0"/>
              <a:t>29</a:t>
            </a:fld>
            <a:endParaRPr lang="fr-FR"/>
          </a:p>
        </p:txBody>
      </p:sp>
    </p:spTree>
    <p:extLst>
      <p:ext uri="{BB962C8B-B14F-4D97-AF65-F5344CB8AC3E}">
        <p14:creationId xmlns:p14="http://schemas.microsoft.com/office/powerpoint/2010/main" val="3108244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76DF711-41FE-BC36-2551-915030E6E589}"/>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0273F54A-5A33-D854-8941-37712C7550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2C4476D4-928F-EE23-2208-DCCAE23D7291}"/>
              </a:ext>
            </a:extLst>
          </p:cNvPr>
          <p:cNvSpPr>
            <a:spLocks noGrp="1"/>
          </p:cNvSpPr>
          <p:nvPr>
            <p:ph type="dt" sz="half" idx="10"/>
          </p:nvPr>
        </p:nvSpPr>
        <p:spPr/>
        <p:txBody>
          <a:bodyPr/>
          <a:lstStyle/>
          <a:p>
            <a:fld id="{1FDAB472-2D2A-4E66-B07F-79D072F84BFE}" type="datetime1">
              <a:rPr lang="fr-FR" smtClean="0"/>
              <a:t>07/06/2026</a:t>
            </a:fld>
            <a:endParaRPr lang="fr-FR"/>
          </a:p>
        </p:txBody>
      </p:sp>
      <p:sp>
        <p:nvSpPr>
          <p:cNvPr id="5" name="Espace réservé du pied de page 4">
            <a:extLst>
              <a:ext uri="{FF2B5EF4-FFF2-40B4-BE49-F238E27FC236}">
                <a16:creationId xmlns:a16="http://schemas.microsoft.com/office/drawing/2014/main" id="{E4A77797-E36C-F16F-09CA-B4E03B16316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B916059-AA0D-B530-BBE5-C71F98C1A42F}"/>
              </a:ext>
            </a:extLst>
          </p:cNvPr>
          <p:cNvSpPr>
            <a:spLocks noGrp="1"/>
          </p:cNvSpPr>
          <p:nvPr>
            <p:ph type="sldNum" sz="quarter" idx="12"/>
          </p:nvPr>
        </p:nvSpPr>
        <p:spPr/>
        <p:txBody>
          <a:bodyPr/>
          <a:lstStyle/>
          <a:p>
            <a:fld id="{201A5C1E-DE71-4D99-BC1E-739595F062E0}" type="slidenum">
              <a:rPr lang="fr-FR" smtClean="0"/>
              <a:t>‹N°›</a:t>
            </a:fld>
            <a:endParaRPr lang="fr-FR"/>
          </a:p>
        </p:txBody>
      </p:sp>
    </p:spTree>
    <p:extLst>
      <p:ext uri="{BB962C8B-B14F-4D97-AF65-F5344CB8AC3E}">
        <p14:creationId xmlns:p14="http://schemas.microsoft.com/office/powerpoint/2010/main" val="26308143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4D296C9-7E6D-4C0B-AB2A-AD2F22AF89DE}"/>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296F0445-EC47-CC69-A4DD-DCE620058330}"/>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7E4EC8A-E889-7098-46A5-BBB24C8562E1}"/>
              </a:ext>
            </a:extLst>
          </p:cNvPr>
          <p:cNvSpPr>
            <a:spLocks noGrp="1"/>
          </p:cNvSpPr>
          <p:nvPr>
            <p:ph type="dt" sz="half" idx="10"/>
          </p:nvPr>
        </p:nvSpPr>
        <p:spPr/>
        <p:txBody>
          <a:bodyPr/>
          <a:lstStyle/>
          <a:p>
            <a:fld id="{20D5D067-1761-455A-B651-847A786833B8}" type="datetime1">
              <a:rPr lang="fr-FR" smtClean="0"/>
              <a:t>07/06/2026</a:t>
            </a:fld>
            <a:endParaRPr lang="fr-FR"/>
          </a:p>
        </p:txBody>
      </p:sp>
      <p:sp>
        <p:nvSpPr>
          <p:cNvPr id="5" name="Espace réservé du pied de page 4">
            <a:extLst>
              <a:ext uri="{FF2B5EF4-FFF2-40B4-BE49-F238E27FC236}">
                <a16:creationId xmlns:a16="http://schemas.microsoft.com/office/drawing/2014/main" id="{C967521B-EAA7-C302-0F50-637841A51A1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B0EC2DB-EE08-D441-48A8-3E3204F652C9}"/>
              </a:ext>
            </a:extLst>
          </p:cNvPr>
          <p:cNvSpPr>
            <a:spLocks noGrp="1"/>
          </p:cNvSpPr>
          <p:nvPr>
            <p:ph type="sldNum" sz="quarter" idx="12"/>
          </p:nvPr>
        </p:nvSpPr>
        <p:spPr/>
        <p:txBody>
          <a:bodyPr/>
          <a:lstStyle/>
          <a:p>
            <a:fld id="{201A5C1E-DE71-4D99-BC1E-739595F062E0}" type="slidenum">
              <a:rPr lang="fr-FR" smtClean="0"/>
              <a:t>‹N°›</a:t>
            </a:fld>
            <a:endParaRPr lang="fr-FR"/>
          </a:p>
        </p:txBody>
      </p:sp>
    </p:spTree>
    <p:extLst>
      <p:ext uri="{BB962C8B-B14F-4D97-AF65-F5344CB8AC3E}">
        <p14:creationId xmlns:p14="http://schemas.microsoft.com/office/powerpoint/2010/main" val="3288955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0174776-5587-F858-2604-354A226A79D6}"/>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A449EA73-C48A-F2B5-0E08-D683776AFBA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8D039C8-A726-BD26-6FBA-D858D74EDC89}"/>
              </a:ext>
            </a:extLst>
          </p:cNvPr>
          <p:cNvSpPr>
            <a:spLocks noGrp="1"/>
          </p:cNvSpPr>
          <p:nvPr>
            <p:ph type="dt" sz="half" idx="10"/>
          </p:nvPr>
        </p:nvSpPr>
        <p:spPr/>
        <p:txBody>
          <a:bodyPr/>
          <a:lstStyle/>
          <a:p>
            <a:fld id="{9A27A18E-5218-4C74-997D-818C26E4ACE5}" type="datetime1">
              <a:rPr lang="fr-FR" smtClean="0"/>
              <a:t>07/06/2026</a:t>
            </a:fld>
            <a:endParaRPr lang="fr-FR"/>
          </a:p>
        </p:txBody>
      </p:sp>
      <p:sp>
        <p:nvSpPr>
          <p:cNvPr id="5" name="Espace réservé du pied de page 4">
            <a:extLst>
              <a:ext uri="{FF2B5EF4-FFF2-40B4-BE49-F238E27FC236}">
                <a16:creationId xmlns:a16="http://schemas.microsoft.com/office/drawing/2014/main" id="{F006EF1D-F7EB-7B74-AD95-D98391D3078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AF3C274-D32B-7344-652C-623CF784BEAB}"/>
              </a:ext>
            </a:extLst>
          </p:cNvPr>
          <p:cNvSpPr>
            <a:spLocks noGrp="1"/>
          </p:cNvSpPr>
          <p:nvPr>
            <p:ph type="sldNum" sz="quarter" idx="12"/>
          </p:nvPr>
        </p:nvSpPr>
        <p:spPr/>
        <p:txBody>
          <a:bodyPr/>
          <a:lstStyle/>
          <a:p>
            <a:fld id="{201A5C1E-DE71-4D99-BC1E-739595F062E0}" type="slidenum">
              <a:rPr lang="fr-FR" smtClean="0"/>
              <a:t>‹N°›</a:t>
            </a:fld>
            <a:endParaRPr lang="fr-FR"/>
          </a:p>
        </p:txBody>
      </p:sp>
    </p:spTree>
    <p:extLst>
      <p:ext uri="{BB962C8B-B14F-4D97-AF65-F5344CB8AC3E}">
        <p14:creationId xmlns:p14="http://schemas.microsoft.com/office/powerpoint/2010/main" val="13810825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945BC0A-E2F3-981B-7B0A-EB3083BBD26B}"/>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BC1E34D3-9038-DC73-B4C8-9B0409BDA328}"/>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D54BA138-3D33-5172-5F2D-6571B4916037}"/>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88D29B37-88AE-5D1F-720A-EB6A4795BE11}"/>
              </a:ext>
            </a:extLst>
          </p:cNvPr>
          <p:cNvSpPr>
            <a:spLocks noGrp="1"/>
          </p:cNvSpPr>
          <p:nvPr>
            <p:ph type="dt" sz="half" idx="10"/>
          </p:nvPr>
        </p:nvSpPr>
        <p:spPr/>
        <p:txBody>
          <a:bodyPr/>
          <a:lstStyle/>
          <a:p>
            <a:fld id="{7AF125F8-2564-496C-B395-414FF818976B}" type="datetime1">
              <a:rPr lang="fr-FR" smtClean="0"/>
              <a:t>07/06/2026</a:t>
            </a:fld>
            <a:endParaRPr lang="fr-FR"/>
          </a:p>
        </p:txBody>
      </p:sp>
      <p:sp>
        <p:nvSpPr>
          <p:cNvPr id="6" name="Espace réservé du pied de page 5">
            <a:extLst>
              <a:ext uri="{FF2B5EF4-FFF2-40B4-BE49-F238E27FC236}">
                <a16:creationId xmlns:a16="http://schemas.microsoft.com/office/drawing/2014/main" id="{6B2CB28E-189C-2720-7E67-FCB1706DB58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53E1AE9A-E492-3608-CA3E-92F741EC9E0D}"/>
              </a:ext>
            </a:extLst>
          </p:cNvPr>
          <p:cNvSpPr>
            <a:spLocks noGrp="1"/>
          </p:cNvSpPr>
          <p:nvPr>
            <p:ph type="sldNum" sz="quarter" idx="12"/>
          </p:nvPr>
        </p:nvSpPr>
        <p:spPr/>
        <p:txBody>
          <a:bodyPr/>
          <a:lstStyle/>
          <a:p>
            <a:fld id="{201A5C1E-DE71-4D99-BC1E-739595F062E0}" type="slidenum">
              <a:rPr lang="fr-FR" smtClean="0"/>
              <a:t>‹N°›</a:t>
            </a:fld>
            <a:endParaRPr lang="fr-FR"/>
          </a:p>
        </p:txBody>
      </p:sp>
    </p:spTree>
    <p:extLst>
      <p:ext uri="{BB962C8B-B14F-4D97-AF65-F5344CB8AC3E}">
        <p14:creationId xmlns:p14="http://schemas.microsoft.com/office/powerpoint/2010/main" val="41272831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5D307AF-B24D-51CB-61B6-72864E2DED0E}"/>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9499181F-8B30-BCC2-B646-83FD69987D7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E640C097-C15A-FC95-866C-9BBCB3EEDF0F}"/>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E65E01B8-585B-AEE4-1C95-3910804D7B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96900EC2-CC71-9BE9-DC0A-B486BC5BD238}"/>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24B5B798-F4C6-C695-7A5A-880C351385DA}"/>
              </a:ext>
            </a:extLst>
          </p:cNvPr>
          <p:cNvSpPr>
            <a:spLocks noGrp="1"/>
          </p:cNvSpPr>
          <p:nvPr>
            <p:ph type="dt" sz="half" idx="10"/>
          </p:nvPr>
        </p:nvSpPr>
        <p:spPr/>
        <p:txBody>
          <a:bodyPr/>
          <a:lstStyle/>
          <a:p>
            <a:fld id="{1AF19BFB-3D4D-47DC-9BA0-0B40936448BE}" type="datetime1">
              <a:rPr lang="fr-FR" smtClean="0"/>
              <a:t>07/06/2026</a:t>
            </a:fld>
            <a:endParaRPr lang="fr-FR"/>
          </a:p>
        </p:txBody>
      </p:sp>
      <p:sp>
        <p:nvSpPr>
          <p:cNvPr id="8" name="Espace réservé du pied de page 7">
            <a:extLst>
              <a:ext uri="{FF2B5EF4-FFF2-40B4-BE49-F238E27FC236}">
                <a16:creationId xmlns:a16="http://schemas.microsoft.com/office/drawing/2014/main" id="{C6F0C7EC-0544-73E9-DE29-9632F9D4221F}"/>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B7E9ED55-4600-4E3C-0DC6-EFE5D7D1C63B}"/>
              </a:ext>
            </a:extLst>
          </p:cNvPr>
          <p:cNvSpPr>
            <a:spLocks noGrp="1"/>
          </p:cNvSpPr>
          <p:nvPr>
            <p:ph type="sldNum" sz="quarter" idx="12"/>
          </p:nvPr>
        </p:nvSpPr>
        <p:spPr/>
        <p:txBody>
          <a:bodyPr/>
          <a:lstStyle/>
          <a:p>
            <a:fld id="{201A5C1E-DE71-4D99-BC1E-739595F062E0}" type="slidenum">
              <a:rPr lang="fr-FR" smtClean="0"/>
              <a:t>‹N°›</a:t>
            </a:fld>
            <a:endParaRPr lang="fr-FR"/>
          </a:p>
        </p:txBody>
      </p:sp>
    </p:spTree>
    <p:extLst>
      <p:ext uri="{BB962C8B-B14F-4D97-AF65-F5344CB8AC3E}">
        <p14:creationId xmlns:p14="http://schemas.microsoft.com/office/powerpoint/2010/main" val="20910934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915B3D5-8A00-8AD8-1CAF-D23F937929BA}"/>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8D054F4B-F70C-68AC-1FDC-37D3E0EF98C5}"/>
              </a:ext>
            </a:extLst>
          </p:cNvPr>
          <p:cNvSpPr>
            <a:spLocks noGrp="1"/>
          </p:cNvSpPr>
          <p:nvPr>
            <p:ph type="dt" sz="half" idx="10"/>
          </p:nvPr>
        </p:nvSpPr>
        <p:spPr/>
        <p:txBody>
          <a:bodyPr/>
          <a:lstStyle/>
          <a:p>
            <a:fld id="{76756F9F-02A1-480E-B942-CE6D867C50E8}" type="datetime1">
              <a:rPr lang="fr-FR" smtClean="0"/>
              <a:t>07/06/2026</a:t>
            </a:fld>
            <a:endParaRPr lang="fr-FR"/>
          </a:p>
        </p:txBody>
      </p:sp>
      <p:sp>
        <p:nvSpPr>
          <p:cNvPr id="4" name="Espace réservé du pied de page 3">
            <a:extLst>
              <a:ext uri="{FF2B5EF4-FFF2-40B4-BE49-F238E27FC236}">
                <a16:creationId xmlns:a16="http://schemas.microsoft.com/office/drawing/2014/main" id="{A9B95A69-C762-41A3-5216-3BC55C07BC6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F8162E71-4B9B-48DD-BE35-11327B397869}"/>
              </a:ext>
            </a:extLst>
          </p:cNvPr>
          <p:cNvSpPr>
            <a:spLocks noGrp="1"/>
          </p:cNvSpPr>
          <p:nvPr>
            <p:ph type="sldNum" sz="quarter" idx="12"/>
          </p:nvPr>
        </p:nvSpPr>
        <p:spPr/>
        <p:txBody>
          <a:bodyPr/>
          <a:lstStyle/>
          <a:p>
            <a:fld id="{201A5C1E-DE71-4D99-BC1E-739595F062E0}" type="slidenum">
              <a:rPr lang="fr-FR" smtClean="0"/>
              <a:t>‹N°›</a:t>
            </a:fld>
            <a:endParaRPr lang="fr-FR"/>
          </a:p>
        </p:txBody>
      </p:sp>
    </p:spTree>
    <p:extLst>
      <p:ext uri="{BB962C8B-B14F-4D97-AF65-F5344CB8AC3E}">
        <p14:creationId xmlns:p14="http://schemas.microsoft.com/office/powerpoint/2010/main" val="16305461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78F44F57-3A95-4159-DB34-70E5FB23E158}"/>
              </a:ext>
            </a:extLst>
          </p:cNvPr>
          <p:cNvSpPr>
            <a:spLocks noGrp="1"/>
          </p:cNvSpPr>
          <p:nvPr>
            <p:ph type="dt" sz="half" idx="10"/>
          </p:nvPr>
        </p:nvSpPr>
        <p:spPr/>
        <p:txBody>
          <a:bodyPr/>
          <a:lstStyle/>
          <a:p>
            <a:fld id="{A955760E-78EA-4543-9427-A88EB1653952}" type="datetime1">
              <a:rPr lang="fr-FR" smtClean="0"/>
              <a:t>07/06/2026</a:t>
            </a:fld>
            <a:endParaRPr lang="fr-FR"/>
          </a:p>
        </p:txBody>
      </p:sp>
      <p:sp>
        <p:nvSpPr>
          <p:cNvPr id="3" name="Espace réservé du pied de page 2">
            <a:extLst>
              <a:ext uri="{FF2B5EF4-FFF2-40B4-BE49-F238E27FC236}">
                <a16:creationId xmlns:a16="http://schemas.microsoft.com/office/drawing/2014/main" id="{A8F05ACA-7EE0-B81F-E8AE-4CDEE549A065}"/>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FB7E460B-1F57-4B09-2A71-78CCCCBA3948}"/>
              </a:ext>
            </a:extLst>
          </p:cNvPr>
          <p:cNvSpPr>
            <a:spLocks noGrp="1"/>
          </p:cNvSpPr>
          <p:nvPr>
            <p:ph type="sldNum" sz="quarter" idx="12"/>
          </p:nvPr>
        </p:nvSpPr>
        <p:spPr/>
        <p:txBody>
          <a:bodyPr/>
          <a:lstStyle/>
          <a:p>
            <a:fld id="{201A5C1E-DE71-4D99-BC1E-739595F062E0}" type="slidenum">
              <a:rPr lang="fr-FR" smtClean="0"/>
              <a:t>‹N°›</a:t>
            </a:fld>
            <a:endParaRPr lang="fr-FR"/>
          </a:p>
        </p:txBody>
      </p:sp>
    </p:spTree>
    <p:extLst>
      <p:ext uri="{BB962C8B-B14F-4D97-AF65-F5344CB8AC3E}">
        <p14:creationId xmlns:p14="http://schemas.microsoft.com/office/powerpoint/2010/main" val="2925907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86DC75D-8E80-7A95-E72E-40B4632B8FCB}"/>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FCB0C44B-C09A-A529-A204-134460066EE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063512CE-393F-8FE4-F4FA-4B3328D953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0F428757-884D-D118-79E3-802E5B07698C}"/>
              </a:ext>
            </a:extLst>
          </p:cNvPr>
          <p:cNvSpPr>
            <a:spLocks noGrp="1"/>
          </p:cNvSpPr>
          <p:nvPr>
            <p:ph type="dt" sz="half" idx="10"/>
          </p:nvPr>
        </p:nvSpPr>
        <p:spPr/>
        <p:txBody>
          <a:bodyPr/>
          <a:lstStyle/>
          <a:p>
            <a:fld id="{9A3E8625-9E79-43B9-9564-00F6848FBBFC}" type="datetime1">
              <a:rPr lang="fr-FR" smtClean="0"/>
              <a:t>07/06/2026</a:t>
            </a:fld>
            <a:endParaRPr lang="fr-FR"/>
          </a:p>
        </p:txBody>
      </p:sp>
      <p:sp>
        <p:nvSpPr>
          <p:cNvPr id="6" name="Espace réservé du pied de page 5">
            <a:extLst>
              <a:ext uri="{FF2B5EF4-FFF2-40B4-BE49-F238E27FC236}">
                <a16:creationId xmlns:a16="http://schemas.microsoft.com/office/drawing/2014/main" id="{C3ACB2A1-6CCC-651B-4E14-BA495A7722E3}"/>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F1A861B9-8372-F0D1-011D-E1F28649DB84}"/>
              </a:ext>
            </a:extLst>
          </p:cNvPr>
          <p:cNvSpPr>
            <a:spLocks noGrp="1"/>
          </p:cNvSpPr>
          <p:nvPr>
            <p:ph type="sldNum" sz="quarter" idx="12"/>
          </p:nvPr>
        </p:nvSpPr>
        <p:spPr/>
        <p:txBody>
          <a:bodyPr/>
          <a:lstStyle/>
          <a:p>
            <a:fld id="{201A5C1E-DE71-4D99-BC1E-739595F062E0}" type="slidenum">
              <a:rPr lang="fr-FR" smtClean="0"/>
              <a:t>‹N°›</a:t>
            </a:fld>
            <a:endParaRPr lang="fr-FR"/>
          </a:p>
        </p:txBody>
      </p:sp>
    </p:spTree>
    <p:extLst>
      <p:ext uri="{BB962C8B-B14F-4D97-AF65-F5344CB8AC3E}">
        <p14:creationId xmlns:p14="http://schemas.microsoft.com/office/powerpoint/2010/main" val="16146471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F59C4F-673A-ED4D-3B5D-FBA615818E38}"/>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B7A36D45-7F70-D116-238E-50A3E0B23F3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D2A3A843-10B3-FE89-A865-0187D5C0699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2B4A0979-8D9A-AAE6-7FD8-4333BCDD40C6}"/>
              </a:ext>
            </a:extLst>
          </p:cNvPr>
          <p:cNvSpPr>
            <a:spLocks noGrp="1"/>
          </p:cNvSpPr>
          <p:nvPr>
            <p:ph type="dt" sz="half" idx="10"/>
          </p:nvPr>
        </p:nvSpPr>
        <p:spPr/>
        <p:txBody>
          <a:bodyPr/>
          <a:lstStyle/>
          <a:p>
            <a:fld id="{DA38A006-D451-46DA-A4D6-DE174B63DBF9}" type="datetime1">
              <a:rPr lang="fr-FR" smtClean="0"/>
              <a:t>07/06/2026</a:t>
            </a:fld>
            <a:endParaRPr lang="fr-FR"/>
          </a:p>
        </p:txBody>
      </p:sp>
      <p:sp>
        <p:nvSpPr>
          <p:cNvPr id="6" name="Espace réservé du pied de page 5">
            <a:extLst>
              <a:ext uri="{FF2B5EF4-FFF2-40B4-BE49-F238E27FC236}">
                <a16:creationId xmlns:a16="http://schemas.microsoft.com/office/drawing/2014/main" id="{05FBFA0C-669A-2FFA-9D90-F020DED99D4A}"/>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39C3CF3B-3555-AB73-6404-79F7DF4DCAC1}"/>
              </a:ext>
            </a:extLst>
          </p:cNvPr>
          <p:cNvSpPr>
            <a:spLocks noGrp="1"/>
          </p:cNvSpPr>
          <p:nvPr>
            <p:ph type="sldNum" sz="quarter" idx="12"/>
          </p:nvPr>
        </p:nvSpPr>
        <p:spPr/>
        <p:txBody>
          <a:bodyPr/>
          <a:lstStyle/>
          <a:p>
            <a:fld id="{201A5C1E-DE71-4D99-BC1E-739595F062E0}" type="slidenum">
              <a:rPr lang="fr-FR" smtClean="0"/>
              <a:t>‹N°›</a:t>
            </a:fld>
            <a:endParaRPr lang="fr-FR"/>
          </a:p>
        </p:txBody>
      </p:sp>
    </p:spTree>
    <p:extLst>
      <p:ext uri="{BB962C8B-B14F-4D97-AF65-F5344CB8AC3E}">
        <p14:creationId xmlns:p14="http://schemas.microsoft.com/office/powerpoint/2010/main" val="7449929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C2D1158-D8BB-8A84-A615-78B0FEC4EF55}"/>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9CC13670-FA7A-3BE4-9BCB-6FCE413B5372}"/>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C39631FC-316D-692B-2051-0D0A37A61C17}"/>
              </a:ext>
            </a:extLst>
          </p:cNvPr>
          <p:cNvSpPr>
            <a:spLocks noGrp="1"/>
          </p:cNvSpPr>
          <p:nvPr>
            <p:ph type="dt" sz="half" idx="10"/>
          </p:nvPr>
        </p:nvSpPr>
        <p:spPr/>
        <p:txBody>
          <a:bodyPr/>
          <a:lstStyle/>
          <a:p>
            <a:fld id="{E0E7E122-8D58-471B-B215-D9E86B27F8A0}" type="datetime1">
              <a:rPr lang="fr-FR" smtClean="0"/>
              <a:t>07/06/2026</a:t>
            </a:fld>
            <a:endParaRPr lang="fr-FR"/>
          </a:p>
        </p:txBody>
      </p:sp>
      <p:sp>
        <p:nvSpPr>
          <p:cNvPr id="5" name="Espace réservé du pied de page 4">
            <a:extLst>
              <a:ext uri="{FF2B5EF4-FFF2-40B4-BE49-F238E27FC236}">
                <a16:creationId xmlns:a16="http://schemas.microsoft.com/office/drawing/2014/main" id="{54E9125E-D720-8585-C7F5-F17B8888310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F1C4AEC-6A8D-F86A-0707-0E5FCBF99F73}"/>
              </a:ext>
            </a:extLst>
          </p:cNvPr>
          <p:cNvSpPr>
            <a:spLocks noGrp="1"/>
          </p:cNvSpPr>
          <p:nvPr>
            <p:ph type="sldNum" sz="quarter" idx="12"/>
          </p:nvPr>
        </p:nvSpPr>
        <p:spPr/>
        <p:txBody>
          <a:bodyPr/>
          <a:lstStyle/>
          <a:p>
            <a:fld id="{201A5C1E-DE71-4D99-BC1E-739595F062E0}" type="slidenum">
              <a:rPr lang="fr-FR" smtClean="0"/>
              <a:t>‹N°›</a:t>
            </a:fld>
            <a:endParaRPr lang="fr-FR"/>
          </a:p>
        </p:txBody>
      </p:sp>
    </p:spTree>
    <p:extLst>
      <p:ext uri="{BB962C8B-B14F-4D97-AF65-F5344CB8AC3E}">
        <p14:creationId xmlns:p14="http://schemas.microsoft.com/office/powerpoint/2010/main" val="2306457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7DF9AE4B-2534-568D-B396-F2E647F3504C}"/>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70713E4F-9025-06A8-2D9E-D90F1C0F666E}"/>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BE9C4C49-7B8D-3D53-6826-3EEB742581D8}"/>
              </a:ext>
            </a:extLst>
          </p:cNvPr>
          <p:cNvSpPr>
            <a:spLocks noGrp="1"/>
          </p:cNvSpPr>
          <p:nvPr>
            <p:ph type="dt" sz="half" idx="10"/>
          </p:nvPr>
        </p:nvSpPr>
        <p:spPr/>
        <p:txBody>
          <a:bodyPr/>
          <a:lstStyle/>
          <a:p>
            <a:fld id="{286D1296-AB39-4990-AC0B-72F9CBC5EF61}" type="datetime1">
              <a:rPr lang="fr-FR" smtClean="0"/>
              <a:t>07/06/2026</a:t>
            </a:fld>
            <a:endParaRPr lang="fr-FR"/>
          </a:p>
        </p:txBody>
      </p:sp>
      <p:sp>
        <p:nvSpPr>
          <p:cNvPr id="5" name="Espace réservé du pied de page 4">
            <a:extLst>
              <a:ext uri="{FF2B5EF4-FFF2-40B4-BE49-F238E27FC236}">
                <a16:creationId xmlns:a16="http://schemas.microsoft.com/office/drawing/2014/main" id="{5ECF3146-EE99-EA97-B96E-D78C9EE2825F}"/>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961CCE9-E162-5478-91C0-456E14F3B62E}"/>
              </a:ext>
            </a:extLst>
          </p:cNvPr>
          <p:cNvSpPr>
            <a:spLocks noGrp="1"/>
          </p:cNvSpPr>
          <p:nvPr>
            <p:ph type="sldNum" sz="quarter" idx="12"/>
          </p:nvPr>
        </p:nvSpPr>
        <p:spPr/>
        <p:txBody>
          <a:bodyPr/>
          <a:lstStyle/>
          <a:p>
            <a:fld id="{201A5C1E-DE71-4D99-BC1E-739595F062E0}" type="slidenum">
              <a:rPr lang="fr-FR" smtClean="0"/>
              <a:t>‹N°›</a:t>
            </a:fld>
            <a:endParaRPr lang="fr-FR"/>
          </a:p>
        </p:txBody>
      </p:sp>
    </p:spTree>
    <p:extLst>
      <p:ext uri="{BB962C8B-B14F-4D97-AF65-F5344CB8AC3E}">
        <p14:creationId xmlns:p14="http://schemas.microsoft.com/office/powerpoint/2010/main" val="33717039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CF9A2220-585D-DA61-19CF-722946D89F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7041AB91-EA0A-1B3D-30DD-77EE464657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49984C2-764A-08FD-ACA0-4AD7F1D19C7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EF30491-6F93-4193-87AC-4426AF174243}" type="datetime1">
              <a:rPr lang="fr-FR" smtClean="0"/>
              <a:t>07/06/2026</a:t>
            </a:fld>
            <a:endParaRPr lang="fr-FR"/>
          </a:p>
        </p:txBody>
      </p:sp>
      <p:sp>
        <p:nvSpPr>
          <p:cNvPr id="5" name="Espace réservé du pied de page 4">
            <a:extLst>
              <a:ext uri="{FF2B5EF4-FFF2-40B4-BE49-F238E27FC236}">
                <a16:creationId xmlns:a16="http://schemas.microsoft.com/office/drawing/2014/main" id="{8D4187E2-F0AC-C3C3-A07C-5CDFAD8CFF5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A7E6EC5D-6FA6-82DD-2D0C-3C11AD87F36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1A5C1E-DE71-4D99-BC1E-739595F062E0}" type="slidenum">
              <a:rPr lang="fr-FR" smtClean="0"/>
              <a:t>‹N°›</a:t>
            </a:fld>
            <a:endParaRPr lang="fr-FR"/>
          </a:p>
        </p:txBody>
      </p:sp>
    </p:spTree>
    <p:extLst>
      <p:ext uri="{BB962C8B-B14F-4D97-AF65-F5344CB8AC3E}">
        <p14:creationId xmlns:p14="http://schemas.microsoft.com/office/powerpoint/2010/main" val="17161030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stephane.genouel.free.fr/FT/Dossier_Multimedia/Maxpid_V2/co/Maxpid_V2_13.html"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comments" Target="../comments/comment1.xml"/><Relationship Id="rId4"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2E3A031-9DFD-A1C4-37C2-C1A492BB8118}"/>
              </a:ext>
            </a:extLst>
          </p:cNvPr>
          <p:cNvSpPr>
            <a:spLocks noGrp="1"/>
          </p:cNvSpPr>
          <p:nvPr>
            <p:ph type="title"/>
          </p:nvPr>
        </p:nvSpPr>
        <p:spPr>
          <a:xfrm>
            <a:off x="4495799" y="846476"/>
            <a:ext cx="7315200" cy="1325563"/>
          </a:xfrm>
        </p:spPr>
        <p:txBody>
          <a:bodyPr>
            <a:noAutofit/>
          </a:bodyPr>
          <a:lstStyle/>
          <a:p>
            <a:pPr algn="ctr"/>
            <a:r>
              <a:rPr lang="fr-FR" sz="3600" dirty="0"/>
              <a:t>Epreuve d’activité pratique et d’exploitation pédagogique relatives à l’approche globale d’un système pluri technologique</a:t>
            </a:r>
          </a:p>
        </p:txBody>
      </p:sp>
      <p:sp>
        <p:nvSpPr>
          <p:cNvPr id="3" name="Espace réservé du contenu 2">
            <a:extLst>
              <a:ext uri="{FF2B5EF4-FFF2-40B4-BE49-F238E27FC236}">
                <a16:creationId xmlns:a16="http://schemas.microsoft.com/office/drawing/2014/main" id="{080907E7-C971-AEFA-CFB8-25CD426883EE}"/>
              </a:ext>
            </a:extLst>
          </p:cNvPr>
          <p:cNvSpPr>
            <a:spLocks noGrp="1"/>
          </p:cNvSpPr>
          <p:nvPr>
            <p:ph idx="1"/>
          </p:nvPr>
        </p:nvSpPr>
        <p:spPr>
          <a:xfrm>
            <a:off x="5105636" y="2773531"/>
            <a:ext cx="6932050" cy="2981327"/>
          </a:xfrm>
        </p:spPr>
        <p:txBody>
          <a:bodyPr>
            <a:normAutofit/>
          </a:bodyPr>
          <a:lstStyle/>
          <a:p>
            <a:pPr marL="0" indent="0" algn="ctr">
              <a:buNone/>
            </a:pPr>
            <a:r>
              <a:rPr lang="fr-FR" dirty="0"/>
              <a:t>Modélisation des mécanismes</a:t>
            </a:r>
          </a:p>
          <a:p>
            <a:pPr marL="0" indent="0" algn="ctr">
              <a:buNone/>
            </a:pPr>
            <a:endParaRPr lang="fr-FR" dirty="0"/>
          </a:p>
          <a:p>
            <a:pPr marL="0" indent="0" algn="ctr">
              <a:buNone/>
            </a:pPr>
            <a:r>
              <a:rPr lang="fr-FR" dirty="0"/>
              <a:t>Bac Technologique STI2D, Robot </a:t>
            </a:r>
            <a:r>
              <a:rPr lang="fr-FR" dirty="0" err="1"/>
              <a:t>MaxPID</a:t>
            </a:r>
            <a:endParaRPr lang="fr-FR" dirty="0"/>
          </a:p>
          <a:p>
            <a:pPr marL="0" indent="0" algn="ctr">
              <a:buNone/>
            </a:pPr>
            <a:r>
              <a:rPr lang="fr-FR" dirty="0"/>
              <a:t>07/04/2025</a:t>
            </a:r>
          </a:p>
          <a:p>
            <a:pPr marL="0" indent="0" algn="ctr">
              <a:buNone/>
            </a:pPr>
            <a:r>
              <a:rPr lang="fr-FR" dirty="0"/>
              <a:t>Candidat N° PREVISANI Arthur</a:t>
            </a:r>
          </a:p>
        </p:txBody>
      </p:sp>
      <p:sp>
        <p:nvSpPr>
          <p:cNvPr id="7" name="Espace réservé du numéro de diapositive 6">
            <a:extLst>
              <a:ext uri="{FF2B5EF4-FFF2-40B4-BE49-F238E27FC236}">
                <a16:creationId xmlns:a16="http://schemas.microsoft.com/office/drawing/2014/main" id="{964811C3-26BC-7A32-D31A-96D937F45B04}"/>
              </a:ext>
            </a:extLst>
          </p:cNvPr>
          <p:cNvSpPr>
            <a:spLocks noGrp="1"/>
          </p:cNvSpPr>
          <p:nvPr>
            <p:ph type="sldNum" sz="quarter" idx="12"/>
          </p:nvPr>
        </p:nvSpPr>
        <p:spPr/>
        <p:txBody>
          <a:bodyPr/>
          <a:lstStyle/>
          <a:p>
            <a:fld id="{201A5C1E-DE71-4D99-BC1E-739595F062E0}" type="slidenum">
              <a:rPr lang="fr-FR" sz="2000" smtClean="0"/>
              <a:t>1</a:t>
            </a:fld>
            <a:r>
              <a:rPr lang="fr-FR" sz="2000" dirty="0"/>
              <a:t>/22</a:t>
            </a:r>
          </a:p>
        </p:txBody>
      </p:sp>
      <p:sp>
        <p:nvSpPr>
          <p:cNvPr id="4" name="Espace réservé du pied de page 3">
            <a:extLst>
              <a:ext uri="{FF2B5EF4-FFF2-40B4-BE49-F238E27FC236}">
                <a16:creationId xmlns:a16="http://schemas.microsoft.com/office/drawing/2014/main" id="{F913FA50-8192-515A-432A-D40308C5BACC}"/>
              </a:ext>
            </a:extLst>
          </p:cNvPr>
          <p:cNvSpPr>
            <a:spLocks noGrp="1"/>
          </p:cNvSpPr>
          <p:nvPr>
            <p:ph type="ftr" sz="quarter" idx="11"/>
          </p:nvPr>
        </p:nvSpPr>
        <p:spPr/>
        <p:txBody>
          <a:bodyPr/>
          <a:lstStyle/>
          <a:p>
            <a:r>
              <a:rPr lang="fr-FR" sz="1600" dirty="0">
                <a:solidFill>
                  <a:schemeClr val="tx1"/>
                </a:solidFill>
              </a:rPr>
              <a:t>N° Arthur PREVISANI</a:t>
            </a:r>
          </a:p>
        </p:txBody>
      </p:sp>
      <p:pic>
        <p:nvPicPr>
          <p:cNvPr id="8" name="Image 7">
            <a:extLst>
              <a:ext uri="{FF2B5EF4-FFF2-40B4-BE49-F238E27FC236}">
                <a16:creationId xmlns:a16="http://schemas.microsoft.com/office/drawing/2014/main" id="{7E55755E-13A0-93F2-F690-649DE1A9B6E9}"/>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0" y="2172039"/>
            <a:ext cx="5105636" cy="3833644"/>
          </a:xfrm>
          <a:prstGeom prst="rect">
            <a:avLst/>
          </a:prstGeom>
        </p:spPr>
      </p:pic>
    </p:spTree>
    <p:extLst>
      <p:ext uri="{BB962C8B-B14F-4D97-AF65-F5344CB8AC3E}">
        <p14:creationId xmlns:p14="http://schemas.microsoft.com/office/powerpoint/2010/main" val="2038919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31336-EF6F-3BFE-39EF-D85956D419A0}"/>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91A0972A-2837-292B-BBFC-36132F40CA34}"/>
              </a:ext>
            </a:extLst>
          </p:cNvPr>
          <p:cNvSpPr>
            <a:spLocks noGrp="1"/>
          </p:cNvSpPr>
          <p:nvPr>
            <p:ph type="sldNum" sz="quarter" idx="12"/>
          </p:nvPr>
        </p:nvSpPr>
        <p:spPr/>
        <p:txBody>
          <a:bodyPr/>
          <a:lstStyle/>
          <a:p>
            <a:fld id="{201A5C1E-DE71-4D99-BC1E-739595F062E0}" type="slidenum">
              <a:rPr lang="fr-FR" sz="2000" smtClean="0"/>
              <a:t>2</a:t>
            </a:fld>
            <a:r>
              <a:rPr lang="fr-FR" sz="2000" dirty="0"/>
              <a:t>/22</a:t>
            </a:r>
          </a:p>
        </p:txBody>
      </p:sp>
      <p:sp>
        <p:nvSpPr>
          <p:cNvPr id="4" name="Espace réservé du pied de page 3">
            <a:extLst>
              <a:ext uri="{FF2B5EF4-FFF2-40B4-BE49-F238E27FC236}">
                <a16:creationId xmlns:a16="http://schemas.microsoft.com/office/drawing/2014/main" id="{61C6AC18-C51E-E3D9-704D-28840E852F50}"/>
              </a:ext>
            </a:extLst>
          </p:cNvPr>
          <p:cNvSpPr>
            <a:spLocks noGrp="1"/>
          </p:cNvSpPr>
          <p:nvPr>
            <p:ph type="ftr" sz="quarter" idx="11"/>
          </p:nvPr>
        </p:nvSpPr>
        <p:spPr/>
        <p:txBody>
          <a:bodyPr/>
          <a:lstStyle/>
          <a:p>
            <a:r>
              <a:rPr lang="fr-FR" sz="1600" dirty="0">
                <a:solidFill>
                  <a:schemeClr val="tx1"/>
                </a:solidFill>
              </a:rPr>
              <a:t>N° Arthur PREVISANI</a:t>
            </a:r>
          </a:p>
        </p:txBody>
      </p:sp>
      <p:sp>
        <p:nvSpPr>
          <p:cNvPr id="11" name="Titre 1">
            <a:extLst>
              <a:ext uri="{FF2B5EF4-FFF2-40B4-BE49-F238E27FC236}">
                <a16:creationId xmlns:a16="http://schemas.microsoft.com/office/drawing/2014/main" id="{5F0C7E0E-790C-136A-35CB-01B4C45DAC50}"/>
              </a:ext>
            </a:extLst>
          </p:cNvPr>
          <p:cNvSpPr>
            <a:spLocks noGrp="1"/>
          </p:cNvSpPr>
          <p:nvPr>
            <p:ph type="title"/>
          </p:nvPr>
        </p:nvSpPr>
        <p:spPr>
          <a:xfrm>
            <a:off x="838200" y="365125"/>
            <a:ext cx="10515600" cy="1325563"/>
          </a:xfrm>
        </p:spPr>
        <p:txBody>
          <a:bodyPr>
            <a:normAutofit/>
          </a:bodyPr>
          <a:lstStyle/>
          <a:p>
            <a:r>
              <a:rPr lang="fr-FR" sz="5400" dirty="0"/>
              <a:t>Sommaire</a:t>
            </a:r>
          </a:p>
        </p:txBody>
      </p:sp>
      <p:sp>
        <p:nvSpPr>
          <p:cNvPr id="12" name="Espace réservé du contenu 2">
            <a:extLst>
              <a:ext uri="{FF2B5EF4-FFF2-40B4-BE49-F238E27FC236}">
                <a16:creationId xmlns:a16="http://schemas.microsoft.com/office/drawing/2014/main" id="{4CE80DF9-FF99-B19B-7144-3F67A22BE1C4}"/>
              </a:ext>
            </a:extLst>
          </p:cNvPr>
          <p:cNvSpPr>
            <a:spLocks noGrp="1"/>
          </p:cNvSpPr>
          <p:nvPr>
            <p:ph idx="1"/>
          </p:nvPr>
        </p:nvSpPr>
        <p:spPr>
          <a:xfrm>
            <a:off x="838200" y="1798638"/>
            <a:ext cx="10515600" cy="4351338"/>
          </a:xfrm>
        </p:spPr>
        <p:txBody>
          <a:bodyPr/>
          <a:lstStyle/>
          <a:p>
            <a:r>
              <a:rPr lang="fr-FR" sz="3600" dirty="0"/>
              <a:t>Contexte</a:t>
            </a:r>
          </a:p>
          <a:p>
            <a:r>
              <a:rPr lang="fr-FR" sz="3600" dirty="0"/>
              <a:t>Prérequis/compétences</a:t>
            </a:r>
          </a:p>
          <a:p>
            <a:r>
              <a:rPr lang="fr-FR" sz="3600" dirty="0"/>
              <a:t>Organisation de la séquence</a:t>
            </a:r>
          </a:p>
          <a:p>
            <a:r>
              <a:rPr lang="fr-FR" sz="3600" dirty="0"/>
              <a:t>Présentation du robot </a:t>
            </a:r>
            <a:r>
              <a:rPr lang="fr-FR" sz="3600" dirty="0" err="1"/>
              <a:t>MaxPID</a:t>
            </a:r>
            <a:endParaRPr lang="fr-FR" sz="3600" dirty="0"/>
          </a:p>
          <a:p>
            <a:r>
              <a:rPr lang="fr-FR" sz="3600" dirty="0"/>
              <a:t>Séance à caractère expérimental</a:t>
            </a:r>
          </a:p>
          <a:p>
            <a:r>
              <a:rPr lang="fr-FR" sz="3600" dirty="0"/>
              <a:t>Conclusion </a:t>
            </a:r>
          </a:p>
          <a:p>
            <a:endParaRPr lang="fr-FR" dirty="0"/>
          </a:p>
        </p:txBody>
      </p:sp>
    </p:spTree>
    <p:extLst>
      <p:ext uri="{BB962C8B-B14F-4D97-AF65-F5344CB8AC3E}">
        <p14:creationId xmlns:p14="http://schemas.microsoft.com/office/powerpoint/2010/main" val="1300456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1721221-444B-CB8F-5D46-F61CBF738D5C}"/>
              </a:ext>
            </a:extLst>
          </p:cNvPr>
          <p:cNvSpPr>
            <a:spLocks noGrp="1"/>
          </p:cNvSpPr>
          <p:nvPr>
            <p:ph type="title"/>
          </p:nvPr>
        </p:nvSpPr>
        <p:spPr>
          <a:xfrm>
            <a:off x="838200" y="0"/>
            <a:ext cx="10515600" cy="1325563"/>
          </a:xfrm>
        </p:spPr>
        <p:txBody>
          <a:bodyPr/>
          <a:lstStyle/>
          <a:p>
            <a:r>
              <a:rPr lang="fr-FR" dirty="0"/>
              <a:t>Contexte pédagogique</a:t>
            </a:r>
          </a:p>
        </p:txBody>
      </p:sp>
      <p:sp>
        <p:nvSpPr>
          <p:cNvPr id="6" name="ZoneTexte 5">
            <a:extLst>
              <a:ext uri="{FF2B5EF4-FFF2-40B4-BE49-F238E27FC236}">
                <a16:creationId xmlns:a16="http://schemas.microsoft.com/office/drawing/2014/main" id="{C44D3443-A7A0-E1C5-08ED-AE723CB105B3}"/>
              </a:ext>
            </a:extLst>
          </p:cNvPr>
          <p:cNvSpPr txBox="1"/>
          <p:nvPr/>
        </p:nvSpPr>
        <p:spPr>
          <a:xfrm>
            <a:off x="1247264" y="1028343"/>
            <a:ext cx="9116901" cy="2400657"/>
          </a:xfrm>
          <a:prstGeom prst="rect">
            <a:avLst/>
          </a:prstGeom>
          <a:noFill/>
        </p:spPr>
        <p:txBody>
          <a:bodyPr wrap="square" rtlCol="0">
            <a:spAutoFit/>
          </a:bodyPr>
          <a:lstStyle/>
          <a:p>
            <a:r>
              <a:rPr lang="fr-FR" sz="3000" dirty="0"/>
              <a:t>1ere STI2D </a:t>
            </a:r>
          </a:p>
          <a:p>
            <a:r>
              <a:rPr lang="fr-FR" sz="3000" dirty="0"/>
              <a:t>Classe de 36 élèves</a:t>
            </a:r>
          </a:p>
          <a:p>
            <a:r>
              <a:rPr lang="fr-FR" sz="3000" dirty="0"/>
              <a:t>12h de cours hebdomadaire:</a:t>
            </a:r>
          </a:p>
          <a:p>
            <a:r>
              <a:rPr lang="fr-FR" sz="3000" dirty="0"/>
              <a:t>9h I2D dont 6 en ½ groupe + 3h IT en ½ groupe</a:t>
            </a:r>
          </a:p>
          <a:p>
            <a:endParaRPr lang="fr-FR" sz="3000" dirty="0"/>
          </a:p>
        </p:txBody>
      </p:sp>
      <p:sp>
        <p:nvSpPr>
          <p:cNvPr id="8" name="Espace réservé du numéro de diapositive 7">
            <a:extLst>
              <a:ext uri="{FF2B5EF4-FFF2-40B4-BE49-F238E27FC236}">
                <a16:creationId xmlns:a16="http://schemas.microsoft.com/office/drawing/2014/main" id="{8CAA2D67-C65F-EDFD-796B-556AE1BB5E98}"/>
              </a:ext>
            </a:extLst>
          </p:cNvPr>
          <p:cNvSpPr>
            <a:spLocks noGrp="1"/>
          </p:cNvSpPr>
          <p:nvPr>
            <p:ph type="sldNum" sz="quarter" idx="12"/>
          </p:nvPr>
        </p:nvSpPr>
        <p:spPr/>
        <p:txBody>
          <a:bodyPr/>
          <a:lstStyle/>
          <a:p>
            <a:fld id="{201A5C1E-DE71-4D99-BC1E-739595F062E0}" type="slidenum">
              <a:rPr lang="fr-FR" sz="2000" smtClean="0"/>
              <a:t>3</a:t>
            </a:fld>
            <a:r>
              <a:rPr lang="fr-FR" sz="2000" dirty="0"/>
              <a:t>/22</a:t>
            </a:r>
          </a:p>
        </p:txBody>
      </p:sp>
      <p:graphicFrame>
        <p:nvGraphicFramePr>
          <p:cNvPr id="7" name="Tableau 6">
            <a:extLst>
              <a:ext uri="{FF2B5EF4-FFF2-40B4-BE49-F238E27FC236}">
                <a16:creationId xmlns:a16="http://schemas.microsoft.com/office/drawing/2014/main" id="{5439FABA-719A-637E-66E1-4BD1AE973ADB}"/>
              </a:ext>
            </a:extLst>
          </p:cNvPr>
          <p:cNvGraphicFramePr>
            <a:graphicFrameLocks noGrp="1"/>
          </p:cNvGraphicFramePr>
          <p:nvPr>
            <p:extLst>
              <p:ext uri="{D42A27DB-BD31-4B8C-83A1-F6EECF244321}">
                <p14:modId xmlns:p14="http://schemas.microsoft.com/office/powerpoint/2010/main" val="560155445"/>
              </p:ext>
            </p:extLst>
          </p:nvPr>
        </p:nvGraphicFramePr>
        <p:xfrm>
          <a:off x="2031999" y="3018790"/>
          <a:ext cx="8128002" cy="3337560"/>
        </p:xfrm>
        <a:graphic>
          <a:graphicData uri="http://schemas.openxmlformats.org/drawingml/2006/table">
            <a:tbl>
              <a:tblPr firstRow="1" bandRow="1">
                <a:tableStyleId>{5940675A-B579-460E-94D1-54222C63F5DA}</a:tableStyleId>
              </a:tblPr>
              <a:tblGrid>
                <a:gridCol w="1354667">
                  <a:extLst>
                    <a:ext uri="{9D8B030D-6E8A-4147-A177-3AD203B41FA5}">
                      <a16:colId xmlns:a16="http://schemas.microsoft.com/office/drawing/2014/main" val="3018625712"/>
                    </a:ext>
                  </a:extLst>
                </a:gridCol>
                <a:gridCol w="1354667">
                  <a:extLst>
                    <a:ext uri="{9D8B030D-6E8A-4147-A177-3AD203B41FA5}">
                      <a16:colId xmlns:a16="http://schemas.microsoft.com/office/drawing/2014/main" val="4108680489"/>
                    </a:ext>
                  </a:extLst>
                </a:gridCol>
                <a:gridCol w="1354667">
                  <a:extLst>
                    <a:ext uri="{9D8B030D-6E8A-4147-A177-3AD203B41FA5}">
                      <a16:colId xmlns:a16="http://schemas.microsoft.com/office/drawing/2014/main" val="1212889447"/>
                    </a:ext>
                  </a:extLst>
                </a:gridCol>
                <a:gridCol w="1354667">
                  <a:extLst>
                    <a:ext uri="{9D8B030D-6E8A-4147-A177-3AD203B41FA5}">
                      <a16:colId xmlns:a16="http://schemas.microsoft.com/office/drawing/2014/main" val="410268703"/>
                    </a:ext>
                  </a:extLst>
                </a:gridCol>
                <a:gridCol w="1354667">
                  <a:extLst>
                    <a:ext uri="{9D8B030D-6E8A-4147-A177-3AD203B41FA5}">
                      <a16:colId xmlns:a16="http://schemas.microsoft.com/office/drawing/2014/main" val="892389463"/>
                    </a:ext>
                  </a:extLst>
                </a:gridCol>
                <a:gridCol w="1354667">
                  <a:extLst>
                    <a:ext uri="{9D8B030D-6E8A-4147-A177-3AD203B41FA5}">
                      <a16:colId xmlns:a16="http://schemas.microsoft.com/office/drawing/2014/main" val="1090072327"/>
                    </a:ext>
                  </a:extLst>
                </a:gridCol>
              </a:tblGrid>
              <a:tr h="370840">
                <a:tc>
                  <a:txBody>
                    <a:bodyPr/>
                    <a:lstStyle/>
                    <a:p>
                      <a:pPr algn="ctr"/>
                      <a:endParaRPr lang="fr-FR" dirty="0"/>
                    </a:p>
                  </a:txBody>
                  <a:tcPr anchor="ctr"/>
                </a:tc>
                <a:tc>
                  <a:txBody>
                    <a:bodyPr/>
                    <a:lstStyle/>
                    <a:p>
                      <a:pPr algn="ctr"/>
                      <a:r>
                        <a:rPr lang="fr-FR" dirty="0"/>
                        <a:t>Lundi</a:t>
                      </a:r>
                    </a:p>
                  </a:txBody>
                  <a:tcPr anchor="ctr"/>
                </a:tc>
                <a:tc>
                  <a:txBody>
                    <a:bodyPr/>
                    <a:lstStyle/>
                    <a:p>
                      <a:pPr algn="ctr"/>
                      <a:r>
                        <a:rPr lang="fr-FR" dirty="0"/>
                        <a:t>Mardi</a:t>
                      </a:r>
                    </a:p>
                  </a:txBody>
                  <a:tcPr anchor="ctr"/>
                </a:tc>
                <a:tc>
                  <a:txBody>
                    <a:bodyPr/>
                    <a:lstStyle/>
                    <a:p>
                      <a:pPr algn="ctr"/>
                      <a:r>
                        <a:rPr lang="fr-FR" dirty="0"/>
                        <a:t>Mercredi</a:t>
                      </a:r>
                    </a:p>
                  </a:txBody>
                  <a:tcPr anchor="ctr"/>
                </a:tc>
                <a:tc>
                  <a:txBody>
                    <a:bodyPr/>
                    <a:lstStyle/>
                    <a:p>
                      <a:pPr algn="ctr"/>
                      <a:r>
                        <a:rPr lang="fr-FR" dirty="0"/>
                        <a:t>Jeudi</a:t>
                      </a:r>
                    </a:p>
                  </a:txBody>
                  <a:tcPr anchor="ctr"/>
                </a:tc>
                <a:tc>
                  <a:txBody>
                    <a:bodyPr/>
                    <a:lstStyle/>
                    <a:p>
                      <a:pPr algn="ctr"/>
                      <a:r>
                        <a:rPr lang="fr-FR" dirty="0"/>
                        <a:t>Vendredi</a:t>
                      </a:r>
                    </a:p>
                  </a:txBody>
                  <a:tcPr anchor="ctr"/>
                </a:tc>
                <a:extLst>
                  <a:ext uri="{0D108BD9-81ED-4DB2-BD59-A6C34878D82A}">
                    <a16:rowId xmlns:a16="http://schemas.microsoft.com/office/drawing/2014/main" val="2658959332"/>
                  </a:ext>
                </a:extLst>
              </a:tr>
              <a:tr h="370840">
                <a:tc>
                  <a:txBody>
                    <a:bodyPr/>
                    <a:lstStyle/>
                    <a:p>
                      <a:pPr algn="ctr"/>
                      <a:r>
                        <a:rPr lang="fr-FR" dirty="0"/>
                        <a:t>8-9H</a:t>
                      </a:r>
                    </a:p>
                  </a:txBody>
                  <a:tcPr anchor="ctr"/>
                </a:tc>
                <a:tc>
                  <a:txBody>
                    <a:bodyPr/>
                    <a:lstStyle/>
                    <a:p>
                      <a:pPr algn="ctr"/>
                      <a:endParaRPr lang="fr-FR"/>
                    </a:p>
                  </a:txBody>
                  <a:tcPr anchor="ctr"/>
                </a:tc>
                <a:tc>
                  <a:txBody>
                    <a:bodyPr/>
                    <a:lstStyle/>
                    <a:p>
                      <a:pPr algn="ctr"/>
                      <a:endParaRPr lang="fr-FR"/>
                    </a:p>
                  </a:txBody>
                  <a:tcPr anchor="ct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dirty="0"/>
                        <a:t>3H I2D</a:t>
                      </a:r>
                    </a:p>
                  </a:txBody>
                  <a:tcPr anchor="ctr">
                    <a:solidFill>
                      <a:srgbClr val="FFEBB9"/>
                    </a:solidFill>
                  </a:tcPr>
                </a:tc>
                <a:tc>
                  <a:txBody>
                    <a:bodyPr/>
                    <a:lstStyle/>
                    <a:p>
                      <a:pPr algn="ctr"/>
                      <a:endParaRPr lang="fr-FR"/>
                    </a:p>
                  </a:txBody>
                  <a:tcPr anchor="ctr"/>
                </a:tc>
                <a:tc>
                  <a:txBody>
                    <a:bodyPr/>
                    <a:lstStyle/>
                    <a:p>
                      <a:pPr algn="ctr"/>
                      <a:endParaRPr lang="fr-FR"/>
                    </a:p>
                  </a:txBody>
                  <a:tcPr anchor="ctr"/>
                </a:tc>
                <a:extLst>
                  <a:ext uri="{0D108BD9-81ED-4DB2-BD59-A6C34878D82A}">
                    <a16:rowId xmlns:a16="http://schemas.microsoft.com/office/drawing/2014/main" val="2953442098"/>
                  </a:ext>
                </a:extLst>
              </a:tr>
              <a:tr h="370840">
                <a:tc>
                  <a:txBody>
                    <a:bodyPr/>
                    <a:lstStyle/>
                    <a:p>
                      <a:pPr algn="ctr"/>
                      <a:r>
                        <a:rPr lang="fr-FR" dirty="0"/>
                        <a:t>9-10H</a:t>
                      </a:r>
                    </a:p>
                  </a:txBody>
                  <a:tcPr anchor="ctr"/>
                </a:tc>
                <a:tc>
                  <a:txBody>
                    <a:bodyPr/>
                    <a:lstStyle/>
                    <a:p>
                      <a:pPr algn="ctr"/>
                      <a:endParaRPr lang="fr-F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p>
                  </a:txBody>
                  <a:tcPr anchor="ctr">
                    <a:solidFill>
                      <a:schemeClr val="bg1"/>
                    </a:solidFill>
                  </a:tcPr>
                </a:tc>
                <a:tc vMerge="1">
                  <a:txBody>
                    <a:bodyPr/>
                    <a:lstStyle/>
                    <a:p>
                      <a:pPr algn="ctr"/>
                      <a:endParaRPr lang="fr-FR" dirty="0"/>
                    </a:p>
                  </a:txBody>
                  <a:tcPr anchor="ctr"/>
                </a:tc>
                <a:tc>
                  <a:txBody>
                    <a:bodyPr/>
                    <a:lstStyle/>
                    <a:p>
                      <a:pPr algn="ctr"/>
                      <a:endParaRPr lang="fr-F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p>
                  </a:txBody>
                  <a:tcPr anchor="ctr">
                    <a:solidFill>
                      <a:schemeClr val="bg1"/>
                    </a:solidFill>
                  </a:tcPr>
                </a:tc>
                <a:extLst>
                  <a:ext uri="{0D108BD9-81ED-4DB2-BD59-A6C34878D82A}">
                    <a16:rowId xmlns:a16="http://schemas.microsoft.com/office/drawing/2014/main" val="2199027498"/>
                  </a:ext>
                </a:extLst>
              </a:tr>
              <a:tr h="370840">
                <a:tc>
                  <a:txBody>
                    <a:bodyPr/>
                    <a:lstStyle/>
                    <a:p>
                      <a:pPr algn="ctr"/>
                      <a:r>
                        <a:rPr lang="fr-FR" dirty="0"/>
                        <a:t>10-11H</a:t>
                      </a:r>
                    </a:p>
                  </a:txBody>
                  <a:tcPr anchor="ct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dirty="0"/>
                        <a:t>2H I2D</a:t>
                      </a:r>
                    </a:p>
                  </a:txBody>
                  <a:tcPr anchor="ct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p>
                  </a:txBody>
                  <a:tcPr anchor="ctr">
                    <a:solidFill>
                      <a:schemeClr val="bg1"/>
                    </a:solid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p>
                  </a:txBody>
                  <a:tcPr anchor="ctr">
                    <a:solidFill>
                      <a:schemeClr val="bg1"/>
                    </a:solidFill>
                  </a:tcPr>
                </a:tc>
                <a:tc>
                  <a:txBody>
                    <a:bodyPr/>
                    <a:lstStyle/>
                    <a:p>
                      <a:pPr algn="ctr"/>
                      <a:r>
                        <a:rPr lang="fr-FR" dirty="0"/>
                        <a:t>1H I2D</a:t>
                      </a:r>
                    </a:p>
                  </a:txBody>
                  <a:tcPr anchor="ct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p>
                  </a:txBody>
                  <a:tcPr anchor="ctr">
                    <a:solidFill>
                      <a:schemeClr val="bg1"/>
                    </a:solidFill>
                  </a:tcPr>
                </a:tc>
                <a:extLst>
                  <a:ext uri="{0D108BD9-81ED-4DB2-BD59-A6C34878D82A}">
                    <a16:rowId xmlns:a16="http://schemas.microsoft.com/office/drawing/2014/main" val="3438670470"/>
                  </a:ext>
                </a:extLst>
              </a:tr>
              <a:tr h="370840">
                <a:tc>
                  <a:txBody>
                    <a:bodyPr/>
                    <a:lstStyle/>
                    <a:p>
                      <a:pPr algn="ctr"/>
                      <a:r>
                        <a:rPr lang="fr-FR" dirty="0"/>
                        <a:t>11H-12H</a:t>
                      </a:r>
                    </a:p>
                  </a:txBody>
                  <a:tcPr anchor="ctr"/>
                </a:tc>
                <a:tc vMerge="1">
                  <a:txBody>
                    <a:bodyPr/>
                    <a:lstStyle/>
                    <a:p>
                      <a:pPr algn="ctr"/>
                      <a:endParaRPr lang="fr-FR"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p>
                  </a:txBody>
                  <a:tcPr anchor="c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p>
                  </a:txBody>
                  <a:tcPr anchor="ctr">
                    <a:solidFill>
                      <a:schemeClr val="bg1"/>
                    </a:solidFill>
                  </a:tcPr>
                </a:tc>
                <a:tc>
                  <a:txBody>
                    <a:bodyPr/>
                    <a:lstStyle/>
                    <a:p>
                      <a:pPr algn="ctr"/>
                      <a:endParaRPr lang="fr-F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p>
                  </a:txBody>
                  <a:tcPr anchor="ctr">
                    <a:solidFill>
                      <a:schemeClr val="bg1"/>
                    </a:solidFill>
                  </a:tcPr>
                </a:tc>
                <a:extLst>
                  <a:ext uri="{0D108BD9-81ED-4DB2-BD59-A6C34878D82A}">
                    <a16:rowId xmlns:a16="http://schemas.microsoft.com/office/drawing/2014/main" val="59387983"/>
                  </a:ext>
                </a:extLst>
              </a:tr>
              <a:tr h="370840">
                <a:tc>
                  <a:txBody>
                    <a:bodyPr/>
                    <a:lstStyle/>
                    <a:p>
                      <a:pPr algn="ctr"/>
                      <a:endParaRPr lang="fr-FR" dirty="0"/>
                    </a:p>
                  </a:txBody>
                  <a:tcPr anchor="ctr"/>
                </a:tc>
                <a:tc>
                  <a:txBody>
                    <a:bodyPr/>
                    <a:lstStyle/>
                    <a:p>
                      <a:pPr algn="ctr"/>
                      <a:endParaRPr lang="fr-FR" dirty="0"/>
                    </a:p>
                  </a:txBody>
                  <a:tcPr anchor="ctr"/>
                </a:tc>
                <a:tc>
                  <a:txBody>
                    <a:bodyPr/>
                    <a:lstStyle/>
                    <a:p>
                      <a:pPr algn="ctr"/>
                      <a:endParaRPr lang="fr-FR"/>
                    </a:p>
                  </a:txBody>
                  <a:tcPr anchor="ctr"/>
                </a:tc>
                <a:tc>
                  <a:txBody>
                    <a:bodyPr/>
                    <a:lstStyle/>
                    <a:p>
                      <a:pPr algn="ctr"/>
                      <a:endParaRPr lang="fr-FR"/>
                    </a:p>
                  </a:txBody>
                  <a:tcPr anchor="ctr"/>
                </a:tc>
                <a:tc>
                  <a:txBody>
                    <a:bodyPr/>
                    <a:lstStyle/>
                    <a:p>
                      <a:pPr algn="ctr"/>
                      <a:endParaRPr lang="fr-FR" dirty="0"/>
                    </a:p>
                  </a:txBody>
                  <a:tcPr anchor="ctr"/>
                </a:tc>
                <a:tc>
                  <a:txBody>
                    <a:bodyPr/>
                    <a:lstStyle/>
                    <a:p>
                      <a:pPr algn="ctr"/>
                      <a:endParaRPr lang="fr-FR" dirty="0"/>
                    </a:p>
                  </a:txBody>
                  <a:tcPr anchor="ctr"/>
                </a:tc>
                <a:extLst>
                  <a:ext uri="{0D108BD9-81ED-4DB2-BD59-A6C34878D82A}">
                    <a16:rowId xmlns:a16="http://schemas.microsoft.com/office/drawing/2014/main" val="3481300047"/>
                  </a:ext>
                </a:extLst>
              </a:tr>
              <a:tr h="370840">
                <a:tc>
                  <a:txBody>
                    <a:bodyPr/>
                    <a:lstStyle/>
                    <a:p>
                      <a:pPr algn="ctr"/>
                      <a:r>
                        <a:rPr lang="fr-FR" dirty="0"/>
                        <a:t>14-15H</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p>
                  </a:txBody>
                  <a:tcPr anchor="ctr">
                    <a:solidFill>
                      <a:schemeClr val="bg1"/>
                    </a:solid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dirty="0"/>
                        <a:t>3H I2D</a:t>
                      </a:r>
                    </a:p>
                  </a:txBody>
                  <a:tcPr anchor="ctr">
                    <a:solidFill>
                      <a:srgbClr val="FFEBB9"/>
                    </a:solidFill>
                  </a:tcPr>
                </a:tc>
                <a:tc>
                  <a:txBody>
                    <a:bodyPr/>
                    <a:lstStyle/>
                    <a:p>
                      <a:pPr algn="ctr"/>
                      <a:endParaRPr lang="fr-FR"/>
                    </a:p>
                  </a:txBody>
                  <a:tcPr anchor="ct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dirty="0"/>
                        <a:t>3H IT</a:t>
                      </a:r>
                    </a:p>
                  </a:txBody>
                  <a:tcPr anchor="ctr">
                    <a:solidFill>
                      <a:srgbClr val="FFEBB9"/>
                    </a:solidFill>
                  </a:tcPr>
                </a:tc>
                <a:tc>
                  <a:txBody>
                    <a:bodyPr/>
                    <a:lstStyle/>
                    <a:p>
                      <a:pPr algn="ctr"/>
                      <a:endParaRPr lang="fr-FR" dirty="0"/>
                    </a:p>
                  </a:txBody>
                  <a:tcPr anchor="ctr"/>
                </a:tc>
                <a:extLst>
                  <a:ext uri="{0D108BD9-81ED-4DB2-BD59-A6C34878D82A}">
                    <a16:rowId xmlns:a16="http://schemas.microsoft.com/office/drawing/2014/main" val="5938423"/>
                  </a:ext>
                </a:extLst>
              </a:tr>
              <a:tr h="370840">
                <a:tc>
                  <a:txBody>
                    <a:bodyPr/>
                    <a:lstStyle/>
                    <a:p>
                      <a:pPr algn="ctr"/>
                      <a:r>
                        <a:rPr lang="fr-FR" dirty="0"/>
                        <a:t>15-16H</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p>
                  </a:txBody>
                  <a:tcPr anchor="ctr">
                    <a:solidFill>
                      <a:schemeClr val="bg1"/>
                    </a:solidFill>
                  </a:tcPr>
                </a:tc>
                <a:tc vMerge="1">
                  <a:txBody>
                    <a:bodyPr/>
                    <a:lstStyle/>
                    <a:p>
                      <a:pPr algn="ctr"/>
                      <a:endParaRPr lang="fr-FR" dirty="0"/>
                    </a:p>
                  </a:txBody>
                  <a:tcPr anchor="ctr"/>
                </a:tc>
                <a:tc>
                  <a:txBody>
                    <a:bodyPr/>
                    <a:lstStyle/>
                    <a:p>
                      <a:pPr algn="ctr"/>
                      <a:endParaRPr lang="fr-FR"/>
                    </a:p>
                  </a:txBody>
                  <a:tcPr anchor="ctr"/>
                </a:tc>
                <a:tc vMerge="1">
                  <a:txBody>
                    <a:bodyPr/>
                    <a:lstStyle/>
                    <a:p>
                      <a:endParaRPr/>
                    </a:p>
                  </a:txBody>
                  <a:tcPr/>
                </a:tc>
                <a:tc>
                  <a:txBody>
                    <a:bodyPr/>
                    <a:lstStyle/>
                    <a:p>
                      <a:pPr algn="ctr"/>
                      <a:endParaRPr lang="fr-FR" dirty="0"/>
                    </a:p>
                  </a:txBody>
                  <a:tcPr anchor="ctr"/>
                </a:tc>
                <a:extLst>
                  <a:ext uri="{0D108BD9-81ED-4DB2-BD59-A6C34878D82A}">
                    <a16:rowId xmlns:a16="http://schemas.microsoft.com/office/drawing/2014/main" val="1327619118"/>
                  </a:ext>
                </a:extLst>
              </a:tr>
              <a:tr h="370840">
                <a:tc>
                  <a:txBody>
                    <a:bodyPr/>
                    <a:lstStyle/>
                    <a:p>
                      <a:pPr algn="ctr"/>
                      <a:r>
                        <a:rPr lang="fr-FR" dirty="0"/>
                        <a:t>16-17H</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p>
                  </a:txBody>
                  <a:tcPr anchor="ctr"/>
                </a:tc>
                <a:tc vMerge="1">
                  <a:txBody>
                    <a:bodyPr/>
                    <a:lstStyle/>
                    <a:p>
                      <a:pPr algn="ctr"/>
                      <a:endParaRPr lang="fr-FR" dirty="0"/>
                    </a:p>
                  </a:txBody>
                  <a:tcPr anchor="ctr"/>
                </a:tc>
                <a:tc>
                  <a:txBody>
                    <a:bodyPr/>
                    <a:lstStyle/>
                    <a:p>
                      <a:pPr algn="ctr"/>
                      <a:endParaRPr lang="fr-FR"/>
                    </a:p>
                  </a:txBody>
                  <a:tcPr anchor="ct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a:txBody>
                  <a:tcPr/>
                </a:tc>
                <a:tc>
                  <a:txBody>
                    <a:bodyPr/>
                    <a:lstStyle/>
                    <a:p>
                      <a:pPr algn="ctr"/>
                      <a:endParaRPr lang="fr-FR" dirty="0"/>
                    </a:p>
                  </a:txBody>
                  <a:tcPr anchor="ctr"/>
                </a:tc>
                <a:extLst>
                  <a:ext uri="{0D108BD9-81ED-4DB2-BD59-A6C34878D82A}">
                    <a16:rowId xmlns:a16="http://schemas.microsoft.com/office/drawing/2014/main" val="2008134226"/>
                  </a:ext>
                </a:extLst>
              </a:tr>
            </a:tbl>
          </a:graphicData>
        </a:graphic>
      </p:graphicFrame>
      <p:sp>
        <p:nvSpPr>
          <p:cNvPr id="9" name="Espace réservé du pied de page 8">
            <a:extLst>
              <a:ext uri="{FF2B5EF4-FFF2-40B4-BE49-F238E27FC236}">
                <a16:creationId xmlns:a16="http://schemas.microsoft.com/office/drawing/2014/main" id="{BAF4A9F7-F718-5065-88CC-124382460765}"/>
              </a:ext>
            </a:extLst>
          </p:cNvPr>
          <p:cNvSpPr>
            <a:spLocks noGrp="1"/>
          </p:cNvSpPr>
          <p:nvPr>
            <p:ph type="ftr" sz="quarter" idx="11"/>
          </p:nvPr>
        </p:nvSpPr>
        <p:spPr>
          <a:xfrm>
            <a:off x="4038600" y="6479721"/>
            <a:ext cx="4114800" cy="365125"/>
          </a:xfrm>
        </p:spPr>
        <p:txBody>
          <a:bodyPr/>
          <a:lstStyle/>
          <a:p>
            <a:r>
              <a:rPr lang="fr-FR" sz="1600" dirty="0">
                <a:solidFill>
                  <a:schemeClr val="tx1"/>
                </a:solidFill>
              </a:rPr>
              <a:t>N° Arthur PREVISANI</a:t>
            </a:r>
          </a:p>
        </p:txBody>
      </p:sp>
    </p:spTree>
    <p:extLst>
      <p:ext uri="{BB962C8B-B14F-4D97-AF65-F5344CB8AC3E}">
        <p14:creationId xmlns:p14="http://schemas.microsoft.com/office/powerpoint/2010/main" val="22084001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D9BDB-4D6B-1E4A-2615-CC9F10882609}"/>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74076AE4-D9FC-F627-E9E0-167746C239D9}"/>
              </a:ext>
            </a:extLst>
          </p:cNvPr>
          <p:cNvSpPr>
            <a:spLocks noGrp="1"/>
          </p:cNvSpPr>
          <p:nvPr>
            <p:ph type="sldNum" sz="quarter" idx="12"/>
          </p:nvPr>
        </p:nvSpPr>
        <p:spPr/>
        <p:txBody>
          <a:bodyPr/>
          <a:lstStyle/>
          <a:p>
            <a:fld id="{201A5C1E-DE71-4D99-BC1E-739595F062E0}" type="slidenum">
              <a:rPr lang="fr-FR" sz="2000" smtClean="0"/>
              <a:t>4</a:t>
            </a:fld>
            <a:r>
              <a:rPr lang="fr-FR" sz="2000" dirty="0"/>
              <a:t>/22</a:t>
            </a:r>
          </a:p>
        </p:txBody>
      </p:sp>
      <p:sp>
        <p:nvSpPr>
          <p:cNvPr id="4" name="Espace réservé du pied de page 3">
            <a:extLst>
              <a:ext uri="{FF2B5EF4-FFF2-40B4-BE49-F238E27FC236}">
                <a16:creationId xmlns:a16="http://schemas.microsoft.com/office/drawing/2014/main" id="{B4B12D42-44BF-0BE4-EEC6-B22D12AB40EF}"/>
              </a:ext>
            </a:extLst>
          </p:cNvPr>
          <p:cNvSpPr>
            <a:spLocks noGrp="1"/>
          </p:cNvSpPr>
          <p:nvPr>
            <p:ph type="ftr" sz="quarter" idx="11"/>
          </p:nvPr>
        </p:nvSpPr>
        <p:spPr/>
        <p:txBody>
          <a:bodyPr/>
          <a:lstStyle/>
          <a:p>
            <a:r>
              <a:rPr lang="fr-FR" sz="1600" dirty="0">
                <a:solidFill>
                  <a:schemeClr val="tx1"/>
                </a:solidFill>
              </a:rPr>
              <a:t>N° Arthur PREVISANI</a:t>
            </a:r>
          </a:p>
        </p:txBody>
      </p:sp>
      <p:sp>
        <p:nvSpPr>
          <p:cNvPr id="8" name="Titre 1">
            <a:extLst>
              <a:ext uri="{FF2B5EF4-FFF2-40B4-BE49-F238E27FC236}">
                <a16:creationId xmlns:a16="http://schemas.microsoft.com/office/drawing/2014/main" id="{4E05B0D6-EB43-B520-ED94-5A7FF5D15C43}"/>
              </a:ext>
            </a:extLst>
          </p:cNvPr>
          <p:cNvSpPr>
            <a:spLocks noGrp="1"/>
          </p:cNvSpPr>
          <p:nvPr>
            <p:ph type="title"/>
          </p:nvPr>
        </p:nvSpPr>
        <p:spPr>
          <a:xfrm>
            <a:off x="838200" y="136525"/>
            <a:ext cx="10515600" cy="1325563"/>
          </a:xfrm>
        </p:spPr>
        <p:txBody>
          <a:bodyPr/>
          <a:lstStyle/>
          <a:p>
            <a:r>
              <a:rPr lang="fr-FR" dirty="0"/>
              <a:t>Contexte pédagogique</a:t>
            </a:r>
          </a:p>
        </p:txBody>
      </p:sp>
      <p:sp>
        <p:nvSpPr>
          <p:cNvPr id="9" name="ZoneTexte 8">
            <a:extLst>
              <a:ext uri="{FF2B5EF4-FFF2-40B4-BE49-F238E27FC236}">
                <a16:creationId xmlns:a16="http://schemas.microsoft.com/office/drawing/2014/main" id="{E9C541D3-4AE0-81DE-C431-F18EE14F48EB}"/>
              </a:ext>
            </a:extLst>
          </p:cNvPr>
          <p:cNvSpPr txBox="1"/>
          <p:nvPr/>
        </p:nvSpPr>
        <p:spPr>
          <a:xfrm>
            <a:off x="1537545" y="3429000"/>
            <a:ext cx="9116901" cy="2862322"/>
          </a:xfrm>
          <a:prstGeom prst="rect">
            <a:avLst/>
          </a:prstGeom>
          <a:noFill/>
        </p:spPr>
        <p:txBody>
          <a:bodyPr wrap="square" rtlCol="0">
            <a:spAutoFit/>
          </a:bodyPr>
          <a:lstStyle/>
          <a:p>
            <a:r>
              <a:rPr lang="fr-FR" sz="3000" dirty="0"/>
              <a:t>Séquence 2, durée 3 semaines</a:t>
            </a:r>
          </a:p>
          <a:p>
            <a:r>
              <a:rPr lang="fr-FR" sz="3000" dirty="0"/>
              <a:t>Problématique: Comment modéliser la liaison entre deux pièces</a:t>
            </a:r>
          </a:p>
          <a:p>
            <a:r>
              <a:rPr lang="fr-FR" sz="3000" dirty="0"/>
              <a:t>Séquence précédente: Chaine puissance info , conversion d'énergie, flux MEI</a:t>
            </a:r>
          </a:p>
          <a:p>
            <a:r>
              <a:rPr lang="fr-FR" sz="3000" dirty="0"/>
              <a:t>Séquence suivante: équilibre, ossatures, matériaux</a:t>
            </a:r>
          </a:p>
        </p:txBody>
      </p:sp>
      <p:pic>
        <p:nvPicPr>
          <p:cNvPr id="10" name="Image 9">
            <a:extLst>
              <a:ext uri="{FF2B5EF4-FFF2-40B4-BE49-F238E27FC236}">
                <a16:creationId xmlns:a16="http://schemas.microsoft.com/office/drawing/2014/main" id="{F38C49A9-4BAE-14B6-2AA0-CF166A5D5A08}"/>
              </a:ext>
            </a:extLst>
          </p:cNvPr>
          <p:cNvPicPr>
            <a:picLocks noChangeAspect="1"/>
          </p:cNvPicPr>
          <p:nvPr/>
        </p:nvPicPr>
        <p:blipFill>
          <a:blip r:embed="rId3"/>
          <a:stretch>
            <a:fillRect/>
          </a:stretch>
        </p:blipFill>
        <p:spPr>
          <a:xfrm>
            <a:off x="994191" y="1607499"/>
            <a:ext cx="10203611" cy="1505690"/>
          </a:xfrm>
          <a:prstGeom prst="rect">
            <a:avLst/>
          </a:prstGeom>
        </p:spPr>
      </p:pic>
    </p:spTree>
    <p:extLst>
      <p:ext uri="{BB962C8B-B14F-4D97-AF65-F5344CB8AC3E}">
        <p14:creationId xmlns:p14="http://schemas.microsoft.com/office/powerpoint/2010/main" val="538322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8B580-68D2-DCD5-81B1-A3336B74B7B8}"/>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45E0D967-7631-8E08-B678-937B4EB64F71}"/>
              </a:ext>
            </a:extLst>
          </p:cNvPr>
          <p:cNvSpPr>
            <a:spLocks noGrp="1"/>
          </p:cNvSpPr>
          <p:nvPr>
            <p:ph type="sldNum" sz="quarter" idx="12"/>
          </p:nvPr>
        </p:nvSpPr>
        <p:spPr/>
        <p:txBody>
          <a:bodyPr/>
          <a:lstStyle/>
          <a:p>
            <a:fld id="{201A5C1E-DE71-4D99-BC1E-739595F062E0}" type="slidenum">
              <a:rPr lang="fr-FR" sz="2000" smtClean="0"/>
              <a:t>5</a:t>
            </a:fld>
            <a:r>
              <a:rPr lang="fr-FR" sz="2000" dirty="0"/>
              <a:t>/22</a:t>
            </a:r>
          </a:p>
        </p:txBody>
      </p:sp>
      <p:sp>
        <p:nvSpPr>
          <p:cNvPr id="4" name="Espace réservé du pied de page 3">
            <a:extLst>
              <a:ext uri="{FF2B5EF4-FFF2-40B4-BE49-F238E27FC236}">
                <a16:creationId xmlns:a16="http://schemas.microsoft.com/office/drawing/2014/main" id="{724F8BF8-D2BA-D569-7CEF-EE2076D99C9B}"/>
              </a:ext>
            </a:extLst>
          </p:cNvPr>
          <p:cNvSpPr>
            <a:spLocks noGrp="1"/>
          </p:cNvSpPr>
          <p:nvPr>
            <p:ph type="ftr" sz="quarter" idx="11"/>
          </p:nvPr>
        </p:nvSpPr>
        <p:spPr/>
        <p:txBody>
          <a:bodyPr/>
          <a:lstStyle/>
          <a:p>
            <a:r>
              <a:rPr lang="fr-FR" sz="1600" dirty="0">
                <a:solidFill>
                  <a:schemeClr val="tx1"/>
                </a:solidFill>
              </a:rPr>
              <a:t>N° Arthur PREVISANI</a:t>
            </a:r>
          </a:p>
        </p:txBody>
      </p:sp>
      <p:sp>
        <p:nvSpPr>
          <p:cNvPr id="2" name="Titre 1">
            <a:extLst>
              <a:ext uri="{FF2B5EF4-FFF2-40B4-BE49-F238E27FC236}">
                <a16:creationId xmlns:a16="http://schemas.microsoft.com/office/drawing/2014/main" id="{CB126EB8-2A80-EFF4-95E9-58295D30488C}"/>
              </a:ext>
            </a:extLst>
          </p:cNvPr>
          <p:cNvSpPr txBox="1">
            <a:spLocks/>
          </p:cNvSpPr>
          <p:nvPr/>
        </p:nvSpPr>
        <p:spPr>
          <a:xfrm>
            <a:off x="1244601" y="386091"/>
            <a:ext cx="10515600" cy="78619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dirty="0"/>
              <a:t>Prérequis</a:t>
            </a:r>
          </a:p>
        </p:txBody>
      </p:sp>
      <p:pic>
        <p:nvPicPr>
          <p:cNvPr id="5" name="Image 4">
            <a:extLst>
              <a:ext uri="{FF2B5EF4-FFF2-40B4-BE49-F238E27FC236}">
                <a16:creationId xmlns:a16="http://schemas.microsoft.com/office/drawing/2014/main" id="{ABB2972E-4AEF-ED65-5818-D5A8923C8026}"/>
              </a:ext>
            </a:extLst>
          </p:cNvPr>
          <p:cNvPicPr>
            <a:picLocks noChangeAspect="1"/>
          </p:cNvPicPr>
          <p:nvPr/>
        </p:nvPicPr>
        <p:blipFill>
          <a:blip r:embed="rId3"/>
          <a:stretch>
            <a:fillRect/>
          </a:stretch>
        </p:blipFill>
        <p:spPr>
          <a:xfrm>
            <a:off x="1244601" y="1936331"/>
            <a:ext cx="10947399" cy="375807"/>
          </a:xfrm>
          <a:prstGeom prst="rect">
            <a:avLst/>
          </a:prstGeom>
        </p:spPr>
      </p:pic>
      <p:sp>
        <p:nvSpPr>
          <p:cNvPr id="6" name="ZoneTexte 5">
            <a:extLst>
              <a:ext uri="{FF2B5EF4-FFF2-40B4-BE49-F238E27FC236}">
                <a16:creationId xmlns:a16="http://schemas.microsoft.com/office/drawing/2014/main" id="{CB8C179B-F618-9062-12D3-8602DF25AD1E}"/>
              </a:ext>
            </a:extLst>
          </p:cNvPr>
          <p:cNvSpPr txBox="1"/>
          <p:nvPr/>
        </p:nvSpPr>
        <p:spPr>
          <a:xfrm>
            <a:off x="1244601" y="2611026"/>
            <a:ext cx="4319858" cy="400110"/>
          </a:xfrm>
          <a:prstGeom prst="rect">
            <a:avLst/>
          </a:prstGeom>
          <a:noFill/>
        </p:spPr>
        <p:txBody>
          <a:bodyPr wrap="square" rtlCol="0">
            <a:spAutoFit/>
          </a:bodyPr>
          <a:lstStyle/>
          <a:p>
            <a:r>
              <a:rPr lang="fr-FR" dirty="0"/>
              <a:t>Leur </a:t>
            </a:r>
            <a:r>
              <a:rPr lang="fr-FR" sz="2000" dirty="0"/>
              <a:t>bagage</a:t>
            </a:r>
            <a:r>
              <a:rPr lang="fr-FR" dirty="0"/>
              <a:t> personnel </a:t>
            </a:r>
          </a:p>
        </p:txBody>
      </p:sp>
      <p:pic>
        <p:nvPicPr>
          <p:cNvPr id="9" name="Image 8">
            <a:extLst>
              <a:ext uri="{FF2B5EF4-FFF2-40B4-BE49-F238E27FC236}">
                <a16:creationId xmlns:a16="http://schemas.microsoft.com/office/drawing/2014/main" id="{0EF6BB10-E9B5-04A0-745A-54DFBE7508D9}"/>
              </a:ext>
            </a:extLst>
          </p:cNvPr>
          <p:cNvPicPr>
            <a:picLocks noChangeAspect="1"/>
          </p:cNvPicPr>
          <p:nvPr/>
        </p:nvPicPr>
        <p:blipFill>
          <a:blip r:embed="rId4"/>
          <a:stretch>
            <a:fillRect/>
          </a:stretch>
        </p:blipFill>
        <p:spPr>
          <a:xfrm>
            <a:off x="1244601" y="3746313"/>
            <a:ext cx="5848166" cy="1467867"/>
          </a:xfrm>
          <a:prstGeom prst="rect">
            <a:avLst/>
          </a:prstGeom>
        </p:spPr>
      </p:pic>
      <p:pic>
        <p:nvPicPr>
          <p:cNvPr id="11" name="Image 10">
            <a:extLst>
              <a:ext uri="{FF2B5EF4-FFF2-40B4-BE49-F238E27FC236}">
                <a16:creationId xmlns:a16="http://schemas.microsoft.com/office/drawing/2014/main" id="{EA9AEE22-993A-A138-7185-54F8CCA6F686}"/>
              </a:ext>
            </a:extLst>
          </p:cNvPr>
          <p:cNvPicPr>
            <a:picLocks noChangeAspect="1"/>
          </p:cNvPicPr>
          <p:nvPr/>
        </p:nvPicPr>
        <p:blipFill>
          <a:blip r:embed="rId5"/>
          <a:stretch>
            <a:fillRect/>
          </a:stretch>
        </p:blipFill>
        <p:spPr>
          <a:xfrm>
            <a:off x="1244601" y="2318083"/>
            <a:ext cx="6251056" cy="262895"/>
          </a:xfrm>
          <a:prstGeom prst="rect">
            <a:avLst/>
          </a:prstGeom>
        </p:spPr>
      </p:pic>
      <p:sp>
        <p:nvSpPr>
          <p:cNvPr id="12" name="Titre 1">
            <a:extLst>
              <a:ext uri="{FF2B5EF4-FFF2-40B4-BE49-F238E27FC236}">
                <a16:creationId xmlns:a16="http://schemas.microsoft.com/office/drawing/2014/main" id="{B667592E-D935-3A60-347D-BBB168DC69E9}"/>
              </a:ext>
            </a:extLst>
          </p:cNvPr>
          <p:cNvSpPr>
            <a:spLocks noGrp="1"/>
          </p:cNvSpPr>
          <p:nvPr>
            <p:ph type="title"/>
          </p:nvPr>
        </p:nvSpPr>
        <p:spPr>
          <a:xfrm>
            <a:off x="965080" y="971152"/>
            <a:ext cx="10515600" cy="1325563"/>
          </a:xfrm>
        </p:spPr>
        <p:txBody>
          <a:bodyPr>
            <a:normAutofit/>
          </a:bodyPr>
          <a:lstStyle/>
          <a:p>
            <a:r>
              <a:rPr lang="fr-FR" sz="2800" dirty="0"/>
              <a:t>Compétences</a:t>
            </a:r>
          </a:p>
        </p:txBody>
      </p:sp>
      <p:sp>
        <p:nvSpPr>
          <p:cNvPr id="13" name="Titre 1">
            <a:extLst>
              <a:ext uri="{FF2B5EF4-FFF2-40B4-BE49-F238E27FC236}">
                <a16:creationId xmlns:a16="http://schemas.microsoft.com/office/drawing/2014/main" id="{7F183005-CB74-AF4E-E431-EBB3155CEE34}"/>
              </a:ext>
            </a:extLst>
          </p:cNvPr>
          <p:cNvSpPr txBox="1">
            <a:spLocks/>
          </p:cNvSpPr>
          <p:nvPr/>
        </p:nvSpPr>
        <p:spPr>
          <a:xfrm>
            <a:off x="1024951" y="2766218"/>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800" dirty="0"/>
              <a:t>Connaissances associées</a:t>
            </a:r>
          </a:p>
        </p:txBody>
      </p:sp>
    </p:spTree>
    <p:extLst>
      <p:ext uri="{BB962C8B-B14F-4D97-AF65-F5344CB8AC3E}">
        <p14:creationId xmlns:p14="http://schemas.microsoft.com/office/powerpoint/2010/main" val="869640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3F8C5C-C135-E348-1728-F62DD83C2190}"/>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831560BF-352B-C99D-0F94-A26078628018}"/>
              </a:ext>
            </a:extLst>
          </p:cNvPr>
          <p:cNvSpPr>
            <a:spLocks noGrp="1"/>
          </p:cNvSpPr>
          <p:nvPr>
            <p:ph type="sldNum" sz="quarter" idx="12"/>
          </p:nvPr>
        </p:nvSpPr>
        <p:spPr/>
        <p:txBody>
          <a:bodyPr/>
          <a:lstStyle/>
          <a:p>
            <a:fld id="{201A5C1E-DE71-4D99-BC1E-739595F062E0}" type="slidenum">
              <a:rPr lang="fr-FR" sz="2000" smtClean="0"/>
              <a:t>6</a:t>
            </a:fld>
            <a:r>
              <a:rPr lang="fr-FR" sz="2000" dirty="0"/>
              <a:t>/22</a:t>
            </a:r>
          </a:p>
        </p:txBody>
      </p:sp>
      <p:sp>
        <p:nvSpPr>
          <p:cNvPr id="4" name="Espace réservé du pied de page 3">
            <a:extLst>
              <a:ext uri="{FF2B5EF4-FFF2-40B4-BE49-F238E27FC236}">
                <a16:creationId xmlns:a16="http://schemas.microsoft.com/office/drawing/2014/main" id="{5F462330-410A-6BB0-E290-C91087933F96}"/>
              </a:ext>
            </a:extLst>
          </p:cNvPr>
          <p:cNvSpPr>
            <a:spLocks noGrp="1"/>
          </p:cNvSpPr>
          <p:nvPr>
            <p:ph type="ftr" sz="quarter" idx="11"/>
          </p:nvPr>
        </p:nvSpPr>
        <p:spPr/>
        <p:txBody>
          <a:bodyPr/>
          <a:lstStyle/>
          <a:p>
            <a:r>
              <a:rPr lang="fr-FR" sz="1600" dirty="0">
                <a:solidFill>
                  <a:schemeClr val="tx1"/>
                </a:solidFill>
              </a:rPr>
              <a:t>N° Arthur PREVISANI</a:t>
            </a:r>
          </a:p>
        </p:txBody>
      </p:sp>
      <p:sp>
        <p:nvSpPr>
          <p:cNvPr id="2" name="Titre 1">
            <a:extLst>
              <a:ext uri="{FF2B5EF4-FFF2-40B4-BE49-F238E27FC236}">
                <a16:creationId xmlns:a16="http://schemas.microsoft.com/office/drawing/2014/main" id="{7C01CA5C-FC3A-A5C0-2748-1DCE27AFCFA9}"/>
              </a:ext>
            </a:extLst>
          </p:cNvPr>
          <p:cNvSpPr>
            <a:spLocks noGrp="1"/>
          </p:cNvSpPr>
          <p:nvPr>
            <p:ph type="title"/>
          </p:nvPr>
        </p:nvSpPr>
        <p:spPr>
          <a:xfrm>
            <a:off x="823686" y="-96137"/>
            <a:ext cx="10515600" cy="1325563"/>
          </a:xfrm>
        </p:spPr>
        <p:txBody>
          <a:bodyPr/>
          <a:lstStyle/>
          <a:p>
            <a:r>
              <a:rPr lang="fr-FR" dirty="0"/>
              <a:t>Compétences à acquérir pour cette séquence</a:t>
            </a:r>
          </a:p>
        </p:txBody>
      </p:sp>
      <p:pic>
        <p:nvPicPr>
          <p:cNvPr id="5" name="Image 4">
            <a:extLst>
              <a:ext uri="{FF2B5EF4-FFF2-40B4-BE49-F238E27FC236}">
                <a16:creationId xmlns:a16="http://schemas.microsoft.com/office/drawing/2014/main" id="{D8530ADE-5426-C6CE-C34E-F5C4F8F7B25A}"/>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889572" y="1573665"/>
            <a:ext cx="8522833" cy="2124312"/>
          </a:xfrm>
          <a:prstGeom prst="rect">
            <a:avLst/>
          </a:prstGeom>
        </p:spPr>
      </p:pic>
      <p:pic>
        <p:nvPicPr>
          <p:cNvPr id="8" name="Image 7">
            <a:extLst>
              <a:ext uri="{FF2B5EF4-FFF2-40B4-BE49-F238E27FC236}">
                <a16:creationId xmlns:a16="http://schemas.microsoft.com/office/drawing/2014/main" id="{F3538AFA-5C8F-5277-3DA5-F466B070D9D6}"/>
              </a:ext>
            </a:extLst>
          </p:cNvPr>
          <p:cNvPicPr>
            <a:picLocks noChangeAspect="1"/>
          </p:cNvPicPr>
          <p:nvPr/>
        </p:nvPicPr>
        <p:blipFill>
          <a:blip r:embed="rId4"/>
          <a:stretch>
            <a:fillRect/>
          </a:stretch>
        </p:blipFill>
        <p:spPr>
          <a:xfrm>
            <a:off x="889572" y="4286750"/>
            <a:ext cx="10464228" cy="1675247"/>
          </a:xfrm>
          <a:prstGeom prst="rect">
            <a:avLst/>
          </a:prstGeom>
        </p:spPr>
      </p:pic>
      <p:sp>
        <p:nvSpPr>
          <p:cNvPr id="9" name="Titre 1">
            <a:extLst>
              <a:ext uri="{FF2B5EF4-FFF2-40B4-BE49-F238E27FC236}">
                <a16:creationId xmlns:a16="http://schemas.microsoft.com/office/drawing/2014/main" id="{AE21CF07-85E9-2051-8B01-1A92F2197768}"/>
              </a:ext>
            </a:extLst>
          </p:cNvPr>
          <p:cNvSpPr txBox="1">
            <a:spLocks/>
          </p:cNvSpPr>
          <p:nvPr/>
        </p:nvSpPr>
        <p:spPr>
          <a:xfrm>
            <a:off x="823686" y="56664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3600" dirty="0"/>
              <a:t>En I2D</a:t>
            </a:r>
          </a:p>
        </p:txBody>
      </p:sp>
      <p:sp>
        <p:nvSpPr>
          <p:cNvPr id="10" name="Titre 1">
            <a:extLst>
              <a:ext uri="{FF2B5EF4-FFF2-40B4-BE49-F238E27FC236}">
                <a16:creationId xmlns:a16="http://schemas.microsoft.com/office/drawing/2014/main" id="{6664C3BD-F66F-D897-4F26-54F9E58F0E50}"/>
              </a:ext>
            </a:extLst>
          </p:cNvPr>
          <p:cNvSpPr txBox="1">
            <a:spLocks/>
          </p:cNvSpPr>
          <p:nvPr/>
        </p:nvSpPr>
        <p:spPr>
          <a:xfrm>
            <a:off x="823686" y="342679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3600" dirty="0"/>
              <a:t>En IT</a:t>
            </a:r>
          </a:p>
        </p:txBody>
      </p:sp>
    </p:spTree>
    <p:extLst>
      <p:ext uri="{BB962C8B-B14F-4D97-AF65-F5344CB8AC3E}">
        <p14:creationId xmlns:p14="http://schemas.microsoft.com/office/powerpoint/2010/main" val="30127360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9F7CE-A787-42F7-1D5C-0CFD2E89403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8723F69-2791-B13F-1A93-7CA4E235D01B}"/>
              </a:ext>
            </a:extLst>
          </p:cNvPr>
          <p:cNvSpPr>
            <a:spLocks noGrp="1"/>
          </p:cNvSpPr>
          <p:nvPr>
            <p:ph type="title"/>
          </p:nvPr>
        </p:nvSpPr>
        <p:spPr>
          <a:xfrm>
            <a:off x="838200" y="136525"/>
            <a:ext cx="10515600" cy="1325563"/>
          </a:xfrm>
        </p:spPr>
        <p:txBody>
          <a:bodyPr/>
          <a:lstStyle/>
          <a:p>
            <a:r>
              <a:rPr lang="fr-FR" dirty="0"/>
              <a:t>TD1 2h</a:t>
            </a:r>
          </a:p>
        </p:txBody>
      </p:sp>
      <p:sp>
        <p:nvSpPr>
          <p:cNvPr id="7" name="Espace réservé du numéro de diapositive 6">
            <a:extLst>
              <a:ext uri="{FF2B5EF4-FFF2-40B4-BE49-F238E27FC236}">
                <a16:creationId xmlns:a16="http://schemas.microsoft.com/office/drawing/2014/main" id="{678AD4A6-DB6A-40B5-3BF9-9D776B93AEA8}"/>
              </a:ext>
            </a:extLst>
          </p:cNvPr>
          <p:cNvSpPr>
            <a:spLocks noGrp="1"/>
          </p:cNvSpPr>
          <p:nvPr>
            <p:ph type="sldNum" sz="quarter" idx="12"/>
          </p:nvPr>
        </p:nvSpPr>
        <p:spPr/>
        <p:txBody>
          <a:bodyPr/>
          <a:lstStyle/>
          <a:p>
            <a:fld id="{201A5C1E-DE71-4D99-BC1E-739595F062E0}" type="slidenum">
              <a:rPr lang="fr-FR" sz="2000" smtClean="0"/>
              <a:t>7</a:t>
            </a:fld>
            <a:r>
              <a:rPr lang="fr-FR" sz="2000" dirty="0"/>
              <a:t>/22</a:t>
            </a:r>
          </a:p>
        </p:txBody>
      </p:sp>
      <p:sp>
        <p:nvSpPr>
          <p:cNvPr id="3" name="ZoneTexte 2">
            <a:extLst>
              <a:ext uri="{FF2B5EF4-FFF2-40B4-BE49-F238E27FC236}">
                <a16:creationId xmlns:a16="http://schemas.microsoft.com/office/drawing/2014/main" id="{E1B4019A-AA41-8815-B392-C1A378D68CB4}"/>
              </a:ext>
            </a:extLst>
          </p:cNvPr>
          <p:cNvSpPr txBox="1"/>
          <p:nvPr/>
        </p:nvSpPr>
        <p:spPr>
          <a:xfrm>
            <a:off x="838199" y="1138922"/>
            <a:ext cx="10787743" cy="1569660"/>
          </a:xfrm>
          <a:prstGeom prst="rect">
            <a:avLst/>
          </a:prstGeom>
          <a:noFill/>
        </p:spPr>
        <p:txBody>
          <a:bodyPr wrap="square" rtlCol="0">
            <a:spAutoFit/>
          </a:bodyPr>
          <a:lstStyle/>
          <a:p>
            <a:r>
              <a:rPr lang="fr-FR" sz="2400" dirty="0"/>
              <a:t>Découverte des différentes liaisons mécaniques:</a:t>
            </a:r>
          </a:p>
          <a:p>
            <a:r>
              <a:rPr lang="fr-FR" sz="2400" dirty="0"/>
              <a:t>Quelles sont les relations possibles entre deux solides.</a:t>
            </a:r>
          </a:p>
          <a:p>
            <a:r>
              <a:rPr lang="fr-FR" sz="2400" dirty="0"/>
              <a:t>Démarche inductive, essayer de leur faire correspondre avec des mécanismes connus: Pédalier de vélo, bâton de colle(stick) activité pratique activité dirigée</a:t>
            </a:r>
          </a:p>
        </p:txBody>
      </p:sp>
      <p:sp>
        <p:nvSpPr>
          <p:cNvPr id="4" name="Titre 1">
            <a:extLst>
              <a:ext uri="{FF2B5EF4-FFF2-40B4-BE49-F238E27FC236}">
                <a16:creationId xmlns:a16="http://schemas.microsoft.com/office/drawing/2014/main" id="{B872F43F-0B41-E34E-24A4-D601765A3749}"/>
              </a:ext>
            </a:extLst>
          </p:cNvPr>
          <p:cNvSpPr txBox="1">
            <a:spLocks/>
          </p:cNvSpPr>
          <p:nvPr/>
        </p:nvSpPr>
        <p:spPr>
          <a:xfrm>
            <a:off x="838200" y="2967313"/>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dirty="0"/>
              <a:t>TP1 3h</a:t>
            </a:r>
          </a:p>
        </p:txBody>
      </p:sp>
      <p:sp>
        <p:nvSpPr>
          <p:cNvPr id="6" name="ZoneTexte 5">
            <a:extLst>
              <a:ext uri="{FF2B5EF4-FFF2-40B4-BE49-F238E27FC236}">
                <a16:creationId xmlns:a16="http://schemas.microsoft.com/office/drawing/2014/main" id="{2AC34C6A-4F37-FC66-A9CF-3DDE4AD86748}"/>
              </a:ext>
            </a:extLst>
          </p:cNvPr>
          <p:cNvSpPr txBox="1"/>
          <p:nvPr/>
        </p:nvSpPr>
        <p:spPr>
          <a:xfrm>
            <a:off x="838199" y="4039115"/>
            <a:ext cx="10671629" cy="1107996"/>
          </a:xfrm>
          <a:prstGeom prst="rect">
            <a:avLst/>
          </a:prstGeom>
          <a:noFill/>
        </p:spPr>
        <p:txBody>
          <a:bodyPr wrap="square" rtlCol="0">
            <a:spAutoFit/>
          </a:bodyPr>
          <a:lstStyle/>
          <a:p>
            <a:r>
              <a:rPr lang="fr-FR" sz="2400" dirty="0"/>
              <a:t>En demi-groupe , 6 groupes de 3 élèves</a:t>
            </a:r>
          </a:p>
          <a:p>
            <a:r>
              <a:rPr lang="fr-FR" sz="2400" dirty="0"/>
              <a:t>Analyse de liaisons présentes sur différents systèmes présents dans le labo </a:t>
            </a:r>
          </a:p>
          <a:p>
            <a:endParaRPr lang="fr-FR" dirty="0"/>
          </a:p>
        </p:txBody>
      </p:sp>
      <p:graphicFrame>
        <p:nvGraphicFramePr>
          <p:cNvPr id="8" name="Tableau 7">
            <a:extLst>
              <a:ext uri="{FF2B5EF4-FFF2-40B4-BE49-F238E27FC236}">
                <a16:creationId xmlns:a16="http://schemas.microsoft.com/office/drawing/2014/main" id="{04ED6B27-CCDC-2050-8C8F-A7FE1D27D37C}"/>
              </a:ext>
            </a:extLst>
          </p:cNvPr>
          <p:cNvGraphicFramePr>
            <a:graphicFrameLocks noGrp="1"/>
          </p:cNvGraphicFramePr>
          <p:nvPr>
            <p:extLst>
              <p:ext uri="{D42A27DB-BD31-4B8C-83A1-F6EECF244321}">
                <p14:modId xmlns:p14="http://schemas.microsoft.com/office/powerpoint/2010/main" val="1085791268"/>
              </p:ext>
            </p:extLst>
          </p:nvPr>
        </p:nvGraphicFramePr>
        <p:xfrm>
          <a:off x="3617684" y="602894"/>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tc>
                  <a:txBody>
                    <a:bodyPr/>
                    <a:lstStyle/>
                    <a:p>
                      <a:pPr algn="ctr"/>
                      <a:r>
                        <a:rPr lang="fr-FR" dirty="0"/>
                        <a:t>TP1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TP2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COURS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5967402"/>
                  </a:ext>
                </a:extLst>
              </a:tr>
            </a:tbl>
          </a:graphicData>
        </a:graphic>
      </p:graphicFrame>
      <p:sp>
        <p:nvSpPr>
          <p:cNvPr id="10" name="Espace réservé du pied de page 9">
            <a:extLst>
              <a:ext uri="{FF2B5EF4-FFF2-40B4-BE49-F238E27FC236}">
                <a16:creationId xmlns:a16="http://schemas.microsoft.com/office/drawing/2014/main" id="{A79D4CA8-5A95-45BA-A4F1-2A2F23BA9B57}"/>
              </a:ext>
            </a:extLst>
          </p:cNvPr>
          <p:cNvSpPr>
            <a:spLocks noGrp="1"/>
          </p:cNvSpPr>
          <p:nvPr>
            <p:ph type="ftr" sz="quarter" idx="11"/>
          </p:nvPr>
        </p:nvSpPr>
        <p:spPr>
          <a:xfrm>
            <a:off x="4038600" y="6477454"/>
            <a:ext cx="4114800" cy="365125"/>
          </a:xfrm>
        </p:spPr>
        <p:txBody>
          <a:bodyPr/>
          <a:lstStyle/>
          <a:p>
            <a:r>
              <a:rPr lang="fr-FR" sz="1600" dirty="0">
                <a:solidFill>
                  <a:schemeClr val="tx1"/>
                </a:solidFill>
              </a:rPr>
              <a:t>N° Arthur PREVISANI</a:t>
            </a:r>
          </a:p>
        </p:txBody>
      </p:sp>
      <p:graphicFrame>
        <p:nvGraphicFramePr>
          <p:cNvPr id="5" name="Tableau 4">
            <a:extLst>
              <a:ext uri="{FF2B5EF4-FFF2-40B4-BE49-F238E27FC236}">
                <a16:creationId xmlns:a16="http://schemas.microsoft.com/office/drawing/2014/main" id="{C4A3362E-DFAA-529E-FEA4-AFF45366F44E}"/>
              </a:ext>
            </a:extLst>
          </p:cNvPr>
          <p:cNvGraphicFramePr>
            <a:graphicFrameLocks noGrp="1"/>
          </p:cNvGraphicFramePr>
          <p:nvPr>
            <p:extLst>
              <p:ext uri="{D42A27DB-BD31-4B8C-83A1-F6EECF244321}">
                <p14:modId xmlns:p14="http://schemas.microsoft.com/office/powerpoint/2010/main" val="3934078073"/>
              </p:ext>
            </p:extLst>
          </p:nvPr>
        </p:nvGraphicFramePr>
        <p:xfrm>
          <a:off x="3617684" y="3432233"/>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dirty="0"/>
                        <a:t>TP1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tc>
                  <a:txBody>
                    <a:bodyPr/>
                    <a:lstStyle/>
                    <a:p>
                      <a:pPr algn="ctr"/>
                      <a:r>
                        <a:rPr lang="fr-FR" dirty="0"/>
                        <a:t>TP2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COURS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5967402"/>
                  </a:ext>
                </a:extLst>
              </a:tr>
            </a:tbl>
          </a:graphicData>
        </a:graphic>
      </p:graphicFrame>
    </p:spTree>
    <p:extLst>
      <p:ext uri="{BB962C8B-B14F-4D97-AF65-F5344CB8AC3E}">
        <p14:creationId xmlns:p14="http://schemas.microsoft.com/office/powerpoint/2010/main" val="13930558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81A4C-EC54-BD86-6537-6D17951A38F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89B9873-1F9D-C64A-D43B-BFF0DAF8E626}"/>
              </a:ext>
            </a:extLst>
          </p:cNvPr>
          <p:cNvSpPr>
            <a:spLocks noGrp="1"/>
          </p:cNvSpPr>
          <p:nvPr>
            <p:ph type="title"/>
          </p:nvPr>
        </p:nvSpPr>
        <p:spPr>
          <a:xfrm>
            <a:off x="838200" y="262717"/>
            <a:ext cx="10515600" cy="1325563"/>
          </a:xfrm>
        </p:spPr>
        <p:txBody>
          <a:bodyPr/>
          <a:lstStyle/>
          <a:p>
            <a:r>
              <a:rPr lang="fr-FR" dirty="0"/>
              <a:t>TP2 (IT) 3h</a:t>
            </a:r>
          </a:p>
        </p:txBody>
      </p:sp>
      <p:sp>
        <p:nvSpPr>
          <p:cNvPr id="7" name="Espace réservé du numéro de diapositive 6">
            <a:extLst>
              <a:ext uri="{FF2B5EF4-FFF2-40B4-BE49-F238E27FC236}">
                <a16:creationId xmlns:a16="http://schemas.microsoft.com/office/drawing/2014/main" id="{23E4AB98-6335-18B6-9B55-83B1EB782B2E}"/>
              </a:ext>
            </a:extLst>
          </p:cNvPr>
          <p:cNvSpPr>
            <a:spLocks noGrp="1"/>
          </p:cNvSpPr>
          <p:nvPr>
            <p:ph type="sldNum" sz="quarter" idx="12"/>
          </p:nvPr>
        </p:nvSpPr>
        <p:spPr/>
        <p:txBody>
          <a:bodyPr/>
          <a:lstStyle/>
          <a:p>
            <a:fld id="{201A5C1E-DE71-4D99-BC1E-739595F062E0}" type="slidenum">
              <a:rPr lang="fr-FR" sz="2000" smtClean="0"/>
              <a:t>8</a:t>
            </a:fld>
            <a:r>
              <a:rPr lang="fr-FR" sz="2000" dirty="0"/>
              <a:t>/22</a:t>
            </a:r>
          </a:p>
        </p:txBody>
      </p:sp>
      <p:sp>
        <p:nvSpPr>
          <p:cNvPr id="5" name="ZoneTexte 4">
            <a:extLst>
              <a:ext uri="{FF2B5EF4-FFF2-40B4-BE49-F238E27FC236}">
                <a16:creationId xmlns:a16="http://schemas.microsoft.com/office/drawing/2014/main" id="{D5D1C3A9-43D6-FE03-9538-4AAE4C719FF6}"/>
              </a:ext>
            </a:extLst>
          </p:cNvPr>
          <p:cNvSpPr txBox="1"/>
          <p:nvPr/>
        </p:nvSpPr>
        <p:spPr>
          <a:xfrm>
            <a:off x="838200" y="1265114"/>
            <a:ext cx="8494486" cy="1938992"/>
          </a:xfrm>
          <a:prstGeom prst="rect">
            <a:avLst/>
          </a:prstGeom>
          <a:noFill/>
        </p:spPr>
        <p:txBody>
          <a:bodyPr wrap="square" rtlCol="0">
            <a:spAutoFit/>
          </a:bodyPr>
          <a:lstStyle/>
          <a:p>
            <a:r>
              <a:rPr lang="fr-FR" sz="2400" dirty="0"/>
              <a:t>En demi-groupe , 3 groupes de 6 élèves</a:t>
            </a:r>
          </a:p>
          <a:p>
            <a:r>
              <a:rPr lang="fr-FR" sz="2400" dirty="0"/>
              <a:t>Mini projet sur l’analyse et la comparaison entre différentes solutions technologiques pour la réalisation d’une liaison dans une éolienne entre les pales et le bâti</a:t>
            </a:r>
          </a:p>
          <a:p>
            <a:r>
              <a:rPr lang="fr-FR" sz="2400" dirty="0"/>
              <a:t>Analyse de documents / dossiers techniques, analyse du besoin, </a:t>
            </a:r>
          </a:p>
        </p:txBody>
      </p:sp>
      <p:sp>
        <p:nvSpPr>
          <p:cNvPr id="10" name="ZoneTexte 9">
            <a:extLst>
              <a:ext uri="{FF2B5EF4-FFF2-40B4-BE49-F238E27FC236}">
                <a16:creationId xmlns:a16="http://schemas.microsoft.com/office/drawing/2014/main" id="{DEBE1CC3-B678-25E1-AE63-8256AEB7E3E4}"/>
              </a:ext>
            </a:extLst>
          </p:cNvPr>
          <p:cNvSpPr txBox="1"/>
          <p:nvPr/>
        </p:nvSpPr>
        <p:spPr>
          <a:xfrm>
            <a:off x="838200" y="4588565"/>
            <a:ext cx="11469914" cy="830997"/>
          </a:xfrm>
          <a:prstGeom prst="rect">
            <a:avLst/>
          </a:prstGeom>
          <a:noFill/>
        </p:spPr>
        <p:txBody>
          <a:bodyPr wrap="square" rtlCol="0">
            <a:spAutoFit/>
          </a:bodyPr>
          <a:lstStyle/>
          <a:p>
            <a:r>
              <a:rPr lang="fr-FR" sz="2400" dirty="0"/>
              <a:t>Classe entière</a:t>
            </a:r>
          </a:p>
          <a:p>
            <a:r>
              <a:rPr lang="fr-FR" sz="2400" dirty="0"/>
              <a:t>Modélisation des liaisons: représentation normalisée, mobilités possibles</a:t>
            </a:r>
          </a:p>
        </p:txBody>
      </p:sp>
      <p:sp>
        <p:nvSpPr>
          <p:cNvPr id="11" name="Titre 1">
            <a:extLst>
              <a:ext uri="{FF2B5EF4-FFF2-40B4-BE49-F238E27FC236}">
                <a16:creationId xmlns:a16="http://schemas.microsoft.com/office/drawing/2014/main" id="{0E0B2FC9-0D54-76F0-D2E3-E1793D693421}"/>
              </a:ext>
            </a:extLst>
          </p:cNvPr>
          <p:cNvSpPr txBox="1">
            <a:spLocks/>
          </p:cNvSpPr>
          <p:nvPr/>
        </p:nvSpPr>
        <p:spPr>
          <a:xfrm>
            <a:off x="838200" y="3772024"/>
            <a:ext cx="10515600" cy="86104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dirty="0"/>
              <a:t>COURS 1 1h</a:t>
            </a:r>
          </a:p>
        </p:txBody>
      </p:sp>
      <p:sp>
        <p:nvSpPr>
          <p:cNvPr id="16" name="Espace réservé du pied de page 15">
            <a:extLst>
              <a:ext uri="{FF2B5EF4-FFF2-40B4-BE49-F238E27FC236}">
                <a16:creationId xmlns:a16="http://schemas.microsoft.com/office/drawing/2014/main" id="{1C91ADFD-A443-FB9C-5B88-436ACD697260}"/>
              </a:ext>
            </a:extLst>
          </p:cNvPr>
          <p:cNvSpPr>
            <a:spLocks noGrp="1"/>
          </p:cNvSpPr>
          <p:nvPr>
            <p:ph type="ftr" sz="quarter" idx="11"/>
          </p:nvPr>
        </p:nvSpPr>
        <p:spPr>
          <a:xfrm>
            <a:off x="4038600" y="6451683"/>
            <a:ext cx="4114800" cy="365125"/>
          </a:xfrm>
        </p:spPr>
        <p:txBody>
          <a:bodyPr/>
          <a:lstStyle/>
          <a:p>
            <a:r>
              <a:rPr lang="fr-FR" sz="1600" dirty="0">
                <a:solidFill>
                  <a:schemeClr val="tx1"/>
                </a:solidFill>
              </a:rPr>
              <a:t>N° Arthur PREVISANI</a:t>
            </a:r>
          </a:p>
        </p:txBody>
      </p:sp>
      <p:graphicFrame>
        <p:nvGraphicFramePr>
          <p:cNvPr id="3" name="Tableau 2">
            <a:extLst>
              <a:ext uri="{FF2B5EF4-FFF2-40B4-BE49-F238E27FC236}">
                <a16:creationId xmlns:a16="http://schemas.microsoft.com/office/drawing/2014/main" id="{269575FE-155B-FD22-7A26-6109ABCED19D}"/>
              </a:ext>
            </a:extLst>
          </p:cNvPr>
          <p:cNvGraphicFramePr>
            <a:graphicFrameLocks noGrp="1"/>
          </p:cNvGraphicFramePr>
          <p:nvPr>
            <p:extLst>
              <p:ext uri="{D42A27DB-BD31-4B8C-83A1-F6EECF244321}">
                <p14:modId xmlns:p14="http://schemas.microsoft.com/office/powerpoint/2010/main" val="868378482"/>
              </p:ext>
            </p:extLst>
          </p:nvPr>
        </p:nvGraphicFramePr>
        <p:xfrm>
          <a:off x="3796393" y="697658"/>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dirty="0"/>
                        <a:t>TP1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TP2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tc>
                  <a:txBody>
                    <a:bodyPr/>
                    <a:lstStyle/>
                    <a:p>
                      <a:pPr algn="ctr"/>
                      <a:r>
                        <a:rPr lang="fr-FR" dirty="0"/>
                        <a:t>COURS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5967402"/>
                  </a:ext>
                </a:extLst>
              </a:tr>
            </a:tbl>
          </a:graphicData>
        </a:graphic>
      </p:graphicFrame>
      <p:graphicFrame>
        <p:nvGraphicFramePr>
          <p:cNvPr id="4" name="Tableau 3">
            <a:extLst>
              <a:ext uri="{FF2B5EF4-FFF2-40B4-BE49-F238E27FC236}">
                <a16:creationId xmlns:a16="http://schemas.microsoft.com/office/drawing/2014/main" id="{A33BC456-331A-1CC2-291C-1E0F1F690165}"/>
              </a:ext>
            </a:extLst>
          </p:cNvPr>
          <p:cNvGraphicFramePr>
            <a:graphicFrameLocks noGrp="1"/>
          </p:cNvGraphicFramePr>
          <p:nvPr>
            <p:extLst>
              <p:ext uri="{D42A27DB-BD31-4B8C-83A1-F6EECF244321}">
                <p14:modId xmlns:p14="http://schemas.microsoft.com/office/powerpoint/2010/main" val="4242599534"/>
              </p:ext>
            </p:extLst>
          </p:nvPr>
        </p:nvGraphicFramePr>
        <p:xfrm>
          <a:off x="4062186" y="3994875"/>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dirty="0"/>
                        <a:t>TP1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TP2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COURS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tc>
                  <a:txBody>
                    <a:bodyPr/>
                    <a:lstStyle/>
                    <a:p>
                      <a:pPr algn="ctr"/>
                      <a:r>
                        <a:rPr lang="fr-FR" dirty="0"/>
                        <a:t>TP3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5967402"/>
                  </a:ext>
                </a:extLst>
              </a:tr>
            </a:tbl>
          </a:graphicData>
        </a:graphic>
      </p:graphicFrame>
    </p:spTree>
    <p:extLst>
      <p:ext uri="{BB962C8B-B14F-4D97-AF65-F5344CB8AC3E}">
        <p14:creationId xmlns:p14="http://schemas.microsoft.com/office/powerpoint/2010/main" val="22591029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EA28A6-7459-1768-BE5E-A721F82CA1A0}"/>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75660EF3-0B3B-80FA-0A52-32BA2736A317}"/>
              </a:ext>
            </a:extLst>
          </p:cNvPr>
          <p:cNvSpPr>
            <a:spLocks noGrp="1"/>
          </p:cNvSpPr>
          <p:nvPr>
            <p:ph type="sldNum" sz="quarter" idx="12"/>
          </p:nvPr>
        </p:nvSpPr>
        <p:spPr/>
        <p:txBody>
          <a:bodyPr/>
          <a:lstStyle/>
          <a:p>
            <a:fld id="{201A5C1E-DE71-4D99-BC1E-739595F062E0}" type="slidenum">
              <a:rPr lang="fr-FR" sz="2000" smtClean="0"/>
              <a:t>9</a:t>
            </a:fld>
            <a:r>
              <a:rPr lang="fr-FR" sz="2000" dirty="0"/>
              <a:t>/22</a:t>
            </a:r>
          </a:p>
        </p:txBody>
      </p:sp>
      <p:sp>
        <p:nvSpPr>
          <p:cNvPr id="9" name="Titre 1">
            <a:extLst>
              <a:ext uri="{FF2B5EF4-FFF2-40B4-BE49-F238E27FC236}">
                <a16:creationId xmlns:a16="http://schemas.microsoft.com/office/drawing/2014/main" id="{527844A1-A2FF-9885-BFAF-17F445244CAC}"/>
              </a:ext>
            </a:extLst>
          </p:cNvPr>
          <p:cNvSpPr>
            <a:spLocks noGrp="1"/>
          </p:cNvSpPr>
          <p:nvPr>
            <p:ph type="title"/>
          </p:nvPr>
        </p:nvSpPr>
        <p:spPr>
          <a:xfrm>
            <a:off x="954314" y="447636"/>
            <a:ext cx="10515600" cy="1325563"/>
          </a:xfrm>
        </p:spPr>
        <p:txBody>
          <a:bodyPr/>
          <a:lstStyle/>
          <a:p>
            <a:r>
              <a:rPr lang="fr-FR" dirty="0"/>
              <a:t>TP3 3h</a:t>
            </a:r>
          </a:p>
        </p:txBody>
      </p:sp>
      <p:sp>
        <p:nvSpPr>
          <p:cNvPr id="10" name="ZoneTexte 9">
            <a:extLst>
              <a:ext uri="{FF2B5EF4-FFF2-40B4-BE49-F238E27FC236}">
                <a16:creationId xmlns:a16="http://schemas.microsoft.com/office/drawing/2014/main" id="{2A7C0FE1-0B5E-3535-4117-1167EF57D808}"/>
              </a:ext>
            </a:extLst>
          </p:cNvPr>
          <p:cNvSpPr txBox="1"/>
          <p:nvPr/>
        </p:nvSpPr>
        <p:spPr>
          <a:xfrm>
            <a:off x="954314" y="1516817"/>
            <a:ext cx="7493000" cy="1200329"/>
          </a:xfrm>
          <a:prstGeom prst="rect">
            <a:avLst/>
          </a:prstGeom>
          <a:noFill/>
        </p:spPr>
        <p:txBody>
          <a:bodyPr wrap="square">
            <a:spAutoFit/>
          </a:bodyPr>
          <a:lstStyle/>
          <a:p>
            <a:r>
              <a:rPr lang="fr-FR" sz="2400" dirty="0"/>
              <a:t>En demi-groupe , 3 groupes de 6 élèves</a:t>
            </a:r>
          </a:p>
          <a:p>
            <a:r>
              <a:rPr lang="fr-FR" sz="2400" dirty="0"/>
              <a:t>Complétion de schémas cinématiques simples, après analyse du système quand aux liaisons présentes </a:t>
            </a:r>
          </a:p>
        </p:txBody>
      </p:sp>
      <p:sp>
        <p:nvSpPr>
          <p:cNvPr id="11" name="Titre 1">
            <a:extLst>
              <a:ext uri="{FF2B5EF4-FFF2-40B4-BE49-F238E27FC236}">
                <a16:creationId xmlns:a16="http://schemas.microsoft.com/office/drawing/2014/main" id="{7671BD5D-9572-E6F0-7C55-D6C7B4C145EE}"/>
              </a:ext>
            </a:extLst>
          </p:cNvPr>
          <p:cNvSpPr txBox="1">
            <a:spLocks/>
          </p:cNvSpPr>
          <p:nvPr/>
        </p:nvSpPr>
        <p:spPr>
          <a:xfrm>
            <a:off x="954314" y="3126403"/>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dirty="0"/>
              <a:t>TD2 2h</a:t>
            </a:r>
          </a:p>
        </p:txBody>
      </p:sp>
      <p:sp>
        <p:nvSpPr>
          <p:cNvPr id="14" name="ZoneTexte 13">
            <a:extLst>
              <a:ext uri="{FF2B5EF4-FFF2-40B4-BE49-F238E27FC236}">
                <a16:creationId xmlns:a16="http://schemas.microsoft.com/office/drawing/2014/main" id="{7E862862-33E0-6DB6-ABAB-A857F2E86485}"/>
              </a:ext>
            </a:extLst>
          </p:cNvPr>
          <p:cNvSpPr txBox="1"/>
          <p:nvPr/>
        </p:nvSpPr>
        <p:spPr>
          <a:xfrm>
            <a:off x="954314" y="4221133"/>
            <a:ext cx="9655629" cy="1200329"/>
          </a:xfrm>
          <a:prstGeom prst="rect">
            <a:avLst/>
          </a:prstGeom>
          <a:noFill/>
        </p:spPr>
        <p:txBody>
          <a:bodyPr wrap="square">
            <a:spAutoFit/>
          </a:bodyPr>
          <a:lstStyle/>
          <a:p>
            <a:r>
              <a:rPr lang="fr-FR" sz="2400" dirty="0"/>
              <a:t>Classe entière</a:t>
            </a:r>
          </a:p>
          <a:p>
            <a:r>
              <a:rPr lang="fr-FR" sz="2400" dirty="0"/>
              <a:t>Découverte de composants permettant la Conversion/transmission de l'Energie dans les chaines de puissance moteur, réducteur, ampoule, </a:t>
            </a:r>
            <a:r>
              <a:rPr lang="fr-FR" sz="2400" dirty="0" err="1"/>
              <a:t>etc</a:t>
            </a:r>
            <a:endParaRPr lang="fr-FR" sz="2400" dirty="0"/>
          </a:p>
        </p:txBody>
      </p:sp>
      <p:sp>
        <p:nvSpPr>
          <p:cNvPr id="15" name="Espace réservé du pied de page 14">
            <a:extLst>
              <a:ext uri="{FF2B5EF4-FFF2-40B4-BE49-F238E27FC236}">
                <a16:creationId xmlns:a16="http://schemas.microsoft.com/office/drawing/2014/main" id="{0F4ABBB3-4AC0-4781-417D-9F136CBA6770}"/>
              </a:ext>
            </a:extLst>
          </p:cNvPr>
          <p:cNvSpPr>
            <a:spLocks noGrp="1"/>
          </p:cNvSpPr>
          <p:nvPr>
            <p:ph type="ftr" sz="quarter" idx="11"/>
          </p:nvPr>
        </p:nvSpPr>
        <p:spPr>
          <a:xfrm>
            <a:off x="4038600" y="6462939"/>
            <a:ext cx="4114800" cy="365125"/>
          </a:xfrm>
        </p:spPr>
        <p:txBody>
          <a:bodyPr/>
          <a:lstStyle/>
          <a:p>
            <a:r>
              <a:rPr lang="fr-FR" sz="1600" dirty="0">
                <a:solidFill>
                  <a:schemeClr val="tx1"/>
                </a:solidFill>
              </a:rPr>
              <a:t>N° Arthur PREVISANI</a:t>
            </a:r>
          </a:p>
        </p:txBody>
      </p:sp>
      <p:graphicFrame>
        <p:nvGraphicFramePr>
          <p:cNvPr id="2" name="Tableau 1">
            <a:extLst>
              <a:ext uri="{FF2B5EF4-FFF2-40B4-BE49-F238E27FC236}">
                <a16:creationId xmlns:a16="http://schemas.microsoft.com/office/drawing/2014/main" id="{91A98022-FFFA-454C-57D8-DEE68BE52064}"/>
              </a:ext>
            </a:extLst>
          </p:cNvPr>
          <p:cNvGraphicFramePr>
            <a:graphicFrameLocks noGrp="1"/>
          </p:cNvGraphicFramePr>
          <p:nvPr>
            <p:extLst>
              <p:ext uri="{D42A27DB-BD31-4B8C-83A1-F6EECF244321}">
                <p14:modId xmlns:p14="http://schemas.microsoft.com/office/powerpoint/2010/main" val="114752560"/>
              </p:ext>
            </p:extLst>
          </p:nvPr>
        </p:nvGraphicFramePr>
        <p:xfrm>
          <a:off x="3135993" y="899448"/>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dirty="0"/>
                        <a:t>TP1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TP2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COURS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extLst>
                  <a:ext uri="{0D108BD9-81ED-4DB2-BD59-A6C34878D82A}">
                    <a16:rowId xmlns:a16="http://schemas.microsoft.com/office/drawing/2014/main" val="3665967402"/>
                  </a:ext>
                </a:extLst>
              </a:tr>
            </a:tbl>
          </a:graphicData>
        </a:graphic>
      </p:graphicFrame>
      <p:graphicFrame>
        <p:nvGraphicFramePr>
          <p:cNvPr id="3" name="Tableau 2">
            <a:extLst>
              <a:ext uri="{FF2B5EF4-FFF2-40B4-BE49-F238E27FC236}">
                <a16:creationId xmlns:a16="http://schemas.microsoft.com/office/drawing/2014/main" id="{F4EA97A5-FC85-9D0C-BB25-E94479F7EF5A}"/>
              </a:ext>
            </a:extLst>
          </p:cNvPr>
          <p:cNvGraphicFramePr>
            <a:graphicFrameLocks noGrp="1"/>
          </p:cNvGraphicFramePr>
          <p:nvPr>
            <p:extLst>
              <p:ext uri="{D42A27DB-BD31-4B8C-83A1-F6EECF244321}">
                <p14:modId xmlns:p14="http://schemas.microsoft.com/office/powerpoint/2010/main" val="2434800274"/>
              </p:ext>
            </p:extLst>
          </p:nvPr>
        </p:nvGraphicFramePr>
        <p:xfrm>
          <a:off x="3694793" y="3600907"/>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tc>
                  <a:txBody>
                    <a:bodyPr/>
                    <a:lstStyle/>
                    <a:p>
                      <a:pPr algn="ctr"/>
                      <a:r>
                        <a:rPr lang="fr-FR" dirty="0"/>
                        <a:t>TP4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TP5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COURS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5967402"/>
                  </a:ext>
                </a:extLst>
              </a:tr>
            </a:tbl>
          </a:graphicData>
        </a:graphic>
      </p:graphicFrame>
    </p:spTree>
    <p:extLst>
      <p:ext uri="{BB962C8B-B14F-4D97-AF65-F5344CB8AC3E}">
        <p14:creationId xmlns:p14="http://schemas.microsoft.com/office/powerpoint/2010/main" val="1571427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93C2D-2749-87CE-02EE-5B2AE7F0ADE2}"/>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60AAF29C-7192-01D5-AF0F-26A662E705B0}"/>
              </a:ext>
            </a:extLst>
          </p:cNvPr>
          <p:cNvSpPr>
            <a:spLocks noGrp="1"/>
          </p:cNvSpPr>
          <p:nvPr>
            <p:ph type="sldNum" sz="quarter" idx="12"/>
          </p:nvPr>
        </p:nvSpPr>
        <p:spPr/>
        <p:txBody>
          <a:bodyPr/>
          <a:lstStyle/>
          <a:p>
            <a:fld id="{201A5C1E-DE71-4D99-BC1E-739595F062E0}" type="slidenum">
              <a:rPr lang="fr-FR" sz="2000" smtClean="0"/>
              <a:t>10</a:t>
            </a:fld>
            <a:r>
              <a:rPr lang="fr-FR" sz="2000" dirty="0"/>
              <a:t>/22</a:t>
            </a:r>
          </a:p>
        </p:txBody>
      </p:sp>
      <p:sp>
        <p:nvSpPr>
          <p:cNvPr id="11" name="ZoneTexte 10">
            <a:extLst>
              <a:ext uri="{FF2B5EF4-FFF2-40B4-BE49-F238E27FC236}">
                <a16:creationId xmlns:a16="http://schemas.microsoft.com/office/drawing/2014/main" id="{AACE3DE3-8112-817A-8DEA-8FFA1010425D}"/>
              </a:ext>
            </a:extLst>
          </p:cNvPr>
          <p:cNvSpPr txBox="1"/>
          <p:nvPr/>
        </p:nvSpPr>
        <p:spPr>
          <a:xfrm>
            <a:off x="838199" y="4792469"/>
            <a:ext cx="8973457" cy="1569660"/>
          </a:xfrm>
          <a:prstGeom prst="rect">
            <a:avLst/>
          </a:prstGeom>
          <a:noFill/>
        </p:spPr>
        <p:txBody>
          <a:bodyPr wrap="square" rtlCol="0">
            <a:spAutoFit/>
          </a:bodyPr>
          <a:lstStyle/>
          <a:p>
            <a:r>
              <a:rPr lang="fr-FR" sz="2400" dirty="0"/>
              <a:t>En demi-groupe , 3 groupes de 6 élèves</a:t>
            </a:r>
          </a:p>
          <a:p>
            <a:r>
              <a:rPr lang="fr-FR" sz="2400" dirty="0"/>
              <a:t>Poursuite du mini projet. Relevé de différentes paramètres (cout, complexité, rendement) des différentes liaisons avec une analyse de documents afin d’avoir des critères pour pouvoir faire un choix</a:t>
            </a:r>
          </a:p>
        </p:txBody>
      </p:sp>
      <p:sp>
        <p:nvSpPr>
          <p:cNvPr id="12" name="Titre 1">
            <a:extLst>
              <a:ext uri="{FF2B5EF4-FFF2-40B4-BE49-F238E27FC236}">
                <a16:creationId xmlns:a16="http://schemas.microsoft.com/office/drawing/2014/main" id="{31897C00-8224-CF47-6A2A-56DC2EB624C6}"/>
              </a:ext>
            </a:extLst>
          </p:cNvPr>
          <p:cNvSpPr>
            <a:spLocks noGrp="1"/>
          </p:cNvSpPr>
          <p:nvPr>
            <p:ph type="title"/>
          </p:nvPr>
        </p:nvSpPr>
        <p:spPr>
          <a:xfrm>
            <a:off x="838200" y="4084014"/>
            <a:ext cx="10515600" cy="616122"/>
          </a:xfrm>
        </p:spPr>
        <p:txBody>
          <a:bodyPr>
            <a:normAutofit fontScale="90000"/>
          </a:bodyPr>
          <a:lstStyle/>
          <a:p>
            <a:r>
              <a:rPr lang="fr-FR" dirty="0"/>
              <a:t>TP5(IT) 3h</a:t>
            </a:r>
          </a:p>
        </p:txBody>
      </p:sp>
      <p:sp>
        <p:nvSpPr>
          <p:cNvPr id="16" name="ZoneTexte 15">
            <a:extLst>
              <a:ext uri="{FF2B5EF4-FFF2-40B4-BE49-F238E27FC236}">
                <a16:creationId xmlns:a16="http://schemas.microsoft.com/office/drawing/2014/main" id="{67DB0CD1-F86B-0202-255F-E8C4B19854DD}"/>
              </a:ext>
            </a:extLst>
          </p:cNvPr>
          <p:cNvSpPr txBox="1"/>
          <p:nvPr/>
        </p:nvSpPr>
        <p:spPr>
          <a:xfrm>
            <a:off x="838199" y="1265946"/>
            <a:ext cx="9089572" cy="1569660"/>
          </a:xfrm>
          <a:prstGeom prst="rect">
            <a:avLst/>
          </a:prstGeom>
          <a:noFill/>
        </p:spPr>
        <p:txBody>
          <a:bodyPr wrap="square">
            <a:spAutoFit/>
          </a:bodyPr>
          <a:lstStyle/>
          <a:p>
            <a:r>
              <a:rPr lang="fr-FR" sz="2400" dirty="0"/>
              <a:t>En demi-groupe , 6 groupes de 3 élèves</a:t>
            </a:r>
          </a:p>
          <a:p>
            <a:r>
              <a:rPr lang="fr-FR" sz="2400" dirty="0"/>
              <a:t>Analyse de différentes solutions de transmission de puissance présents et de conversion d’énergie dans les systèmes du labo: poulie courroie, vis-écrou, réducteur, moteur électrique</a:t>
            </a:r>
          </a:p>
        </p:txBody>
      </p:sp>
      <p:sp>
        <p:nvSpPr>
          <p:cNvPr id="17" name="Titre 1">
            <a:extLst>
              <a:ext uri="{FF2B5EF4-FFF2-40B4-BE49-F238E27FC236}">
                <a16:creationId xmlns:a16="http://schemas.microsoft.com/office/drawing/2014/main" id="{EDA2B5F4-9E75-BA1A-68A0-C41F5BD36BC3}"/>
              </a:ext>
            </a:extLst>
          </p:cNvPr>
          <p:cNvSpPr txBox="1">
            <a:spLocks/>
          </p:cNvSpPr>
          <p:nvPr/>
        </p:nvSpPr>
        <p:spPr>
          <a:xfrm>
            <a:off x="838200" y="223161"/>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dirty="0"/>
              <a:t>TP4 3h</a:t>
            </a:r>
          </a:p>
        </p:txBody>
      </p:sp>
      <p:sp>
        <p:nvSpPr>
          <p:cNvPr id="20" name="Espace réservé du pied de page 19">
            <a:extLst>
              <a:ext uri="{FF2B5EF4-FFF2-40B4-BE49-F238E27FC236}">
                <a16:creationId xmlns:a16="http://schemas.microsoft.com/office/drawing/2014/main" id="{3FEEBEBB-96DD-A9A4-FB3A-9AE243BF1F3D}"/>
              </a:ext>
            </a:extLst>
          </p:cNvPr>
          <p:cNvSpPr>
            <a:spLocks noGrp="1"/>
          </p:cNvSpPr>
          <p:nvPr>
            <p:ph type="ftr" sz="quarter" idx="11"/>
          </p:nvPr>
        </p:nvSpPr>
        <p:spPr>
          <a:xfrm>
            <a:off x="4038600" y="6452276"/>
            <a:ext cx="4114800" cy="365125"/>
          </a:xfrm>
        </p:spPr>
        <p:txBody>
          <a:bodyPr/>
          <a:lstStyle/>
          <a:p>
            <a:r>
              <a:rPr lang="fr-FR" sz="1600" dirty="0">
                <a:solidFill>
                  <a:schemeClr val="tx1"/>
                </a:solidFill>
              </a:rPr>
              <a:t>N° Arthur PREVISANI</a:t>
            </a:r>
          </a:p>
        </p:txBody>
      </p:sp>
      <p:graphicFrame>
        <p:nvGraphicFramePr>
          <p:cNvPr id="2" name="Tableau 1">
            <a:extLst>
              <a:ext uri="{FF2B5EF4-FFF2-40B4-BE49-F238E27FC236}">
                <a16:creationId xmlns:a16="http://schemas.microsoft.com/office/drawing/2014/main" id="{3F10E3C1-A089-7177-3ED3-54E71E0BDCC9}"/>
              </a:ext>
            </a:extLst>
          </p:cNvPr>
          <p:cNvGraphicFramePr>
            <a:graphicFrameLocks noGrp="1"/>
          </p:cNvGraphicFramePr>
          <p:nvPr>
            <p:extLst>
              <p:ext uri="{D42A27DB-BD31-4B8C-83A1-F6EECF244321}">
                <p14:modId xmlns:p14="http://schemas.microsoft.com/office/powerpoint/2010/main" val="1173574462"/>
              </p:ext>
            </p:extLst>
          </p:nvPr>
        </p:nvGraphicFramePr>
        <p:xfrm>
          <a:off x="3135993" y="621048"/>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dirty="0"/>
                        <a:t>TP4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tc>
                  <a:txBody>
                    <a:bodyPr/>
                    <a:lstStyle/>
                    <a:p>
                      <a:pPr algn="ctr"/>
                      <a:r>
                        <a:rPr lang="fr-FR" dirty="0"/>
                        <a:t>TP5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COURS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5967402"/>
                  </a:ext>
                </a:extLst>
              </a:tr>
            </a:tbl>
          </a:graphicData>
        </a:graphic>
      </p:graphicFrame>
      <p:graphicFrame>
        <p:nvGraphicFramePr>
          <p:cNvPr id="3" name="Tableau 2">
            <a:extLst>
              <a:ext uri="{FF2B5EF4-FFF2-40B4-BE49-F238E27FC236}">
                <a16:creationId xmlns:a16="http://schemas.microsoft.com/office/drawing/2014/main" id="{4BB5A45A-BEBC-3F4D-470A-88F0D36B9851}"/>
              </a:ext>
            </a:extLst>
          </p:cNvPr>
          <p:cNvGraphicFramePr>
            <a:graphicFrameLocks noGrp="1"/>
          </p:cNvGraphicFramePr>
          <p:nvPr>
            <p:extLst>
              <p:ext uri="{D42A27DB-BD31-4B8C-83A1-F6EECF244321}">
                <p14:modId xmlns:p14="http://schemas.microsoft.com/office/powerpoint/2010/main" val="635872962"/>
              </p:ext>
            </p:extLst>
          </p:nvPr>
        </p:nvGraphicFramePr>
        <p:xfrm>
          <a:off x="3262993" y="4147571"/>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dirty="0"/>
                        <a:t>TP4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TP5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tc>
                  <a:txBody>
                    <a:bodyPr/>
                    <a:lstStyle/>
                    <a:p>
                      <a:pPr algn="ctr"/>
                      <a:r>
                        <a:rPr lang="fr-FR" dirty="0"/>
                        <a:t>COURS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5967402"/>
                  </a:ext>
                </a:extLst>
              </a:tr>
            </a:tbl>
          </a:graphicData>
        </a:graphic>
      </p:graphicFrame>
    </p:spTree>
    <p:extLst>
      <p:ext uri="{BB962C8B-B14F-4D97-AF65-F5344CB8AC3E}">
        <p14:creationId xmlns:p14="http://schemas.microsoft.com/office/powerpoint/2010/main" val="8299247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44F11-37A0-FCA6-41DC-D295C37DECBC}"/>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4A8C3FDC-8432-4489-FAF9-8A66062FB3BA}"/>
              </a:ext>
            </a:extLst>
          </p:cNvPr>
          <p:cNvSpPr>
            <a:spLocks noGrp="1"/>
          </p:cNvSpPr>
          <p:nvPr>
            <p:ph type="sldNum" sz="quarter" idx="12"/>
          </p:nvPr>
        </p:nvSpPr>
        <p:spPr/>
        <p:txBody>
          <a:bodyPr/>
          <a:lstStyle/>
          <a:p>
            <a:fld id="{201A5C1E-DE71-4D99-BC1E-739595F062E0}" type="slidenum">
              <a:rPr lang="fr-FR" sz="2000" smtClean="0"/>
              <a:t>11</a:t>
            </a:fld>
            <a:r>
              <a:rPr lang="fr-FR" sz="2000" dirty="0"/>
              <a:t>/22</a:t>
            </a:r>
          </a:p>
        </p:txBody>
      </p:sp>
      <p:sp>
        <p:nvSpPr>
          <p:cNvPr id="4" name="Titre 1">
            <a:extLst>
              <a:ext uri="{FF2B5EF4-FFF2-40B4-BE49-F238E27FC236}">
                <a16:creationId xmlns:a16="http://schemas.microsoft.com/office/drawing/2014/main" id="{68075DBC-3972-6370-1102-7293C7710DE6}"/>
              </a:ext>
            </a:extLst>
          </p:cNvPr>
          <p:cNvSpPr txBox="1">
            <a:spLocks/>
          </p:cNvSpPr>
          <p:nvPr/>
        </p:nvSpPr>
        <p:spPr>
          <a:xfrm>
            <a:off x="736600" y="290398"/>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dirty="0"/>
              <a:t>COURS 2 1h</a:t>
            </a:r>
          </a:p>
        </p:txBody>
      </p:sp>
      <p:sp>
        <p:nvSpPr>
          <p:cNvPr id="3" name="Titre 1">
            <a:extLst>
              <a:ext uri="{FF2B5EF4-FFF2-40B4-BE49-F238E27FC236}">
                <a16:creationId xmlns:a16="http://schemas.microsoft.com/office/drawing/2014/main" id="{60C5C25C-B762-2C3C-A5F5-73911686C8A3}"/>
              </a:ext>
            </a:extLst>
          </p:cNvPr>
          <p:cNvSpPr txBox="1">
            <a:spLocks/>
          </p:cNvSpPr>
          <p:nvPr/>
        </p:nvSpPr>
        <p:spPr>
          <a:xfrm>
            <a:off x="838200" y="3253315"/>
            <a:ext cx="10515600" cy="7246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dirty="0"/>
              <a:t>TP6 3h</a:t>
            </a:r>
          </a:p>
        </p:txBody>
      </p:sp>
      <p:sp>
        <p:nvSpPr>
          <p:cNvPr id="12" name="ZoneTexte 11">
            <a:extLst>
              <a:ext uri="{FF2B5EF4-FFF2-40B4-BE49-F238E27FC236}">
                <a16:creationId xmlns:a16="http://schemas.microsoft.com/office/drawing/2014/main" id="{21FB749B-092D-B64D-1C22-BD19EB68539B}"/>
              </a:ext>
            </a:extLst>
          </p:cNvPr>
          <p:cNvSpPr txBox="1"/>
          <p:nvPr/>
        </p:nvSpPr>
        <p:spPr>
          <a:xfrm>
            <a:off x="838200" y="3854226"/>
            <a:ext cx="6096000" cy="1569660"/>
          </a:xfrm>
          <a:prstGeom prst="rect">
            <a:avLst/>
          </a:prstGeom>
          <a:noFill/>
        </p:spPr>
        <p:txBody>
          <a:bodyPr wrap="square">
            <a:spAutoFit/>
          </a:bodyPr>
          <a:lstStyle/>
          <a:p>
            <a:r>
              <a:rPr lang="fr-FR" sz="2400" dirty="0"/>
              <a:t>En demi-groupe , 6 groupes de 3 élèves</a:t>
            </a:r>
          </a:p>
          <a:p>
            <a:r>
              <a:rPr lang="fr-FR" sz="2400" dirty="0"/>
              <a:t>Mesure de rendement d’un moteur électrique, mesure du rapport de réduction / transmission (ex poulie courroie)</a:t>
            </a:r>
          </a:p>
        </p:txBody>
      </p:sp>
      <p:sp>
        <p:nvSpPr>
          <p:cNvPr id="15" name="Espace réservé du pied de page 14">
            <a:extLst>
              <a:ext uri="{FF2B5EF4-FFF2-40B4-BE49-F238E27FC236}">
                <a16:creationId xmlns:a16="http://schemas.microsoft.com/office/drawing/2014/main" id="{5C455E31-DBC5-B390-E306-1DB1C7C304B6}"/>
              </a:ext>
            </a:extLst>
          </p:cNvPr>
          <p:cNvSpPr>
            <a:spLocks noGrp="1"/>
          </p:cNvSpPr>
          <p:nvPr>
            <p:ph type="ftr" sz="quarter" idx="11"/>
          </p:nvPr>
        </p:nvSpPr>
        <p:spPr>
          <a:xfrm>
            <a:off x="4038600" y="6492875"/>
            <a:ext cx="4114800" cy="365125"/>
          </a:xfrm>
        </p:spPr>
        <p:txBody>
          <a:bodyPr/>
          <a:lstStyle/>
          <a:p>
            <a:r>
              <a:rPr lang="fr-FR" sz="1600" dirty="0">
                <a:solidFill>
                  <a:schemeClr val="tx1"/>
                </a:solidFill>
              </a:rPr>
              <a:t>N° Arthur PREVISANI</a:t>
            </a:r>
          </a:p>
        </p:txBody>
      </p:sp>
      <p:graphicFrame>
        <p:nvGraphicFramePr>
          <p:cNvPr id="2" name="Tableau 1">
            <a:extLst>
              <a:ext uri="{FF2B5EF4-FFF2-40B4-BE49-F238E27FC236}">
                <a16:creationId xmlns:a16="http://schemas.microsoft.com/office/drawing/2014/main" id="{886E04AC-C406-8963-40C9-D06B334630CD}"/>
              </a:ext>
            </a:extLst>
          </p:cNvPr>
          <p:cNvGraphicFramePr>
            <a:graphicFrameLocks noGrp="1"/>
          </p:cNvGraphicFramePr>
          <p:nvPr>
            <p:extLst>
              <p:ext uri="{D42A27DB-BD31-4B8C-83A1-F6EECF244321}">
                <p14:modId xmlns:p14="http://schemas.microsoft.com/office/powerpoint/2010/main" val="3640401347"/>
              </p:ext>
            </p:extLst>
          </p:nvPr>
        </p:nvGraphicFramePr>
        <p:xfrm>
          <a:off x="3886200" y="808612"/>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dirty="0"/>
                        <a:t>TP4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TP5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COURS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tc>
                  <a:txBody>
                    <a:bodyPr/>
                    <a:lstStyle/>
                    <a:p>
                      <a:pPr algn="ctr"/>
                      <a:r>
                        <a:rPr lang="fr-FR" dirty="0"/>
                        <a:t>TP6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5967402"/>
                  </a:ext>
                </a:extLst>
              </a:tr>
            </a:tbl>
          </a:graphicData>
        </a:graphic>
      </p:graphicFrame>
      <p:graphicFrame>
        <p:nvGraphicFramePr>
          <p:cNvPr id="5" name="Tableau 4">
            <a:extLst>
              <a:ext uri="{FF2B5EF4-FFF2-40B4-BE49-F238E27FC236}">
                <a16:creationId xmlns:a16="http://schemas.microsoft.com/office/drawing/2014/main" id="{539F6322-8142-3956-42EB-7AADCAA880F1}"/>
              </a:ext>
            </a:extLst>
          </p:cNvPr>
          <p:cNvGraphicFramePr>
            <a:graphicFrameLocks noGrp="1"/>
          </p:cNvGraphicFramePr>
          <p:nvPr>
            <p:extLst>
              <p:ext uri="{D42A27DB-BD31-4B8C-83A1-F6EECF244321}">
                <p14:modId xmlns:p14="http://schemas.microsoft.com/office/powerpoint/2010/main" val="3336379269"/>
              </p:ext>
            </p:extLst>
          </p:nvPr>
        </p:nvGraphicFramePr>
        <p:xfrm>
          <a:off x="3643993" y="3423215"/>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dirty="0"/>
                        <a:t>TP4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TP5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COURS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extLst>
                  <a:ext uri="{0D108BD9-81ED-4DB2-BD59-A6C34878D82A}">
                    <a16:rowId xmlns:a16="http://schemas.microsoft.com/office/drawing/2014/main" val="3665967402"/>
                  </a:ext>
                </a:extLst>
              </a:tr>
            </a:tbl>
          </a:graphicData>
        </a:graphic>
      </p:graphicFrame>
      <p:sp>
        <p:nvSpPr>
          <p:cNvPr id="6" name="ZoneTexte 5">
            <a:extLst>
              <a:ext uri="{FF2B5EF4-FFF2-40B4-BE49-F238E27FC236}">
                <a16:creationId xmlns:a16="http://schemas.microsoft.com/office/drawing/2014/main" id="{28773C00-CC32-C7CD-2A83-A536A1A1EC81}"/>
              </a:ext>
            </a:extLst>
          </p:cNvPr>
          <p:cNvSpPr txBox="1"/>
          <p:nvPr/>
        </p:nvSpPr>
        <p:spPr>
          <a:xfrm>
            <a:off x="838200" y="1349352"/>
            <a:ext cx="6096000" cy="1569660"/>
          </a:xfrm>
          <a:prstGeom prst="rect">
            <a:avLst/>
          </a:prstGeom>
          <a:noFill/>
        </p:spPr>
        <p:txBody>
          <a:bodyPr wrap="square">
            <a:spAutoFit/>
          </a:bodyPr>
          <a:lstStyle/>
          <a:p>
            <a:r>
              <a:rPr lang="fr-FR" sz="2400" dirty="0"/>
              <a:t>Classe entière</a:t>
            </a:r>
          </a:p>
          <a:p>
            <a:r>
              <a:rPr lang="fr-FR" sz="2400" dirty="0"/>
              <a:t>Définition des systèmes de conversion d’énergie, de transmission de puissance</a:t>
            </a:r>
          </a:p>
          <a:p>
            <a:endParaRPr lang="fr-FR" sz="2400" dirty="0"/>
          </a:p>
        </p:txBody>
      </p:sp>
    </p:spTree>
    <p:extLst>
      <p:ext uri="{BB962C8B-B14F-4D97-AF65-F5344CB8AC3E}">
        <p14:creationId xmlns:p14="http://schemas.microsoft.com/office/powerpoint/2010/main" val="12266508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3C89F-8A44-1EB8-D00E-A888675B3B8B}"/>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7E4E0323-5B7A-6A40-AEDA-DA0E2E3E50DD}"/>
              </a:ext>
            </a:extLst>
          </p:cNvPr>
          <p:cNvSpPr>
            <a:spLocks noGrp="1"/>
          </p:cNvSpPr>
          <p:nvPr>
            <p:ph type="sldNum" sz="quarter" idx="12"/>
          </p:nvPr>
        </p:nvSpPr>
        <p:spPr/>
        <p:txBody>
          <a:bodyPr/>
          <a:lstStyle/>
          <a:p>
            <a:fld id="{201A5C1E-DE71-4D99-BC1E-739595F062E0}" type="slidenum">
              <a:rPr lang="fr-FR" sz="2000" smtClean="0"/>
              <a:t>12</a:t>
            </a:fld>
            <a:r>
              <a:rPr lang="fr-FR" sz="2000" dirty="0"/>
              <a:t>/22</a:t>
            </a:r>
          </a:p>
        </p:txBody>
      </p:sp>
      <p:sp>
        <p:nvSpPr>
          <p:cNvPr id="9" name="Titre 1">
            <a:extLst>
              <a:ext uri="{FF2B5EF4-FFF2-40B4-BE49-F238E27FC236}">
                <a16:creationId xmlns:a16="http://schemas.microsoft.com/office/drawing/2014/main" id="{13901AB8-B4CC-6B46-AA8D-100279F8F651}"/>
              </a:ext>
            </a:extLst>
          </p:cNvPr>
          <p:cNvSpPr>
            <a:spLocks noGrp="1"/>
          </p:cNvSpPr>
          <p:nvPr>
            <p:ph type="title"/>
          </p:nvPr>
        </p:nvSpPr>
        <p:spPr>
          <a:xfrm>
            <a:off x="954314" y="447636"/>
            <a:ext cx="10515600" cy="1325563"/>
          </a:xfrm>
        </p:spPr>
        <p:txBody>
          <a:bodyPr/>
          <a:lstStyle/>
          <a:p>
            <a:r>
              <a:rPr lang="fr-FR" dirty="0"/>
              <a:t>TD3 2h</a:t>
            </a:r>
          </a:p>
        </p:txBody>
      </p:sp>
      <p:sp>
        <p:nvSpPr>
          <p:cNvPr id="10" name="ZoneTexte 9">
            <a:extLst>
              <a:ext uri="{FF2B5EF4-FFF2-40B4-BE49-F238E27FC236}">
                <a16:creationId xmlns:a16="http://schemas.microsoft.com/office/drawing/2014/main" id="{3287D81E-E026-A292-B24E-255C9761D10C}"/>
              </a:ext>
            </a:extLst>
          </p:cNvPr>
          <p:cNvSpPr txBox="1"/>
          <p:nvPr/>
        </p:nvSpPr>
        <p:spPr>
          <a:xfrm>
            <a:off x="954314" y="1516817"/>
            <a:ext cx="7493000" cy="1938992"/>
          </a:xfrm>
          <a:prstGeom prst="rect">
            <a:avLst/>
          </a:prstGeom>
          <a:noFill/>
        </p:spPr>
        <p:txBody>
          <a:bodyPr wrap="square">
            <a:spAutoFit/>
          </a:bodyPr>
          <a:lstStyle/>
          <a:p>
            <a:r>
              <a:rPr lang="fr-FR" sz="2400" dirty="0"/>
              <a:t>Classe entière</a:t>
            </a:r>
          </a:p>
          <a:p>
            <a:r>
              <a:rPr lang="fr-FR" sz="2400" dirty="0"/>
              <a:t>Quizz formatif sur les liaisons et les notions de transmission de puissance</a:t>
            </a:r>
          </a:p>
          <a:p>
            <a:r>
              <a:rPr lang="fr-FR" sz="2400" dirty="0"/>
              <a:t>Etude de cas sur une trottinette électrique</a:t>
            </a:r>
          </a:p>
          <a:p>
            <a:endParaRPr lang="fr-FR" sz="2400" dirty="0"/>
          </a:p>
        </p:txBody>
      </p:sp>
      <p:sp>
        <p:nvSpPr>
          <p:cNvPr id="11" name="Titre 1">
            <a:extLst>
              <a:ext uri="{FF2B5EF4-FFF2-40B4-BE49-F238E27FC236}">
                <a16:creationId xmlns:a16="http://schemas.microsoft.com/office/drawing/2014/main" id="{1693EA97-CEFD-50FA-09F1-1AD0CB7552DA}"/>
              </a:ext>
            </a:extLst>
          </p:cNvPr>
          <p:cNvSpPr txBox="1">
            <a:spLocks/>
          </p:cNvSpPr>
          <p:nvPr/>
        </p:nvSpPr>
        <p:spPr>
          <a:xfrm>
            <a:off x="954314" y="3126403"/>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dirty="0"/>
              <a:t>TP7 3h</a:t>
            </a:r>
          </a:p>
        </p:txBody>
      </p:sp>
      <p:sp>
        <p:nvSpPr>
          <p:cNvPr id="14" name="ZoneTexte 13">
            <a:extLst>
              <a:ext uri="{FF2B5EF4-FFF2-40B4-BE49-F238E27FC236}">
                <a16:creationId xmlns:a16="http://schemas.microsoft.com/office/drawing/2014/main" id="{C35C0E91-9D18-D1EC-975D-FB07EFEDE2C9}"/>
              </a:ext>
            </a:extLst>
          </p:cNvPr>
          <p:cNvSpPr txBox="1"/>
          <p:nvPr/>
        </p:nvSpPr>
        <p:spPr>
          <a:xfrm>
            <a:off x="954314" y="4221133"/>
            <a:ext cx="9655629" cy="830997"/>
          </a:xfrm>
          <a:prstGeom prst="rect">
            <a:avLst/>
          </a:prstGeom>
          <a:noFill/>
        </p:spPr>
        <p:txBody>
          <a:bodyPr wrap="square">
            <a:spAutoFit/>
          </a:bodyPr>
          <a:lstStyle/>
          <a:p>
            <a:r>
              <a:rPr lang="fr-FR" sz="2400" dirty="0"/>
              <a:t>En demi-groupe , 6 groupes de 3 élèves</a:t>
            </a:r>
          </a:p>
          <a:p>
            <a:r>
              <a:rPr lang="fr-FR" sz="2400" dirty="0"/>
              <a:t>Séance à caractère expérimental qui sera détaillé après.</a:t>
            </a:r>
          </a:p>
        </p:txBody>
      </p:sp>
      <p:sp>
        <p:nvSpPr>
          <p:cNvPr id="15" name="Espace réservé du pied de page 14">
            <a:extLst>
              <a:ext uri="{FF2B5EF4-FFF2-40B4-BE49-F238E27FC236}">
                <a16:creationId xmlns:a16="http://schemas.microsoft.com/office/drawing/2014/main" id="{12AFCEE0-9A44-55E3-2F84-9823129EF037}"/>
              </a:ext>
            </a:extLst>
          </p:cNvPr>
          <p:cNvSpPr>
            <a:spLocks noGrp="1"/>
          </p:cNvSpPr>
          <p:nvPr>
            <p:ph type="ftr" sz="quarter" idx="11"/>
          </p:nvPr>
        </p:nvSpPr>
        <p:spPr>
          <a:xfrm>
            <a:off x="4038600" y="6462939"/>
            <a:ext cx="4114800" cy="365125"/>
          </a:xfrm>
        </p:spPr>
        <p:txBody>
          <a:bodyPr/>
          <a:lstStyle/>
          <a:p>
            <a:r>
              <a:rPr lang="fr-FR" sz="1600" dirty="0">
                <a:solidFill>
                  <a:schemeClr val="tx1"/>
                </a:solidFill>
              </a:rPr>
              <a:t>N° Arthur PREVISANI</a:t>
            </a:r>
          </a:p>
        </p:txBody>
      </p:sp>
      <p:graphicFrame>
        <p:nvGraphicFramePr>
          <p:cNvPr id="4" name="Tableau 3">
            <a:extLst>
              <a:ext uri="{FF2B5EF4-FFF2-40B4-BE49-F238E27FC236}">
                <a16:creationId xmlns:a16="http://schemas.microsoft.com/office/drawing/2014/main" id="{B6EAF218-934A-480E-A7F2-CC0BD5B3F60E}"/>
              </a:ext>
            </a:extLst>
          </p:cNvPr>
          <p:cNvGraphicFramePr>
            <a:graphicFrameLocks noGrp="1"/>
          </p:cNvGraphicFramePr>
          <p:nvPr>
            <p:extLst>
              <p:ext uri="{D42A27DB-BD31-4B8C-83A1-F6EECF244321}">
                <p14:modId xmlns:p14="http://schemas.microsoft.com/office/powerpoint/2010/main" val="1749366192"/>
              </p:ext>
            </p:extLst>
          </p:nvPr>
        </p:nvGraphicFramePr>
        <p:xfrm>
          <a:off x="3252107" y="941349"/>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tc>
                  <a:txBody>
                    <a:bodyPr/>
                    <a:lstStyle/>
                    <a:p>
                      <a:pPr algn="ctr"/>
                      <a:r>
                        <a:rPr lang="fr-FR" dirty="0"/>
                        <a:t>TP7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TP8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COURS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5967402"/>
                  </a:ext>
                </a:extLst>
              </a:tr>
            </a:tbl>
          </a:graphicData>
        </a:graphic>
      </p:graphicFrame>
      <p:graphicFrame>
        <p:nvGraphicFramePr>
          <p:cNvPr id="5" name="Tableau 4">
            <a:extLst>
              <a:ext uri="{FF2B5EF4-FFF2-40B4-BE49-F238E27FC236}">
                <a16:creationId xmlns:a16="http://schemas.microsoft.com/office/drawing/2014/main" id="{119452AE-D7F5-0AF2-70D8-435B00D6DF19}"/>
              </a:ext>
            </a:extLst>
          </p:cNvPr>
          <p:cNvGraphicFramePr>
            <a:graphicFrameLocks noGrp="1"/>
          </p:cNvGraphicFramePr>
          <p:nvPr>
            <p:extLst>
              <p:ext uri="{D42A27DB-BD31-4B8C-83A1-F6EECF244321}">
                <p14:modId xmlns:p14="http://schemas.microsoft.com/office/powerpoint/2010/main" val="4282467562"/>
              </p:ext>
            </p:extLst>
          </p:nvPr>
        </p:nvGraphicFramePr>
        <p:xfrm>
          <a:off x="3722007" y="3626456"/>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dirty="0"/>
                        <a:t>TP7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tc>
                  <a:txBody>
                    <a:bodyPr/>
                    <a:lstStyle/>
                    <a:p>
                      <a:pPr algn="ctr"/>
                      <a:r>
                        <a:rPr lang="fr-FR" dirty="0"/>
                        <a:t>TP8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COURS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5967402"/>
                  </a:ext>
                </a:extLst>
              </a:tr>
            </a:tbl>
          </a:graphicData>
        </a:graphic>
      </p:graphicFrame>
    </p:spTree>
    <p:extLst>
      <p:ext uri="{BB962C8B-B14F-4D97-AF65-F5344CB8AC3E}">
        <p14:creationId xmlns:p14="http://schemas.microsoft.com/office/powerpoint/2010/main" val="12110174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A550F-F573-C650-4A3B-57FEBE49D745}"/>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BF4D4F49-8BA5-46A6-A828-0D2ED1AC8232}"/>
              </a:ext>
            </a:extLst>
          </p:cNvPr>
          <p:cNvSpPr>
            <a:spLocks noGrp="1"/>
          </p:cNvSpPr>
          <p:nvPr>
            <p:ph type="sldNum" sz="quarter" idx="12"/>
          </p:nvPr>
        </p:nvSpPr>
        <p:spPr/>
        <p:txBody>
          <a:bodyPr/>
          <a:lstStyle/>
          <a:p>
            <a:fld id="{201A5C1E-DE71-4D99-BC1E-739595F062E0}" type="slidenum">
              <a:rPr lang="fr-FR" sz="2000" smtClean="0"/>
              <a:t>13</a:t>
            </a:fld>
            <a:r>
              <a:rPr lang="fr-FR" sz="2000" dirty="0"/>
              <a:t>/22</a:t>
            </a:r>
          </a:p>
        </p:txBody>
      </p:sp>
      <p:sp>
        <p:nvSpPr>
          <p:cNvPr id="11" name="ZoneTexte 10">
            <a:extLst>
              <a:ext uri="{FF2B5EF4-FFF2-40B4-BE49-F238E27FC236}">
                <a16:creationId xmlns:a16="http://schemas.microsoft.com/office/drawing/2014/main" id="{4A1EEB1D-E3AD-55E0-FF3D-2506CC5D67C3}"/>
              </a:ext>
            </a:extLst>
          </p:cNvPr>
          <p:cNvSpPr txBox="1"/>
          <p:nvPr/>
        </p:nvSpPr>
        <p:spPr>
          <a:xfrm>
            <a:off x="838199" y="4792469"/>
            <a:ext cx="8973457" cy="1200329"/>
          </a:xfrm>
          <a:prstGeom prst="rect">
            <a:avLst/>
          </a:prstGeom>
          <a:noFill/>
        </p:spPr>
        <p:txBody>
          <a:bodyPr wrap="square" rtlCol="0">
            <a:spAutoFit/>
          </a:bodyPr>
          <a:lstStyle/>
          <a:p>
            <a:r>
              <a:rPr lang="fr-FR" sz="2400" dirty="0"/>
              <a:t>Classe entière</a:t>
            </a:r>
          </a:p>
          <a:p>
            <a:r>
              <a:rPr lang="fr-FR" sz="2400" dirty="0"/>
              <a:t>Remédiation grâce au quizz et au suivi fait par le professeur lors des </a:t>
            </a:r>
            <a:r>
              <a:rPr lang="fr-FR" sz="2400" dirty="0" err="1"/>
              <a:t>TPs</a:t>
            </a:r>
            <a:r>
              <a:rPr lang="fr-FR" sz="2400" dirty="0"/>
              <a:t> précédents, à adapter en fonction de la classe</a:t>
            </a:r>
          </a:p>
        </p:txBody>
      </p:sp>
      <p:sp>
        <p:nvSpPr>
          <p:cNvPr id="12" name="Titre 1">
            <a:extLst>
              <a:ext uri="{FF2B5EF4-FFF2-40B4-BE49-F238E27FC236}">
                <a16:creationId xmlns:a16="http://schemas.microsoft.com/office/drawing/2014/main" id="{EDEB2CAF-1823-0B36-2336-955F09DAAE7D}"/>
              </a:ext>
            </a:extLst>
          </p:cNvPr>
          <p:cNvSpPr>
            <a:spLocks noGrp="1"/>
          </p:cNvSpPr>
          <p:nvPr>
            <p:ph type="title"/>
          </p:nvPr>
        </p:nvSpPr>
        <p:spPr>
          <a:xfrm>
            <a:off x="838200" y="4084014"/>
            <a:ext cx="10515600" cy="616122"/>
          </a:xfrm>
        </p:spPr>
        <p:txBody>
          <a:bodyPr>
            <a:normAutofit fontScale="90000"/>
          </a:bodyPr>
          <a:lstStyle/>
          <a:p>
            <a:r>
              <a:rPr lang="fr-FR" dirty="0"/>
              <a:t>COURS 3 1h</a:t>
            </a:r>
          </a:p>
        </p:txBody>
      </p:sp>
      <p:sp>
        <p:nvSpPr>
          <p:cNvPr id="16" name="ZoneTexte 15">
            <a:extLst>
              <a:ext uri="{FF2B5EF4-FFF2-40B4-BE49-F238E27FC236}">
                <a16:creationId xmlns:a16="http://schemas.microsoft.com/office/drawing/2014/main" id="{CE2584C0-6C76-4D4D-571C-B85F8C17E9A3}"/>
              </a:ext>
            </a:extLst>
          </p:cNvPr>
          <p:cNvSpPr txBox="1"/>
          <p:nvPr/>
        </p:nvSpPr>
        <p:spPr>
          <a:xfrm>
            <a:off x="838199" y="1265946"/>
            <a:ext cx="9089572" cy="1569660"/>
          </a:xfrm>
          <a:prstGeom prst="rect">
            <a:avLst/>
          </a:prstGeom>
          <a:noFill/>
        </p:spPr>
        <p:txBody>
          <a:bodyPr wrap="square">
            <a:spAutoFit/>
          </a:bodyPr>
          <a:lstStyle/>
          <a:p>
            <a:r>
              <a:rPr lang="fr-FR" sz="2400" dirty="0"/>
              <a:t>En demi-groupe , 6 groupes de 3 élèves</a:t>
            </a:r>
          </a:p>
          <a:p>
            <a:r>
              <a:rPr lang="fr-FR" sz="2400" dirty="0"/>
              <a:t>Finalisation d’un petit diaporama et de l’analyse des solutions pour présenter leurs résultats aux autres élèves lors d’un oral de 5min + 5 min de questions</a:t>
            </a:r>
          </a:p>
        </p:txBody>
      </p:sp>
      <p:sp>
        <p:nvSpPr>
          <p:cNvPr id="17" name="Titre 1">
            <a:extLst>
              <a:ext uri="{FF2B5EF4-FFF2-40B4-BE49-F238E27FC236}">
                <a16:creationId xmlns:a16="http://schemas.microsoft.com/office/drawing/2014/main" id="{0F9E46F8-281B-E52A-9D9D-BD025A958CDF}"/>
              </a:ext>
            </a:extLst>
          </p:cNvPr>
          <p:cNvSpPr txBox="1">
            <a:spLocks/>
          </p:cNvSpPr>
          <p:nvPr/>
        </p:nvSpPr>
        <p:spPr>
          <a:xfrm>
            <a:off x="838200" y="223161"/>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dirty="0"/>
              <a:t>TP8(IT) 3h</a:t>
            </a:r>
          </a:p>
        </p:txBody>
      </p:sp>
      <p:sp>
        <p:nvSpPr>
          <p:cNvPr id="20" name="Espace réservé du pied de page 19">
            <a:extLst>
              <a:ext uri="{FF2B5EF4-FFF2-40B4-BE49-F238E27FC236}">
                <a16:creationId xmlns:a16="http://schemas.microsoft.com/office/drawing/2014/main" id="{6E8D5E66-4266-D817-A2A6-0F4EA66ABCD0}"/>
              </a:ext>
            </a:extLst>
          </p:cNvPr>
          <p:cNvSpPr>
            <a:spLocks noGrp="1"/>
          </p:cNvSpPr>
          <p:nvPr>
            <p:ph type="ftr" sz="quarter" idx="11"/>
          </p:nvPr>
        </p:nvSpPr>
        <p:spPr>
          <a:xfrm>
            <a:off x="4038600" y="6452276"/>
            <a:ext cx="4114800" cy="365125"/>
          </a:xfrm>
        </p:spPr>
        <p:txBody>
          <a:bodyPr/>
          <a:lstStyle/>
          <a:p>
            <a:r>
              <a:rPr lang="fr-FR" sz="1600" dirty="0">
                <a:solidFill>
                  <a:schemeClr val="tx1"/>
                </a:solidFill>
              </a:rPr>
              <a:t>N° Arthur PREVISANI</a:t>
            </a:r>
          </a:p>
        </p:txBody>
      </p:sp>
      <p:graphicFrame>
        <p:nvGraphicFramePr>
          <p:cNvPr id="4" name="Tableau 3">
            <a:extLst>
              <a:ext uri="{FF2B5EF4-FFF2-40B4-BE49-F238E27FC236}">
                <a16:creationId xmlns:a16="http://schemas.microsoft.com/office/drawing/2014/main" id="{34120088-39EE-8F09-96D0-FD4DA0A60AFB}"/>
              </a:ext>
            </a:extLst>
          </p:cNvPr>
          <p:cNvGraphicFramePr>
            <a:graphicFrameLocks noGrp="1"/>
          </p:cNvGraphicFramePr>
          <p:nvPr>
            <p:extLst>
              <p:ext uri="{D42A27DB-BD31-4B8C-83A1-F6EECF244321}">
                <p14:modId xmlns:p14="http://schemas.microsoft.com/office/powerpoint/2010/main" val="96513196"/>
              </p:ext>
            </p:extLst>
          </p:nvPr>
        </p:nvGraphicFramePr>
        <p:xfrm>
          <a:off x="3290207" y="640234"/>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dirty="0"/>
                        <a:t>TP7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TP8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tc>
                  <a:txBody>
                    <a:bodyPr/>
                    <a:lstStyle/>
                    <a:p>
                      <a:pPr algn="ctr"/>
                      <a:r>
                        <a:rPr lang="fr-FR" dirty="0"/>
                        <a:t>COURS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5967402"/>
                  </a:ext>
                </a:extLst>
              </a:tr>
            </a:tbl>
          </a:graphicData>
        </a:graphic>
      </p:graphicFrame>
      <p:graphicFrame>
        <p:nvGraphicFramePr>
          <p:cNvPr id="5" name="Tableau 4">
            <a:extLst>
              <a:ext uri="{FF2B5EF4-FFF2-40B4-BE49-F238E27FC236}">
                <a16:creationId xmlns:a16="http://schemas.microsoft.com/office/drawing/2014/main" id="{9CAF33CE-AEAF-879B-E71D-A6A2A8F289A2}"/>
              </a:ext>
            </a:extLst>
          </p:cNvPr>
          <p:cNvGraphicFramePr>
            <a:graphicFrameLocks noGrp="1"/>
          </p:cNvGraphicFramePr>
          <p:nvPr>
            <p:extLst>
              <p:ext uri="{D42A27DB-BD31-4B8C-83A1-F6EECF244321}">
                <p14:modId xmlns:p14="http://schemas.microsoft.com/office/powerpoint/2010/main" val="4288911267"/>
              </p:ext>
            </p:extLst>
          </p:nvPr>
        </p:nvGraphicFramePr>
        <p:xfrm>
          <a:off x="3516993" y="4190043"/>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dirty="0"/>
                        <a:t>TP7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TP8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COURS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tc>
                  <a:txBody>
                    <a:bodyPr/>
                    <a:lstStyle/>
                    <a:p>
                      <a:pPr algn="ctr"/>
                      <a:r>
                        <a:rPr lang="fr-FR" dirty="0"/>
                        <a:t>TP9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5967402"/>
                  </a:ext>
                </a:extLst>
              </a:tr>
            </a:tbl>
          </a:graphicData>
        </a:graphic>
      </p:graphicFrame>
    </p:spTree>
    <p:extLst>
      <p:ext uri="{BB962C8B-B14F-4D97-AF65-F5344CB8AC3E}">
        <p14:creationId xmlns:p14="http://schemas.microsoft.com/office/powerpoint/2010/main" val="4451930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4AE9AB-7E87-F6F2-5699-0CDCF78D0883}"/>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38361E2E-7228-9905-B6F5-F5A27EB156EB}"/>
              </a:ext>
            </a:extLst>
          </p:cNvPr>
          <p:cNvSpPr>
            <a:spLocks noGrp="1"/>
          </p:cNvSpPr>
          <p:nvPr>
            <p:ph type="sldNum" sz="quarter" idx="12"/>
          </p:nvPr>
        </p:nvSpPr>
        <p:spPr/>
        <p:txBody>
          <a:bodyPr/>
          <a:lstStyle/>
          <a:p>
            <a:fld id="{201A5C1E-DE71-4D99-BC1E-739595F062E0}" type="slidenum">
              <a:rPr lang="fr-FR" sz="2000" smtClean="0"/>
              <a:t>14</a:t>
            </a:fld>
            <a:r>
              <a:rPr lang="fr-FR" sz="2000" dirty="0"/>
              <a:t>/22</a:t>
            </a:r>
          </a:p>
        </p:txBody>
      </p:sp>
      <p:sp>
        <p:nvSpPr>
          <p:cNvPr id="4" name="Titre 1">
            <a:extLst>
              <a:ext uri="{FF2B5EF4-FFF2-40B4-BE49-F238E27FC236}">
                <a16:creationId xmlns:a16="http://schemas.microsoft.com/office/drawing/2014/main" id="{9A4490AE-3A5A-A0F5-A7E8-1E241C063B0B}"/>
              </a:ext>
            </a:extLst>
          </p:cNvPr>
          <p:cNvSpPr txBox="1">
            <a:spLocks/>
          </p:cNvSpPr>
          <p:nvPr/>
        </p:nvSpPr>
        <p:spPr>
          <a:xfrm>
            <a:off x="736600" y="290398"/>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dirty="0"/>
              <a:t>TP9 3h</a:t>
            </a:r>
          </a:p>
        </p:txBody>
      </p:sp>
      <p:sp>
        <p:nvSpPr>
          <p:cNvPr id="9" name="ZoneTexte 8">
            <a:extLst>
              <a:ext uri="{FF2B5EF4-FFF2-40B4-BE49-F238E27FC236}">
                <a16:creationId xmlns:a16="http://schemas.microsoft.com/office/drawing/2014/main" id="{068AF723-BAC8-D37C-8056-03BA23A123AC}"/>
              </a:ext>
            </a:extLst>
          </p:cNvPr>
          <p:cNvSpPr txBox="1"/>
          <p:nvPr/>
        </p:nvSpPr>
        <p:spPr>
          <a:xfrm>
            <a:off x="936170" y="1336772"/>
            <a:ext cx="9046030" cy="4154984"/>
          </a:xfrm>
          <a:prstGeom prst="rect">
            <a:avLst/>
          </a:prstGeom>
          <a:noFill/>
        </p:spPr>
        <p:txBody>
          <a:bodyPr wrap="square">
            <a:spAutoFit/>
          </a:bodyPr>
          <a:lstStyle/>
          <a:p>
            <a:r>
              <a:rPr lang="fr-FR" sz="2400" dirty="0"/>
              <a:t>En demi-groupe</a:t>
            </a:r>
          </a:p>
          <a:p>
            <a:r>
              <a:rPr lang="fr-FR" sz="2400" dirty="0"/>
              <a:t>TP DS</a:t>
            </a:r>
          </a:p>
          <a:p>
            <a:r>
              <a:rPr lang="fr-FR" sz="2400" dirty="0"/>
              <a:t>1h d’évaluation individuelle sur table sur les notions de cours: complétion d’un schéma cinématique,  fonctions de différents composants de puissance</a:t>
            </a:r>
          </a:p>
          <a:p>
            <a:r>
              <a:rPr lang="fr-FR" sz="2400" dirty="0"/>
              <a:t>Ensuite 6 groupes de 3 élèves</a:t>
            </a:r>
          </a:p>
          <a:p>
            <a:r>
              <a:rPr lang="fr-FR" sz="2400" dirty="0"/>
              <a:t>2h pendant lesquelles ils </a:t>
            </a:r>
            <a:r>
              <a:rPr lang="fr-FR" sz="2400" dirty="0" err="1"/>
              <a:t>manipent</a:t>
            </a:r>
            <a:r>
              <a:rPr lang="fr-FR" sz="2400" dirty="0"/>
              <a:t> et ils doivent réaliser un TP qui  mesure un rapport de réduction, identification des composants sur le système,</a:t>
            </a:r>
          </a:p>
          <a:p>
            <a:endParaRPr lang="fr-FR" sz="2400" dirty="0"/>
          </a:p>
          <a:p>
            <a:endParaRPr lang="fr-FR" sz="2400" dirty="0"/>
          </a:p>
        </p:txBody>
      </p:sp>
      <p:sp>
        <p:nvSpPr>
          <p:cNvPr id="15" name="Espace réservé du pied de page 14">
            <a:extLst>
              <a:ext uri="{FF2B5EF4-FFF2-40B4-BE49-F238E27FC236}">
                <a16:creationId xmlns:a16="http://schemas.microsoft.com/office/drawing/2014/main" id="{B10D6E9F-B0D9-A4C0-6F67-682AFDB7E512}"/>
              </a:ext>
            </a:extLst>
          </p:cNvPr>
          <p:cNvSpPr>
            <a:spLocks noGrp="1"/>
          </p:cNvSpPr>
          <p:nvPr>
            <p:ph type="ftr" sz="quarter" idx="11"/>
          </p:nvPr>
        </p:nvSpPr>
        <p:spPr>
          <a:xfrm>
            <a:off x="4038600" y="6492875"/>
            <a:ext cx="4114800" cy="365125"/>
          </a:xfrm>
        </p:spPr>
        <p:txBody>
          <a:bodyPr/>
          <a:lstStyle/>
          <a:p>
            <a:r>
              <a:rPr lang="fr-FR" sz="1600" dirty="0">
                <a:solidFill>
                  <a:schemeClr val="tx1"/>
                </a:solidFill>
              </a:rPr>
              <a:t>N° Arthur PREVISANI</a:t>
            </a:r>
          </a:p>
        </p:txBody>
      </p:sp>
      <p:graphicFrame>
        <p:nvGraphicFramePr>
          <p:cNvPr id="6" name="Tableau 5">
            <a:extLst>
              <a:ext uri="{FF2B5EF4-FFF2-40B4-BE49-F238E27FC236}">
                <a16:creationId xmlns:a16="http://schemas.microsoft.com/office/drawing/2014/main" id="{B74A7220-82FA-E1A5-A864-075211C86AA9}"/>
              </a:ext>
            </a:extLst>
          </p:cNvPr>
          <p:cNvGraphicFramePr>
            <a:graphicFrameLocks noGrp="1"/>
          </p:cNvGraphicFramePr>
          <p:nvPr>
            <p:extLst>
              <p:ext uri="{D42A27DB-BD31-4B8C-83A1-F6EECF244321}">
                <p14:modId xmlns:p14="http://schemas.microsoft.com/office/powerpoint/2010/main" val="207433328"/>
              </p:ext>
            </p:extLst>
          </p:nvPr>
        </p:nvGraphicFramePr>
        <p:xfrm>
          <a:off x="3034393" y="767759"/>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dirty="0"/>
                        <a:t>TP7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TP8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COURS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extLst>
                  <a:ext uri="{0D108BD9-81ED-4DB2-BD59-A6C34878D82A}">
                    <a16:rowId xmlns:a16="http://schemas.microsoft.com/office/drawing/2014/main" val="3665967402"/>
                  </a:ext>
                </a:extLst>
              </a:tr>
            </a:tbl>
          </a:graphicData>
        </a:graphic>
      </p:graphicFrame>
    </p:spTree>
    <p:extLst>
      <p:ext uri="{BB962C8B-B14F-4D97-AF65-F5344CB8AC3E}">
        <p14:creationId xmlns:p14="http://schemas.microsoft.com/office/powerpoint/2010/main" val="29672275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5DC3A-DA93-CB05-F0F0-02EDFE34A856}"/>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ABB074AC-C9DF-6A61-EEAA-B38C3D11CD9F}"/>
              </a:ext>
            </a:extLst>
          </p:cNvPr>
          <p:cNvSpPr>
            <a:spLocks noGrp="1"/>
          </p:cNvSpPr>
          <p:nvPr>
            <p:ph type="sldNum" sz="quarter" idx="12"/>
          </p:nvPr>
        </p:nvSpPr>
        <p:spPr/>
        <p:txBody>
          <a:bodyPr/>
          <a:lstStyle/>
          <a:p>
            <a:fld id="{201A5C1E-DE71-4D99-BC1E-739595F062E0}" type="slidenum">
              <a:rPr lang="fr-FR" sz="2000" smtClean="0"/>
              <a:t>15</a:t>
            </a:fld>
            <a:r>
              <a:rPr lang="fr-FR" sz="2000" dirty="0"/>
              <a:t>/22</a:t>
            </a:r>
          </a:p>
        </p:txBody>
      </p:sp>
      <p:sp>
        <p:nvSpPr>
          <p:cNvPr id="4" name="Espace réservé du pied de page 3">
            <a:extLst>
              <a:ext uri="{FF2B5EF4-FFF2-40B4-BE49-F238E27FC236}">
                <a16:creationId xmlns:a16="http://schemas.microsoft.com/office/drawing/2014/main" id="{952F77DC-0B39-3F42-F5C4-304DD5231649}"/>
              </a:ext>
            </a:extLst>
          </p:cNvPr>
          <p:cNvSpPr>
            <a:spLocks noGrp="1"/>
          </p:cNvSpPr>
          <p:nvPr>
            <p:ph type="ftr" sz="quarter" idx="11"/>
          </p:nvPr>
        </p:nvSpPr>
        <p:spPr/>
        <p:txBody>
          <a:bodyPr/>
          <a:lstStyle/>
          <a:p>
            <a:r>
              <a:rPr lang="fr-FR" sz="1600" dirty="0">
                <a:solidFill>
                  <a:schemeClr val="tx1"/>
                </a:solidFill>
              </a:rPr>
              <a:t>N° Arthur PREVISANI</a:t>
            </a:r>
          </a:p>
        </p:txBody>
      </p:sp>
      <p:sp>
        <p:nvSpPr>
          <p:cNvPr id="6" name="Titre 1">
            <a:extLst>
              <a:ext uri="{FF2B5EF4-FFF2-40B4-BE49-F238E27FC236}">
                <a16:creationId xmlns:a16="http://schemas.microsoft.com/office/drawing/2014/main" id="{898ED1ED-148B-F6CD-0733-2B61AA909788}"/>
              </a:ext>
            </a:extLst>
          </p:cNvPr>
          <p:cNvSpPr>
            <a:spLocks noGrp="1"/>
          </p:cNvSpPr>
          <p:nvPr>
            <p:ph type="title"/>
          </p:nvPr>
        </p:nvSpPr>
        <p:spPr>
          <a:xfrm>
            <a:off x="838200" y="365125"/>
            <a:ext cx="10515600" cy="1325563"/>
          </a:xfrm>
        </p:spPr>
        <p:txBody>
          <a:bodyPr/>
          <a:lstStyle/>
          <a:p>
            <a:r>
              <a:rPr lang="fr-FR" dirty="0"/>
              <a:t>Evaluations</a:t>
            </a:r>
          </a:p>
        </p:txBody>
      </p:sp>
      <p:sp>
        <p:nvSpPr>
          <p:cNvPr id="8" name="Espace réservé du contenu 2">
            <a:extLst>
              <a:ext uri="{FF2B5EF4-FFF2-40B4-BE49-F238E27FC236}">
                <a16:creationId xmlns:a16="http://schemas.microsoft.com/office/drawing/2014/main" id="{BF298742-C09A-6F60-9723-17AFAA44DE24}"/>
              </a:ext>
            </a:extLst>
          </p:cNvPr>
          <p:cNvSpPr>
            <a:spLocks noGrp="1"/>
          </p:cNvSpPr>
          <p:nvPr>
            <p:ph idx="1"/>
          </p:nvPr>
        </p:nvSpPr>
        <p:spPr>
          <a:xfrm>
            <a:off x="838200" y="1492946"/>
            <a:ext cx="10515600" cy="4351338"/>
          </a:xfrm>
        </p:spPr>
        <p:txBody>
          <a:bodyPr/>
          <a:lstStyle/>
          <a:p>
            <a:r>
              <a:rPr lang="fr-FR" dirty="0"/>
              <a:t>Evaluation formative:</a:t>
            </a:r>
          </a:p>
          <a:p>
            <a:pPr marL="0" indent="0">
              <a:buNone/>
            </a:pPr>
            <a:r>
              <a:rPr lang="fr-FR" dirty="0"/>
              <a:t>	Quizz sur les notions de cours liaison, transmission de puissance</a:t>
            </a:r>
          </a:p>
          <a:p>
            <a:r>
              <a:rPr lang="fr-FR" dirty="0"/>
              <a:t>Evaluation sommative</a:t>
            </a:r>
          </a:p>
          <a:p>
            <a:pPr marL="0" indent="0">
              <a:buNone/>
            </a:pPr>
            <a:r>
              <a:rPr lang="fr-FR" dirty="0"/>
              <a:t>	Oral lors du TP8 IT</a:t>
            </a:r>
          </a:p>
          <a:p>
            <a:pPr marL="0" indent="0">
              <a:buNone/>
            </a:pPr>
            <a:r>
              <a:rPr lang="fr-FR" dirty="0"/>
              <a:t>	Evaluation sur table d’1H sur les compétences attendues </a:t>
            </a:r>
          </a:p>
          <a:p>
            <a:pPr marL="0" indent="0">
              <a:buNone/>
            </a:pPr>
            <a:r>
              <a:rPr lang="fr-FR" dirty="0"/>
              <a:t>	puis 2H ou on peut plus discuter avec eux tout en évaluant le 	coté pratique des compétences. </a:t>
            </a:r>
          </a:p>
        </p:txBody>
      </p:sp>
    </p:spTree>
    <p:extLst>
      <p:ext uri="{BB962C8B-B14F-4D97-AF65-F5344CB8AC3E}">
        <p14:creationId xmlns:p14="http://schemas.microsoft.com/office/powerpoint/2010/main" val="33198764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35FD0B-E821-7CC0-59B7-FF7B43433174}"/>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8EDBC118-2545-03CC-12BE-ACB1AA120600}"/>
              </a:ext>
            </a:extLst>
          </p:cNvPr>
          <p:cNvSpPr>
            <a:spLocks noGrp="1"/>
          </p:cNvSpPr>
          <p:nvPr>
            <p:ph type="sldNum" sz="quarter" idx="12"/>
          </p:nvPr>
        </p:nvSpPr>
        <p:spPr/>
        <p:txBody>
          <a:bodyPr/>
          <a:lstStyle/>
          <a:p>
            <a:fld id="{201A5C1E-DE71-4D99-BC1E-739595F062E0}" type="slidenum">
              <a:rPr lang="fr-FR" sz="2000" smtClean="0"/>
              <a:t>16</a:t>
            </a:fld>
            <a:r>
              <a:rPr lang="fr-FR" sz="2000" dirty="0"/>
              <a:t>/22</a:t>
            </a:r>
          </a:p>
        </p:txBody>
      </p:sp>
      <p:sp>
        <p:nvSpPr>
          <p:cNvPr id="4" name="Espace réservé du pied de page 3">
            <a:extLst>
              <a:ext uri="{FF2B5EF4-FFF2-40B4-BE49-F238E27FC236}">
                <a16:creationId xmlns:a16="http://schemas.microsoft.com/office/drawing/2014/main" id="{B7DDD118-2E9B-BED7-B314-685FE292249E}"/>
              </a:ext>
            </a:extLst>
          </p:cNvPr>
          <p:cNvSpPr>
            <a:spLocks noGrp="1"/>
          </p:cNvSpPr>
          <p:nvPr>
            <p:ph type="ftr" sz="quarter" idx="11"/>
          </p:nvPr>
        </p:nvSpPr>
        <p:spPr/>
        <p:txBody>
          <a:bodyPr/>
          <a:lstStyle/>
          <a:p>
            <a:r>
              <a:rPr lang="fr-FR" sz="1600" dirty="0">
                <a:solidFill>
                  <a:schemeClr val="tx1"/>
                </a:solidFill>
              </a:rPr>
              <a:t>N° Arthur PREVISANI</a:t>
            </a:r>
          </a:p>
        </p:txBody>
      </p:sp>
      <p:sp>
        <p:nvSpPr>
          <p:cNvPr id="2" name="Titre 1">
            <a:extLst>
              <a:ext uri="{FF2B5EF4-FFF2-40B4-BE49-F238E27FC236}">
                <a16:creationId xmlns:a16="http://schemas.microsoft.com/office/drawing/2014/main" id="{77454FFE-5851-801A-0B3A-AC394EB24688}"/>
              </a:ext>
            </a:extLst>
          </p:cNvPr>
          <p:cNvSpPr>
            <a:spLocks noGrp="1"/>
          </p:cNvSpPr>
          <p:nvPr>
            <p:ph type="title"/>
          </p:nvPr>
        </p:nvSpPr>
        <p:spPr>
          <a:xfrm>
            <a:off x="431800" y="289401"/>
            <a:ext cx="10515600" cy="1325563"/>
          </a:xfrm>
        </p:spPr>
        <p:txBody>
          <a:bodyPr/>
          <a:lstStyle/>
          <a:p>
            <a:r>
              <a:rPr lang="fr-FR" dirty="0"/>
              <a:t>Pertinence du robot </a:t>
            </a:r>
            <a:r>
              <a:rPr lang="fr-FR" dirty="0" err="1"/>
              <a:t>MaxPID</a:t>
            </a:r>
            <a:r>
              <a:rPr lang="fr-FR" dirty="0"/>
              <a:t> </a:t>
            </a:r>
            <a:br>
              <a:rPr lang="fr-FR" dirty="0"/>
            </a:br>
            <a:r>
              <a:rPr lang="fr-FR" dirty="0"/>
              <a:t>pour la séquence</a:t>
            </a:r>
          </a:p>
        </p:txBody>
      </p:sp>
      <p:pic>
        <p:nvPicPr>
          <p:cNvPr id="3" name="Image 2">
            <a:extLst>
              <a:ext uri="{FF2B5EF4-FFF2-40B4-BE49-F238E27FC236}">
                <a16:creationId xmlns:a16="http://schemas.microsoft.com/office/drawing/2014/main" id="{B5C7F424-DE81-916C-101E-EC23F7E4D563}"/>
              </a:ext>
            </a:extLst>
          </p:cNvPr>
          <p:cNvPicPr>
            <a:picLocks noChangeAspect="1"/>
          </p:cNvPicPr>
          <p:nvPr/>
        </p:nvPicPr>
        <p:blipFill>
          <a:blip r:embed="rId3"/>
          <a:stretch>
            <a:fillRect/>
          </a:stretch>
        </p:blipFill>
        <p:spPr>
          <a:xfrm>
            <a:off x="121736" y="1932020"/>
            <a:ext cx="7173326" cy="3867690"/>
          </a:xfrm>
          <a:prstGeom prst="rect">
            <a:avLst/>
          </a:prstGeom>
        </p:spPr>
      </p:pic>
      <p:pic>
        <p:nvPicPr>
          <p:cNvPr id="5" name="Image 4">
            <a:extLst>
              <a:ext uri="{FF2B5EF4-FFF2-40B4-BE49-F238E27FC236}">
                <a16:creationId xmlns:a16="http://schemas.microsoft.com/office/drawing/2014/main" id="{84094CB6-4383-1188-91BF-280BEDF3E769}"/>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517762" y="0"/>
            <a:ext cx="4552502" cy="3451273"/>
          </a:xfrm>
          <a:prstGeom prst="rect">
            <a:avLst/>
          </a:prstGeom>
        </p:spPr>
      </p:pic>
      <p:pic>
        <p:nvPicPr>
          <p:cNvPr id="6" name="Image 5">
            <a:extLst>
              <a:ext uri="{FF2B5EF4-FFF2-40B4-BE49-F238E27FC236}">
                <a16:creationId xmlns:a16="http://schemas.microsoft.com/office/drawing/2014/main" id="{2DEF8889-060A-D18B-DBD8-3EB4F364297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960547" y="3114977"/>
            <a:ext cx="4523882" cy="3241373"/>
          </a:xfrm>
          <a:prstGeom prst="rect">
            <a:avLst/>
          </a:prstGeom>
        </p:spPr>
      </p:pic>
    </p:spTree>
    <p:extLst>
      <p:ext uri="{BB962C8B-B14F-4D97-AF65-F5344CB8AC3E}">
        <p14:creationId xmlns:p14="http://schemas.microsoft.com/office/powerpoint/2010/main" val="6005549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64B26-C642-3223-3D57-939B21492A82}"/>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E6E49DEA-8AAE-9277-11B4-EBF2B8200E80}"/>
              </a:ext>
            </a:extLst>
          </p:cNvPr>
          <p:cNvSpPr>
            <a:spLocks noGrp="1"/>
          </p:cNvSpPr>
          <p:nvPr>
            <p:ph type="sldNum" sz="quarter" idx="12"/>
          </p:nvPr>
        </p:nvSpPr>
        <p:spPr/>
        <p:txBody>
          <a:bodyPr/>
          <a:lstStyle/>
          <a:p>
            <a:fld id="{201A5C1E-DE71-4D99-BC1E-739595F062E0}" type="slidenum">
              <a:rPr lang="fr-FR" sz="2000" smtClean="0"/>
              <a:t>17</a:t>
            </a:fld>
            <a:r>
              <a:rPr lang="fr-FR" sz="2000" dirty="0"/>
              <a:t>/22</a:t>
            </a:r>
          </a:p>
        </p:txBody>
      </p:sp>
      <p:sp>
        <p:nvSpPr>
          <p:cNvPr id="4" name="Titre 1">
            <a:extLst>
              <a:ext uri="{FF2B5EF4-FFF2-40B4-BE49-F238E27FC236}">
                <a16:creationId xmlns:a16="http://schemas.microsoft.com/office/drawing/2014/main" id="{CDD944AD-A040-39A8-0A8D-89DB2689E310}"/>
              </a:ext>
            </a:extLst>
          </p:cNvPr>
          <p:cNvSpPr txBox="1">
            <a:spLocks/>
          </p:cNvSpPr>
          <p:nvPr/>
        </p:nvSpPr>
        <p:spPr>
          <a:xfrm>
            <a:off x="736600" y="27376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dirty="0"/>
              <a:t>Séance à caractère expérimentale: TP2 3h</a:t>
            </a:r>
          </a:p>
        </p:txBody>
      </p:sp>
      <p:sp>
        <p:nvSpPr>
          <p:cNvPr id="15" name="ZoneTexte 14">
            <a:extLst>
              <a:ext uri="{FF2B5EF4-FFF2-40B4-BE49-F238E27FC236}">
                <a16:creationId xmlns:a16="http://schemas.microsoft.com/office/drawing/2014/main" id="{8E17E065-4388-DDA4-FE8C-0EA9CCEA2DAC}"/>
              </a:ext>
            </a:extLst>
          </p:cNvPr>
          <p:cNvSpPr txBox="1"/>
          <p:nvPr/>
        </p:nvSpPr>
        <p:spPr>
          <a:xfrm>
            <a:off x="939800" y="1202454"/>
            <a:ext cx="10414000" cy="5262979"/>
          </a:xfrm>
          <a:prstGeom prst="rect">
            <a:avLst/>
          </a:prstGeom>
          <a:noFill/>
        </p:spPr>
        <p:txBody>
          <a:bodyPr wrap="square">
            <a:spAutoFit/>
          </a:bodyPr>
          <a:lstStyle/>
          <a:p>
            <a:r>
              <a:rPr lang="fr-FR" sz="2400" dirty="0"/>
              <a:t>Placé en semaine 3 </a:t>
            </a:r>
          </a:p>
          <a:p>
            <a:r>
              <a:rPr lang="fr-FR" sz="2400" dirty="0"/>
              <a:t>But: </a:t>
            </a:r>
            <a:r>
              <a:rPr lang="fr-FR" sz="2400" dirty="0" err="1"/>
              <a:t>caracteriser</a:t>
            </a:r>
            <a:r>
              <a:rPr lang="fr-FR" sz="2400" dirty="0"/>
              <a:t> le </a:t>
            </a:r>
            <a:r>
              <a:rPr lang="fr-FR" sz="2400" dirty="0" err="1"/>
              <a:t>comportetent</a:t>
            </a:r>
            <a:r>
              <a:rPr lang="fr-FR" sz="2400" dirty="0"/>
              <a:t> </a:t>
            </a:r>
            <a:r>
              <a:rPr lang="fr-FR" sz="2400" dirty="0" err="1"/>
              <a:t>géométriuqe</a:t>
            </a:r>
            <a:r>
              <a:rPr lang="fr-FR" sz="2400" dirty="0"/>
              <a:t> pour attraper un citron a 20 ° d’arc le lien entre une mesure expérimentale et une approche géométrique. CO 3.4, 7.2,  </a:t>
            </a:r>
          </a:p>
          <a:p>
            <a:r>
              <a:rPr lang="fr-FR" sz="2400" dirty="0"/>
              <a:t>Systèmes dispo: Ouvre portail, CoMax, control x, axe linéaire, robot </a:t>
            </a:r>
            <a:r>
              <a:rPr lang="fr-FR" sz="2400" dirty="0" err="1"/>
              <a:t>Ericc</a:t>
            </a:r>
            <a:r>
              <a:rPr lang="fr-FR" sz="2400" dirty="0"/>
              <a:t>, </a:t>
            </a:r>
            <a:r>
              <a:rPr lang="fr-FR" sz="2400" dirty="0" err="1"/>
              <a:t>Slider</a:t>
            </a:r>
            <a:endParaRPr lang="fr-FR" sz="2400" dirty="0"/>
          </a:p>
          <a:p>
            <a:r>
              <a:rPr lang="fr-FR" sz="2400" dirty="0"/>
              <a:t>Compte rendu en fin de séance</a:t>
            </a:r>
          </a:p>
          <a:p>
            <a:r>
              <a:rPr lang="fr-FR" sz="2400" dirty="0"/>
              <a:t>En demi-groupe , 6 groupes de 3 élèves, en ilots</a:t>
            </a:r>
          </a:p>
          <a:p>
            <a:pPr marL="342900" indent="-342900">
              <a:buFont typeface="Arial" panose="020B0604020202020204" pitchFamily="34" charset="0"/>
              <a:buChar char="•"/>
            </a:pPr>
            <a:r>
              <a:rPr lang="fr-FR" sz="2400" dirty="0"/>
              <a:t>1 élève « chef de groupe » qui aidera ses 2 camarades</a:t>
            </a:r>
          </a:p>
          <a:p>
            <a:pPr marL="342900" indent="-342900">
              <a:buFont typeface="Arial" panose="020B0604020202020204" pitchFamily="34" charset="0"/>
              <a:buChar char="•"/>
            </a:pPr>
            <a:r>
              <a:rPr lang="fr-FR" sz="2400" dirty="0"/>
              <a:t>1 élève en charge de la modélisation</a:t>
            </a:r>
          </a:p>
          <a:p>
            <a:pPr marL="342900" indent="-342900">
              <a:buFont typeface="Arial" panose="020B0604020202020204" pitchFamily="34" charset="0"/>
              <a:buChar char="•"/>
            </a:pPr>
            <a:r>
              <a:rPr lang="fr-FR" sz="2400" dirty="0"/>
              <a:t>1 élève en charge de l’expérimentation</a:t>
            </a:r>
          </a:p>
          <a:p>
            <a:r>
              <a:rPr lang="fr-FR" sz="2400" dirty="0"/>
              <a:t>Organisation:</a:t>
            </a:r>
          </a:p>
          <a:p>
            <a:pPr marL="342900" indent="-342900">
              <a:buFont typeface="Arial" panose="020B0604020202020204" pitchFamily="34" charset="0"/>
              <a:buChar char="•"/>
            </a:pPr>
            <a:r>
              <a:rPr lang="fr-FR" sz="2400" dirty="0"/>
              <a:t>30 min: chaine information/énergie pour le système étudié, analyse des liaisons 1h 30: Détermination de manière géométrique de la loi entre l’angle du moteur et l’angle du bras</a:t>
            </a:r>
          </a:p>
          <a:p>
            <a:pPr marL="342900" indent="-342900">
              <a:buFont typeface="Arial" panose="020B0604020202020204" pitchFamily="34" charset="0"/>
              <a:buChar char="•"/>
            </a:pPr>
            <a:r>
              <a:rPr lang="fr-FR" sz="2400" dirty="0"/>
              <a:t>1h: Mesure expérimentale de cette loi</a:t>
            </a:r>
          </a:p>
        </p:txBody>
      </p:sp>
      <p:sp>
        <p:nvSpPr>
          <p:cNvPr id="5" name="Espace réservé du pied de page 4">
            <a:extLst>
              <a:ext uri="{FF2B5EF4-FFF2-40B4-BE49-F238E27FC236}">
                <a16:creationId xmlns:a16="http://schemas.microsoft.com/office/drawing/2014/main" id="{362EDB8A-B547-EB76-500E-7E025567A761}"/>
              </a:ext>
            </a:extLst>
          </p:cNvPr>
          <p:cNvSpPr>
            <a:spLocks noGrp="1"/>
          </p:cNvSpPr>
          <p:nvPr>
            <p:ph type="ftr" sz="quarter" idx="11"/>
          </p:nvPr>
        </p:nvSpPr>
        <p:spPr>
          <a:xfrm>
            <a:off x="4038600" y="6465433"/>
            <a:ext cx="4114800" cy="365125"/>
          </a:xfrm>
        </p:spPr>
        <p:txBody>
          <a:bodyPr/>
          <a:lstStyle/>
          <a:p>
            <a:r>
              <a:rPr lang="fr-FR" sz="1600" dirty="0">
                <a:solidFill>
                  <a:schemeClr val="tx1"/>
                </a:solidFill>
              </a:rPr>
              <a:t>N° Arthur PREVISANI</a:t>
            </a:r>
          </a:p>
        </p:txBody>
      </p:sp>
      <p:graphicFrame>
        <p:nvGraphicFramePr>
          <p:cNvPr id="2" name="Tableau 1">
            <a:extLst>
              <a:ext uri="{FF2B5EF4-FFF2-40B4-BE49-F238E27FC236}">
                <a16:creationId xmlns:a16="http://schemas.microsoft.com/office/drawing/2014/main" id="{34C62A26-4488-E051-5D1C-B1B837ACF492}"/>
              </a:ext>
            </a:extLst>
          </p:cNvPr>
          <p:cNvGraphicFramePr>
            <a:graphicFrameLocks noGrp="1"/>
          </p:cNvGraphicFramePr>
          <p:nvPr>
            <p:extLst>
              <p:ext uri="{D42A27DB-BD31-4B8C-83A1-F6EECF244321}">
                <p14:modId xmlns:p14="http://schemas.microsoft.com/office/powerpoint/2010/main" val="379499407"/>
              </p:ext>
            </p:extLst>
          </p:nvPr>
        </p:nvGraphicFramePr>
        <p:xfrm>
          <a:off x="5650593" y="133979"/>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dirty="0"/>
                        <a:t>TP7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tc>
                  <a:txBody>
                    <a:bodyPr/>
                    <a:lstStyle/>
                    <a:p>
                      <a:pPr algn="ctr"/>
                      <a:r>
                        <a:rPr lang="fr-FR" dirty="0"/>
                        <a:t>TP8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COURS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5967402"/>
                  </a:ext>
                </a:extLst>
              </a:tr>
            </a:tbl>
          </a:graphicData>
        </a:graphic>
      </p:graphicFrame>
    </p:spTree>
    <p:extLst>
      <p:ext uri="{BB962C8B-B14F-4D97-AF65-F5344CB8AC3E}">
        <p14:creationId xmlns:p14="http://schemas.microsoft.com/office/powerpoint/2010/main" val="34236221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11F25D-79A6-6FEF-1C11-74165D8067BE}"/>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3E2E3F08-AD28-B6F6-DB9A-9EAE441EEC09}"/>
              </a:ext>
            </a:extLst>
          </p:cNvPr>
          <p:cNvSpPr>
            <a:spLocks noGrp="1"/>
          </p:cNvSpPr>
          <p:nvPr>
            <p:ph type="sldNum" sz="quarter" idx="12"/>
          </p:nvPr>
        </p:nvSpPr>
        <p:spPr/>
        <p:txBody>
          <a:bodyPr/>
          <a:lstStyle/>
          <a:p>
            <a:fld id="{201A5C1E-DE71-4D99-BC1E-739595F062E0}" type="slidenum">
              <a:rPr lang="fr-FR" sz="2000" smtClean="0"/>
              <a:t>18</a:t>
            </a:fld>
            <a:r>
              <a:rPr lang="fr-FR" sz="2000" dirty="0"/>
              <a:t>/22</a:t>
            </a:r>
          </a:p>
        </p:txBody>
      </p:sp>
      <p:sp>
        <p:nvSpPr>
          <p:cNvPr id="4" name="Espace réservé du pied de page 3">
            <a:extLst>
              <a:ext uri="{FF2B5EF4-FFF2-40B4-BE49-F238E27FC236}">
                <a16:creationId xmlns:a16="http://schemas.microsoft.com/office/drawing/2014/main" id="{07EE74C8-A652-982F-8DB0-2816A292B955}"/>
              </a:ext>
            </a:extLst>
          </p:cNvPr>
          <p:cNvSpPr>
            <a:spLocks noGrp="1"/>
          </p:cNvSpPr>
          <p:nvPr>
            <p:ph type="ftr" sz="quarter" idx="11"/>
          </p:nvPr>
        </p:nvSpPr>
        <p:spPr/>
        <p:txBody>
          <a:bodyPr/>
          <a:lstStyle/>
          <a:p>
            <a:r>
              <a:rPr lang="fr-FR" sz="1600" dirty="0">
                <a:solidFill>
                  <a:schemeClr val="tx1"/>
                </a:solidFill>
              </a:rPr>
              <a:t>N° Arthur PREVISANI</a:t>
            </a:r>
          </a:p>
        </p:txBody>
      </p:sp>
      <p:sp>
        <p:nvSpPr>
          <p:cNvPr id="2" name="Titre 1">
            <a:extLst>
              <a:ext uri="{FF2B5EF4-FFF2-40B4-BE49-F238E27FC236}">
                <a16:creationId xmlns:a16="http://schemas.microsoft.com/office/drawing/2014/main" id="{C2D5E6E8-14DA-D088-2F6D-CE2ABCFDA316}"/>
              </a:ext>
            </a:extLst>
          </p:cNvPr>
          <p:cNvSpPr>
            <a:spLocks noGrp="1"/>
          </p:cNvSpPr>
          <p:nvPr>
            <p:ph type="title"/>
          </p:nvPr>
        </p:nvSpPr>
        <p:spPr>
          <a:xfrm>
            <a:off x="838200" y="365125"/>
            <a:ext cx="10515600" cy="1325563"/>
          </a:xfrm>
        </p:spPr>
        <p:txBody>
          <a:bodyPr/>
          <a:lstStyle/>
          <a:p>
            <a:r>
              <a:rPr lang="fr-FR" dirty="0"/>
              <a:t>Déroulé</a:t>
            </a:r>
          </a:p>
        </p:txBody>
      </p:sp>
      <p:sp>
        <p:nvSpPr>
          <p:cNvPr id="3" name="Espace réservé du contenu 2">
            <a:extLst>
              <a:ext uri="{FF2B5EF4-FFF2-40B4-BE49-F238E27FC236}">
                <a16:creationId xmlns:a16="http://schemas.microsoft.com/office/drawing/2014/main" id="{A6C54B38-E152-C6DA-AE1A-FBDD8BF6CB05}"/>
              </a:ext>
            </a:extLst>
          </p:cNvPr>
          <p:cNvSpPr>
            <a:spLocks noGrp="1"/>
          </p:cNvSpPr>
          <p:nvPr>
            <p:ph idx="1"/>
          </p:nvPr>
        </p:nvSpPr>
        <p:spPr>
          <a:xfrm>
            <a:off x="838200" y="1457324"/>
            <a:ext cx="10769600" cy="5035551"/>
          </a:xfrm>
        </p:spPr>
        <p:txBody>
          <a:bodyPr>
            <a:normAutofit fontScale="92500" lnSpcReduction="10000"/>
          </a:bodyPr>
          <a:lstStyle/>
          <a:p>
            <a:r>
              <a:rPr lang="fr-FR" dirty="0"/>
              <a:t>Activité 1:  30 minutes: Complétion d’une chaine information/énergie pour le système étudié, analyse des liaisons.</a:t>
            </a:r>
          </a:p>
          <a:p>
            <a:r>
              <a:rPr lang="fr-FR" dirty="0"/>
              <a:t>Activité 2: 1H30: Détermination de manière géométrique de la loi entre l’angle du moteur et l’angle du bras</a:t>
            </a:r>
          </a:p>
          <a:p>
            <a:pPr lvl="1"/>
            <a:r>
              <a:rPr lang="fr-FR" dirty="0"/>
              <a:t>Repérage du triangle dans lequel travailler</a:t>
            </a:r>
          </a:p>
          <a:p>
            <a:pPr lvl="1"/>
            <a:r>
              <a:rPr lang="fr-FR" dirty="0"/>
              <a:t>Utilisation du théorème d’al Kashi (donné en annexe)</a:t>
            </a:r>
          </a:p>
          <a:p>
            <a:pPr lvl="1"/>
            <a:r>
              <a:rPr lang="fr-FR" dirty="0"/>
              <a:t>Loi des angles dans un triangle</a:t>
            </a:r>
          </a:p>
          <a:p>
            <a:pPr lvl="1"/>
            <a:r>
              <a:rPr lang="fr-FR" dirty="0"/>
              <a:t>Lien entre le pas de la vis, l’angle du moteur et la longueur d’un coté du triangle</a:t>
            </a:r>
          </a:p>
          <a:p>
            <a:r>
              <a:rPr lang="fr-FR" dirty="0"/>
              <a:t>Activité 3: 1H Mesure expérimentale de cette loi</a:t>
            </a:r>
          </a:p>
          <a:p>
            <a:pPr lvl="1"/>
            <a:r>
              <a:rPr lang="fr-FR" dirty="0"/>
              <a:t>Relevé de l’angle du bras pour chaque tour réalisé entre 0 et 90°</a:t>
            </a:r>
          </a:p>
          <a:p>
            <a:pPr lvl="1"/>
            <a:r>
              <a:rPr lang="fr-FR" dirty="0"/>
              <a:t>Mesure des dimensions utiles de </a:t>
            </a:r>
            <a:r>
              <a:rPr lang="fr-FR" dirty="0" err="1"/>
              <a:t>MaxPID</a:t>
            </a:r>
            <a:endParaRPr lang="fr-FR" dirty="0"/>
          </a:p>
          <a:p>
            <a:pPr lvl="1"/>
            <a:r>
              <a:rPr lang="fr-FR" dirty="0"/>
              <a:t>Tracé sous Excel de ces points et de la formule qui ont trouvé précèdent</a:t>
            </a:r>
          </a:p>
          <a:p>
            <a:pPr lvl="1"/>
            <a:r>
              <a:rPr lang="fr-FR" dirty="0"/>
              <a:t>Comparaison entre les deux courbes</a:t>
            </a:r>
          </a:p>
        </p:txBody>
      </p:sp>
      <p:graphicFrame>
        <p:nvGraphicFramePr>
          <p:cNvPr id="5" name="Tableau 4">
            <a:extLst>
              <a:ext uri="{FF2B5EF4-FFF2-40B4-BE49-F238E27FC236}">
                <a16:creationId xmlns:a16="http://schemas.microsoft.com/office/drawing/2014/main" id="{9002D2D0-82B3-C4F9-2293-F5195D307B81}"/>
              </a:ext>
            </a:extLst>
          </p:cNvPr>
          <p:cNvGraphicFramePr>
            <a:graphicFrameLocks noGrp="1"/>
          </p:cNvGraphicFramePr>
          <p:nvPr>
            <p:extLst>
              <p:ext uri="{D42A27DB-BD31-4B8C-83A1-F6EECF244321}">
                <p14:modId xmlns:p14="http://schemas.microsoft.com/office/powerpoint/2010/main" val="3314574564"/>
              </p:ext>
            </p:extLst>
          </p:nvPr>
        </p:nvGraphicFramePr>
        <p:xfrm>
          <a:off x="5650593" y="133979"/>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dirty="0"/>
                        <a:t>TP7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tc>
                  <a:txBody>
                    <a:bodyPr/>
                    <a:lstStyle/>
                    <a:p>
                      <a:pPr algn="ctr"/>
                      <a:r>
                        <a:rPr lang="fr-FR" dirty="0"/>
                        <a:t>TP8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COURS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5967402"/>
                  </a:ext>
                </a:extLst>
              </a:tr>
            </a:tbl>
          </a:graphicData>
        </a:graphic>
      </p:graphicFrame>
    </p:spTree>
    <p:extLst>
      <p:ext uri="{BB962C8B-B14F-4D97-AF65-F5344CB8AC3E}">
        <p14:creationId xmlns:p14="http://schemas.microsoft.com/office/powerpoint/2010/main" val="25460179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B2212-8AF9-A0FF-7AFF-A290F133C9EF}"/>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327DD702-CDB1-3115-EC8A-973F5E0E20E7}"/>
              </a:ext>
            </a:extLst>
          </p:cNvPr>
          <p:cNvSpPr>
            <a:spLocks noGrp="1"/>
          </p:cNvSpPr>
          <p:nvPr>
            <p:ph type="sldNum" sz="quarter" idx="12"/>
          </p:nvPr>
        </p:nvSpPr>
        <p:spPr/>
        <p:txBody>
          <a:bodyPr/>
          <a:lstStyle/>
          <a:p>
            <a:fld id="{201A5C1E-DE71-4D99-BC1E-739595F062E0}" type="slidenum">
              <a:rPr lang="fr-FR" sz="2000" smtClean="0"/>
              <a:t>19</a:t>
            </a:fld>
            <a:r>
              <a:rPr lang="fr-FR" sz="2000" dirty="0"/>
              <a:t>/22</a:t>
            </a:r>
          </a:p>
        </p:txBody>
      </p:sp>
      <p:sp>
        <p:nvSpPr>
          <p:cNvPr id="4" name="Espace réservé du pied de page 3">
            <a:extLst>
              <a:ext uri="{FF2B5EF4-FFF2-40B4-BE49-F238E27FC236}">
                <a16:creationId xmlns:a16="http://schemas.microsoft.com/office/drawing/2014/main" id="{8B06C32F-E2D5-7F46-A565-514CBF7A37D9}"/>
              </a:ext>
            </a:extLst>
          </p:cNvPr>
          <p:cNvSpPr>
            <a:spLocks noGrp="1"/>
          </p:cNvSpPr>
          <p:nvPr>
            <p:ph type="ftr" sz="quarter" idx="11"/>
          </p:nvPr>
        </p:nvSpPr>
        <p:spPr/>
        <p:txBody>
          <a:bodyPr/>
          <a:lstStyle/>
          <a:p>
            <a:r>
              <a:rPr lang="fr-FR" sz="1600" dirty="0">
                <a:solidFill>
                  <a:schemeClr val="tx1"/>
                </a:solidFill>
              </a:rPr>
              <a:t>N° Arthur PREVISANI</a:t>
            </a:r>
          </a:p>
        </p:txBody>
      </p:sp>
      <p:sp>
        <p:nvSpPr>
          <p:cNvPr id="2" name="Titre 1">
            <a:extLst>
              <a:ext uri="{FF2B5EF4-FFF2-40B4-BE49-F238E27FC236}">
                <a16:creationId xmlns:a16="http://schemas.microsoft.com/office/drawing/2014/main" id="{48E38EF2-355C-BCF5-7661-8F048AA4EFDA}"/>
              </a:ext>
            </a:extLst>
          </p:cNvPr>
          <p:cNvSpPr>
            <a:spLocks noGrp="1"/>
          </p:cNvSpPr>
          <p:nvPr>
            <p:ph type="title"/>
          </p:nvPr>
        </p:nvSpPr>
        <p:spPr>
          <a:xfrm>
            <a:off x="838200" y="365125"/>
            <a:ext cx="10515600" cy="1325563"/>
          </a:xfrm>
        </p:spPr>
        <p:txBody>
          <a:bodyPr/>
          <a:lstStyle/>
          <a:p>
            <a:r>
              <a:rPr lang="fr-FR" dirty="0"/>
              <a:t>Activité 2: loi géométrique du bras</a:t>
            </a:r>
          </a:p>
        </p:txBody>
      </p:sp>
      <p:pic>
        <p:nvPicPr>
          <p:cNvPr id="3" name="Image 2">
            <a:extLst>
              <a:ext uri="{FF2B5EF4-FFF2-40B4-BE49-F238E27FC236}">
                <a16:creationId xmlns:a16="http://schemas.microsoft.com/office/drawing/2014/main" id="{71023314-25B6-C682-BFC0-A1B8E0AEF8C5}"/>
              </a:ext>
            </a:extLst>
          </p:cNvPr>
          <p:cNvPicPr>
            <a:picLocks noChangeAspect="1"/>
          </p:cNvPicPr>
          <p:nvPr/>
        </p:nvPicPr>
        <p:blipFill>
          <a:blip r:embed="rId3"/>
          <a:stretch>
            <a:fillRect/>
          </a:stretch>
        </p:blipFill>
        <p:spPr>
          <a:xfrm>
            <a:off x="5838438" y="1519204"/>
            <a:ext cx="5544324" cy="1771897"/>
          </a:xfrm>
          <a:prstGeom prst="rect">
            <a:avLst/>
          </a:prstGeom>
        </p:spPr>
      </p:pic>
      <p:sp>
        <p:nvSpPr>
          <p:cNvPr id="5" name="ZoneTexte 4">
            <a:extLst>
              <a:ext uri="{FF2B5EF4-FFF2-40B4-BE49-F238E27FC236}">
                <a16:creationId xmlns:a16="http://schemas.microsoft.com/office/drawing/2014/main" id="{0A9964BD-D9DE-0E47-3651-0F235B8D5970}"/>
              </a:ext>
            </a:extLst>
          </p:cNvPr>
          <p:cNvSpPr txBox="1"/>
          <p:nvPr/>
        </p:nvSpPr>
        <p:spPr>
          <a:xfrm>
            <a:off x="952500" y="2974788"/>
            <a:ext cx="4267200" cy="2677656"/>
          </a:xfrm>
          <a:prstGeom prst="rect">
            <a:avLst/>
          </a:prstGeom>
          <a:noFill/>
        </p:spPr>
        <p:txBody>
          <a:bodyPr wrap="square" rtlCol="0">
            <a:spAutoFit/>
          </a:bodyPr>
          <a:lstStyle/>
          <a:p>
            <a:r>
              <a:rPr lang="fr-FR" sz="2400" dirty="0"/>
              <a:t>Problèmes qui pourraient être rencontrés:</a:t>
            </a:r>
          </a:p>
          <a:p>
            <a:r>
              <a:rPr lang="fr-FR" sz="2400" dirty="0"/>
              <a:t>Compréhension de la formule d’al Kashi</a:t>
            </a:r>
          </a:p>
          <a:p>
            <a:r>
              <a:rPr lang="fr-FR" sz="2400" dirty="0"/>
              <a:t>Faire un point de cours la dessus</a:t>
            </a:r>
          </a:p>
          <a:p>
            <a:r>
              <a:rPr lang="fr-FR" sz="2400" dirty="0"/>
              <a:t>Repérer le triangle dans le système réel</a:t>
            </a:r>
          </a:p>
        </p:txBody>
      </p:sp>
      <p:grpSp>
        <p:nvGrpSpPr>
          <p:cNvPr id="6" name="Groupe 5">
            <a:extLst>
              <a:ext uri="{FF2B5EF4-FFF2-40B4-BE49-F238E27FC236}">
                <a16:creationId xmlns:a16="http://schemas.microsoft.com/office/drawing/2014/main" id="{BFAA0BDB-03F3-FD2E-421F-C66A23323511}"/>
              </a:ext>
            </a:extLst>
          </p:cNvPr>
          <p:cNvGrpSpPr/>
          <p:nvPr/>
        </p:nvGrpSpPr>
        <p:grpSpPr>
          <a:xfrm>
            <a:off x="8233564" y="3531544"/>
            <a:ext cx="2843376" cy="2448785"/>
            <a:chOff x="8081164" y="3429000"/>
            <a:chExt cx="2843376" cy="2448785"/>
          </a:xfrm>
        </p:grpSpPr>
        <p:pic>
          <p:nvPicPr>
            <p:cNvPr id="8" name="Image 7">
              <a:extLst>
                <a:ext uri="{FF2B5EF4-FFF2-40B4-BE49-F238E27FC236}">
                  <a16:creationId xmlns:a16="http://schemas.microsoft.com/office/drawing/2014/main" id="{017580AC-BCE2-DA28-326D-CD085D6C11B8}"/>
                </a:ext>
              </a:extLst>
            </p:cNvPr>
            <p:cNvPicPr>
              <a:picLocks noChangeAspect="1"/>
            </p:cNvPicPr>
            <p:nvPr/>
          </p:nvPicPr>
          <p:blipFill>
            <a:blip r:embed="rId4"/>
            <a:stretch>
              <a:fillRect/>
            </a:stretch>
          </p:blipFill>
          <p:spPr>
            <a:xfrm>
              <a:off x="8081164" y="3429000"/>
              <a:ext cx="2843376" cy="2448785"/>
            </a:xfrm>
            <a:prstGeom prst="rect">
              <a:avLst/>
            </a:prstGeom>
          </p:spPr>
        </p:pic>
        <p:cxnSp>
          <p:nvCxnSpPr>
            <p:cNvPr id="9" name="Connecteur droit 8">
              <a:extLst>
                <a:ext uri="{FF2B5EF4-FFF2-40B4-BE49-F238E27FC236}">
                  <a16:creationId xmlns:a16="http://schemas.microsoft.com/office/drawing/2014/main" id="{91DE0374-6243-51E2-B585-84C65569A819}"/>
                </a:ext>
              </a:extLst>
            </p:cNvPr>
            <p:cNvCxnSpPr>
              <a:cxnSpLocks/>
            </p:cNvCxnSpPr>
            <p:nvPr/>
          </p:nvCxnSpPr>
          <p:spPr>
            <a:xfrm>
              <a:off x="8543290" y="4419600"/>
              <a:ext cx="990600" cy="11303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aphicFrame>
        <p:nvGraphicFramePr>
          <p:cNvPr id="10" name="Tableau 9">
            <a:extLst>
              <a:ext uri="{FF2B5EF4-FFF2-40B4-BE49-F238E27FC236}">
                <a16:creationId xmlns:a16="http://schemas.microsoft.com/office/drawing/2014/main" id="{EA4978E2-1EEA-7352-201B-13753913AF6B}"/>
              </a:ext>
            </a:extLst>
          </p:cNvPr>
          <p:cNvGraphicFramePr>
            <a:graphicFrameLocks noGrp="1"/>
          </p:cNvGraphicFramePr>
          <p:nvPr>
            <p:extLst>
              <p:ext uri="{D42A27DB-BD31-4B8C-83A1-F6EECF244321}">
                <p14:modId xmlns:p14="http://schemas.microsoft.com/office/powerpoint/2010/main" val="3314574564"/>
              </p:ext>
            </p:extLst>
          </p:nvPr>
        </p:nvGraphicFramePr>
        <p:xfrm>
          <a:off x="5650593" y="133979"/>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dirty="0"/>
                        <a:t>TP7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tc>
                  <a:txBody>
                    <a:bodyPr/>
                    <a:lstStyle/>
                    <a:p>
                      <a:pPr algn="ctr"/>
                      <a:r>
                        <a:rPr lang="fr-FR" dirty="0"/>
                        <a:t>TP8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COURS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5967402"/>
                  </a:ext>
                </a:extLst>
              </a:tr>
            </a:tbl>
          </a:graphicData>
        </a:graphic>
      </p:graphicFrame>
    </p:spTree>
    <p:extLst>
      <p:ext uri="{BB962C8B-B14F-4D97-AF65-F5344CB8AC3E}">
        <p14:creationId xmlns:p14="http://schemas.microsoft.com/office/powerpoint/2010/main" val="30628782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DFA68-A557-9486-E0D9-ABDDDBE4B679}"/>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F40D9709-3E05-8C89-0F8D-8947A41FC831}"/>
              </a:ext>
            </a:extLst>
          </p:cNvPr>
          <p:cNvSpPr>
            <a:spLocks noGrp="1"/>
          </p:cNvSpPr>
          <p:nvPr>
            <p:ph type="sldNum" sz="quarter" idx="12"/>
          </p:nvPr>
        </p:nvSpPr>
        <p:spPr/>
        <p:txBody>
          <a:bodyPr/>
          <a:lstStyle/>
          <a:p>
            <a:fld id="{201A5C1E-DE71-4D99-BC1E-739595F062E0}" type="slidenum">
              <a:rPr lang="fr-FR" sz="2000" smtClean="0"/>
              <a:t>20</a:t>
            </a:fld>
            <a:r>
              <a:rPr lang="fr-FR" sz="2000" dirty="0"/>
              <a:t>/22</a:t>
            </a:r>
          </a:p>
        </p:txBody>
      </p:sp>
      <p:sp>
        <p:nvSpPr>
          <p:cNvPr id="4" name="Espace réservé du pied de page 3">
            <a:extLst>
              <a:ext uri="{FF2B5EF4-FFF2-40B4-BE49-F238E27FC236}">
                <a16:creationId xmlns:a16="http://schemas.microsoft.com/office/drawing/2014/main" id="{FCF97F30-85D3-0D3E-FFDC-EDF2BE4A7B6B}"/>
              </a:ext>
            </a:extLst>
          </p:cNvPr>
          <p:cNvSpPr>
            <a:spLocks noGrp="1"/>
          </p:cNvSpPr>
          <p:nvPr>
            <p:ph type="ftr" sz="quarter" idx="11"/>
          </p:nvPr>
        </p:nvSpPr>
        <p:spPr/>
        <p:txBody>
          <a:bodyPr/>
          <a:lstStyle/>
          <a:p>
            <a:r>
              <a:rPr lang="fr-FR" sz="1600" dirty="0">
                <a:solidFill>
                  <a:schemeClr val="tx1"/>
                </a:solidFill>
              </a:rPr>
              <a:t>N° Arthur PREVISANI</a:t>
            </a:r>
          </a:p>
        </p:txBody>
      </p:sp>
      <p:sp>
        <p:nvSpPr>
          <p:cNvPr id="2" name="Titre 1">
            <a:extLst>
              <a:ext uri="{FF2B5EF4-FFF2-40B4-BE49-F238E27FC236}">
                <a16:creationId xmlns:a16="http://schemas.microsoft.com/office/drawing/2014/main" id="{A0DF4E2E-DF75-0D64-3FCB-AEED24268936}"/>
              </a:ext>
            </a:extLst>
          </p:cNvPr>
          <p:cNvSpPr>
            <a:spLocks noGrp="1"/>
          </p:cNvSpPr>
          <p:nvPr>
            <p:ph type="title"/>
          </p:nvPr>
        </p:nvSpPr>
        <p:spPr>
          <a:xfrm>
            <a:off x="838200" y="365125"/>
            <a:ext cx="10515600" cy="1325563"/>
          </a:xfrm>
        </p:spPr>
        <p:txBody>
          <a:bodyPr/>
          <a:lstStyle/>
          <a:p>
            <a:r>
              <a:rPr lang="fr-FR" dirty="0"/>
              <a:t>Activité 3: mesure expérimentale de la loi</a:t>
            </a:r>
          </a:p>
        </p:txBody>
      </p:sp>
      <p:sp>
        <p:nvSpPr>
          <p:cNvPr id="3" name="ZoneTexte 2">
            <a:extLst>
              <a:ext uri="{FF2B5EF4-FFF2-40B4-BE49-F238E27FC236}">
                <a16:creationId xmlns:a16="http://schemas.microsoft.com/office/drawing/2014/main" id="{8C80F5AD-46A7-EE65-A6F4-E40ED72A2C74}"/>
              </a:ext>
            </a:extLst>
          </p:cNvPr>
          <p:cNvSpPr txBox="1"/>
          <p:nvPr/>
        </p:nvSpPr>
        <p:spPr>
          <a:xfrm>
            <a:off x="838200" y="1732190"/>
            <a:ext cx="6999514" cy="4093428"/>
          </a:xfrm>
          <a:prstGeom prst="rect">
            <a:avLst/>
          </a:prstGeom>
          <a:noFill/>
        </p:spPr>
        <p:txBody>
          <a:bodyPr wrap="square" rtlCol="0">
            <a:spAutoFit/>
          </a:bodyPr>
          <a:lstStyle/>
          <a:p>
            <a:r>
              <a:rPr lang="fr-FR" sz="2400" dirty="0"/>
              <a:t>Protocole: Faire tourner la vis a la main, tour par tour, et relever l’angle du bras ainsi que le nombre de tours moteurs dans un tableur Excel.</a:t>
            </a:r>
          </a:p>
          <a:p>
            <a:r>
              <a:rPr lang="fr-FR" sz="2400" dirty="0"/>
              <a:t>Tracez la courbe liant l’angle du bras de </a:t>
            </a:r>
            <a:r>
              <a:rPr lang="fr-FR" sz="2400" dirty="0" err="1"/>
              <a:t>MaxPID</a:t>
            </a:r>
            <a:r>
              <a:rPr lang="fr-FR" sz="2400" dirty="0"/>
              <a:t> en fonction du nombre de tours moteurs.</a:t>
            </a:r>
          </a:p>
          <a:p>
            <a:r>
              <a:rPr lang="fr-FR" sz="2400" dirty="0"/>
              <a:t>Tracez aussi cette courbe avec la formule trouvée dans la partie précédente en mesurant sur </a:t>
            </a:r>
            <a:r>
              <a:rPr lang="fr-FR" sz="2400" dirty="0" err="1"/>
              <a:t>MaxPID</a:t>
            </a:r>
            <a:r>
              <a:rPr lang="fr-FR" sz="2400" dirty="0"/>
              <a:t> les distances nécessaires </a:t>
            </a:r>
          </a:p>
          <a:p>
            <a:r>
              <a:rPr lang="fr-FR" sz="2400" dirty="0"/>
              <a:t>Superposez les deux courbes et comparez les résultats obtenus.</a:t>
            </a:r>
          </a:p>
          <a:p>
            <a:endParaRPr lang="fr-FR" sz="2000" dirty="0"/>
          </a:p>
        </p:txBody>
      </p:sp>
      <p:graphicFrame>
        <p:nvGraphicFramePr>
          <p:cNvPr id="5" name="Tableau 4">
            <a:extLst>
              <a:ext uri="{FF2B5EF4-FFF2-40B4-BE49-F238E27FC236}">
                <a16:creationId xmlns:a16="http://schemas.microsoft.com/office/drawing/2014/main" id="{21EA7C23-40AB-11B4-7737-9B39274FFA38}"/>
              </a:ext>
            </a:extLst>
          </p:cNvPr>
          <p:cNvGraphicFramePr>
            <a:graphicFrameLocks noGrp="1"/>
          </p:cNvGraphicFramePr>
          <p:nvPr>
            <p:extLst>
              <p:ext uri="{D42A27DB-BD31-4B8C-83A1-F6EECF244321}">
                <p14:modId xmlns:p14="http://schemas.microsoft.com/office/powerpoint/2010/main" val="3314574564"/>
              </p:ext>
            </p:extLst>
          </p:nvPr>
        </p:nvGraphicFramePr>
        <p:xfrm>
          <a:off x="5650593" y="133979"/>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dirty="0"/>
                        <a:t>TP7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tc>
                  <a:txBody>
                    <a:bodyPr/>
                    <a:lstStyle/>
                    <a:p>
                      <a:pPr algn="ctr"/>
                      <a:r>
                        <a:rPr lang="fr-FR" dirty="0"/>
                        <a:t>TP8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COURS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5967402"/>
                  </a:ext>
                </a:extLst>
              </a:tr>
            </a:tbl>
          </a:graphicData>
        </a:graphic>
      </p:graphicFrame>
    </p:spTree>
    <p:extLst>
      <p:ext uri="{BB962C8B-B14F-4D97-AF65-F5344CB8AC3E}">
        <p14:creationId xmlns:p14="http://schemas.microsoft.com/office/powerpoint/2010/main" val="15378087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D5F5C5-1A2D-BAD3-39C4-9E8E034DF9B9}"/>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44F7E20A-702A-5801-BAAD-FD10CA999FC5}"/>
              </a:ext>
            </a:extLst>
          </p:cNvPr>
          <p:cNvSpPr>
            <a:spLocks noGrp="1"/>
          </p:cNvSpPr>
          <p:nvPr>
            <p:ph type="sldNum" sz="quarter" idx="12"/>
          </p:nvPr>
        </p:nvSpPr>
        <p:spPr/>
        <p:txBody>
          <a:bodyPr/>
          <a:lstStyle/>
          <a:p>
            <a:fld id="{201A5C1E-DE71-4D99-BC1E-739595F062E0}" type="slidenum">
              <a:rPr lang="fr-FR" sz="2000" smtClean="0"/>
              <a:t>21</a:t>
            </a:fld>
            <a:r>
              <a:rPr lang="fr-FR" sz="2000" dirty="0"/>
              <a:t>/22</a:t>
            </a:r>
          </a:p>
        </p:txBody>
      </p:sp>
      <p:sp>
        <p:nvSpPr>
          <p:cNvPr id="4" name="Espace réservé du pied de page 3">
            <a:extLst>
              <a:ext uri="{FF2B5EF4-FFF2-40B4-BE49-F238E27FC236}">
                <a16:creationId xmlns:a16="http://schemas.microsoft.com/office/drawing/2014/main" id="{0B8584A5-3F87-2596-1FF5-6A5D6BAB6EC2}"/>
              </a:ext>
            </a:extLst>
          </p:cNvPr>
          <p:cNvSpPr>
            <a:spLocks noGrp="1"/>
          </p:cNvSpPr>
          <p:nvPr>
            <p:ph type="ftr" sz="quarter" idx="11"/>
          </p:nvPr>
        </p:nvSpPr>
        <p:spPr/>
        <p:txBody>
          <a:bodyPr/>
          <a:lstStyle/>
          <a:p>
            <a:r>
              <a:rPr lang="fr-FR" sz="1600" dirty="0">
                <a:solidFill>
                  <a:schemeClr val="tx1"/>
                </a:solidFill>
              </a:rPr>
              <a:t>N° Arthur PREVISANI</a:t>
            </a:r>
          </a:p>
        </p:txBody>
      </p:sp>
      <p:sp>
        <p:nvSpPr>
          <p:cNvPr id="2" name="Titre 1">
            <a:extLst>
              <a:ext uri="{FF2B5EF4-FFF2-40B4-BE49-F238E27FC236}">
                <a16:creationId xmlns:a16="http://schemas.microsoft.com/office/drawing/2014/main" id="{6DED6F45-A000-2030-8673-3DD4CA7FFCB7}"/>
              </a:ext>
            </a:extLst>
          </p:cNvPr>
          <p:cNvSpPr>
            <a:spLocks noGrp="1"/>
          </p:cNvSpPr>
          <p:nvPr>
            <p:ph type="title"/>
          </p:nvPr>
        </p:nvSpPr>
        <p:spPr>
          <a:xfrm>
            <a:off x="622300" y="136525"/>
            <a:ext cx="10731500" cy="1325563"/>
          </a:xfrm>
        </p:spPr>
        <p:txBody>
          <a:bodyPr/>
          <a:lstStyle/>
          <a:p>
            <a:r>
              <a:rPr lang="fr-FR" dirty="0"/>
              <a:t>Activité 3: Mesure expérimentale: résultats:</a:t>
            </a:r>
          </a:p>
        </p:txBody>
      </p:sp>
      <p:graphicFrame>
        <p:nvGraphicFramePr>
          <p:cNvPr id="3" name="Graphique 2">
            <a:extLst>
              <a:ext uri="{FF2B5EF4-FFF2-40B4-BE49-F238E27FC236}">
                <a16:creationId xmlns:a16="http://schemas.microsoft.com/office/drawing/2014/main" id="{C2CF9E6B-9843-B701-C9A1-048E623C39C6}"/>
              </a:ext>
            </a:extLst>
          </p:cNvPr>
          <p:cNvGraphicFramePr>
            <a:graphicFrameLocks/>
          </p:cNvGraphicFramePr>
          <p:nvPr>
            <p:extLst>
              <p:ext uri="{D42A27DB-BD31-4B8C-83A1-F6EECF244321}">
                <p14:modId xmlns:p14="http://schemas.microsoft.com/office/powerpoint/2010/main" val="2645508866"/>
              </p:ext>
            </p:extLst>
          </p:nvPr>
        </p:nvGraphicFramePr>
        <p:xfrm>
          <a:off x="4013200" y="1311691"/>
          <a:ext cx="6921500" cy="4900612"/>
        </p:xfrm>
        <a:graphic>
          <a:graphicData uri="http://schemas.openxmlformats.org/drawingml/2006/chart">
            <c:chart xmlns:c="http://schemas.openxmlformats.org/drawingml/2006/chart" xmlns:r="http://schemas.openxmlformats.org/officeDocument/2006/relationships" r:id="rId3"/>
          </a:graphicData>
        </a:graphic>
      </p:graphicFrame>
      <p:pic>
        <p:nvPicPr>
          <p:cNvPr id="5" name="Image 4">
            <a:extLst>
              <a:ext uri="{FF2B5EF4-FFF2-40B4-BE49-F238E27FC236}">
                <a16:creationId xmlns:a16="http://schemas.microsoft.com/office/drawing/2014/main" id="{10A4B9F8-2D94-E9D6-236D-59846A79F707}"/>
              </a:ext>
            </a:extLst>
          </p:cNvPr>
          <p:cNvPicPr>
            <a:picLocks noChangeAspect="1"/>
          </p:cNvPicPr>
          <p:nvPr/>
        </p:nvPicPr>
        <p:blipFill>
          <a:blip r:embed="rId4"/>
          <a:stretch>
            <a:fillRect/>
          </a:stretch>
        </p:blipFill>
        <p:spPr>
          <a:xfrm>
            <a:off x="953924" y="1061283"/>
            <a:ext cx="2333951" cy="5401429"/>
          </a:xfrm>
          <a:prstGeom prst="rect">
            <a:avLst/>
          </a:prstGeom>
        </p:spPr>
      </p:pic>
      <p:graphicFrame>
        <p:nvGraphicFramePr>
          <p:cNvPr id="6" name="Tableau 5">
            <a:extLst>
              <a:ext uri="{FF2B5EF4-FFF2-40B4-BE49-F238E27FC236}">
                <a16:creationId xmlns:a16="http://schemas.microsoft.com/office/drawing/2014/main" id="{6D14C5F5-CD5E-4300-ED16-C87BA30FCCCD}"/>
              </a:ext>
            </a:extLst>
          </p:cNvPr>
          <p:cNvGraphicFramePr>
            <a:graphicFrameLocks noGrp="1"/>
          </p:cNvGraphicFramePr>
          <p:nvPr>
            <p:extLst>
              <p:ext uri="{D42A27DB-BD31-4B8C-83A1-F6EECF244321}">
                <p14:modId xmlns:p14="http://schemas.microsoft.com/office/powerpoint/2010/main" val="3314574564"/>
              </p:ext>
            </p:extLst>
          </p:nvPr>
        </p:nvGraphicFramePr>
        <p:xfrm>
          <a:off x="5650593" y="133979"/>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dirty="0"/>
                        <a:t>TP7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tc>
                  <a:txBody>
                    <a:bodyPr/>
                    <a:lstStyle/>
                    <a:p>
                      <a:pPr algn="ctr"/>
                      <a:r>
                        <a:rPr lang="fr-FR" dirty="0"/>
                        <a:t>TP8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COURS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5967402"/>
                  </a:ext>
                </a:extLst>
              </a:tr>
            </a:tbl>
          </a:graphicData>
        </a:graphic>
      </p:graphicFrame>
    </p:spTree>
    <p:extLst>
      <p:ext uri="{BB962C8B-B14F-4D97-AF65-F5344CB8AC3E}">
        <p14:creationId xmlns:p14="http://schemas.microsoft.com/office/powerpoint/2010/main" val="9069125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F18F6-5FDC-97A4-6AAE-0CD62327EC8B}"/>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9D293AB7-A2AD-301E-82A1-51E3FBFE9982}"/>
              </a:ext>
            </a:extLst>
          </p:cNvPr>
          <p:cNvSpPr>
            <a:spLocks noGrp="1"/>
          </p:cNvSpPr>
          <p:nvPr>
            <p:ph type="sldNum" sz="quarter" idx="12"/>
          </p:nvPr>
        </p:nvSpPr>
        <p:spPr/>
        <p:txBody>
          <a:bodyPr/>
          <a:lstStyle/>
          <a:p>
            <a:fld id="{201A5C1E-DE71-4D99-BC1E-739595F062E0}" type="slidenum">
              <a:rPr lang="fr-FR" sz="2000" smtClean="0"/>
              <a:t>22</a:t>
            </a:fld>
            <a:r>
              <a:rPr lang="fr-FR" sz="2000" dirty="0"/>
              <a:t>/22</a:t>
            </a:r>
          </a:p>
        </p:txBody>
      </p:sp>
      <p:sp>
        <p:nvSpPr>
          <p:cNvPr id="4" name="Espace réservé du pied de page 3">
            <a:extLst>
              <a:ext uri="{FF2B5EF4-FFF2-40B4-BE49-F238E27FC236}">
                <a16:creationId xmlns:a16="http://schemas.microsoft.com/office/drawing/2014/main" id="{C5ACC104-D149-6DCF-DADB-626BA231B253}"/>
              </a:ext>
            </a:extLst>
          </p:cNvPr>
          <p:cNvSpPr>
            <a:spLocks noGrp="1"/>
          </p:cNvSpPr>
          <p:nvPr>
            <p:ph type="ftr" sz="quarter" idx="11"/>
          </p:nvPr>
        </p:nvSpPr>
        <p:spPr/>
        <p:txBody>
          <a:bodyPr/>
          <a:lstStyle/>
          <a:p>
            <a:r>
              <a:rPr lang="fr-FR" sz="1600" dirty="0">
                <a:solidFill>
                  <a:schemeClr val="tx1"/>
                </a:solidFill>
              </a:rPr>
              <a:t>N° Arthur PREVISANI</a:t>
            </a:r>
          </a:p>
        </p:txBody>
      </p:sp>
      <p:sp>
        <p:nvSpPr>
          <p:cNvPr id="2" name="Titre 1">
            <a:extLst>
              <a:ext uri="{FF2B5EF4-FFF2-40B4-BE49-F238E27FC236}">
                <a16:creationId xmlns:a16="http://schemas.microsoft.com/office/drawing/2014/main" id="{01E8DD93-F37D-3481-DFC4-B32C851949F2}"/>
              </a:ext>
            </a:extLst>
          </p:cNvPr>
          <p:cNvSpPr>
            <a:spLocks noGrp="1"/>
          </p:cNvSpPr>
          <p:nvPr>
            <p:ph type="title"/>
          </p:nvPr>
        </p:nvSpPr>
        <p:spPr>
          <a:xfrm>
            <a:off x="838200" y="365125"/>
            <a:ext cx="10515600" cy="1325563"/>
          </a:xfrm>
        </p:spPr>
        <p:txBody>
          <a:bodyPr/>
          <a:lstStyle/>
          <a:p>
            <a:r>
              <a:rPr lang="fr-FR" dirty="0"/>
              <a:t>Conclusion du TP</a:t>
            </a:r>
          </a:p>
        </p:txBody>
      </p:sp>
      <p:sp>
        <p:nvSpPr>
          <p:cNvPr id="3" name="ZoneTexte 2">
            <a:extLst>
              <a:ext uri="{FF2B5EF4-FFF2-40B4-BE49-F238E27FC236}">
                <a16:creationId xmlns:a16="http://schemas.microsoft.com/office/drawing/2014/main" id="{F028A2C5-0883-86B7-C4A2-21D69161919C}"/>
              </a:ext>
            </a:extLst>
          </p:cNvPr>
          <p:cNvSpPr txBox="1"/>
          <p:nvPr/>
        </p:nvSpPr>
        <p:spPr>
          <a:xfrm>
            <a:off x="1638300" y="2628851"/>
            <a:ext cx="8915400" cy="2246769"/>
          </a:xfrm>
          <a:prstGeom prst="rect">
            <a:avLst/>
          </a:prstGeom>
          <a:noFill/>
        </p:spPr>
        <p:txBody>
          <a:bodyPr wrap="square" rtlCol="0">
            <a:spAutoFit/>
          </a:bodyPr>
          <a:lstStyle/>
          <a:p>
            <a:r>
              <a:rPr lang="fr-FR" sz="2800" dirty="0"/>
              <a:t>A permis de leur monter le fait que l’on peut retrouver par le calcul le lien entre deux grandeurs dans un système plan articulé et que de manière équivalente, on peut aussi la mesurer</a:t>
            </a:r>
          </a:p>
          <a:p>
            <a:endParaRPr lang="fr-FR" sz="2800" dirty="0"/>
          </a:p>
        </p:txBody>
      </p:sp>
      <p:graphicFrame>
        <p:nvGraphicFramePr>
          <p:cNvPr id="5" name="Tableau 4">
            <a:extLst>
              <a:ext uri="{FF2B5EF4-FFF2-40B4-BE49-F238E27FC236}">
                <a16:creationId xmlns:a16="http://schemas.microsoft.com/office/drawing/2014/main" id="{68914B71-A9AE-52C5-81B2-8CBF7F5A888D}"/>
              </a:ext>
            </a:extLst>
          </p:cNvPr>
          <p:cNvGraphicFramePr>
            <a:graphicFrameLocks noGrp="1"/>
          </p:cNvGraphicFramePr>
          <p:nvPr>
            <p:extLst>
              <p:ext uri="{D42A27DB-BD31-4B8C-83A1-F6EECF244321}">
                <p14:modId xmlns:p14="http://schemas.microsoft.com/office/powerpoint/2010/main" val="3314574564"/>
              </p:ext>
            </p:extLst>
          </p:nvPr>
        </p:nvGraphicFramePr>
        <p:xfrm>
          <a:off x="5650593" y="133979"/>
          <a:ext cx="5920014" cy="370840"/>
        </p:xfrm>
        <a:graphic>
          <a:graphicData uri="http://schemas.openxmlformats.org/drawingml/2006/table">
            <a:tbl>
              <a:tblPr firstRow="1" bandRow="1">
                <a:tableStyleId>{2D5ABB26-0587-4C30-8999-92F81FD0307C}</a:tableStyleId>
              </a:tblPr>
              <a:tblGrid>
                <a:gridCol w="1557528">
                  <a:extLst>
                    <a:ext uri="{9D8B030D-6E8A-4147-A177-3AD203B41FA5}">
                      <a16:colId xmlns:a16="http://schemas.microsoft.com/office/drawing/2014/main" val="3768321597"/>
                    </a:ext>
                  </a:extLst>
                </a:gridCol>
                <a:gridCol w="755688">
                  <a:extLst>
                    <a:ext uri="{9D8B030D-6E8A-4147-A177-3AD203B41FA5}">
                      <a16:colId xmlns:a16="http://schemas.microsoft.com/office/drawing/2014/main" val="603146100"/>
                    </a:ext>
                  </a:extLst>
                </a:gridCol>
                <a:gridCol w="838200">
                  <a:extLst>
                    <a:ext uri="{9D8B030D-6E8A-4147-A177-3AD203B41FA5}">
                      <a16:colId xmlns:a16="http://schemas.microsoft.com/office/drawing/2014/main" val="2202000248"/>
                    </a:ext>
                  </a:extLst>
                </a:gridCol>
                <a:gridCol w="1104900">
                  <a:extLst>
                    <a:ext uri="{9D8B030D-6E8A-4147-A177-3AD203B41FA5}">
                      <a16:colId xmlns:a16="http://schemas.microsoft.com/office/drawing/2014/main" val="2237200760"/>
                    </a:ext>
                  </a:extLst>
                </a:gridCol>
                <a:gridCol w="1087596">
                  <a:extLst>
                    <a:ext uri="{9D8B030D-6E8A-4147-A177-3AD203B41FA5}">
                      <a16:colId xmlns:a16="http://schemas.microsoft.com/office/drawing/2014/main" val="2538769403"/>
                    </a:ext>
                  </a:extLst>
                </a:gridCol>
                <a:gridCol w="576102">
                  <a:extLst>
                    <a:ext uri="{9D8B030D-6E8A-4147-A177-3AD203B41FA5}">
                      <a16:colId xmlns:a16="http://schemas.microsoft.com/office/drawing/2014/main" val="1791742753"/>
                    </a:ext>
                  </a:extLst>
                </a:gridCol>
              </a:tblGrid>
              <a:tr h="370840">
                <a:tc>
                  <a:txBody>
                    <a:bodyPr/>
                    <a:lstStyle/>
                    <a:p>
                      <a:pPr algn="ctr"/>
                      <a:r>
                        <a:rPr lang="fr-FR" dirty="0"/>
                        <a:t>Semaine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TD3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dirty="0"/>
                        <a:t>TP7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BB9"/>
                    </a:solidFill>
                  </a:tcPr>
                </a:tc>
                <a:tc>
                  <a:txBody>
                    <a:bodyPr/>
                    <a:lstStyle/>
                    <a:p>
                      <a:pPr algn="ctr"/>
                      <a:r>
                        <a:rPr lang="fr-FR" dirty="0"/>
                        <a:t>TP8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COURS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dirty="0"/>
                        <a:t>TP9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5967402"/>
                  </a:ext>
                </a:extLst>
              </a:tr>
            </a:tbl>
          </a:graphicData>
        </a:graphic>
      </p:graphicFrame>
    </p:spTree>
    <p:extLst>
      <p:ext uri="{BB962C8B-B14F-4D97-AF65-F5344CB8AC3E}">
        <p14:creationId xmlns:p14="http://schemas.microsoft.com/office/powerpoint/2010/main" val="30284141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4E73848-1DDC-C86D-4897-50BA36860424}"/>
              </a:ext>
            </a:extLst>
          </p:cNvPr>
          <p:cNvSpPr>
            <a:spLocks noGrp="1"/>
          </p:cNvSpPr>
          <p:nvPr>
            <p:ph type="title"/>
          </p:nvPr>
        </p:nvSpPr>
        <p:spPr/>
        <p:txBody>
          <a:bodyPr/>
          <a:lstStyle/>
          <a:p>
            <a:r>
              <a:rPr lang="fr-FR" dirty="0"/>
              <a:t>Conclusion de la séquence</a:t>
            </a:r>
          </a:p>
        </p:txBody>
      </p:sp>
      <p:sp>
        <p:nvSpPr>
          <p:cNvPr id="4" name="Espace réservé du numéro de diapositive 3">
            <a:extLst>
              <a:ext uri="{FF2B5EF4-FFF2-40B4-BE49-F238E27FC236}">
                <a16:creationId xmlns:a16="http://schemas.microsoft.com/office/drawing/2014/main" id="{8937FC83-8E1F-123D-5446-A6D19C5AB040}"/>
              </a:ext>
            </a:extLst>
          </p:cNvPr>
          <p:cNvSpPr>
            <a:spLocks noGrp="1"/>
          </p:cNvSpPr>
          <p:nvPr>
            <p:ph type="sldNum" sz="quarter" idx="12"/>
          </p:nvPr>
        </p:nvSpPr>
        <p:spPr/>
        <p:txBody>
          <a:bodyPr/>
          <a:lstStyle/>
          <a:p>
            <a:fld id="{201A5C1E-DE71-4D99-BC1E-739595F062E0}" type="slidenum">
              <a:rPr lang="fr-FR" sz="2000" smtClean="0"/>
              <a:t>23</a:t>
            </a:fld>
            <a:r>
              <a:rPr lang="fr-FR" sz="2000" dirty="0"/>
              <a:t>/21</a:t>
            </a:r>
            <a:endParaRPr lang="fr-FR" dirty="0"/>
          </a:p>
        </p:txBody>
      </p:sp>
      <p:sp>
        <p:nvSpPr>
          <p:cNvPr id="9" name="Espace réservé du pied de page 8">
            <a:extLst>
              <a:ext uri="{FF2B5EF4-FFF2-40B4-BE49-F238E27FC236}">
                <a16:creationId xmlns:a16="http://schemas.microsoft.com/office/drawing/2014/main" id="{3A58C7D3-A1E5-3549-4086-21825BCDCCCA}"/>
              </a:ext>
            </a:extLst>
          </p:cNvPr>
          <p:cNvSpPr>
            <a:spLocks noGrp="1"/>
          </p:cNvSpPr>
          <p:nvPr>
            <p:ph type="ftr" sz="quarter" idx="11"/>
          </p:nvPr>
        </p:nvSpPr>
        <p:spPr>
          <a:xfrm>
            <a:off x="4038599" y="6492875"/>
            <a:ext cx="4114800" cy="365125"/>
          </a:xfrm>
        </p:spPr>
        <p:txBody>
          <a:bodyPr/>
          <a:lstStyle/>
          <a:p>
            <a:r>
              <a:rPr lang="fr-FR" sz="1600" dirty="0">
                <a:solidFill>
                  <a:schemeClr val="tx1"/>
                </a:solidFill>
              </a:rPr>
              <a:t>N° Arthur PREVISANI</a:t>
            </a:r>
          </a:p>
        </p:txBody>
      </p:sp>
      <p:graphicFrame>
        <p:nvGraphicFramePr>
          <p:cNvPr id="10" name="Tableau 9">
            <a:extLst>
              <a:ext uri="{FF2B5EF4-FFF2-40B4-BE49-F238E27FC236}">
                <a16:creationId xmlns:a16="http://schemas.microsoft.com/office/drawing/2014/main" id="{38647AC5-F87E-308F-E144-56EBAF8CB54F}"/>
              </a:ext>
            </a:extLst>
          </p:cNvPr>
          <p:cNvGraphicFramePr>
            <a:graphicFrameLocks noGrp="1"/>
          </p:cNvGraphicFramePr>
          <p:nvPr/>
        </p:nvGraphicFramePr>
        <p:xfrm>
          <a:off x="631371" y="1981715"/>
          <a:ext cx="10383764" cy="3474720"/>
        </p:xfrm>
        <a:graphic>
          <a:graphicData uri="http://schemas.openxmlformats.org/drawingml/2006/table">
            <a:tbl>
              <a:tblPr firstRow="1" bandRow="1">
                <a:tableStyleId>{2D5ABB26-0587-4C30-8999-92F81FD0307C}</a:tableStyleId>
              </a:tblPr>
              <a:tblGrid>
                <a:gridCol w="1516743">
                  <a:extLst>
                    <a:ext uri="{9D8B030D-6E8A-4147-A177-3AD203B41FA5}">
                      <a16:colId xmlns:a16="http://schemas.microsoft.com/office/drawing/2014/main" val="510414834"/>
                    </a:ext>
                  </a:extLst>
                </a:gridCol>
                <a:gridCol w="1814286">
                  <a:extLst>
                    <a:ext uri="{9D8B030D-6E8A-4147-A177-3AD203B41FA5}">
                      <a16:colId xmlns:a16="http://schemas.microsoft.com/office/drawing/2014/main" val="477646523"/>
                    </a:ext>
                  </a:extLst>
                </a:gridCol>
                <a:gridCol w="1712686">
                  <a:extLst>
                    <a:ext uri="{9D8B030D-6E8A-4147-A177-3AD203B41FA5}">
                      <a16:colId xmlns:a16="http://schemas.microsoft.com/office/drawing/2014/main" val="2362536329"/>
                    </a:ext>
                  </a:extLst>
                </a:gridCol>
                <a:gridCol w="2206171">
                  <a:extLst>
                    <a:ext uri="{9D8B030D-6E8A-4147-A177-3AD203B41FA5}">
                      <a16:colId xmlns:a16="http://schemas.microsoft.com/office/drawing/2014/main" val="1517061753"/>
                    </a:ext>
                  </a:extLst>
                </a:gridCol>
                <a:gridCol w="1727200">
                  <a:extLst>
                    <a:ext uri="{9D8B030D-6E8A-4147-A177-3AD203B41FA5}">
                      <a16:colId xmlns:a16="http://schemas.microsoft.com/office/drawing/2014/main" val="3565309784"/>
                    </a:ext>
                  </a:extLst>
                </a:gridCol>
                <a:gridCol w="1406678">
                  <a:extLst>
                    <a:ext uri="{9D8B030D-6E8A-4147-A177-3AD203B41FA5}">
                      <a16:colId xmlns:a16="http://schemas.microsoft.com/office/drawing/2014/main" val="4233430214"/>
                    </a:ext>
                  </a:extLst>
                </a:gridCol>
              </a:tblGrid>
              <a:tr h="589981">
                <a:tc>
                  <a:txBody>
                    <a:bodyPr/>
                    <a:lstStyle/>
                    <a:p>
                      <a:pPr algn="ctr"/>
                      <a:r>
                        <a:rPr lang="fr-FR" sz="2400" b="0" dirty="0"/>
                        <a:t>Semaine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sz="2400" dirty="0"/>
                        <a:t>Cours 1 </a:t>
                      </a:r>
                    </a:p>
                    <a:p>
                      <a:pPr algn="ctr"/>
                      <a:r>
                        <a:rPr lang="fr-FR" sz="2400" dirty="0"/>
                        <a:t>Introduction concept de résistance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2400" dirty="0"/>
                        <a:t>TP1 </a:t>
                      </a:r>
                    </a:p>
                    <a:p>
                      <a:pPr marL="0" marR="0" lvl="0" indent="0" algn="ctr" defTabSz="914400" rtl="0" eaLnBrk="1" fontAlgn="auto" latinLnBrk="0" hangingPunct="1">
                        <a:lnSpc>
                          <a:spcPct val="100000"/>
                        </a:lnSpc>
                        <a:spcBef>
                          <a:spcPts val="0"/>
                        </a:spcBef>
                        <a:spcAft>
                          <a:spcPts val="0"/>
                        </a:spcAft>
                        <a:buClrTx/>
                        <a:buSzTx/>
                        <a:buFontTx/>
                        <a:buNone/>
                        <a:tabLst/>
                        <a:defRPr/>
                      </a:pPr>
                      <a:r>
                        <a:rPr lang="fr-FR" sz="2400" dirty="0"/>
                        <a:t>Découverte Re, </a:t>
                      </a:r>
                      <a:r>
                        <a:rPr lang="fr-FR" sz="2400" dirty="0" err="1"/>
                        <a:t>Rm</a:t>
                      </a:r>
                      <a:endParaRPr lang="fr-FR" sz="2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fr-FR" sz="2400" dirty="0"/>
                        <a:t>TD1 </a:t>
                      </a:r>
                    </a:p>
                    <a:p>
                      <a:pPr algn="ctr"/>
                      <a:r>
                        <a:rPr lang="fr-FR" sz="2400" dirty="0"/>
                        <a:t>Quizz</a:t>
                      </a:r>
                    </a:p>
                    <a:p>
                      <a:pPr algn="ctr"/>
                      <a:r>
                        <a:rPr lang="fr-FR" sz="2400" dirty="0"/>
                        <a:t>Essai normalisé </a:t>
                      </a:r>
                    </a:p>
                    <a:p>
                      <a:pPr algn="ctr"/>
                      <a:r>
                        <a:rPr lang="fr-FR" sz="2400" dirty="0"/>
                        <a:t>caractéristiques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fr-FR" sz="2400" dirty="0"/>
                        <a:t>TP2</a:t>
                      </a:r>
                    </a:p>
                    <a:p>
                      <a:pPr algn="ctr"/>
                      <a:r>
                        <a:rPr lang="fr-FR" sz="2400" dirty="0"/>
                        <a:t>Lien matériau résistance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sz="2400" dirty="0"/>
                        <a:t>TP3</a:t>
                      </a:r>
                    </a:p>
                    <a:p>
                      <a:pPr algn="ctr"/>
                      <a:r>
                        <a:rPr lang="fr-FR" sz="2400" dirty="0"/>
                        <a:t>Suite + oral et CR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4558022"/>
                  </a:ext>
                </a:extLst>
              </a:tr>
              <a:tr h="0">
                <a:tc>
                  <a:txBody>
                    <a:bodyPr/>
                    <a:lstStyle/>
                    <a:p>
                      <a:pPr algn="ctr"/>
                      <a:r>
                        <a:rPr lang="fr-FR" sz="2400" b="0" dirty="0"/>
                        <a:t>Semaine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sz="2400" dirty="0"/>
                        <a:t>Cours2</a:t>
                      </a:r>
                    </a:p>
                    <a:p>
                      <a:pPr algn="ctr"/>
                      <a:r>
                        <a:rPr lang="fr-FR" sz="2400" dirty="0"/>
                        <a:t>Sollicitations: traction, flexion,…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fr-FR" sz="2400" dirty="0"/>
                        <a:t>TP4</a:t>
                      </a:r>
                    </a:p>
                    <a:p>
                      <a:pPr algn="ctr"/>
                      <a:r>
                        <a:rPr lang="fr-FR" sz="2400" dirty="0"/>
                        <a:t>Découverte rigidité, module d’Young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fr-FR" sz="2400" dirty="0"/>
                        <a:t>TD2 comparaison essais réels et simulations, remédiation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fr-FR" sz="2400" dirty="0"/>
                        <a:t>TP5</a:t>
                      </a:r>
                    </a:p>
                    <a:p>
                      <a:pPr algn="ctr"/>
                      <a:r>
                        <a:rPr lang="fr-FR" sz="2400" dirty="0"/>
                        <a:t>Lien type de chargement/ déformation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fr-FR" sz="2400" dirty="0"/>
                        <a:t>TD3 </a:t>
                      </a:r>
                    </a:p>
                    <a:p>
                      <a:pPr marL="0" marR="0" lvl="0" indent="0" algn="ctr" defTabSz="914400" rtl="0" eaLnBrk="1" fontAlgn="auto" latinLnBrk="0" hangingPunct="1">
                        <a:lnSpc>
                          <a:spcPct val="100000"/>
                        </a:lnSpc>
                        <a:spcBef>
                          <a:spcPts val="0"/>
                        </a:spcBef>
                        <a:spcAft>
                          <a:spcPts val="0"/>
                        </a:spcAft>
                        <a:buClrTx/>
                        <a:buSzTx/>
                        <a:buFontTx/>
                        <a:buNone/>
                        <a:tabLst/>
                        <a:defRPr/>
                      </a:pPr>
                      <a:r>
                        <a:rPr lang="fr-FR" sz="2400" dirty="0"/>
                        <a:t>Fin du TD + </a:t>
                      </a:r>
                      <a:r>
                        <a:rPr lang="fr-FR" sz="2400" dirty="0" err="1"/>
                        <a:t>eval</a:t>
                      </a:r>
                      <a:endParaRPr lang="fr-FR" sz="2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89175682"/>
                  </a:ext>
                </a:extLst>
              </a:tr>
            </a:tbl>
          </a:graphicData>
        </a:graphic>
      </p:graphicFrame>
      <p:sp>
        <p:nvSpPr>
          <p:cNvPr id="11" name="ZoneTexte 10">
            <a:extLst>
              <a:ext uri="{FF2B5EF4-FFF2-40B4-BE49-F238E27FC236}">
                <a16:creationId xmlns:a16="http://schemas.microsoft.com/office/drawing/2014/main" id="{91E7AC75-F7F9-F988-56FE-F8E2055E422C}"/>
              </a:ext>
            </a:extLst>
          </p:cNvPr>
          <p:cNvSpPr txBox="1"/>
          <p:nvPr/>
        </p:nvSpPr>
        <p:spPr>
          <a:xfrm>
            <a:off x="838200" y="5605323"/>
            <a:ext cx="7489371" cy="461665"/>
          </a:xfrm>
          <a:prstGeom prst="rect">
            <a:avLst/>
          </a:prstGeom>
          <a:noFill/>
        </p:spPr>
        <p:txBody>
          <a:bodyPr wrap="square" rtlCol="0">
            <a:spAutoFit/>
          </a:bodyPr>
          <a:lstStyle/>
          <a:p>
            <a:r>
              <a:rPr lang="fr-FR" sz="2400" dirty="0"/>
              <a:t>1 évaluation formative, 2 sommatives</a:t>
            </a:r>
          </a:p>
        </p:txBody>
      </p:sp>
    </p:spTree>
    <p:extLst>
      <p:ext uri="{BB962C8B-B14F-4D97-AF65-F5344CB8AC3E}">
        <p14:creationId xmlns:p14="http://schemas.microsoft.com/office/powerpoint/2010/main" val="5359085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987D919-81CB-8576-9193-0093C7ADDEBD}"/>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F84E53C1-9D21-5297-8F8F-870600CE0EDB}"/>
              </a:ext>
            </a:extLst>
          </p:cNvPr>
          <p:cNvSpPr>
            <a:spLocks noGrp="1"/>
          </p:cNvSpPr>
          <p:nvPr>
            <p:ph type="sldNum" sz="quarter" idx="12"/>
          </p:nvPr>
        </p:nvSpPr>
        <p:spPr/>
        <p:txBody>
          <a:bodyPr/>
          <a:lstStyle/>
          <a:p>
            <a:fld id="{201A5C1E-DE71-4D99-BC1E-739595F062E0}" type="slidenum">
              <a:rPr lang="fr-FR" sz="2000" smtClean="0"/>
              <a:t>24</a:t>
            </a:fld>
            <a:r>
              <a:rPr lang="fr-FR" sz="2000" dirty="0"/>
              <a:t>/21</a:t>
            </a:r>
          </a:p>
        </p:txBody>
      </p:sp>
      <p:sp>
        <p:nvSpPr>
          <p:cNvPr id="4" name="Espace réservé du pied de page 3">
            <a:extLst>
              <a:ext uri="{FF2B5EF4-FFF2-40B4-BE49-F238E27FC236}">
                <a16:creationId xmlns:a16="http://schemas.microsoft.com/office/drawing/2014/main" id="{54C192C1-21C2-9960-43E5-3FACD9D3932E}"/>
              </a:ext>
            </a:extLst>
          </p:cNvPr>
          <p:cNvSpPr>
            <a:spLocks noGrp="1"/>
          </p:cNvSpPr>
          <p:nvPr>
            <p:ph type="ftr" sz="quarter" idx="11"/>
          </p:nvPr>
        </p:nvSpPr>
        <p:spPr/>
        <p:txBody>
          <a:bodyPr/>
          <a:lstStyle/>
          <a:p>
            <a:r>
              <a:rPr lang="fr-FR" sz="1600" dirty="0">
                <a:solidFill>
                  <a:schemeClr val="tx1"/>
                </a:solidFill>
              </a:rPr>
              <a:t>N° Arthur PREVISANI</a:t>
            </a:r>
          </a:p>
        </p:txBody>
      </p:sp>
    </p:spTree>
    <p:extLst>
      <p:ext uri="{BB962C8B-B14F-4D97-AF65-F5344CB8AC3E}">
        <p14:creationId xmlns:p14="http://schemas.microsoft.com/office/powerpoint/2010/main" val="11611372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1DB8AD6-BECA-3EE9-F234-AD7EBBCC8E6F}"/>
            </a:ext>
          </a:extLst>
        </p:cNvPr>
        <p:cNvGrpSpPr/>
        <p:nvPr/>
      </p:nvGrpSpPr>
      <p:grpSpPr>
        <a:xfrm>
          <a:off x="0" y="0"/>
          <a:ext cx="0" cy="0"/>
          <a:chOff x="0" y="0"/>
          <a:chExt cx="0" cy="0"/>
        </a:xfrm>
      </p:grpSpPr>
      <p:sp>
        <p:nvSpPr>
          <p:cNvPr id="7" name="Espace réservé du numéro de diapositive 6">
            <a:extLst>
              <a:ext uri="{FF2B5EF4-FFF2-40B4-BE49-F238E27FC236}">
                <a16:creationId xmlns:a16="http://schemas.microsoft.com/office/drawing/2014/main" id="{6F083EF4-1BBD-A016-A519-629E42E884DA}"/>
              </a:ext>
            </a:extLst>
          </p:cNvPr>
          <p:cNvSpPr>
            <a:spLocks noGrp="1"/>
          </p:cNvSpPr>
          <p:nvPr>
            <p:ph type="sldNum" sz="quarter" idx="12"/>
          </p:nvPr>
        </p:nvSpPr>
        <p:spPr/>
        <p:txBody>
          <a:bodyPr/>
          <a:lstStyle/>
          <a:p>
            <a:fld id="{201A5C1E-DE71-4D99-BC1E-739595F062E0}" type="slidenum">
              <a:rPr lang="fr-FR" sz="2000" smtClean="0"/>
              <a:t>25</a:t>
            </a:fld>
            <a:r>
              <a:rPr lang="fr-FR" sz="2000" dirty="0"/>
              <a:t>/21</a:t>
            </a:r>
          </a:p>
        </p:txBody>
      </p:sp>
      <p:sp>
        <p:nvSpPr>
          <p:cNvPr id="4" name="Espace réservé du pied de page 3">
            <a:extLst>
              <a:ext uri="{FF2B5EF4-FFF2-40B4-BE49-F238E27FC236}">
                <a16:creationId xmlns:a16="http://schemas.microsoft.com/office/drawing/2014/main" id="{F85E8A0B-1E7A-EC7E-E25C-DE62823C9B63}"/>
              </a:ext>
            </a:extLst>
          </p:cNvPr>
          <p:cNvSpPr>
            <a:spLocks noGrp="1"/>
          </p:cNvSpPr>
          <p:nvPr>
            <p:ph type="ftr" sz="quarter" idx="11"/>
          </p:nvPr>
        </p:nvSpPr>
        <p:spPr/>
        <p:txBody>
          <a:bodyPr/>
          <a:lstStyle/>
          <a:p>
            <a:r>
              <a:rPr lang="fr-FR" sz="1600" dirty="0">
                <a:solidFill>
                  <a:schemeClr val="tx1"/>
                </a:solidFill>
              </a:rPr>
              <a:t>N° Arthur PREVISANI</a:t>
            </a:r>
          </a:p>
        </p:txBody>
      </p:sp>
      <p:graphicFrame>
        <p:nvGraphicFramePr>
          <p:cNvPr id="2" name="Tableau 1">
            <a:extLst>
              <a:ext uri="{FF2B5EF4-FFF2-40B4-BE49-F238E27FC236}">
                <a16:creationId xmlns:a16="http://schemas.microsoft.com/office/drawing/2014/main" id="{22078F24-5F7A-6A9E-4DAC-13A94EF92FF4}"/>
              </a:ext>
            </a:extLst>
          </p:cNvPr>
          <p:cNvGraphicFramePr>
            <a:graphicFrameLocks noGrp="1"/>
          </p:cNvGraphicFramePr>
          <p:nvPr>
            <p:extLst>
              <p:ext uri="{D42A27DB-BD31-4B8C-83A1-F6EECF244321}">
                <p14:modId xmlns:p14="http://schemas.microsoft.com/office/powerpoint/2010/main" val="2420898756"/>
              </p:ext>
            </p:extLst>
          </p:nvPr>
        </p:nvGraphicFramePr>
        <p:xfrm>
          <a:off x="136141" y="454749"/>
          <a:ext cx="11919717" cy="8080329"/>
        </p:xfrm>
        <a:graphic>
          <a:graphicData uri="http://schemas.openxmlformats.org/drawingml/2006/table">
            <a:tbl>
              <a:tblPr firstRow="1" bandRow="1">
                <a:tableStyleId>{C083E6E3-FA7D-4D7B-A595-EF9225AFEA82}</a:tableStyleId>
              </a:tblPr>
              <a:tblGrid>
                <a:gridCol w="1425893">
                  <a:extLst>
                    <a:ext uri="{9D8B030D-6E8A-4147-A177-3AD203B41FA5}">
                      <a16:colId xmlns:a16="http://schemas.microsoft.com/office/drawing/2014/main" val="830447667"/>
                    </a:ext>
                  </a:extLst>
                </a:gridCol>
                <a:gridCol w="4108370">
                  <a:extLst>
                    <a:ext uri="{9D8B030D-6E8A-4147-A177-3AD203B41FA5}">
                      <a16:colId xmlns:a16="http://schemas.microsoft.com/office/drawing/2014/main" val="925519965"/>
                    </a:ext>
                  </a:extLst>
                </a:gridCol>
                <a:gridCol w="3264046">
                  <a:extLst>
                    <a:ext uri="{9D8B030D-6E8A-4147-A177-3AD203B41FA5}">
                      <a16:colId xmlns:a16="http://schemas.microsoft.com/office/drawing/2014/main" val="2285352266"/>
                    </a:ext>
                  </a:extLst>
                </a:gridCol>
                <a:gridCol w="1288904">
                  <a:extLst>
                    <a:ext uri="{9D8B030D-6E8A-4147-A177-3AD203B41FA5}">
                      <a16:colId xmlns:a16="http://schemas.microsoft.com/office/drawing/2014/main" val="4246726365"/>
                    </a:ext>
                  </a:extLst>
                </a:gridCol>
                <a:gridCol w="1832504">
                  <a:extLst>
                    <a:ext uri="{9D8B030D-6E8A-4147-A177-3AD203B41FA5}">
                      <a16:colId xmlns:a16="http://schemas.microsoft.com/office/drawing/2014/main" val="145018786"/>
                    </a:ext>
                  </a:extLst>
                </a:gridCol>
              </a:tblGrid>
              <a:tr h="563373">
                <a:tc>
                  <a:txBody>
                    <a:bodyPr/>
                    <a:lstStyle/>
                    <a:p>
                      <a:r>
                        <a:rPr lang="fr-FR" b="0" dirty="0"/>
                        <a:t>Séquence 1 </a:t>
                      </a:r>
                    </a:p>
                  </a:txBody>
                  <a:tcPr/>
                </a:tc>
                <a:tc>
                  <a:txBody>
                    <a:bodyPr/>
                    <a:lstStyle/>
                    <a:p>
                      <a:r>
                        <a:rPr lang="fr-FR" b="0" dirty="0"/>
                        <a:t>Comment décrire l’organisation d’un produit ?</a:t>
                      </a:r>
                    </a:p>
                  </a:txBody>
                  <a:tcPr/>
                </a:tc>
                <a:tc>
                  <a:txBody>
                    <a:bodyPr/>
                    <a:lstStyle/>
                    <a:p>
                      <a:r>
                        <a:rPr lang="fr-FR" b="0" dirty="0"/>
                        <a:t>Chaine de puissance, représentation de l’information</a:t>
                      </a:r>
                    </a:p>
                  </a:txBody>
                  <a:tcPr/>
                </a:tc>
                <a:tc>
                  <a:txBody>
                    <a:bodyPr/>
                    <a:lstStyle/>
                    <a:p>
                      <a:r>
                        <a:rPr lang="fr-FR" b="0" dirty="0"/>
                        <a:t>3 semaines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b="0" dirty="0"/>
                        <a:t>Début septembre</a:t>
                      </a:r>
                    </a:p>
                    <a:p>
                      <a:endParaRPr lang="fr-FR" b="0" dirty="0"/>
                    </a:p>
                  </a:txBody>
                  <a:tcPr/>
                </a:tc>
                <a:extLst>
                  <a:ext uri="{0D108BD9-81ED-4DB2-BD59-A6C34878D82A}">
                    <a16:rowId xmlns:a16="http://schemas.microsoft.com/office/drawing/2014/main" val="3693449095"/>
                  </a:ext>
                </a:extLst>
              </a:tr>
              <a:tr h="8048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Séquence 2</a:t>
                      </a:r>
                    </a:p>
                  </a:txBody>
                  <a:tcPr>
                    <a:solidFill>
                      <a:schemeClr val="accent4">
                        <a:lumMod val="75000"/>
                        <a:alpha val="20000"/>
                      </a:schemeClr>
                    </a:solidFill>
                  </a:tcPr>
                </a:tc>
                <a:tc>
                  <a:txBody>
                    <a:bodyPr/>
                    <a:lstStyle/>
                    <a:p>
                      <a:r>
                        <a:rPr lang="fr-FR" dirty="0"/>
                        <a:t>Comment optimiser l’utilisation de l’énergie ?</a:t>
                      </a:r>
                    </a:p>
                  </a:txBody>
                  <a:tcPr>
                    <a:solidFill>
                      <a:schemeClr val="accent4">
                        <a:lumMod val="75000"/>
                        <a:alpha val="20000"/>
                      </a:schemeClr>
                    </a:solidFill>
                  </a:tcPr>
                </a:tc>
                <a:tc>
                  <a:txBody>
                    <a:bodyPr/>
                    <a:lstStyle/>
                    <a:p>
                      <a:r>
                        <a:rPr lang="fr-FR" dirty="0"/>
                        <a:t>Concept de mouvement </a:t>
                      </a:r>
                    </a:p>
                    <a:p>
                      <a:r>
                        <a:rPr lang="fr-FR" dirty="0"/>
                        <a:t>Transmission de puissance</a:t>
                      </a:r>
                    </a:p>
                  </a:txBody>
                  <a:tcPr>
                    <a:solidFill>
                      <a:schemeClr val="accent4">
                        <a:lumMod val="75000"/>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3 semaines</a:t>
                      </a:r>
                    </a:p>
                    <a:p>
                      <a:endParaRPr lang="fr-FR" dirty="0"/>
                    </a:p>
                  </a:txBody>
                  <a:tcPr>
                    <a:solidFill>
                      <a:schemeClr val="accent4">
                        <a:lumMod val="75000"/>
                        <a:alpha val="20000"/>
                      </a:schemeClr>
                    </a:solidFill>
                  </a:tcPr>
                </a:tc>
                <a:tc>
                  <a:txBody>
                    <a:bodyPr/>
                    <a:lstStyle/>
                    <a:p>
                      <a:endParaRPr lang="fr-FR" dirty="0"/>
                    </a:p>
                  </a:txBody>
                  <a:tcPr>
                    <a:solidFill>
                      <a:schemeClr val="accent4">
                        <a:lumMod val="75000"/>
                        <a:alpha val="20000"/>
                      </a:schemeClr>
                    </a:solidFill>
                  </a:tcPr>
                </a:tc>
                <a:extLst>
                  <a:ext uri="{0D108BD9-81ED-4DB2-BD59-A6C34878D82A}">
                    <a16:rowId xmlns:a16="http://schemas.microsoft.com/office/drawing/2014/main" val="131932535"/>
                  </a:ext>
                </a:extLst>
              </a:tr>
              <a:tr h="8048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Séquence 3 </a:t>
                      </a:r>
                    </a:p>
                  </a:txBody>
                  <a:tcPr/>
                </a:tc>
                <a:tc>
                  <a:txBody>
                    <a:bodyPr/>
                    <a:lstStyle/>
                    <a:p>
                      <a:r>
                        <a:rPr lang="fr-FR" dirty="0"/>
                        <a:t>Comment assurer la surveillance des ouvrages ?</a:t>
                      </a:r>
                    </a:p>
                  </a:txBody>
                  <a:tcPr/>
                </a:tc>
                <a:tc>
                  <a:txBody>
                    <a:bodyPr/>
                    <a:lstStyle/>
                    <a:p>
                      <a:r>
                        <a:rPr lang="fr-FR" dirty="0"/>
                        <a:t>Ossatures, équilibre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3 semaines</a:t>
                      </a:r>
                    </a:p>
                    <a:p>
                      <a:endParaRPr lang="fr-FR" dirty="0"/>
                    </a:p>
                  </a:txBody>
                  <a:tcPr/>
                </a:tc>
                <a:tc>
                  <a:txBody>
                    <a:bodyPr/>
                    <a:lstStyle/>
                    <a:p>
                      <a:endParaRPr lang="fr-FR"/>
                    </a:p>
                  </a:txBody>
                  <a:tcPr/>
                </a:tc>
                <a:extLst>
                  <a:ext uri="{0D108BD9-81ED-4DB2-BD59-A6C34878D82A}">
                    <a16:rowId xmlns:a16="http://schemas.microsoft.com/office/drawing/2014/main" val="86632203"/>
                  </a:ext>
                </a:extLst>
              </a:tr>
              <a:tr h="8048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Séquence 4 </a:t>
                      </a:r>
                    </a:p>
                  </a:txBody>
                  <a:tcPr>
                    <a:solidFill>
                      <a:schemeClr val="bg1">
                        <a:lumMod val="65000"/>
                        <a:alpha val="20000"/>
                      </a:schemeClr>
                    </a:solidFill>
                  </a:tcPr>
                </a:tc>
                <a:tc>
                  <a:txBody>
                    <a:bodyPr/>
                    <a:lstStyle/>
                    <a:p>
                      <a:r>
                        <a:rPr lang="fr-FR" dirty="0"/>
                        <a:t>Comment consommer moins dans l’habitat ?</a:t>
                      </a:r>
                    </a:p>
                  </a:txBody>
                  <a:tcPr>
                    <a:solidFill>
                      <a:schemeClr val="bg1">
                        <a:lumMod val="65000"/>
                        <a:alpha val="20000"/>
                      </a:schemeClr>
                    </a:solidFill>
                  </a:tcPr>
                </a:tc>
                <a:tc>
                  <a:txBody>
                    <a:bodyPr/>
                    <a:lstStyle/>
                    <a:p>
                      <a:r>
                        <a:rPr lang="fr-FR" dirty="0"/>
                        <a:t>Efficacité énergétique, </a:t>
                      </a:r>
                    </a:p>
                    <a:p>
                      <a:r>
                        <a:rPr lang="fr-FR" dirty="0"/>
                        <a:t>Simulation et modèles</a:t>
                      </a:r>
                    </a:p>
                  </a:txBody>
                  <a:tcPr>
                    <a:solidFill>
                      <a:schemeClr val="bg1">
                        <a:lumMod val="65000"/>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3 semaines</a:t>
                      </a:r>
                    </a:p>
                    <a:p>
                      <a:endParaRPr lang="fr-FR" dirty="0"/>
                    </a:p>
                  </a:txBody>
                  <a:tcPr>
                    <a:solidFill>
                      <a:schemeClr val="bg1">
                        <a:lumMod val="65000"/>
                        <a:alpha val="20000"/>
                      </a:schemeClr>
                    </a:solidFill>
                  </a:tcPr>
                </a:tc>
                <a:tc>
                  <a:txBody>
                    <a:bodyPr/>
                    <a:lstStyle/>
                    <a:p>
                      <a:endParaRPr lang="fr-FR" dirty="0"/>
                    </a:p>
                  </a:txBody>
                  <a:tcPr>
                    <a:solidFill>
                      <a:schemeClr val="bg1">
                        <a:lumMod val="65000"/>
                        <a:alpha val="20000"/>
                      </a:schemeClr>
                    </a:solidFill>
                  </a:tcPr>
                </a:tc>
                <a:extLst>
                  <a:ext uri="{0D108BD9-81ED-4DB2-BD59-A6C34878D82A}">
                    <a16:rowId xmlns:a16="http://schemas.microsoft.com/office/drawing/2014/main" val="2328525563"/>
                  </a:ext>
                </a:extLst>
              </a:tr>
              <a:tr h="8048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Séquence 5</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a:txBody>
                  <a:tcPr/>
                </a:tc>
                <a:tc>
                  <a:txBody>
                    <a:bodyPr/>
                    <a:lstStyle/>
                    <a:p>
                      <a:r>
                        <a:rPr lang="fr-FR" dirty="0"/>
                        <a:t>Pourquoi concevoir une ville connectée? </a:t>
                      </a:r>
                    </a:p>
                  </a:txBody>
                  <a:tcPr/>
                </a:tc>
                <a:tc>
                  <a:txBody>
                    <a:bodyPr/>
                    <a:lstStyle/>
                    <a:p>
                      <a:r>
                        <a:rPr lang="fr-FR" dirty="0"/>
                        <a:t>Approche environnementale</a:t>
                      </a:r>
                    </a:p>
                    <a:p>
                      <a:r>
                        <a:rPr lang="fr-FR" dirty="0"/>
                        <a:t>ossatures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3 semaines</a:t>
                      </a:r>
                    </a:p>
                    <a:p>
                      <a:endParaRPr lang="fr-FR" dirty="0"/>
                    </a:p>
                  </a:txBody>
                  <a:tcPr/>
                </a:tc>
                <a:tc>
                  <a:txBody>
                    <a:bodyPr/>
                    <a:lstStyle/>
                    <a:p>
                      <a:r>
                        <a:rPr lang="fr-FR" dirty="0"/>
                        <a:t>Début janvier</a:t>
                      </a:r>
                    </a:p>
                  </a:txBody>
                  <a:tcPr/>
                </a:tc>
                <a:extLst>
                  <a:ext uri="{0D108BD9-81ED-4DB2-BD59-A6C34878D82A}">
                    <a16:rowId xmlns:a16="http://schemas.microsoft.com/office/drawing/2014/main" val="2887470768"/>
                  </a:ext>
                </a:extLst>
              </a:tr>
              <a:tr h="8048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Séquence 6</a:t>
                      </a:r>
                    </a:p>
                  </a:txBody>
                  <a:tcPr/>
                </a:tc>
                <a:tc>
                  <a:txBody>
                    <a:bodyPr/>
                    <a:lstStyle/>
                    <a:p>
                      <a:r>
                        <a:rPr lang="fr-FR" dirty="0"/>
                        <a:t>Comment le traitement de l’information contribue à l’amélioration de l’efficacité énergétique d’un produit ?</a:t>
                      </a:r>
                    </a:p>
                  </a:txBody>
                  <a:tcPr/>
                </a:tc>
                <a:tc>
                  <a:txBody>
                    <a:bodyPr/>
                    <a:lstStyle/>
                    <a:p>
                      <a:r>
                        <a:rPr lang="fr-FR" dirty="0"/>
                        <a:t>Réseaux, transmission de l’info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3 semaines</a:t>
                      </a:r>
                    </a:p>
                  </a:txBody>
                  <a:tcPr/>
                </a:tc>
                <a:tc>
                  <a:txBody>
                    <a:bodyPr/>
                    <a:lstStyle/>
                    <a:p>
                      <a:endParaRPr lang="fr-FR" dirty="0"/>
                    </a:p>
                  </a:txBody>
                  <a:tcPr/>
                </a:tc>
                <a:extLst>
                  <a:ext uri="{0D108BD9-81ED-4DB2-BD59-A6C34878D82A}">
                    <a16:rowId xmlns:a16="http://schemas.microsoft.com/office/drawing/2014/main" val="1458943850"/>
                  </a:ext>
                </a:extLst>
              </a:tr>
              <a:tr h="8048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Séquence 7</a:t>
                      </a:r>
                    </a:p>
                  </a:txBody>
                  <a:tcPr>
                    <a:solidFill>
                      <a:schemeClr val="bg1"/>
                    </a:solidFill>
                  </a:tcPr>
                </a:tc>
                <a:tc>
                  <a:txBody>
                    <a:bodyPr/>
                    <a:lstStyle/>
                    <a:p>
                      <a:r>
                        <a:rPr lang="fr-FR" dirty="0"/>
                        <a:t>Comment gérer la puissance et les mécanismes pour  la mobilité ?</a:t>
                      </a:r>
                    </a:p>
                  </a:txBody>
                  <a:tcPr>
                    <a:solidFill>
                      <a:schemeClr val="bg1"/>
                    </a:solidFill>
                  </a:tcPr>
                </a:tc>
                <a:tc>
                  <a:txBody>
                    <a:bodyPr/>
                    <a:lstStyle/>
                    <a:p>
                      <a:r>
                        <a:rPr lang="fr-FR" dirty="0"/>
                        <a:t>Équilibre, transmission de puissance</a:t>
                      </a:r>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Simulation et modèles</a:t>
                      </a:r>
                    </a:p>
                  </a:txBody>
                  <a:tcPr>
                    <a:solidFill>
                      <a:schemeClr val="bg1"/>
                    </a:solidFill>
                  </a:tcPr>
                </a:tc>
                <a:tc>
                  <a:txBody>
                    <a:bodyPr/>
                    <a:lstStyle/>
                    <a:p>
                      <a:r>
                        <a:rPr lang="fr-FR" dirty="0"/>
                        <a:t>3 semaines</a:t>
                      </a:r>
                    </a:p>
                  </a:txBody>
                  <a:tcPr>
                    <a:solidFill>
                      <a:schemeClr val="bg1"/>
                    </a:solidFill>
                  </a:tcPr>
                </a:tc>
                <a:tc>
                  <a:txBody>
                    <a:bodyPr/>
                    <a:lstStyle/>
                    <a:p>
                      <a:endParaRPr lang="fr-FR" dirty="0"/>
                    </a:p>
                  </a:txBody>
                  <a:tcPr>
                    <a:solidFill>
                      <a:schemeClr val="bg1"/>
                    </a:solidFill>
                  </a:tcPr>
                </a:tc>
                <a:extLst>
                  <a:ext uri="{0D108BD9-81ED-4DB2-BD59-A6C34878D82A}">
                    <a16:rowId xmlns:a16="http://schemas.microsoft.com/office/drawing/2014/main" val="2164510391"/>
                  </a:ext>
                </a:extLst>
              </a:tr>
              <a:tr h="8048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Séquence 8</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a:txBody>
                  <a:tcPr/>
                </a:tc>
                <a:tc>
                  <a:txBody>
                    <a:bodyPr/>
                    <a:lstStyle/>
                    <a:p>
                      <a:r>
                        <a:rPr lang="fr-FR" dirty="0"/>
                        <a:t>Comment assurer la résistance et la stabilité des produits avec un usage raisonné des ressources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RDM</a:t>
                      </a:r>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Simulation et modèles</a:t>
                      </a:r>
                    </a:p>
                  </a:txBody>
                  <a:tcPr/>
                </a:tc>
                <a:tc>
                  <a:txBody>
                    <a:bodyPr/>
                    <a:lstStyle/>
                    <a:p>
                      <a:r>
                        <a:rPr lang="fr-FR" dirty="0"/>
                        <a:t>3 semaines</a:t>
                      </a:r>
                    </a:p>
                  </a:txBody>
                  <a:tcPr/>
                </a:tc>
                <a:tc>
                  <a:txBody>
                    <a:bodyPr/>
                    <a:lstStyle/>
                    <a:p>
                      <a:r>
                        <a:rPr lang="fr-FR" dirty="0"/>
                        <a:t>Fin mars/début avril</a:t>
                      </a:r>
                    </a:p>
                  </a:txBody>
                  <a:tcPr/>
                </a:tc>
                <a:extLst>
                  <a:ext uri="{0D108BD9-81ED-4DB2-BD59-A6C34878D82A}">
                    <a16:rowId xmlns:a16="http://schemas.microsoft.com/office/drawing/2014/main" val="1665486995"/>
                  </a:ext>
                </a:extLst>
              </a:tr>
              <a:tr h="8048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Séquence 9</a:t>
                      </a:r>
                    </a:p>
                  </a:txBody>
                  <a:tcPr/>
                </a:tc>
                <a:tc>
                  <a:txBody>
                    <a:bodyPr/>
                    <a:lstStyle/>
                    <a:p>
                      <a:r>
                        <a:rPr lang="fr-FR" dirty="0"/>
                        <a:t>Comment l'asservissement et la régulation améliorent le confort dans l'habitat?</a:t>
                      </a:r>
                    </a:p>
                  </a:txBody>
                  <a:tcPr/>
                </a:tc>
                <a:tc>
                  <a:txBody>
                    <a:bodyPr/>
                    <a:lstStyle/>
                    <a:p>
                      <a:r>
                        <a:rPr lang="fr-FR" dirty="0"/>
                        <a:t>Modulation de puissance</a:t>
                      </a:r>
                    </a:p>
                    <a:p>
                      <a:r>
                        <a:rPr lang="fr-FR" dirty="0"/>
                        <a:t>Systèmes asservis</a:t>
                      </a:r>
                    </a:p>
                  </a:txBody>
                  <a:tcPr/>
                </a:tc>
                <a:tc>
                  <a:txBody>
                    <a:bodyPr/>
                    <a:lstStyle/>
                    <a:p>
                      <a:r>
                        <a:rPr lang="fr-FR" dirty="0"/>
                        <a:t>3 semaines</a:t>
                      </a:r>
                    </a:p>
                  </a:txBody>
                  <a:tcPr/>
                </a:tc>
                <a:tc>
                  <a:txBody>
                    <a:bodyPr/>
                    <a:lstStyle/>
                    <a:p>
                      <a:endParaRPr lang="fr-FR" dirty="0"/>
                    </a:p>
                  </a:txBody>
                  <a:tcPr/>
                </a:tc>
                <a:extLst>
                  <a:ext uri="{0D108BD9-81ED-4DB2-BD59-A6C34878D82A}">
                    <a16:rowId xmlns:a16="http://schemas.microsoft.com/office/drawing/2014/main" val="642257291"/>
                  </a:ext>
                </a:extLst>
              </a:tr>
              <a:tr h="5633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Séquence 10</a:t>
                      </a:r>
                    </a:p>
                  </a:txBody>
                  <a:tcPr/>
                </a:tc>
                <a:tc>
                  <a:txBody>
                    <a:bodyPr/>
                    <a:lstStyle/>
                    <a:p>
                      <a:r>
                        <a:rPr lang="fr-FR" dirty="0"/>
                        <a:t>Projet</a:t>
                      </a:r>
                    </a:p>
                  </a:txBody>
                  <a:tcPr/>
                </a:tc>
                <a:tc>
                  <a:txBody>
                    <a:bodyPr/>
                    <a:lstStyle/>
                    <a:p>
                      <a:endParaRPr lang="fr-FR" dirty="0"/>
                    </a:p>
                  </a:txBody>
                  <a:tcPr/>
                </a:tc>
                <a:tc>
                  <a:txBody>
                    <a:bodyPr/>
                    <a:lstStyle/>
                    <a:p>
                      <a:r>
                        <a:rPr lang="fr-FR" dirty="0"/>
                        <a:t>9 semaines</a:t>
                      </a:r>
                    </a:p>
                  </a:txBody>
                  <a:tcPr/>
                </a:tc>
                <a:tc>
                  <a:txBody>
                    <a:bodyPr/>
                    <a:lstStyle/>
                    <a:p>
                      <a:r>
                        <a:rPr lang="fr-FR" dirty="0"/>
                        <a:t>Mai/juin</a:t>
                      </a:r>
                    </a:p>
                  </a:txBody>
                  <a:tcPr/>
                </a:tc>
                <a:extLst>
                  <a:ext uri="{0D108BD9-81ED-4DB2-BD59-A6C34878D82A}">
                    <a16:rowId xmlns:a16="http://schemas.microsoft.com/office/drawing/2014/main" val="634317777"/>
                  </a:ext>
                </a:extLst>
              </a:tr>
            </a:tbl>
          </a:graphicData>
        </a:graphic>
      </p:graphicFrame>
      <p:sp>
        <p:nvSpPr>
          <p:cNvPr id="3" name="Titre 1">
            <a:extLst>
              <a:ext uri="{FF2B5EF4-FFF2-40B4-BE49-F238E27FC236}">
                <a16:creationId xmlns:a16="http://schemas.microsoft.com/office/drawing/2014/main" id="{E725936E-BD2B-AD30-73C1-C0A8E749D944}"/>
              </a:ext>
            </a:extLst>
          </p:cNvPr>
          <p:cNvSpPr txBox="1">
            <a:spLocks/>
          </p:cNvSpPr>
          <p:nvPr/>
        </p:nvSpPr>
        <p:spPr>
          <a:xfrm>
            <a:off x="632010" y="254623"/>
            <a:ext cx="10927977" cy="65914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a:t>Progression annuelle</a:t>
            </a:r>
            <a:endParaRPr lang="fr-FR" dirty="0"/>
          </a:p>
        </p:txBody>
      </p:sp>
    </p:spTree>
    <p:extLst>
      <p:ext uri="{BB962C8B-B14F-4D97-AF65-F5344CB8AC3E}">
        <p14:creationId xmlns:p14="http://schemas.microsoft.com/office/powerpoint/2010/main" val="17040358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B476D10E-53DA-F939-A4B4-4EA9165FF666}"/>
              </a:ext>
            </a:extLst>
          </p:cNvPr>
          <p:cNvSpPr>
            <a:spLocks noGrp="1"/>
          </p:cNvSpPr>
          <p:nvPr>
            <p:ph idx="1"/>
          </p:nvPr>
        </p:nvSpPr>
        <p:spPr>
          <a:xfrm>
            <a:off x="838200" y="136525"/>
            <a:ext cx="10515600" cy="5584296"/>
          </a:xfrm>
        </p:spPr>
        <p:txBody>
          <a:bodyPr/>
          <a:lstStyle/>
          <a:p>
            <a:r>
              <a:rPr lang="fr-FR" dirty="0"/>
              <a:t>Activité 1</a:t>
            </a:r>
          </a:p>
          <a:p>
            <a:r>
              <a:rPr lang="fr-FR" dirty="0"/>
              <a:t>Correcteur P facteur 20</a:t>
            </a:r>
          </a:p>
          <a:p>
            <a:r>
              <a:rPr lang="fr-FR" dirty="0"/>
              <a:t>De 50 a 75° erreur statique c75° </a:t>
            </a:r>
            <a:r>
              <a:rPr lang="fr-FR" dirty="0" err="1"/>
              <a:t>réél</a:t>
            </a:r>
            <a:r>
              <a:rPr lang="fr-FR" dirty="0"/>
              <a:t> 71,6°</a:t>
            </a:r>
          </a:p>
          <a:p>
            <a:r>
              <a:rPr lang="fr-FR" dirty="0"/>
              <a:t>De 50 a25 erreur </a:t>
            </a:r>
            <a:r>
              <a:rPr lang="fr-FR" dirty="0" err="1"/>
              <a:t>satique</a:t>
            </a:r>
            <a:r>
              <a:rPr lang="fr-FR" dirty="0"/>
              <a:t> c25,2, </a:t>
            </a:r>
            <a:r>
              <a:rPr lang="fr-FR" dirty="0" err="1"/>
              <a:t>réél</a:t>
            </a:r>
            <a:r>
              <a:rPr lang="fr-FR" dirty="0"/>
              <a:t> 22,4</a:t>
            </a:r>
          </a:p>
          <a:p>
            <a:r>
              <a:rPr lang="fr-FR" dirty="0"/>
              <a:t>Activité 2 </a:t>
            </a:r>
            <a:r>
              <a:rPr lang="fr-FR" dirty="0" err="1">
                <a:hlinkClick r:id="rId3"/>
              </a:rPr>
              <a:t>Maxpid</a:t>
            </a:r>
            <a:r>
              <a:rPr lang="fr-FR" dirty="0">
                <a:hlinkClick r:id="rId3"/>
              </a:rPr>
              <a:t> V2 - La chaîne de puissance</a:t>
            </a:r>
            <a:endParaRPr lang="fr-FR" dirty="0"/>
          </a:p>
        </p:txBody>
      </p:sp>
      <p:sp>
        <p:nvSpPr>
          <p:cNvPr id="4" name="Espace réservé du numéro de diapositive 3">
            <a:extLst>
              <a:ext uri="{FF2B5EF4-FFF2-40B4-BE49-F238E27FC236}">
                <a16:creationId xmlns:a16="http://schemas.microsoft.com/office/drawing/2014/main" id="{F142DD04-E57B-F3B8-16A6-9E37D928A7AF}"/>
              </a:ext>
            </a:extLst>
          </p:cNvPr>
          <p:cNvSpPr>
            <a:spLocks noGrp="1"/>
          </p:cNvSpPr>
          <p:nvPr>
            <p:ph type="sldNum" sz="quarter" idx="12"/>
          </p:nvPr>
        </p:nvSpPr>
        <p:spPr/>
        <p:txBody>
          <a:bodyPr/>
          <a:lstStyle/>
          <a:p>
            <a:fld id="{201A5C1E-DE71-4D99-BC1E-739595F062E0}" type="slidenum">
              <a:rPr lang="fr-FR" smtClean="0"/>
              <a:t>26</a:t>
            </a:fld>
            <a:endParaRPr lang="fr-FR"/>
          </a:p>
        </p:txBody>
      </p:sp>
      <p:pic>
        <p:nvPicPr>
          <p:cNvPr id="8" name="Image 7">
            <a:extLst>
              <a:ext uri="{FF2B5EF4-FFF2-40B4-BE49-F238E27FC236}">
                <a16:creationId xmlns:a16="http://schemas.microsoft.com/office/drawing/2014/main" id="{441B6FD9-8E69-7980-6DF7-DD50B40F985E}"/>
              </a:ext>
            </a:extLst>
          </p:cNvPr>
          <p:cNvPicPr>
            <a:picLocks noChangeAspect="1"/>
          </p:cNvPicPr>
          <p:nvPr/>
        </p:nvPicPr>
        <p:blipFill>
          <a:blip r:embed="rId4"/>
          <a:stretch>
            <a:fillRect/>
          </a:stretch>
        </p:blipFill>
        <p:spPr>
          <a:xfrm>
            <a:off x="1451914" y="2657156"/>
            <a:ext cx="9288171" cy="4182059"/>
          </a:xfrm>
          <a:prstGeom prst="rect">
            <a:avLst/>
          </a:prstGeom>
        </p:spPr>
      </p:pic>
    </p:spTree>
    <p:extLst>
      <p:ext uri="{BB962C8B-B14F-4D97-AF65-F5344CB8AC3E}">
        <p14:creationId xmlns:p14="http://schemas.microsoft.com/office/powerpoint/2010/main" val="16423646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F8825DA-573C-43E3-256F-23F29F10A84A}"/>
              </a:ext>
            </a:extLst>
          </p:cNvPr>
          <p:cNvSpPr>
            <a:spLocks noGrp="1"/>
          </p:cNvSpPr>
          <p:nvPr>
            <p:ph type="title"/>
          </p:nvPr>
        </p:nvSpPr>
        <p:spPr/>
        <p:txBody>
          <a:bodyPr/>
          <a:lstStyle/>
          <a:p>
            <a:r>
              <a:rPr lang="fr-FR" dirty="0"/>
              <a:t>SCE</a:t>
            </a:r>
          </a:p>
        </p:txBody>
      </p:sp>
      <p:sp>
        <p:nvSpPr>
          <p:cNvPr id="3" name="Espace réservé du contenu 2">
            <a:extLst>
              <a:ext uri="{FF2B5EF4-FFF2-40B4-BE49-F238E27FC236}">
                <a16:creationId xmlns:a16="http://schemas.microsoft.com/office/drawing/2014/main" id="{708911D9-AF36-7621-C119-AF352C0A91D6}"/>
              </a:ext>
            </a:extLst>
          </p:cNvPr>
          <p:cNvSpPr>
            <a:spLocks noGrp="1"/>
          </p:cNvSpPr>
          <p:nvPr>
            <p:ph idx="1"/>
          </p:nvPr>
        </p:nvSpPr>
        <p:spPr/>
        <p:txBody>
          <a:bodyPr/>
          <a:lstStyle/>
          <a:p>
            <a:r>
              <a:rPr lang="fr-FR" dirty="0"/>
              <a:t>2chelon de vitesse 145rad /s mot = 0,1 rad/s axe</a:t>
            </a:r>
          </a:p>
          <a:p>
            <a:r>
              <a:rPr lang="fr-FR" dirty="0"/>
              <a:t>Réponse plutôt linéaire</a:t>
            </a:r>
          </a:p>
        </p:txBody>
      </p:sp>
      <p:sp>
        <p:nvSpPr>
          <p:cNvPr id="4" name="Espace réservé du numéro de diapositive 3">
            <a:extLst>
              <a:ext uri="{FF2B5EF4-FFF2-40B4-BE49-F238E27FC236}">
                <a16:creationId xmlns:a16="http://schemas.microsoft.com/office/drawing/2014/main" id="{B3745E05-1DBE-A079-4B35-4F5AB0FE696B}"/>
              </a:ext>
            </a:extLst>
          </p:cNvPr>
          <p:cNvSpPr>
            <a:spLocks noGrp="1"/>
          </p:cNvSpPr>
          <p:nvPr>
            <p:ph type="sldNum" sz="quarter" idx="12"/>
          </p:nvPr>
        </p:nvSpPr>
        <p:spPr/>
        <p:txBody>
          <a:bodyPr/>
          <a:lstStyle/>
          <a:p>
            <a:fld id="{201A5C1E-DE71-4D99-BC1E-739595F062E0}" type="slidenum">
              <a:rPr lang="fr-FR" smtClean="0"/>
              <a:t>27</a:t>
            </a:fld>
            <a:endParaRPr lang="fr-FR"/>
          </a:p>
        </p:txBody>
      </p:sp>
    </p:spTree>
    <p:extLst>
      <p:ext uri="{BB962C8B-B14F-4D97-AF65-F5344CB8AC3E}">
        <p14:creationId xmlns:p14="http://schemas.microsoft.com/office/powerpoint/2010/main" val="6046632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3969E10-8A52-BE84-71F9-CEE19A459758}"/>
              </a:ext>
            </a:extLst>
          </p:cNvPr>
          <p:cNvSpPr>
            <a:spLocks noGrp="1"/>
          </p:cNvSpPr>
          <p:nvPr>
            <p:ph type="title"/>
          </p:nvPr>
        </p:nvSpPr>
        <p:spPr/>
        <p:txBody>
          <a:bodyPr/>
          <a:lstStyle/>
          <a:p>
            <a:r>
              <a:rPr lang="fr-FR" dirty="0"/>
              <a:t>Partie 1.4</a:t>
            </a:r>
          </a:p>
        </p:txBody>
      </p:sp>
      <p:sp>
        <p:nvSpPr>
          <p:cNvPr id="3" name="Espace réservé du contenu 2">
            <a:extLst>
              <a:ext uri="{FF2B5EF4-FFF2-40B4-BE49-F238E27FC236}">
                <a16:creationId xmlns:a16="http://schemas.microsoft.com/office/drawing/2014/main" id="{56502267-B310-52D4-8F4B-1F794E4E87DC}"/>
              </a:ext>
            </a:extLst>
          </p:cNvPr>
          <p:cNvSpPr>
            <a:spLocks noGrp="1"/>
          </p:cNvSpPr>
          <p:nvPr>
            <p:ph idx="1"/>
          </p:nvPr>
        </p:nvSpPr>
        <p:spPr/>
        <p:txBody>
          <a:bodyPr>
            <a:normAutofit fontScale="77500" lnSpcReduction="20000"/>
          </a:bodyPr>
          <a:lstStyle/>
          <a:p>
            <a:r>
              <a:rPr lang="fr-FR" dirty="0"/>
              <a:t>O</a:t>
            </a:r>
            <a:r>
              <a:rPr lang="fr-FR" dirty="0">
                <a:solidFill>
                  <a:srgbClr val="FF0000"/>
                </a:solidFill>
              </a:rPr>
              <a:t>bj</a:t>
            </a:r>
            <a:r>
              <a:rPr lang="fr-FR" dirty="0"/>
              <a:t>ectifs: monter l’influence des différents correcteurs sur la réponse du système.</a:t>
            </a:r>
          </a:p>
          <a:p>
            <a:r>
              <a:rPr lang="fr-FR" dirty="0">
                <a:solidFill>
                  <a:srgbClr val="FF0000"/>
                </a:solidFill>
              </a:rPr>
              <a:t>Pré</a:t>
            </a:r>
            <a:r>
              <a:rPr lang="fr-FR" dirty="0"/>
              <a:t>requis: ce qu’ils devaient savoir en début de séquence + bases vues dans les deux 1ers cours sur les schémas blocs et la fonction d’un correcteur.</a:t>
            </a:r>
          </a:p>
          <a:p>
            <a:r>
              <a:rPr lang="fr-FR" dirty="0">
                <a:solidFill>
                  <a:srgbClr val="FF0000"/>
                </a:solidFill>
              </a:rPr>
              <a:t>Pla</a:t>
            </a:r>
            <a:r>
              <a:rPr lang="fr-FR" dirty="0"/>
              <a:t>cement milieu de semaine 2</a:t>
            </a:r>
          </a:p>
          <a:p>
            <a:r>
              <a:rPr lang="fr-FR" dirty="0"/>
              <a:t>Problématique+ déroulé : Comment améliorer les performances d’un système</a:t>
            </a:r>
          </a:p>
          <a:p>
            <a:r>
              <a:rPr lang="fr-FR" dirty="0"/>
              <a:t>Chane Energie info et but </a:t>
            </a:r>
            <a:r>
              <a:rPr lang="fr-FR" dirty="0" err="1"/>
              <a:t>tp</a:t>
            </a:r>
            <a:r>
              <a:rPr lang="fr-FR" dirty="0"/>
              <a:t> compléter le tableau des performances des différents correcteurs par comparaison de ce ci sur les trics habituels stabilité rapidité précision</a:t>
            </a:r>
          </a:p>
          <a:p>
            <a:r>
              <a:rPr lang="fr-FR" dirty="0"/>
              <a:t>Organisation en demi groupe ( donc 18 élèves) sur une séance de deux heures de TP si on a 7 systèmes cela fait ici 7+1=8 </a:t>
            </a:r>
            <a:r>
              <a:rPr lang="fr-FR" dirty="0" err="1"/>
              <a:t>sys</a:t>
            </a:r>
            <a:r>
              <a:rPr lang="fr-FR" dirty="0"/>
              <a:t> dispo donc 6*3 élèves</a:t>
            </a:r>
          </a:p>
          <a:p>
            <a:r>
              <a:rPr lang="fr-FR" dirty="0"/>
              <a:t>Tous les supports de </a:t>
            </a:r>
            <a:r>
              <a:rPr lang="fr-FR" dirty="0" err="1"/>
              <a:t>TPs</a:t>
            </a:r>
            <a:r>
              <a:rPr lang="fr-FR" dirty="0"/>
              <a:t> présents dans la salle sont compatibles avec le même TP car tous ont un correcteur =&gt; </a:t>
            </a:r>
            <a:r>
              <a:rPr lang="fr-FR" dirty="0" err="1"/>
              <a:t>mme</a:t>
            </a:r>
            <a:r>
              <a:rPr lang="fr-FR" dirty="0"/>
              <a:t> sujet </a:t>
            </a:r>
            <a:r>
              <a:rPr lang="fr-FR" dirty="0" err="1"/>
              <a:t>pr</a:t>
            </a:r>
            <a:r>
              <a:rPr lang="fr-FR" dirty="0"/>
              <a:t> chaque </a:t>
            </a:r>
            <a:r>
              <a:rPr lang="fr-FR" dirty="0" err="1"/>
              <a:t>grpe</a:t>
            </a:r>
            <a:endParaRPr lang="fr-FR" dirty="0"/>
          </a:p>
          <a:p>
            <a:r>
              <a:rPr lang="fr-FR" dirty="0"/>
              <a:t>Le sujet donne les différentes manips a faire et les gains correcteurs associées</a:t>
            </a:r>
          </a:p>
          <a:p>
            <a:endParaRPr lang="fr-FR" dirty="0"/>
          </a:p>
        </p:txBody>
      </p:sp>
      <p:sp>
        <p:nvSpPr>
          <p:cNvPr id="5" name="Espace réservé du numéro de diapositive 4">
            <a:extLst>
              <a:ext uri="{FF2B5EF4-FFF2-40B4-BE49-F238E27FC236}">
                <a16:creationId xmlns:a16="http://schemas.microsoft.com/office/drawing/2014/main" id="{4F3C85C8-1ADD-A891-8BC4-E06B3C023D12}"/>
              </a:ext>
            </a:extLst>
          </p:cNvPr>
          <p:cNvSpPr>
            <a:spLocks noGrp="1"/>
          </p:cNvSpPr>
          <p:nvPr>
            <p:ph type="sldNum" sz="quarter" idx="12"/>
          </p:nvPr>
        </p:nvSpPr>
        <p:spPr/>
        <p:txBody>
          <a:bodyPr/>
          <a:lstStyle/>
          <a:p>
            <a:fld id="{201A5C1E-DE71-4D99-BC1E-739595F062E0}" type="slidenum">
              <a:rPr lang="fr-FR" sz="2000" smtClean="0"/>
              <a:t>28</a:t>
            </a:fld>
            <a:endParaRPr lang="fr-FR" dirty="0"/>
          </a:p>
        </p:txBody>
      </p:sp>
    </p:spTree>
    <p:extLst>
      <p:ext uri="{BB962C8B-B14F-4D97-AF65-F5344CB8AC3E}">
        <p14:creationId xmlns:p14="http://schemas.microsoft.com/office/powerpoint/2010/main" val="11199081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F12493E-5A77-5443-E5F8-E25B74772BC7}"/>
              </a:ext>
            </a:extLst>
          </p:cNvPr>
          <p:cNvSpPr>
            <a:spLocks noGrp="1"/>
          </p:cNvSpPr>
          <p:nvPr>
            <p:ph type="title"/>
          </p:nvPr>
        </p:nvSpPr>
        <p:spPr/>
        <p:txBody>
          <a:bodyPr/>
          <a:lstStyle/>
          <a:p>
            <a:endParaRPr lang="fr-FR"/>
          </a:p>
        </p:txBody>
      </p:sp>
      <p:sp>
        <p:nvSpPr>
          <p:cNvPr id="3" name="Espace réservé du contenu 2">
            <a:extLst>
              <a:ext uri="{FF2B5EF4-FFF2-40B4-BE49-F238E27FC236}">
                <a16:creationId xmlns:a16="http://schemas.microsoft.com/office/drawing/2014/main" id="{A0A3C46A-A7E0-DAC9-2E32-4F60AC37358A}"/>
              </a:ext>
            </a:extLst>
          </p:cNvPr>
          <p:cNvSpPr>
            <a:spLocks noGrp="1"/>
          </p:cNvSpPr>
          <p:nvPr>
            <p:ph idx="1"/>
          </p:nvPr>
        </p:nvSpPr>
        <p:spPr/>
        <p:txBody>
          <a:bodyPr/>
          <a:lstStyle/>
          <a:p>
            <a:r>
              <a:rPr lang="fr-FR" dirty="0"/>
              <a:t>Faire mesure avec tels valeurs qq constatez vous remplir un tableau pour chaque valeur puis a la fin faire tableau récapitulatif</a:t>
            </a:r>
          </a:p>
          <a:p>
            <a:r>
              <a:rPr lang="fr-FR" dirty="0"/>
              <a:t>Mesurer tr 5% es et oscillation </a:t>
            </a:r>
          </a:p>
          <a:p>
            <a:r>
              <a:rPr lang="fr-FR" dirty="0"/>
              <a:t>Aller plus vers l’écran du projecteur: être dynamique</a:t>
            </a:r>
          </a:p>
          <a:p>
            <a:r>
              <a:rPr lang="fr-FR" dirty="0"/>
              <a:t>Pourquoi pas écrire au tableau</a:t>
            </a:r>
          </a:p>
          <a:p>
            <a:r>
              <a:rPr lang="fr-FR" dirty="0"/>
              <a:t>Faire le trace pour la mesure du temps de réponse</a:t>
            </a:r>
          </a:p>
          <a:p>
            <a:r>
              <a:rPr lang="fr-FR" dirty="0"/>
              <a:t>Point clé attention lien BO connaissances compétences illustrer</a:t>
            </a:r>
          </a:p>
        </p:txBody>
      </p:sp>
      <p:sp>
        <p:nvSpPr>
          <p:cNvPr id="5" name="Espace réservé du numéro de diapositive 4">
            <a:extLst>
              <a:ext uri="{FF2B5EF4-FFF2-40B4-BE49-F238E27FC236}">
                <a16:creationId xmlns:a16="http://schemas.microsoft.com/office/drawing/2014/main" id="{564B285A-8FBC-444E-FD0B-ED0DD93920EC}"/>
              </a:ext>
            </a:extLst>
          </p:cNvPr>
          <p:cNvSpPr>
            <a:spLocks noGrp="1"/>
          </p:cNvSpPr>
          <p:nvPr>
            <p:ph type="sldNum" sz="quarter" idx="12"/>
          </p:nvPr>
        </p:nvSpPr>
        <p:spPr/>
        <p:txBody>
          <a:bodyPr/>
          <a:lstStyle/>
          <a:p>
            <a:fld id="{201A5C1E-DE71-4D99-BC1E-739595F062E0}" type="slidenum">
              <a:rPr lang="fr-FR" sz="2000" smtClean="0"/>
              <a:t>29</a:t>
            </a:fld>
            <a:endParaRPr lang="fr-FR" dirty="0"/>
          </a:p>
        </p:txBody>
      </p:sp>
      <p:sp>
        <p:nvSpPr>
          <p:cNvPr id="7" name="Rectangle 6">
            <a:extLst>
              <a:ext uri="{FF2B5EF4-FFF2-40B4-BE49-F238E27FC236}">
                <a16:creationId xmlns:a16="http://schemas.microsoft.com/office/drawing/2014/main" id="{1D96F342-07BE-38AB-9C4B-E6D8542FB1C8}"/>
              </a:ext>
            </a:extLst>
          </p:cNvPr>
          <p:cNvSpPr/>
          <p:nvPr/>
        </p:nvSpPr>
        <p:spPr>
          <a:xfrm>
            <a:off x="2361844" y="5835142"/>
            <a:ext cx="965437" cy="521208"/>
          </a:xfrm>
          <a:prstGeom prst="rect">
            <a:avLst/>
          </a:prstGeom>
          <a:solidFill>
            <a:srgbClr val="FFEBB9"/>
          </a:solidFill>
          <a:ln>
            <a:solidFill>
              <a:srgbClr val="FFEB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9" name="Connecteur droit 8">
            <a:extLst>
              <a:ext uri="{FF2B5EF4-FFF2-40B4-BE49-F238E27FC236}">
                <a16:creationId xmlns:a16="http://schemas.microsoft.com/office/drawing/2014/main" id="{E58AD993-A170-31EC-A6B8-B28D5DFCC69D}"/>
              </a:ext>
            </a:extLst>
          </p:cNvPr>
          <p:cNvCxnSpPr>
            <a:cxnSpLocks/>
          </p:cNvCxnSpPr>
          <p:nvPr/>
        </p:nvCxnSpPr>
        <p:spPr>
          <a:xfrm>
            <a:off x="3232031" y="4339971"/>
            <a:ext cx="190500" cy="0"/>
          </a:xfrm>
          <a:prstGeom prst="line">
            <a:avLst/>
          </a:prstGeom>
          <a:ln w="57150"/>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4146600899"/>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2716</Words>
  <Application>Microsoft Office PowerPoint</Application>
  <PresentationFormat>Grand écran</PresentationFormat>
  <Paragraphs>482</Paragraphs>
  <Slides>29</Slides>
  <Notes>27</Notes>
  <HiddenSlides>7</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29</vt:i4>
      </vt:variant>
    </vt:vector>
  </HeadingPairs>
  <TitlesOfParts>
    <vt:vector size="33" baseType="lpstr">
      <vt:lpstr>Arial</vt:lpstr>
      <vt:lpstr>Calibri</vt:lpstr>
      <vt:lpstr>Calibri Light</vt:lpstr>
      <vt:lpstr>Thème Office</vt:lpstr>
      <vt:lpstr>Epreuve d’activité pratique et d’exploitation pédagogique relatives à l’approche globale d’un système pluri technologique</vt:lpstr>
      <vt:lpstr>Sommaire</vt:lpstr>
      <vt:lpstr>Contexte pédagogique</vt:lpstr>
      <vt:lpstr>Contexte pédagogique</vt:lpstr>
      <vt:lpstr>Compétences</vt:lpstr>
      <vt:lpstr>Compétences à acquérir pour cette séquence</vt:lpstr>
      <vt:lpstr>TD1 2h</vt:lpstr>
      <vt:lpstr>TP2 (IT) 3h</vt:lpstr>
      <vt:lpstr>TP3 3h</vt:lpstr>
      <vt:lpstr>TP5(IT) 3h</vt:lpstr>
      <vt:lpstr>Présentation PowerPoint</vt:lpstr>
      <vt:lpstr>TD3 2h</vt:lpstr>
      <vt:lpstr>COURS 3 1h</vt:lpstr>
      <vt:lpstr>Présentation PowerPoint</vt:lpstr>
      <vt:lpstr>Evaluations</vt:lpstr>
      <vt:lpstr>Pertinence du robot MaxPID  pour la séquence</vt:lpstr>
      <vt:lpstr>Présentation PowerPoint</vt:lpstr>
      <vt:lpstr>Déroulé</vt:lpstr>
      <vt:lpstr>Activité 2: loi géométrique du bras</vt:lpstr>
      <vt:lpstr>Activité 3: mesure expérimentale de la loi</vt:lpstr>
      <vt:lpstr>Activité 3: Mesure expérimentale: résultats:</vt:lpstr>
      <vt:lpstr>Conclusion du TP</vt:lpstr>
      <vt:lpstr>Conclusion de la séquence</vt:lpstr>
      <vt:lpstr>Présentation PowerPoint</vt:lpstr>
      <vt:lpstr>Présentation PowerPoint</vt:lpstr>
      <vt:lpstr>Présentation PowerPoint</vt:lpstr>
      <vt:lpstr>SCE</vt:lpstr>
      <vt:lpstr>Partie 1.4</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Previsani Arthur</dc:creator>
  <cp:lastModifiedBy>Hugues Brice</cp:lastModifiedBy>
  <cp:revision>19</cp:revision>
  <dcterms:created xsi:type="dcterms:W3CDTF">2026-03-05T13:15:03Z</dcterms:created>
  <dcterms:modified xsi:type="dcterms:W3CDTF">2026-06-07T12:23:32Z</dcterms:modified>
</cp:coreProperties>
</file>