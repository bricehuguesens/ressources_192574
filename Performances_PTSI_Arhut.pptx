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3" r:id="rId2"/>
    <p:sldId id="257" r:id="rId3"/>
    <p:sldId id="274" r:id="rId4"/>
    <p:sldId id="256" r:id="rId5"/>
    <p:sldId id="260" r:id="rId6"/>
    <p:sldId id="286" r:id="rId7"/>
    <p:sldId id="290" r:id="rId8"/>
    <p:sldId id="291" r:id="rId9"/>
    <p:sldId id="293" r:id="rId10"/>
    <p:sldId id="295" r:id="rId11"/>
    <p:sldId id="275" r:id="rId12"/>
    <p:sldId id="276" r:id="rId13"/>
    <p:sldId id="277" r:id="rId14"/>
    <p:sldId id="278" r:id="rId15"/>
    <p:sldId id="279" r:id="rId16"/>
    <p:sldId id="271" r:id="rId17"/>
    <p:sldId id="280" r:id="rId18"/>
    <p:sldId id="297" r:id="rId19"/>
    <p:sldId id="281" r:id="rId20"/>
    <p:sldId id="270" r:id="rId21"/>
    <p:sldId id="272" r:id="rId22"/>
    <p:sldId id="296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22060-A35C-4EB4-B975-F76B6E9BC10D}" v="1" dt="2026-06-07T12:00:03.6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5" autoAdjust="0"/>
    <p:restoredTop sz="78749" autoAdjust="0"/>
  </p:normalViewPr>
  <p:slideViewPr>
    <p:cSldViewPr snapToGrid="0">
      <p:cViewPr varScale="1">
        <p:scale>
          <a:sx n="87" d="100"/>
          <a:sy n="87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36737-801A-413E-B812-23FEA7ECAC28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731D1-85AE-4366-B364-066FEADE3F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80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T</a:t>
            </a:r>
            <a:r>
              <a:rPr lang="fr-FR" b="1" dirty="0">
                <a:solidFill>
                  <a:srgbClr val="FF0000"/>
                </a:solidFill>
              </a:rPr>
              <a:t>o</a:t>
            </a:r>
            <a:r>
              <a:rPr lang="fr-FR" dirty="0">
                <a:solidFill>
                  <a:srgbClr val="FF0000"/>
                </a:solidFill>
              </a:rPr>
              <a:t>ut</a:t>
            </a:r>
            <a:r>
              <a:rPr lang="fr-FR" dirty="0"/>
              <a:t> pourri a modifier nom titre correct numéro candidat </a:t>
            </a:r>
          </a:p>
          <a:p>
            <a:r>
              <a:rPr lang="fr-FR" b="1" dirty="0">
                <a:solidFill>
                  <a:srgbClr val="FF0000"/>
                </a:solidFill>
              </a:rPr>
              <a:t>Dé</a:t>
            </a:r>
            <a:r>
              <a:rPr lang="fr-FR" dirty="0"/>
              <a:t>velopper séquence en plusieurs slides et détailler les trucs dans chaque cours/TP/TD</a:t>
            </a:r>
          </a:p>
          <a:p>
            <a:r>
              <a:rPr lang="fr-FR" dirty="0"/>
              <a:t>Vraiment détailler les séances il faut que les séquences ne soit pas trop longues LE FIL ROUGE!!</a:t>
            </a:r>
          </a:p>
          <a:p>
            <a:r>
              <a:rPr lang="fr-FR" b="1" dirty="0"/>
              <a:t>Dé</a:t>
            </a:r>
            <a:r>
              <a:rPr lang="fr-FR" dirty="0"/>
              <a:t>tailler plus éval</a:t>
            </a:r>
          </a:p>
          <a:p>
            <a:r>
              <a:rPr lang="fr-FR" b="1" dirty="0"/>
              <a:t>Fair</a:t>
            </a:r>
            <a:r>
              <a:rPr lang="fr-FR" dirty="0"/>
              <a:t>e une conclusion globale du but de notre action</a:t>
            </a:r>
          </a:p>
          <a:p>
            <a:r>
              <a:rPr lang="fr-FR" dirty="0"/>
              <a:t>Aller plus vers l’écran du projecteur: être dynamique</a:t>
            </a:r>
          </a:p>
          <a:p>
            <a:r>
              <a:rPr lang="fr-FR" dirty="0"/>
              <a:t>Pourquoi pas écrire au tableau</a:t>
            </a:r>
          </a:p>
          <a:p>
            <a:r>
              <a:rPr lang="fr-FR" dirty="0"/>
              <a:t>Faire le tracé pour la mesure du temps de réponse</a:t>
            </a:r>
          </a:p>
          <a:p>
            <a:r>
              <a:rPr lang="fr-FR" dirty="0"/>
              <a:t>Point clé attention lien BO connaissances compétences illustrer</a:t>
            </a:r>
          </a:p>
          <a:p>
            <a:r>
              <a:rPr lang="fr-FR" b="1" dirty="0"/>
              <a:t>Vo</a:t>
            </a:r>
            <a:r>
              <a:rPr lang="fr-FR" dirty="0"/>
              <a:t>ir ce qu'il y avait dans la séquence précédente et dans celle suivante</a:t>
            </a:r>
          </a:p>
          <a:p>
            <a:r>
              <a:rPr lang="fr-FR" dirty="0"/>
              <a:t>Changer PB TP</a:t>
            </a:r>
          </a:p>
          <a:p>
            <a:r>
              <a:rPr lang="fr-FR" dirty="0"/>
              <a:t>Expliquer comment l’élève serait susceptible de répondre aux questions du TP</a:t>
            </a:r>
          </a:p>
          <a:p>
            <a:r>
              <a:rPr lang="fr-FR" dirty="0"/>
              <a:t>Bien de présenter la filière</a:t>
            </a:r>
          </a:p>
          <a:p>
            <a:r>
              <a:rPr lang="fr-FR" dirty="0"/>
              <a:t>Mettre une problématique intéressante au début de la séquence</a:t>
            </a:r>
          </a:p>
          <a:p>
            <a:r>
              <a:rPr lang="fr-FR" dirty="0"/>
              <a:t>Pas de TP tournant chaque élève travaille le même contenu sur un système différent</a:t>
            </a:r>
          </a:p>
          <a:p>
            <a:r>
              <a:rPr lang="fr-FR" dirty="0"/>
              <a:t>Dans le cas de groupes de 4/5 pers c’est le chef tout seul qui présente le travail de TOUS les autres</a:t>
            </a:r>
          </a:p>
          <a:p>
            <a:r>
              <a:rPr lang="fr-FR" dirty="0"/>
              <a:t>Ou deux demi groupes qui tournent un sur une partie analytique l’autre sur </a:t>
            </a:r>
            <a:r>
              <a:rPr lang="fr-FR" dirty="0" err="1"/>
              <a:t>expe</a:t>
            </a:r>
            <a:r>
              <a:rPr lang="fr-FR" dirty="0"/>
              <a:t> mais dont le sens ne change rien</a:t>
            </a:r>
          </a:p>
          <a:p>
            <a:r>
              <a:rPr lang="fr-FR" dirty="0"/>
              <a:t>Ne pas confondre automatise et asservi (ex volet roulant)</a:t>
            </a:r>
          </a:p>
          <a:p>
            <a:r>
              <a:rPr lang="fr-FR" dirty="0"/>
              <a:t>Bien détaille tout ce qu’il est possible de faire avec le système étudié/ possibilité de mesures</a:t>
            </a:r>
          </a:p>
          <a:p>
            <a:r>
              <a:rPr lang="fr-FR" dirty="0"/>
              <a:t>4min sur la présentation globale contexte prérequis objectifs</a:t>
            </a:r>
          </a:p>
          <a:p>
            <a:r>
              <a:rPr lang="fr-FR" dirty="0"/>
              <a:t>2min sur le déroulé de la séquence</a:t>
            </a:r>
          </a:p>
          <a:p>
            <a:r>
              <a:rPr lang="fr-FR" dirty="0"/>
              <a:t>8min sur le contenu des séances contenu scientifique ET!! Lier au contexte de la séance et lier aux </a:t>
            </a:r>
            <a:r>
              <a:rPr lang="fr-FR" dirty="0" err="1"/>
              <a:t>systemes</a:t>
            </a:r>
            <a:r>
              <a:rPr lang="fr-FR" dirty="0"/>
              <a:t> (cahier des charges). On est en SI pas en </a:t>
            </a:r>
            <a:r>
              <a:rPr lang="fr-FR" dirty="0" err="1"/>
              <a:t>autom</a:t>
            </a:r>
            <a:endParaRPr lang="fr-FR" dirty="0"/>
          </a:p>
          <a:p>
            <a:r>
              <a:rPr lang="fr-FR" dirty="0"/>
              <a:t>1min </a:t>
            </a:r>
            <a:r>
              <a:rPr lang="fr-FR" dirty="0" err="1"/>
              <a:t>eval</a:t>
            </a:r>
            <a:endParaRPr lang="fr-FR" dirty="0"/>
          </a:p>
          <a:p>
            <a:r>
              <a:rPr lang="fr-FR" dirty="0" err="1"/>
              <a:t>Florestant</a:t>
            </a:r>
            <a:r>
              <a:rPr lang="fr-FR" dirty="0"/>
              <a:t> mathurin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22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 trainer, on peut supposer que tout est en ilots avec 1 </a:t>
            </a:r>
            <a:r>
              <a:rPr lang="fr-FR" dirty="0" err="1"/>
              <a:t>sys</a:t>
            </a:r>
            <a:r>
              <a:rPr lang="fr-FR" dirty="0"/>
              <a:t> par ilot </a:t>
            </a:r>
          </a:p>
          <a:p>
            <a:r>
              <a:rPr lang="fr-FR" dirty="0"/>
              <a:t>Quel est l’</a:t>
            </a:r>
            <a:r>
              <a:rPr lang="fr-FR" dirty="0" err="1"/>
              <a:t>interet</a:t>
            </a:r>
            <a:r>
              <a:rPr lang="fr-FR" dirty="0"/>
              <a:t> de cette séquence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22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Juste discuter du placement de la séquence dans l’année et les grandes idées de la séquence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6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Détailler les prérequis qui me semble nécessaire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077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Taille classe nb heure placer séquence dans année</a:t>
            </a:r>
          </a:p>
          <a:p>
            <a:r>
              <a:rPr lang="fr-FR" dirty="0"/>
              <a:t>Pas TP, cours, TD (réservé a la prépa) mais activité pratique et activité dirigée (Cours TD) pour les sti2d</a:t>
            </a:r>
          </a:p>
          <a:p>
            <a:r>
              <a:rPr lang="fr-FR" dirty="0"/>
              <a:t>Objectifs séquence</a:t>
            </a:r>
          </a:p>
          <a:p>
            <a:r>
              <a:rPr lang="fr-FR" dirty="0"/>
              <a:t>Prérequis connaissances a transmettre</a:t>
            </a:r>
          </a:p>
          <a:p>
            <a:r>
              <a:rPr lang="fr-FR" dirty="0"/>
              <a:t>Prog annuelle les grades lignes</a:t>
            </a:r>
          </a:p>
          <a:p>
            <a:r>
              <a:rPr lang="fr-FR" dirty="0"/>
              <a:t>Puis architecture séquence bien détailler chaque module</a:t>
            </a:r>
          </a:p>
          <a:p>
            <a:r>
              <a:rPr lang="fr-FR" dirty="0"/>
              <a:t>Innovation, ingénierie et développement durable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Innovation Technologique et Éco-Conception</a:t>
            </a:r>
            <a:endParaRPr lang="fr-FR" dirty="0"/>
          </a:p>
          <a:p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monpelier</a:t>
            </a:r>
            <a:r>
              <a:rPr lang="fr-FR" dirty="0"/>
              <a:t> limoges ou orléans et </a:t>
            </a:r>
            <a:r>
              <a:rPr lang="fr-FR" dirty="0" err="1"/>
              <a:t>éduscol</a:t>
            </a:r>
            <a:endParaRPr lang="fr-FR" dirty="0"/>
          </a:p>
          <a:p>
            <a:r>
              <a:rPr lang="fr-FR" dirty="0" err="1"/>
              <a:t>Preciser</a:t>
            </a:r>
            <a:r>
              <a:rPr lang="fr-FR" dirty="0"/>
              <a:t> </a:t>
            </a:r>
            <a:r>
              <a:rPr lang="fr-FR" dirty="0" err="1"/>
              <a:t>effictif</a:t>
            </a:r>
            <a:r>
              <a:rPr lang="fr-FR" dirty="0"/>
              <a:t> </a:t>
            </a:r>
            <a:r>
              <a:rPr lang="fr-FR" dirty="0" err="1"/>
              <a:t>allége</a:t>
            </a:r>
            <a:r>
              <a:rPr lang="fr-FR" dirty="0"/>
              <a:t> classe </a:t>
            </a:r>
            <a:r>
              <a:rPr lang="fr-FR" dirty="0" err="1"/>
              <a:t>entiere</a:t>
            </a:r>
            <a:endParaRPr lang="fr-FR" dirty="0"/>
          </a:p>
          <a:p>
            <a:r>
              <a:rPr lang="fr-FR" dirty="0"/>
              <a:t>2i2d 3h demi 1h complet spé 6h demi 2h complet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2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ADDD-99D9-35F7-7726-F51F9851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F7C728-517C-39FE-6465-F7329B902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1B7F2F-81FB-8063-C269-6D288F4F0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Rigidité déformations/allongement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D40436-AA9A-A159-A0DE-1903BF42D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816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1244-A1F0-38F6-AEBD-F413F7B9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FE928EA-667B-E5CE-0453-781D05D3F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B21576-FB24-453F-2295-EB93F50B9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Préciser le logiciel du quizz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F57F9-592D-6700-F695-76DB03119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818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6D53-56A9-752D-39D2-4D8DAF5A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CAFA9D-4563-3A27-2A80-377C5C8DD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63DED0-4EA3-76B8-6422-1830596C8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2,3: comment choisir le nombre d’échantillons: est ce que c’est de la qualification de nouveau produit ou alors juste un contrôle qualité habituel: ici contrôle qualité habituel donc échantillon plus petit ( voir même faire 2 essais par échantillon en le coupant en 2) disons 3-5 colliers pour un paquet de 100 il faut être précis de quand date la norme, son nom iso et son nom complet dire vite fait quels critères on choisit (ici S-2, II) la seule variable de notre essai de traction doit être le collier (et pas sont positionnement ou son serrage ou la course initiale)</a:t>
            </a:r>
          </a:p>
          <a:p>
            <a:r>
              <a:rPr lang="fr-FR" dirty="0"/>
              <a:t>Tests traction (RM ou Re), fatigue, résistance aux </a:t>
            </a:r>
            <a:r>
              <a:rPr lang="fr-FR" dirty="0" err="1"/>
              <a:t>UVs</a:t>
            </a:r>
            <a:r>
              <a:rPr lang="fr-FR" dirty="0"/>
              <a:t>, résistance a abrasion</a:t>
            </a:r>
          </a:p>
          <a:p>
            <a:r>
              <a:rPr lang="fr-FR" dirty="0"/>
              <a:t>Regarder le guide équipement officiel d’un labo de si pour le niveau considéré</a:t>
            </a:r>
          </a:p>
          <a:p>
            <a:r>
              <a:rPr lang="fr-FR" dirty="0"/>
              <a:t>Serrer clé </a:t>
            </a:r>
            <a:r>
              <a:rPr lang="fr-FR" dirty="0" err="1"/>
              <a:t>dymao</a:t>
            </a:r>
            <a:r>
              <a:rPr lang="fr-FR" dirty="0"/>
              <a:t> pour montrer la relativité (et pk pas le monter le glissement quand ce n’est pas assez serré ou la rupture au niveau du mords quand c’est trop serré)</a:t>
            </a:r>
          </a:p>
          <a:p>
            <a:r>
              <a:rPr lang="fr-FR" dirty="0"/>
              <a:t>Garder le plus longtemps possibles valeurs mesurés brutes afin que l’on puisse changer les paramètres (aka section ici ) pour faire des incertitudes par exemple</a:t>
            </a:r>
          </a:p>
          <a:p>
            <a:r>
              <a:rPr lang="fr-FR" dirty="0"/>
              <a:t>Couper tète, couper en deux, installer bien droit, d entre mords 40mm, et serre correctement (rilsan sur la totalité des mords), régler v déplacement( 45mm/min), mettre à 0, lancer acquisition et appui bouton monter exporter courbe en csv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CD29C5-9050-1A3D-E8A1-0261E4F1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275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Lourd les compétences a un moment pas de peut être il faut être sur de ses choix</a:t>
            </a:r>
          </a:p>
          <a:p>
            <a:r>
              <a:rPr lang="fr-FR" dirty="0"/>
              <a:t>Faire en sorte que le jury se retrouve toujours a quel endroit on est dans la diapo</a:t>
            </a:r>
          </a:p>
          <a:p>
            <a:r>
              <a:rPr lang="fr-FR" dirty="0"/>
              <a:t>Voir la près éros par mail se faire un plan type et adapter au truc donné bonne idée le jeu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492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Nao est un robot social: mignon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510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14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évalue que les compétences (compétences du BO qui se basent sur des connaissances: il faut mobiliser les connaissances)(savoir faire) pas les connaissances </a:t>
            </a:r>
          </a:p>
          <a:p>
            <a:r>
              <a:rPr lang="fr-FR" dirty="0"/>
              <a:t>Pour les éval en fait se référer au sujet final aka bac ou concours</a:t>
            </a:r>
          </a:p>
          <a:p>
            <a:r>
              <a:rPr lang="fr-FR" dirty="0"/>
              <a:t>Se projeter dans la séquence</a:t>
            </a:r>
          </a:p>
          <a:p>
            <a:r>
              <a:rPr lang="fr-FR" dirty="0"/>
              <a:t>Améliorer les performances pour respecter l’intention de l’utilisateur.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720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 dire que le sujet sera un poil différent au niveau de la présentation du logiciel.</a:t>
            </a:r>
          </a:p>
          <a:p>
            <a:r>
              <a:rPr lang="fr-FR" dirty="0"/>
              <a:t>Pourquoi 3 élèves/groupe très important d’expliquer</a:t>
            </a:r>
          </a:p>
          <a:p>
            <a:r>
              <a:rPr lang="fr-FR" dirty="0"/>
              <a:t>Les motorisations peuvent se retrouver sur les différentes parties d’un exosquelette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24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Détailler sur le document réponse que chaque essai permet de rempli une conclusion intermédiaire</a:t>
            </a:r>
          </a:p>
          <a:p>
            <a:r>
              <a:rPr lang="fr-FR" dirty="0"/>
              <a:t>Le TP définit seulement les boutons utiles sur le logiciel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318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153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38C6-7D48-ACA5-6910-331343CE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D786F31-CD04-5724-1D8A-CB3E2805D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6FC2CB-15ED-1C86-B582-0F5F5BC6E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9C970C-7C5F-FBD9-319F-161EF90BA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771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sti2d éviter les démarches déductives</a:t>
            </a:r>
          </a:p>
          <a:p>
            <a:r>
              <a:rPr lang="fr-FR" dirty="0"/>
              <a:t>Détailler plus éval</a:t>
            </a:r>
          </a:p>
          <a:p>
            <a:r>
              <a:rPr lang="fr-FR" dirty="0"/>
              <a:t>Faire une conclusion globale du but de notre action</a:t>
            </a:r>
          </a:p>
          <a:p>
            <a:r>
              <a:rPr lang="fr-FR" dirty="0"/>
              <a:t>Ce TP permet de monter l’impact réel des correcteurs sur les systèmes asservis,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492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4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DF711-41FE-BC36-2551-915030E6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73F54A-5A33-D854-8941-37712C755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4476D4-928F-EE23-2208-DCCAE23D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B472-2D2A-4E66-B07F-79D072F84BFE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A77797-E36C-F16F-09CA-B4E03B16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916059-AA0D-B530-BBE5-C71F98C1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296C9-7E6D-4C0B-AB2A-AD2F22AF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F0445-EC47-CC69-A4DD-DCE62005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E4EC8A-E889-7098-46A5-BBB24C85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5D067-1761-455A-B651-847A786833B8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67521B-EAA7-C302-0F50-637841A5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EC2DB-EE08-D441-48A8-3E3204F6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9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74776-5587-F858-2604-354A226A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49EA73-C48A-F2B5-0E08-D683776AF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D039C8-A726-BD26-6FBA-D858D74E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A18E-5218-4C74-997D-818C26E4ACE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06EF1D-F7EB-7B74-AD95-D98391D3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3C274-D32B-7344-652C-623CF784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08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5BC0A-E2F3-981B-7B0A-EB3083BB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E34D3-9038-DC73-B4C8-9B0409BDA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4BA138-3D33-5172-5F2D-6571B4916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D29B37-88AE-5D1F-720A-EB6A4795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125F8-2564-496C-B395-414FF818976B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2CB28E-189C-2720-7E67-FCB1706D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E1AE9A-E492-3608-CA3E-92F741EC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28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07AF-B24D-51CB-61B6-72864E2D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99181F-8B30-BCC2-B646-83FD69987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40C097-C15A-FC95-866C-9BBCB3EED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5E01B8-585B-AEE4-1C95-3910804D7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900EC2-CC71-9BE9-DC0A-B486BC5BD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B5B798-F4C6-C695-7A5A-880C3513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9BFB-3D4D-47DC-9BA0-0B40936448BE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F0C7EC-0544-73E9-DE29-9632F9D4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E9ED55-4600-4E3C-0DC6-EFE5D7D1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09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5B3D5-8A00-8AD8-1CAF-D23F937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054F4B-F70C-68AC-1FDC-37D3E0EF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6F9F-02A1-480E-B942-CE6D867C50E8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B95A69-C762-41A3-5216-3BC55C07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162E71-4B9B-48DD-BE35-11327B3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F44F57-3A95-4159-DB34-70E5FB23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760E-78EA-4543-9427-A88EB1653952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F05ACA-7EE0-B81F-E8AE-4CDEE549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7E460B-1F57-4B09-2A71-78CCCCBA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9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DC75D-8E80-7A95-E72E-40B4632B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0C44B-C09A-A529-A204-13446006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3512CE-393F-8FE4-F4FA-4B3328D95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428757-884D-D118-79E3-802E5B07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8625-9E79-43B9-9564-00F6848FBBFC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ACB2A1-6CCC-651B-4E14-BA495A77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A861B9-8372-F0D1-011D-E1F2864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64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9C4F-673A-ED4D-3B5D-FBA61581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A36D45-7F70-D116-238E-50A3E0B23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A3A843-10B3-FE89-A865-0187D5C0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4A0979-8D9A-AAE6-7FD8-4333BCDD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8A006-D451-46DA-A4D6-DE174B63DBF9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FBFA0C-669A-2FFA-9D90-F020DED9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C3CF3B-3555-AB73-6404-79F7DF4D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99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D1158-D8BB-8A84-A615-78B0FEC4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C13670-FA7A-3BE4-9BCB-6FCE413B5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631FC-316D-692B-2051-0D0A37A6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7E122-8D58-471B-B215-D9E86B27F8A0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9125E-D720-8585-C7F5-F17B8888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C4AEC-6A8D-F86A-0707-0E5FCBF9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4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F9AE4B-2534-568D-B396-F2E647F35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713E4F-9025-06A8-2D9E-D90F1C0F6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C4C49-7B8D-3D53-6826-3EEB7425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D1296-AB39-4990-AC0B-72F9CBC5EF61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3146-EE99-EA97-B96E-D78C9EE2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61CCE9-E162-5478-91C0-456E14F3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70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9A2220-585D-DA61-19CF-722946D8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41AB91-EA0A-1B3D-30DD-77EE4646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9984C2-764A-08FD-ACA0-4AD7F1D1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30491-6F93-4193-87AC-4426AF174243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4187E2-F0AC-C3C3-A07C-5CDFAD8CF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6EC5D-6FA6-82DD-2D0C-3C11AD87F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1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3A031-9DFD-A1C4-37C2-C1A492B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fr-FR" sz="3600" dirty="0"/>
              <a:t>Epreuve d’exploitation pédagogique d’une activité pratique relative à l’approche globale d’un système pluri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907E7-C971-AEFA-CFB8-25CD4268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6674"/>
            <a:ext cx="10515600" cy="2479676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CPGE PTSI-PT, cheville Nao</a:t>
            </a:r>
          </a:p>
          <a:p>
            <a:pPr marL="0" indent="0" algn="ctr">
              <a:buNone/>
            </a:pPr>
            <a:r>
              <a:rPr lang="fr-FR" dirty="0"/>
              <a:t>27/05/2025</a:t>
            </a:r>
          </a:p>
          <a:p>
            <a:pPr marL="0" indent="0" algn="ctr">
              <a:buNone/>
            </a:pPr>
            <a:r>
              <a:rPr lang="fr-FR" dirty="0"/>
              <a:t>Candidat N° PREVISANI Arthur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4811C3-26BC-7A32-D31A-96D937F4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42135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BB3BB-819C-F3A4-89D9-8D156E54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AC53D-0D7A-E55F-53B9-6B50C25E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638"/>
            <a:ext cx="10515600" cy="4351338"/>
          </a:xfrm>
        </p:spPr>
        <p:txBody>
          <a:bodyPr/>
          <a:lstStyle/>
          <a:p>
            <a:r>
              <a:rPr lang="fr-FR" sz="3600" dirty="0"/>
              <a:t>Contexte</a:t>
            </a:r>
          </a:p>
          <a:p>
            <a:r>
              <a:rPr lang="fr-FR" sz="3600" dirty="0"/>
              <a:t>Prérequis/compétences</a:t>
            </a:r>
          </a:p>
          <a:p>
            <a:r>
              <a:rPr lang="fr-FR" sz="3600" dirty="0"/>
              <a:t>Organisation de séquence</a:t>
            </a:r>
          </a:p>
          <a:p>
            <a:r>
              <a:rPr lang="fr-FR" sz="3600" dirty="0"/>
              <a:t>Présentation du système</a:t>
            </a:r>
          </a:p>
          <a:p>
            <a:r>
              <a:rPr lang="fr-FR" sz="3600" dirty="0"/>
              <a:t>Séance à caractère expérimental</a:t>
            </a:r>
          </a:p>
          <a:p>
            <a:r>
              <a:rPr lang="fr-FR" sz="3600" dirty="0"/>
              <a:t>Conclusion 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CCBB51-CFF7-C4CC-A63F-7F3F6851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400" smtClean="0"/>
              <a:t>2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4568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21221-444B-CB8F-5D46-F61CBF73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-290152"/>
            <a:ext cx="10515600" cy="1325563"/>
          </a:xfrm>
        </p:spPr>
        <p:txBody>
          <a:bodyPr/>
          <a:lstStyle/>
          <a:p>
            <a:r>
              <a:rPr lang="fr-FR" dirty="0"/>
              <a:t>Contexte pédagogique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4D3443-A7A0-E1C5-08ED-AE723CB105B3}"/>
              </a:ext>
            </a:extLst>
          </p:cNvPr>
          <p:cNvSpPr txBox="1"/>
          <p:nvPr/>
        </p:nvSpPr>
        <p:spPr>
          <a:xfrm>
            <a:off x="408234" y="3995678"/>
            <a:ext cx="105156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Choix de la séquence:  Expérimenter et résoudre numériquement pour déterminer les performances globales d’un système complexe pluri technologique (Écarts CDCF/Modèle/Réel)</a:t>
            </a:r>
          </a:p>
          <a:p>
            <a:r>
              <a:rPr lang="fr-FR" sz="3000" dirty="0"/>
              <a:t>Problématique: </a:t>
            </a:r>
            <a:r>
              <a:rPr lang="fr-FR" sz="3200" dirty="0"/>
              <a:t>Comment valider les performances globales d’un système complexe en confrontant le cahier des charges, les modèles numériques et les mesures expérimentales ?</a:t>
            </a:r>
            <a:endParaRPr lang="fr-FR" sz="300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CAA2D67-C65F-EDFD-796B-556AE1BB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3</a:t>
            </a:fld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D75E1A3-42E5-0C8F-0204-9FB0E944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080" y="643501"/>
            <a:ext cx="8451840" cy="345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7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301CF-D518-5DB8-5F3E-C441216C2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81" y="255260"/>
            <a:ext cx="10927977" cy="659140"/>
          </a:xfrm>
        </p:spPr>
        <p:txBody>
          <a:bodyPr>
            <a:noAutofit/>
          </a:bodyPr>
          <a:lstStyle/>
          <a:p>
            <a:r>
              <a:rPr lang="fr-FR" sz="4400" dirty="0"/>
              <a:t>Placement / contenu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757E81-60F6-A49B-6DE7-BE00CB0E3B07}"/>
              </a:ext>
            </a:extLst>
          </p:cNvPr>
          <p:cNvSpPr txBox="1"/>
          <p:nvPr/>
        </p:nvSpPr>
        <p:spPr>
          <a:xfrm>
            <a:off x="838200" y="5954137"/>
            <a:ext cx="1013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Séquence 2 de PTSI , début septembre, durée: 1 semaine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6E0DC1-27C4-CFE6-8E9F-33A97D30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4</a:t>
            </a:fld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9A997E0-D249-C55B-6D04-F1C27B69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21" y="1158297"/>
            <a:ext cx="8013757" cy="276129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0B6BE15-08FA-D4BA-5268-9F2536464767}"/>
              </a:ext>
            </a:extLst>
          </p:cNvPr>
          <p:cNvSpPr txBox="1"/>
          <p:nvPr/>
        </p:nvSpPr>
        <p:spPr>
          <a:xfrm>
            <a:off x="1954803" y="4163489"/>
            <a:ext cx="87714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Séquence précédente: Analyser et modéliser de façon acausale les systèmes complexes pluri technologiques</a:t>
            </a:r>
          </a:p>
          <a:p>
            <a:r>
              <a:rPr lang="fr-FR" sz="2400" dirty="0"/>
              <a:t>Séquence suivante: Analyser et modéliser de façon causale les systèmes complexes pluri technologiques</a:t>
            </a:r>
          </a:p>
        </p:txBody>
      </p:sp>
    </p:spTree>
    <p:extLst>
      <p:ext uri="{BB962C8B-B14F-4D97-AF65-F5344CB8AC3E}">
        <p14:creationId xmlns:p14="http://schemas.microsoft.com/office/powerpoint/2010/main" val="1018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08E9B4-8299-AE3A-2CE2-92AC0F88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11"/>
            <a:ext cx="10515600" cy="1325563"/>
          </a:xfrm>
        </p:spPr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D18E48-E67E-30A1-0F4C-1142C2250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409"/>
            <a:ext cx="10515600" cy="4351338"/>
          </a:xfrm>
        </p:spPr>
        <p:txBody>
          <a:bodyPr/>
          <a:lstStyle/>
          <a:p>
            <a:r>
              <a:rPr lang="fr-FR" dirty="0"/>
              <a:t>Aucun car les étudiants viennent d’horizons différents</a:t>
            </a:r>
          </a:p>
          <a:p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3C11E-9F9B-A7BC-959E-14122CD0F08A}"/>
              </a:ext>
            </a:extLst>
          </p:cNvPr>
          <p:cNvSpPr/>
          <p:nvPr/>
        </p:nvSpPr>
        <p:spPr>
          <a:xfrm>
            <a:off x="4649259" y="6232888"/>
            <a:ext cx="3860800" cy="474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195EDEF0-B5C7-3C4F-1480-8A83AA58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5</a:t>
            </a:fld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54CEC3D-5F4D-8762-7343-67FA66EAE9E4}"/>
              </a:ext>
            </a:extLst>
          </p:cNvPr>
          <p:cNvSpPr txBox="1">
            <a:spLocks/>
          </p:cNvSpPr>
          <p:nvPr/>
        </p:nvSpPr>
        <p:spPr>
          <a:xfrm>
            <a:off x="838200" y="19461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Compétences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EEB334-D39D-A183-4EEC-EC40D1228CD9}"/>
              </a:ext>
            </a:extLst>
          </p:cNvPr>
          <p:cNvSpPr txBox="1"/>
          <p:nvPr/>
        </p:nvSpPr>
        <p:spPr>
          <a:xfrm>
            <a:off x="1476555" y="3114422"/>
            <a:ext cx="8505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A3 – Analyser l'organisation fonctionnelle et structurelle</a:t>
            </a:r>
          </a:p>
          <a:p>
            <a:r>
              <a:rPr lang="fr-FR" sz="2400" dirty="0"/>
              <a:t>Associer les fonctions aux constituants. </a:t>
            </a:r>
          </a:p>
          <a:p>
            <a:r>
              <a:rPr lang="fr-FR" sz="2400" dirty="0"/>
              <a:t>Identifier et décrire les chaines fonctionnelles du système</a:t>
            </a:r>
          </a:p>
          <a:p>
            <a:r>
              <a:rPr lang="fr-FR" sz="2400" dirty="0"/>
              <a:t>Identifier la structure d'un système asservi.  </a:t>
            </a:r>
          </a:p>
          <a:p>
            <a:r>
              <a:rPr lang="fr-FR" sz="2400" dirty="0"/>
              <a:t>D1 – Mettre en œuvre un système </a:t>
            </a:r>
          </a:p>
          <a:p>
            <a:r>
              <a:rPr lang="fr-FR" sz="2400" dirty="0"/>
              <a:t>Repérer les constituants réalisant les principales fonctions des chaines fonctionnelles</a:t>
            </a:r>
          </a:p>
        </p:txBody>
      </p:sp>
    </p:spTree>
    <p:extLst>
      <p:ext uri="{BB962C8B-B14F-4D97-AF65-F5344CB8AC3E}">
        <p14:creationId xmlns:p14="http://schemas.microsoft.com/office/powerpoint/2010/main" val="169886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21221-444B-CB8F-5D46-F61CBF73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3276"/>
            <a:ext cx="10515600" cy="1325563"/>
          </a:xfrm>
        </p:spPr>
        <p:txBody>
          <a:bodyPr/>
          <a:lstStyle/>
          <a:p>
            <a:r>
              <a:rPr lang="fr-FR" dirty="0"/>
              <a:t>Contexte pédagogique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4D3443-A7A0-E1C5-08ED-AE723CB105B3}"/>
              </a:ext>
            </a:extLst>
          </p:cNvPr>
          <p:cNvSpPr txBox="1"/>
          <p:nvPr/>
        </p:nvSpPr>
        <p:spPr>
          <a:xfrm>
            <a:off x="1537548" y="646119"/>
            <a:ext cx="911690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1</a:t>
            </a:r>
            <a:r>
              <a:rPr lang="fr-FR" sz="3000" baseline="30000" dirty="0"/>
              <a:t>ère</a:t>
            </a:r>
            <a:r>
              <a:rPr lang="fr-FR" sz="3000" dirty="0"/>
              <a:t> année CPGE, PTSI</a:t>
            </a:r>
          </a:p>
          <a:p>
            <a:r>
              <a:rPr lang="fr-FR" sz="3000" dirty="0"/>
              <a:t>Classe de 45 étudiants</a:t>
            </a:r>
          </a:p>
          <a:p>
            <a:r>
              <a:rPr lang="fr-FR" sz="3000" dirty="0"/>
              <a:t>8h30 de cours hebdomadaire:</a:t>
            </a:r>
          </a:p>
          <a:p>
            <a:r>
              <a:rPr lang="fr-FR" sz="3000" dirty="0"/>
              <a:t>2h30 de TP en 1/3 de classe, 4h TD en ½ classe</a:t>
            </a:r>
          </a:p>
          <a:p>
            <a:endParaRPr lang="fr-FR" sz="300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CAA2D67-C65F-EDFD-796B-556AE1BB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6</a:t>
            </a:fld>
            <a:r>
              <a:rPr lang="fr-FR" sz="2000" dirty="0"/>
              <a:t>/21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5439FABA-719A-637E-66E1-4BD1AE973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714851"/>
              </p:ext>
            </p:extLst>
          </p:nvPr>
        </p:nvGraphicFramePr>
        <p:xfrm>
          <a:off x="1537549" y="2647950"/>
          <a:ext cx="911689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2414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580706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fr-FR" dirty="0"/>
                        <a:t>4H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cours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TP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2H soutien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17-18H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939456"/>
                  </a:ext>
                </a:extLst>
              </a:tr>
            </a:tbl>
          </a:graphicData>
        </a:graphic>
      </p:graphicFrame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AF4A9F7-F718-5065-88CC-12438246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9721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1761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F7CE-A787-42F7-1D5C-0CFD2E89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23F69-2791-B13F-1A93-7CA4E235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fr-FR" dirty="0"/>
              <a:t>Cours 1 2h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AD4A6-DB6A-40B5-3BF9-9D776B93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7</a:t>
            </a:fld>
            <a:r>
              <a:rPr lang="fr-FR" sz="2000" dirty="0"/>
              <a:t>/21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B4019A-AA41-8815-B392-C1A378D68CB4}"/>
              </a:ext>
            </a:extLst>
          </p:cNvPr>
          <p:cNvSpPr txBox="1"/>
          <p:nvPr/>
        </p:nvSpPr>
        <p:spPr>
          <a:xfrm>
            <a:off x="838199" y="1138922"/>
            <a:ext cx="10787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Définition des différents critères de performances.</a:t>
            </a:r>
          </a:p>
          <a:p>
            <a:r>
              <a:rPr lang="fr-FR" sz="2400" dirty="0"/>
              <a:t>Comment peut-on mesurer ces différents critères</a:t>
            </a:r>
          </a:p>
          <a:p>
            <a:r>
              <a:rPr lang="fr-FR" sz="2400" dirty="0"/>
              <a:t>Définition de l’analyse du besoin: diagrammes SysML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872F43F-0B41-E34E-24A4-D601765A3749}"/>
              </a:ext>
            </a:extLst>
          </p:cNvPr>
          <p:cNvSpPr txBox="1">
            <a:spLocks/>
          </p:cNvSpPr>
          <p:nvPr/>
        </p:nvSpPr>
        <p:spPr>
          <a:xfrm>
            <a:off x="838200" y="267886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Soutien 2h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C34C6A-4F37-FC66-A9CF-3DDE4AD86748}"/>
              </a:ext>
            </a:extLst>
          </p:cNvPr>
          <p:cNvSpPr txBox="1"/>
          <p:nvPr/>
        </p:nvSpPr>
        <p:spPr>
          <a:xfrm>
            <a:off x="838199" y="3750668"/>
            <a:ext cx="1067162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Environ une moitié de classe, en salle info</a:t>
            </a:r>
          </a:p>
          <a:p>
            <a:r>
              <a:rPr lang="fr-FR" sz="2400" dirty="0"/>
              <a:t>Les étudiants qui n’ont pas fait SI en </a:t>
            </a:r>
            <a:r>
              <a:rPr lang="fr-FR" sz="2400" dirty="0" err="1"/>
              <a:t>Tle</a:t>
            </a:r>
            <a:r>
              <a:rPr lang="fr-FR" sz="2400" dirty="0"/>
              <a:t> obligatoire les autres peuvent venir si ils veulent </a:t>
            </a:r>
          </a:p>
          <a:p>
            <a:r>
              <a:rPr lang="fr-FR" sz="2400" dirty="0"/>
              <a:t>Interprétation d’un cahier des charges, comment peut on lier les performances a des grandeurs mesurables</a:t>
            </a:r>
          </a:p>
          <a:p>
            <a:r>
              <a:rPr lang="fr-FR" sz="2400" dirty="0"/>
              <a:t>Découverte de Matlab (avec Simulink) ou Scilab  (avec </a:t>
            </a:r>
            <a:r>
              <a:rPr lang="fr-FR" sz="2400" dirty="0" err="1"/>
              <a:t>Xcos</a:t>
            </a:r>
            <a:r>
              <a:rPr lang="fr-FR" sz="2400" dirty="0"/>
              <a:t>) au travers d’un sujet très guidé sur la simulation acausale </a:t>
            </a:r>
          </a:p>
          <a:p>
            <a:endParaRPr lang="fr-FR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4ED6B27-CCDC-2050-8C8F-A7FE1D27D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321226"/>
              </p:ext>
            </p:extLst>
          </p:nvPr>
        </p:nvGraphicFramePr>
        <p:xfrm>
          <a:off x="3617684" y="602894"/>
          <a:ext cx="4572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872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368E37F-65AC-4B09-9AEA-7CBD1E558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12882"/>
              </p:ext>
            </p:extLst>
          </p:nvPr>
        </p:nvGraphicFramePr>
        <p:xfrm>
          <a:off x="3617684" y="3140553"/>
          <a:ext cx="4572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872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79D4CA8-5A95-45BA-A4F1-2A2F23BA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7454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39305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1A4C-EC54-BD86-6537-6D17951A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B9873-1F9D-C64A-D43B-BFF0DAF8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717"/>
            <a:ext cx="10515600" cy="1325563"/>
          </a:xfrm>
        </p:spPr>
        <p:txBody>
          <a:bodyPr/>
          <a:lstStyle/>
          <a:p>
            <a:r>
              <a:rPr lang="fr-FR" dirty="0"/>
              <a:t>TD1 2h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E4AB98-6335-18B6-9B55-83B1EB78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8</a:t>
            </a:fld>
            <a:r>
              <a:rPr lang="fr-FR" sz="2000" dirty="0"/>
              <a:t>/21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D1C3A9-43D6-FE03-9538-4AAE4C719FF6}"/>
              </a:ext>
            </a:extLst>
          </p:cNvPr>
          <p:cNvSpPr txBox="1"/>
          <p:nvPr/>
        </p:nvSpPr>
        <p:spPr>
          <a:xfrm>
            <a:off x="838200" y="1265114"/>
            <a:ext cx="84944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demi classe, (23 étudiants)</a:t>
            </a:r>
          </a:p>
          <a:p>
            <a:r>
              <a:rPr lang="fr-FR" sz="2400" dirty="0"/>
              <a:t>Analyse et complétion de diagrammes SysML</a:t>
            </a:r>
          </a:p>
          <a:p>
            <a:r>
              <a:rPr lang="fr-FR" sz="2400" dirty="0"/>
              <a:t>Diagramme de contexte, diagramme de définition de blocs</a:t>
            </a:r>
          </a:p>
          <a:p>
            <a:r>
              <a:rPr lang="fr-FR" sz="2400" dirty="0"/>
              <a:t>Mise en lien des critères du cahier ces charges avec les blocs présents dans les SysML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EBE1CC3-B678-25E1-AE63-8256AEB7E3E4}"/>
              </a:ext>
            </a:extLst>
          </p:cNvPr>
          <p:cNvSpPr txBox="1"/>
          <p:nvPr/>
        </p:nvSpPr>
        <p:spPr>
          <a:xfrm>
            <a:off x="838200" y="4588565"/>
            <a:ext cx="11469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 tiers de classe, (15 étudiants)</a:t>
            </a:r>
          </a:p>
          <a:p>
            <a:r>
              <a:rPr lang="fr-FR" sz="2400" dirty="0"/>
              <a:t>Comment quantifier l’influence du matériau sur les caractéristiques d’un produit</a:t>
            </a:r>
          </a:p>
          <a:p>
            <a:r>
              <a:rPr lang="fr-FR" sz="2400" dirty="0"/>
              <a:t>Séance détaillée juste après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E0B2FC9-0D54-76F0-D2E3-E1793D693421}"/>
              </a:ext>
            </a:extLst>
          </p:cNvPr>
          <p:cNvSpPr txBox="1">
            <a:spLocks/>
          </p:cNvSpPr>
          <p:nvPr/>
        </p:nvSpPr>
        <p:spPr>
          <a:xfrm>
            <a:off x="838200" y="3772024"/>
            <a:ext cx="10515600" cy="861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TP1 2h30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1451EC03-F103-8645-C7CC-A8B21FDDC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183821"/>
              </p:ext>
            </p:extLst>
          </p:nvPr>
        </p:nvGraphicFramePr>
        <p:xfrm>
          <a:off x="2799442" y="729834"/>
          <a:ext cx="4572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872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E07FFB79-2907-836F-2F6B-A44F9F05C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04570"/>
              </p:ext>
            </p:extLst>
          </p:nvPr>
        </p:nvGraphicFramePr>
        <p:xfrm>
          <a:off x="3305628" y="4021109"/>
          <a:ext cx="4572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872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  <p:sp>
        <p:nvSpPr>
          <p:cNvPr id="16" name="Espace réservé du pied de page 15">
            <a:extLst>
              <a:ext uri="{FF2B5EF4-FFF2-40B4-BE49-F238E27FC236}">
                <a16:creationId xmlns:a16="http://schemas.microsoft.com/office/drawing/2014/main" id="{1C91ADFD-A443-FB9C-5B88-436ACD69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1683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225910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28A6-7459-1768-BE5E-A721F82C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660EF3-0B3B-80FA-0A52-32BA2736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9</a:t>
            </a:fld>
            <a:r>
              <a:rPr lang="fr-FR" sz="2000" dirty="0"/>
              <a:t>/21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27844A1-A2FF-9885-BFAF-17F44524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14" y="447636"/>
            <a:ext cx="10515600" cy="1325563"/>
          </a:xfrm>
        </p:spPr>
        <p:txBody>
          <a:bodyPr/>
          <a:lstStyle/>
          <a:p>
            <a:r>
              <a:rPr lang="fr-FR" dirty="0"/>
              <a:t>TD2 2h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7C0FE1-0B5E-3535-4117-1167EF57D808}"/>
              </a:ext>
            </a:extLst>
          </p:cNvPr>
          <p:cNvSpPr txBox="1"/>
          <p:nvPr/>
        </p:nvSpPr>
        <p:spPr>
          <a:xfrm>
            <a:off x="954314" y="1516817"/>
            <a:ext cx="7493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En demi classe, (23 étudiants)</a:t>
            </a:r>
          </a:p>
          <a:p>
            <a:r>
              <a:rPr lang="fr-FR" sz="2400" dirty="0"/>
              <a:t>Quizz à l’aide de Klaxoon (résultats en direct grâce aux téléphones) sur les moyens de mesurer une performance, lecture de diagrammes SysML</a:t>
            </a:r>
          </a:p>
          <a:p>
            <a:r>
              <a:rPr lang="fr-FR" sz="2400" dirty="0"/>
              <a:t>Réplication des points mal compris des séances précédentes si les résultats du quizz ne sont pas top</a:t>
            </a:r>
          </a:p>
          <a:p>
            <a:r>
              <a:rPr lang="fr-FR" sz="2400" dirty="0"/>
              <a:t>Explication des différences entre les mesures expérimentales et les simulations afin d’expliquer d’où proviennent les écarts</a:t>
            </a:r>
          </a:p>
          <a:p>
            <a:r>
              <a:rPr lang="fr-FR" sz="2400" dirty="0"/>
              <a:t>Analyse de différentes simulation set mesures réelles afin de comparer les performances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D7CC1A4-97EC-0A85-0D4F-E9EC4FC9D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15868"/>
              </p:ext>
            </p:extLst>
          </p:nvPr>
        </p:nvGraphicFramePr>
        <p:xfrm>
          <a:off x="3617684" y="914005"/>
          <a:ext cx="4572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872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673826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0F4ABBB3-4AC0-4781-417D-9F136CBA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939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</p:spTree>
    <p:extLst>
      <p:ext uri="{BB962C8B-B14F-4D97-AF65-F5344CB8AC3E}">
        <p14:creationId xmlns:p14="http://schemas.microsoft.com/office/powerpoint/2010/main" val="157142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73848-1DDC-C86D-4897-50BA3686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37FC83-8E1F-123D-5446-A6D19C5A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10</a:t>
            </a:fld>
            <a:r>
              <a:rPr lang="fr-FR" sz="2000" dirty="0"/>
              <a:t>/21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A58C7D3-A1E5-3549-4086-21825BCD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92875"/>
            <a:ext cx="4114800" cy="365125"/>
          </a:xfrm>
        </p:spPr>
        <p:txBody>
          <a:bodyPr/>
          <a:lstStyle/>
          <a:p>
            <a:r>
              <a:rPr lang="fr-FR" sz="1600" dirty="0">
                <a:solidFill>
                  <a:schemeClr val="tx1"/>
                </a:solidFill>
              </a:rPr>
              <a:t>N° Arthur PREVISANI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8647AC5-F87E-308F-E144-56EBAF8CB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52380"/>
              </p:ext>
            </p:extLst>
          </p:nvPr>
        </p:nvGraphicFramePr>
        <p:xfrm>
          <a:off x="1396999" y="4040036"/>
          <a:ext cx="9643533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344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1948976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1839834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369954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  <a:gridCol w="1855425">
                  <a:extLst>
                    <a:ext uri="{9D8B030D-6E8A-4147-A177-3AD203B41FA5}">
                      <a16:colId xmlns:a16="http://schemas.microsoft.com/office/drawing/2014/main" val="3565309784"/>
                    </a:ext>
                  </a:extLst>
                </a:gridCol>
              </a:tblGrid>
              <a:tr h="589981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Cours 1 </a:t>
                      </a:r>
                    </a:p>
                    <a:p>
                      <a:pPr algn="ctr"/>
                      <a:r>
                        <a:rPr lang="fr-FR" sz="2400" dirty="0"/>
                        <a:t>Critères de performances</a:t>
                      </a:r>
                    </a:p>
                    <a:p>
                      <a:pPr algn="ctr"/>
                      <a:r>
                        <a:rPr lang="fr-FR" sz="2400" dirty="0"/>
                        <a:t>SysML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TD1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SysML vis-à-vis d’un </a:t>
                      </a:r>
                      <a:r>
                        <a:rPr lang="fr-FR" sz="2400" dirty="0" err="1"/>
                        <a:t>CDCf</a:t>
                      </a:r>
                      <a:endParaRPr lang="fr-FR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TP1 </a:t>
                      </a:r>
                    </a:p>
                    <a:p>
                      <a:pPr algn="ctr"/>
                      <a:r>
                        <a:rPr lang="fr-FR" sz="2400" dirty="0"/>
                        <a:t>Performances:</a:t>
                      </a:r>
                    </a:p>
                    <a:p>
                      <a:pPr algn="ctr"/>
                      <a:r>
                        <a:rPr lang="fr-FR" sz="2400" dirty="0"/>
                        <a:t>Numérique vs réel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TD2</a:t>
                      </a:r>
                    </a:p>
                    <a:p>
                      <a:pPr algn="ctr"/>
                      <a:r>
                        <a:rPr lang="fr-FR" sz="2400" dirty="0"/>
                        <a:t>Quizz</a:t>
                      </a:r>
                    </a:p>
                    <a:p>
                      <a:pPr algn="ctr"/>
                      <a:r>
                        <a:rPr lang="fr-FR" sz="2400" dirty="0"/>
                        <a:t>Explication des écarts, analyse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58022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5DA2160E-DD44-B00C-E777-CCEF957D019E}"/>
              </a:ext>
            </a:extLst>
          </p:cNvPr>
          <p:cNvSpPr txBox="1"/>
          <p:nvPr/>
        </p:nvSpPr>
        <p:spPr>
          <a:xfrm>
            <a:off x="838200" y="1690688"/>
            <a:ext cx="74893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Evaluations:</a:t>
            </a:r>
          </a:p>
          <a:p>
            <a:r>
              <a:rPr lang="fr-FR" sz="2800" dirty="0"/>
              <a:t>1 quizz formatif de suivi d’apprentissage</a:t>
            </a:r>
          </a:p>
          <a:p>
            <a:r>
              <a:rPr lang="fr-FR" sz="2800" dirty="0"/>
              <a:t>1 compte rendu de TP</a:t>
            </a:r>
          </a:p>
          <a:p>
            <a:r>
              <a:rPr lang="fr-FR" sz="2800" dirty="0"/>
              <a:t>Une partie du prochain DS de SI</a:t>
            </a:r>
          </a:p>
          <a:p>
            <a:r>
              <a:rPr lang="fr-FR" sz="2800" dirty="0"/>
              <a:t>Les khôlles</a:t>
            </a:r>
          </a:p>
        </p:txBody>
      </p:sp>
    </p:spTree>
    <p:extLst>
      <p:ext uri="{BB962C8B-B14F-4D97-AF65-F5344CB8AC3E}">
        <p14:creationId xmlns:p14="http://schemas.microsoft.com/office/powerpoint/2010/main" val="137735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7E4D-A75C-2180-419E-41EF28C6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E3864-86C4-0B24-790C-B57D78E0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29" y="136525"/>
            <a:ext cx="11134741" cy="1325563"/>
          </a:xfrm>
        </p:spPr>
        <p:txBody>
          <a:bodyPr/>
          <a:lstStyle/>
          <a:p>
            <a:r>
              <a:rPr lang="fr-FR" dirty="0"/>
              <a:t>Pertinence de la cheville Nao pour la séquence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CC167F-84B0-2E9E-3500-33080ACF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11</a:t>
            </a:fld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6B7092A-B2A5-7008-8BBC-192D73D887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8629" y="1640152"/>
            <a:ext cx="3532881" cy="4538133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63F5518-65A6-E92D-8532-984581FF1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9333" y="4854834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/>
              <a:t>Potentialités didactiques:</a:t>
            </a:r>
          </a:p>
          <a:p>
            <a:pPr marL="0" indent="0">
              <a:buNone/>
            </a:pPr>
            <a:r>
              <a:rPr lang="fr-FR" dirty="0"/>
              <a:t>	-  asservissement</a:t>
            </a:r>
          </a:p>
          <a:p>
            <a:pPr marL="0" indent="0">
              <a:buNone/>
            </a:pPr>
            <a:r>
              <a:rPr lang="fr-FR" dirty="0"/>
              <a:t>	-  cinématique</a:t>
            </a:r>
          </a:p>
          <a:p>
            <a:pPr marL="0" indent="0">
              <a:buNone/>
            </a:pPr>
            <a:r>
              <a:rPr lang="fr-FR" dirty="0"/>
              <a:t>	-  transmission de puissance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D27D295-9AFE-5ED5-24C8-23F400925BB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903" y="978394"/>
            <a:ext cx="7573178" cy="387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9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BB0261-66A8-2937-39DB-E788829A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12</a:t>
            </a:fld>
            <a:endParaRPr lang="fr-FR" sz="20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53EB84A-439D-95B2-4BA9-290BCABD9A55}"/>
              </a:ext>
            </a:extLst>
          </p:cNvPr>
          <p:cNvGrpSpPr/>
          <p:nvPr/>
        </p:nvGrpSpPr>
        <p:grpSpPr>
          <a:xfrm>
            <a:off x="1443990" y="3754175"/>
            <a:ext cx="2783586" cy="3161030"/>
            <a:chOff x="3160014" y="3995420"/>
            <a:chExt cx="2783586" cy="316103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9B1BB33D-4861-E356-053F-305413216601}"/>
                </a:ext>
              </a:extLst>
            </p:cNvPr>
            <p:cNvCxnSpPr>
              <a:cxnSpLocks/>
            </p:cNvCxnSpPr>
            <p:nvPr/>
          </p:nvCxnSpPr>
          <p:spPr>
            <a:xfrm>
              <a:off x="3160014" y="3995420"/>
              <a:ext cx="1964436" cy="316103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56CC2A1-ED24-DCE1-6077-13CE148D008E}"/>
                </a:ext>
              </a:extLst>
            </p:cNvPr>
            <p:cNvCxnSpPr>
              <a:cxnSpLocks/>
            </p:cNvCxnSpPr>
            <p:nvPr/>
          </p:nvCxnSpPr>
          <p:spPr>
            <a:xfrm>
              <a:off x="5511800" y="4889500"/>
              <a:ext cx="0" cy="22097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0558F4-3650-A936-29B2-B9BB56ADA5C0}"/>
                </a:ext>
              </a:extLst>
            </p:cNvPr>
            <p:cNvSpPr/>
            <p:nvPr/>
          </p:nvSpPr>
          <p:spPr>
            <a:xfrm>
              <a:off x="5016500" y="5842000"/>
              <a:ext cx="9271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FE3A8C8D-3815-11BD-DB83-B18D54F6D5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5436" y="570002"/>
            <a:ext cx="9326335" cy="5786348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E6C3A2-C19E-684F-A7C8-4925B9C8D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267" y="204877"/>
            <a:ext cx="3987799" cy="68982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sz="6700" dirty="0"/>
              <a:t>Chaine d’énergie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B0C023C-ACBC-3D8F-F3AF-B5629FE4BF56}"/>
              </a:ext>
            </a:extLst>
          </p:cNvPr>
          <p:cNvSpPr txBox="1"/>
          <p:nvPr/>
        </p:nvSpPr>
        <p:spPr>
          <a:xfrm>
            <a:off x="174806" y="1886793"/>
            <a:ext cx="30402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Capteurs</a:t>
            </a:r>
          </a:p>
          <a:p>
            <a:r>
              <a:rPr lang="fr-FR" sz="2800" dirty="0"/>
              <a:t>Par axe motorisé:</a:t>
            </a:r>
          </a:p>
          <a:p>
            <a:r>
              <a:rPr lang="fr-FR" sz="2800" dirty="0"/>
              <a:t>2 capteurs de position angulaire ( codeur rotatif magnétique 12 bits : 0,1° ) i sur l’axe et un sur le moteur</a:t>
            </a:r>
          </a:p>
          <a:p>
            <a:r>
              <a:rPr lang="fr-FR" sz="2800" dirty="0"/>
              <a:t>1 capteur de courant (shunt)</a:t>
            </a:r>
          </a:p>
        </p:txBody>
      </p:sp>
    </p:spTree>
    <p:extLst>
      <p:ext uri="{BB962C8B-B14F-4D97-AF65-F5344CB8AC3E}">
        <p14:creationId xmlns:p14="http://schemas.microsoft.com/office/powerpoint/2010/main" val="373335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3BC434-7FF4-CA71-112B-BB056F75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Séance à caractère expérimentale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BCB85B-3585-63F3-8E5F-3EFC63CCC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Seul TP de cette séquence</a:t>
            </a:r>
          </a:p>
          <a:p>
            <a:r>
              <a:rPr lang="fr-FR" dirty="0"/>
              <a:t>Problématique:</a:t>
            </a:r>
            <a:endParaRPr lang="fr-FR" sz="2600" dirty="0"/>
          </a:p>
          <a:p>
            <a:pPr marL="0" indent="0">
              <a:buNone/>
            </a:pPr>
            <a:r>
              <a:rPr lang="fr-FR" sz="2600" dirty="0"/>
              <a:t>	 Comment estimer les performances, de manière expérimental et 	numérique, de la cheville Nao?</a:t>
            </a:r>
            <a:endParaRPr lang="fr-FR" dirty="0"/>
          </a:p>
          <a:p>
            <a:r>
              <a:rPr lang="fr-FR" dirty="0"/>
              <a:t>Objectifs: 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600" dirty="0"/>
              <a:t>Monter les différences entre une mesure sur le système réel et les 		simulations ( jeux, non linéarités)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6B5A53-623A-52A1-E554-859AF006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025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C11F38-61F7-00EB-9F4E-DA653169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E811D-1E67-71FF-4C2E-096B30FFE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5248275"/>
          </a:xfrm>
        </p:spPr>
        <p:txBody>
          <a:bodyPr/>
          <a:lstStyle/>
          <a:p>
            <a:r>
              <a:rPr lang="fr-FR" dirty="0"/>
              <a:t>Organisation en tiers de groupe (donc 15 élèves) sur une séance de 2h30 de TP, compte rendu à la fin</a:t>
            </a:r>
          </a:p>
          <a:p>
            <a:r>
              <a:rPr lang="fr-FR" dirty="0"/>
              <a:t>5 systèmes disponibles =&gt; 5 groupes de 3 étudiants</a:t>
            </a:r>
          </a:p>
          <a:p>
            <a:endParaRPr lang="fr-FR" dirty="0"/>
          </a:p>
          <a:p>
            <a:r>
              <a:rPr lang="fr-FR" dirty="0"/>
              <a:t>Tous les supports de </a:t>
            </a:r>
            <a:r>
              <a:rPr lang="fr-FR" dirty="0" err="1"/>
              <a:t>TPs</a:t>
            </a:r>
            <a:r>
              <a:rPr lang="fr-FR" dirty="0"/>
              <a:t> présents dans la salle sont compatibles avec le même TP car ils possèdent tous un correcteur =&gt; même sujet travaillé pour chaque groupe durant cette séance seuls les modèles Matlab diffèreront pour réaliser ce TP.</a:t>
            </a:r>
          </a:p>
          <a:p>
            <a:r>
              <a:rPr lang="fr-FR" dirty="0"/>
              <a:t>La salle de TP dispose d’ilots avec un système par ilot</a:t>
            </a:r>
          </a:p>
          <a:p>
            <a:r>
              <a:rPr lang="fr-FR" dirty="0"/>
              <a:t>Le sujet propose différentes démarches afin d’estimer les performances du système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945FDE-96F8-F417-CE01-98416E15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14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0E14F9-4DD8-427B-2A4C-F55810935C07}"/>
              </a:ext>
            </a:extLst>
          </p:cNvPr>
          <p:cNvSpPr txBox="1"/>
          <p:nvPr/>
        </p:nvSpPr>
        <p:spPr>
          <a:xfrm>
            <a:off x="6491287" y="3152729"/>
            <a:ext cx="19685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dirty="0"/>
              <a:t>+ CoMax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8809727-80D3-C29F-EAD7-B79869D8D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52" y="3016204"/>
            <a:ext cx="7668695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8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66C1A-F9A7-5C03-3F46-C3205702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6B535-0D52-F07E-6A32-08D2CAF61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/>
          <a:lstStyle/>
          <a:p>
            <a:r>
              <a:rPr lang="fr-FR" dirty="0"/>
              <a:t>Activité 1 : Complétion d’une chaine information/énergie pour le système étudié pour mieux comprendre le système</a:t>
            </a:r>
          </a:p>
          <a:p>
            <a:r>
              <a:rPr lang="fr-FR" dirty="0"/>
              <a:t>Activité 2 : Identification des différents éléments constituant la maquette  (capteur, moteur, réducteur)                                                        </a:t>
            </a:r>
          </a:p>
          <a:p>
            <a:r>
              <a:rPr lang="fr-FR" dirty="0"/>
              <a:t>Activité 3 : Comparaison des performances de manière quantitative avec la détermination graphique du temps de réponse à 5%, du dépassement pour la stabilité, et de l’erreur statique pour la précision.</a:t>
            </a:r>
          </a:p>
          <a:p>
            <a:r>
              <a:rPr lang="fr-FR" dirty="0"/>
              <a:t>Activité 4 : Enfin, remplissage d’un tableau comparatif des différentes mesures. expliquer d’où pourrait venir les différences observées.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3028F7-694D-A0BD-FD0E-B10E74CF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7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94648-12EB-06CF-53FF-9B0E3D38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7533" cy="1325563"/>
          </a:xfrm>
        </p:spPr>
        <p:txBody>
          <a:bodyPr/>
          <a:lstStyle/>
          <a:p>
            <a:r>
              <a:rPr lang="fr-FR" dirty="0"/>
              <a:t>Activité 3: essais expérimentaux et numériques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56A148D-9F9C-3C18-5EAF-EF69E1A5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16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BF59BC1-FC08-C792-79E6-D97B9C9ED290}"/>
              </a:ext>
            </a:extLst>
          </p:cNvPr>
          <p:cNvSpPr txBox="1"/>
          <p:nvPr/>
        </p:nvSpPr>
        <p:spPr>
          <a:xfrm>
            <a:off x="838199" y="1690688"/>
            <a:ext cx="42248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Réalisez des acquisitions en renseignant les différents paramètres fournis ( sur la simulation et sur le logiciel de la maquette)</a:t>
            </a:r>
          </a:p>
          <a:p>
            <a:r>
              <a:rPr lang="fr-FR" sz="2800" dirty="0"/>
              <a:t>Imposez une consigne et tracez les courbes d’intérêt pour relever les performances à comparer.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A1ADF1-4D83-2093-F440-543377B28C8A}"/>
              </a:ext>
            </a:extLst>
          </p:cNvPr>
          <p:cNvSpPr txBox="1"/>
          <p:nvPr/>
        </p:nvSpPr>
        <p:spPr>
          <a:xfrm>
            <a:off x="7374465" y="2777066"/>
            <a:ext cx="37422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Modèle acausal: modèle ou les blocs représente des composants réels du système </a:t>
            </a:r>
          </a:p>
        </p:txBody>
      </p:sp>
    </p:spTree>
    <p:extLst>
      <p:ext uri="{BB962C8B-B14F-4D97-AF65-F5344CB8AC3E}">
        <p14:creationId xmlns:p14="http://schemas.microsoft.com/office/powerpoint/2010/main" val="4133576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7A6F-3E39-09DD-A207-1C703672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6CF0EF-95FB-8BBC-9E78-830C34F4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36525"/>
            <a:ext cx="10731500" cy="1325563"/>
          </a:xfrm>
        </p:spPr>
        <p:txBody>
          <a:bodyPr/>
          <a:lstStyle/>
          <a:p>
            <a:r>
              <a:rPr lang="fr-FR" dirty="0"/>
              <a:t>Activité 3: résultats exemples 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85E62BD-851B-3682-AD79-82EF8193D1E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2533" y="1498211"/>
            <a:ext cx="5412317" cy="42523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D82B7E-0FDA-5EDA-4A71-070ED952A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850" y="1653346"/>
            <a:ext cx="5831417" cy="380632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976F3B5-D57A-7DA5-0892-A0506819119C}"/>
              </a:ext>
            </a:extLst>
          </p:cNvPr>
          <p:cNvSpPr txBox="1"/>
          <p:nvPr/>
        </p:nvSpPr>
        <p:spPr>
          <a:xfrm>
            <a:off x="1156967" y="6164645"/>
            <a:ext cx="1065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Réponse à un échelon de position: mesures réelles vs simulation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107995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D573-D2B8-98F3-DE0C-EA06384B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D25D47-E0A5-1686-12EC-1BD8234D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36525"/>
            <a:ext cx="10731500" cy="1325563"/>
          </a:xfrm>
        </p:spPr>
        <p:txBody>
          <a:bodyPr/>
          <a:lstStyle/>
          <a:p>
            <a:r>
              <a:rPr lang="fr-FR" dirty="0"/>
              <a:t>Activité 3: résultats exemples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F09A52-7CCC-E75E-E43A-DAFB0E8045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8667" y="1462088"/>
            <a:ext cx="5757333" cy="454202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C7A3D74-53C3-1908-63D8-9B8F6C957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53454"/>
            <a:ext cx="5712034" cy="375929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1CD5F13-F345-5686-B085-BCA11B6B08C7}"/>
              </a:ext>
            </a:extLst>
          </p:cNvPr>
          <p:cNvSpPr txBox="1"/>
          <p:nvPr/>
        </p:nvSpPr>
        <p:spPr>
          <a:xfrm>
            <a:off x="338668" y="6164645"/>
            <a:ext cx="11853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Réponse à une sollicitation de position sinusoïdale: mesures réelles vs simulation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2492198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73848-1DDC-C86D-4897-50BA3686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du TP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37FC83-8E1F-123D-5446-A6D19C5A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19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615516-40E9-3E7B-FFBF-4B3691313C83}"/>
              </a:ext>
            </a:extLst>
          </p:cNvPr>
          <p:cNvSpPr txBox="1"/>
          <p:nvPr/>
        </p:nvSpPr>
        <p:spPr>
          <a:xfrm>
            <a:off x="1892299" y="1742883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 permis de leur monter l’influence des jeux, des non linéarités et des erreurs de mesure.</a:t>
            </a:r>
          </a:p>
          <a:p>
            <a:r>
              <a:rPr lang="fr-FR" sz="2800" dirty="0"/>
              <a:t>Ainsi que le fait que lait que la simulation ne peut pas remplacer une mesure réelle mais que les deux sont complémentaires.</a:t>
            </a:r>
          </a:p>
        </p:txBody>
      </p:sp>
    </p:spTree>
    <p:extLst>
      <p:ext uri="{BB962C8B-B14F-4D97-AF65-F5344CB8AC3E}">
        <p14:creationId xmlns:p14="http://schemas.microsoft.com/office/powerpoint/2010/main" val="535908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969E10-8A52-BE84-71F9-CEE19A45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Partie 1.4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02267-B310-52D4-8F4B-1F794E4E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O</a:t>
            </a:r>
            <a:r>
              <a:rPr lang="fr-FR" dirty="0">
                <a:solidFill>
                  <a:srgbClr val="FF0000"/>
                </a:solidFill>
              </a:rPr>
              <a:t>bj</a:t>
            </a:r>
            <a:r>
              <a:rPr lang="fr-FR" dirty="0"/>
              <a:t>ectifs: monter l’influence des différents correcteurs sur la réponse du système.</a:t>
            </a:r>
          </a:p>
          <a:p>
            <a:r>
              <a:rPr lang="fr-FR" dirty="0">
                <a:solidFill>
                  <a:srgbClr val="FF0000"/>
                </a:solidFill>
              </a:rPr>
              <a:t>Pré</a:t>
            </a:r>
            <a:r>
              <a:rPr lang="fr-FR" dirty="0"/>
              <a:t>requis: ce qu’ils devaient savoir en début de séquence + bases vues dans les deux 1ers cours sur les schémas blocs et la fonction d’un correcteur.</a:t>
            </a:r>
          </a:p>
          <a:p>
            <a:r>
              <a:rPr lang="fr-FR" dirty="0">
                <a:solidFill>
                  <a:srgbClr val="FF0000"/>
                </a:solidFill>
              </a:rPr>
              <a:t>Pla</a:t>
            </a:r>
            <a:r>
              <a:rPr lang="fr-FR" dirty="0"/>
              <a:t>cement milieu de semaine 2</a:t>
            </a:r>
          </a:p>
          <a:p>
            <a:r>
              <a:rPr lang="fr-FR" dirty="0"/>
              <a:t>Problématique+ déroulé : Comment améliorer les performances d’un système</a:t>
            </a:r>
          </a:p>
          <a:p>
            <a:r>
              <a:rPr lang="fr-FR" dirty="0"/>
              <a:t>Chane Energie info et but </a:t>
            </a:r>
            <a:r>
              <a:rPr lang="fr-FR" dirty="0" err="1"/>
              <a:t>tp</a:t>
            </a:r>
            <a:r>
              <a:rPr lang="fr-FR" dirty="0"/>
              <a:t> compléter le tableau des performances des différents correcteurs par comparaison de ce ci sur les trics habituels stabilité rapidité précision</a:t>
            </a:r>
          </a:p>
          <a:p>
            <a:r>
              <a:rPr lang="fr-FR" dirty="0"/>
              <a:t>Organisation en demi groupe ( donc 18 élèves) sur une séance de deux heures de TP si on a 7 systèmes cela fait ici 7+1=8 </a:t>
            </a:r>
            <a:r>
              <a:rPr lang="fr-FR" dirty="0" err="1"/>
              <a:t>sys</a:t>
            </a:r>
            <a:r>
              <a:rPr lang="fr-FR" dirty="0"/>
              <a:t> dispo donc 6*3 élèves</a:t>
            </a:r>
          </a:p>
          <a:p>
            <a:r>
              <a:rPr lang="fr-FR" dirty="0"/>
              <a:t>Tous les supports de </a:t>
            </a:r>
            <a:r>
              <a:rPr lang="fr-FR" dirty="0" err="1"/>
              <a:t>TPs</a:t>
            </a:r>
            <a:r>
              <a:rPr lang="fr-FR" dirty="0"/>
              <a:t> présents dans la salle sont compatibles avec le même TP car tous ont un correcteur =&gt; </a:t>
            </a:r>
            <a:r>
              <a:rPr lang="fr-FR" dirty="0" err="1"/>
              <a:t>mme</a:t>
            </a:r>
            <a:r>
              <a:rPr lang="fr-FR" dirty="0"/>
              <a:t> sujet </a:t>
            </a:r>
            <a:r>
              <a:rPr lang="fr-FR" dirty="0" err="1"/>
              <a:t>pr</a:t>
            </a:r>
            <a:r>
              <a:rPr lang="fr-FR" dirty="0"/>
              <a:t> chaque </a:t>
            </a:r>
            <a:r>
              <a:rPr lang="fr-FR" dirty="0" err="1"/>
              <a:t>grpe</a:t>
            </a:r>
            <a:endParaRPr lang="fr-FR" dirty="0"/>
          </a:p>
          <a:p>
            <a:r>
              <a:rPr lang="fr-FR" dirty="0"/>
              <a:t>Le sujet donne les différentes manips a faire et les gains correcteurs associées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C85C8-1ADD-A891-8BC4-E06B3C02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9908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2493E-5A77-5443-E5F8-E25B7477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3C46A-A7E0-DAC9-2E32-4F60AC373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mesure avec tels valeurs qq constatez vous remplir un tableau pour chaque valeur puis a la fin faire tableau récapitulatif</a:t>
            </a:r>
          </a:p>
          <a:p>
            <a:r>
              <a:rPr lang="fr-FR" dirty="0"/>
              <a:t>Mesurer tr 5% es et oscillation </a:t>
            </a:r>
          </a:p>
          <a:p>
            <a:r>
              <a:rPr lang="fr-FR" dirty="0"/>
              <a:t>Aller plus vers l’écran du projecteur: être dynamique</a:t>
            </a:r>
          </a:p>
          <a:p>
            <a:r>
              <a:rPr lang="fr-FR" dirty="0"/>
              <a:t>Pourquoi pas écrire au tableau</a:t>
            </a:r>
          </a:p>
          <a:p>
            <a:r>
              <a:rPr lang="fr-FR" dirty="0"/>
              <a:t>Faire le trace pour la mesure du temps de réponse</a:t>
            </a:r>
          </a:p>
          <a:p>
            <a:r>
              <a:rPr lang="fr-FR" dirty="0"/>
              <a:t>Point clé attention lien BO connaissances compétences illustrer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4B285A-8FBC-444E-FD0B-ED0DD939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21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6F342-07BE-38AB-9C4B-E6D8542FB1C8}"/>
              </a:ext>
            </a:extLst>
          </p:cNvPr>
          <p:cNvSpPr/>
          <p:nvPr/>
        </p:nvSpPr>
        <p:spPr>
          <a:xfrm>
            <a:off x="2361844" y="5835142"/>
            <a:ext cx="965437" cy="521208"/>
          </a:xfrm>
          <a:prstGeom prst="rect">
            <a:avLst/>
          </a:prstGeom>
          <a:solidFill>
            <a:srgbClr val="FFEBB9"/>
          </a:solidFill>
          <a:ln>
            <a:solidFill>
              <a:srgbClr val="FF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58AD993-A170-31EC-A6B8-B28D5DFCC69D}"/>
              </a:ext>
            </a:extLst>
          </p:cNvPr>
          <p:cNvCxnSpPr>
            <a:cxnSpLocks/>
          </p:cNvCxnSpPr>
          <p:nvPr/>
        </p:nvCxnSpPr>
        <p:spPr>
          <a:xfrm>
            <a:off x="3232031" y="4339971"/>
            <a:ext cx="1905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60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8575-FA88-C126-6350-63C09955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D541DA-4211-8575-FF67-74AC17A3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1) on observe grand écart et erreur statique + de trainage</a:t>
            </a:r>
          </a:p>
          <a:p>
            <a:r>
              <a:rPr lang="fr-FR" dirty="0"/>
              <a:t>2) des tolérances non respectées et un état de surface bof</a:t>
            </a:r>
          </a:p>
          <a:p>
            <a:r>
              <a:rPr lang="fr-FR" dirty="0"/>
              <a:t>3) erreur statique nulle, erreur de trainage &lt;5%, tr &lt;10ms</a:t>
            </a:r>
          </a:p>
          <a:p>
            <a:r>
              <a:rPr lang="fr-FR" dirty="0"/>
              <a:t>4) on peut mettre en place un correcteur PI afin d’annuler l’erreur statique (1/p en amont de la perturbation) et réduire </a:t>
            </a:r>
            <a:r>
              <a:rPr lang="fr-FR" dirty="0" err="1"/>
              <a:t>E_t</a:t>
            </a:r>
            <a:endParaRPr lang="fr-FR" dirty="0"/>
          </a:p>
          <a:p>
            <a:r>
              <a:rPr lang="fr-FR" dirty="0"/>
              <a:t>5) p seul pas suffisant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A78DA1-D007-B99E-2097-7624E925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06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2216</Words>
  <Application>Microsoft Office PowerPoint</Application>
  <PresentationFormat>Grand écran</PresentationFormat>
  <Paragraphs>294</Paragraphs>
  <Slides>22</Slides>
  <Notes>18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Thème Office</vt:lpstr>
      <vt:lpstr>Epreuve d’exploitation pédagogique d’une activité pratique relative à l’approche globale d’un système pluri technique</vt:lpstr>
      <vt:lpstr>Sommaire</vt:lpstr>
      <vt:lpstr>Contexte pédagogique</vt:lpstr>
      <vt:lpstr>Placement / contenu</vt:lpstr>
      <vt:lpstr>Prérequis</vt:lpstr>
      <vt:lpstr>Contexte pédagogique</vt:lpstr>
      <vt:lpstr>Cours 1 2h</vt:lpstr>
      <vt:lpstr>TD1 2h</vt:lpstr>
      <vt:lpstr>TD2 2h</vt:lpstr>
      <vt:lpstr>Conclusion de la séquence</vt:lpstr>
      <vt:lpstr>Pertinence de la cheville Nao pour la séquence</vt:lpstr>
      <vt:lpstr>Présentation PowerPoint</vt:lpstr>
      <vt:lpstr>Séance à caractère expérimentale</vt:lpstr>
      <vt:lpstr>Organisation</vt:lpstr>
      <vt:lpstr>Déroulé</vt:lpstr>
      <vt:lpstr>Activité 3: essais expérimentaux et numériques</vt:lpstr>
      <vt:lpstr>Activité 3: résultats exemples :</vt:lpstr>
      <vt:lpstr>Activité 3: résultats exemples :</vt:lpstr>
      <vt:lpstr>Conclusion du TP</vt:lpstr>
      <vt:lpstr>Partie 1.4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Previsani Arthur</dc:creator>
  <cp:lastModifiedBy>Hugues Brice</cp:lastModifiedBy>
  <cp:revision>16</cp:revision>
  <dcterms:created xsi:type="dcterms:W3CDTF">2026-03-05T13:15:03Z</dcterms:created>
  <dcterms:modified xsi:type="dcterms:W3CDTF">2026-06-07T12:00:04Z</dcterms:modified>
</cp:coreProperties>
</file>