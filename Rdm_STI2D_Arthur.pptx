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3" r:id="rId2"/>
    <p:sldId id="257" r:id="rId3"/>
    <p:sldId id="275" r:id="rId4"/>
    <p:sldId id="276" r:id="rId5"/>
    <p:sldId id="286" r:id="rId6"/>
    <p:sldId id="287" r:id="rId7"/>
    <p:sldId id="288" r:id="rId8"/>
    <p:sldId id="289" r:id="rId9"/>
    <p:sldId id="274" r:id="rId10"/>
    <p:sldId id="256" r:id="rId11"/>
    <p:sldId id="258" r:id="rId12"/>
    <p:sldId id="259" r:id="rId13"/>
    <p:sldId id="290" r:id="rId14"/>
    <p:sldId id="291" r:id="rId15"/>
    <p:sldId id="293" r:id="rId16"/>
    <p:sldId id="292" r:id="rId17"/>
    <p:sldId id="294" r:id="rId18"/>
    <p:sldId id="295" r:id="rId19"/>
    <p:sldId id="296" r:id="rId20"/>
    <p:sldId id="282" r:id="rId21"/>
    <p:sldId id="281" r:id="rId22"/>
    <p:sldId id="270" r:id="rId23"/>
    <p:sldId id="272"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B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4C9B83-D337-47FB-85AC-E0AE50073B2B}" v="1" dt="2026-06-07T11:58:54.56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5325" autoAdjust="0"/>
  </p:normalViewPr>
  <p:slideViewPr>
    <p:cSldViewPr snapToGrid="0">
      <p:cViewPr varScale="1">
        <p:scale>
          <a:sx n="83" d="100"/>
          <a:sy n="83" d="100"/>
        </p:scale>
        <p:origin x="15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236737-801A-413E-B812-23FEA7ECAC28}" type="datetimeFigureOut">
              <a:rPr lang="fr-FR" smtClean="0"/>
              <a:t>07/06/2026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E731D1-85AE-4366-B364-066FEADE3F45}" type="slidenum">
              <a:rPr lang="fr-FR" smtClean="0"/>
              <a:t>‹N°›</a:t>
            </a:fld>
            <a:endParaRPr lang="fr-FR"/>
          </a:p>
        </p:txBody>
      </p:sp>
    </p:spTree>
    <p:extLst>
      <p:ext uri="{BB962C8B-B14F-4D97-AF65-F5344CB8AC3E}">
        <p14:creationId xmlns:p14="http://schemas.microsoft.com/office/powerpoint/2010/main" val="183380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Mettre diapo 3/23</a:t>
            </a:r>
          </a:p>
          <a:p>
            <a:r>
              <a:rPr lang="fr-FR" dirty="0"/>
              <a:t>Pas de titre généraliste en haut des diapos</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a:t>
            </a:fld>
            <a:endParaRPr lang="fr-FR"/>
          </a:p>
        </p:txBody>
      </p:sp>
    </p:spTree>
    <p:extLst>
      <p:ext uri="{BB962C8B-B14F-4D97-AF65-F5344CB8AC3E}">
        <p14:creationId xmlns:p14="http://schemas.microsoft.com/office/powerpoint/2010/main" val="1230221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Présentation machine, capteur et logiciel, ses possibilités, réglages</a:t>
            </a:r>
          </a:p>
          <a:p>
            <a:r>
              <a:rPr lang="fr-FR" dirty="0"/>
              <a:t>Potentialités didactiques, et même si ce n’est pas didactisé pourquoi c’est quand même intéressant (cas des séries STS (BTS))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Detailler</a:t>
            </a:r>
            <a:r>
              <a:rPr lang="fr-FR" dirty="0"/>
              <a:t> toutes les possibilités du </a:t>
            </a:r>
            <a:r>
              <a:rPr lang="fr-FR" dirty="0" err="1"/>
              <a:t>sys</a:t>
            </a:r>
            <a:r>
              <a:rPr lang="fr-FR" dirty="0"/>
              <a:t> pour chaque filière de sti2d ex pupitre, capteur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1" u="sng" strike="noStrike" kern="1200" dirty="0">
                <a:ln>
                  <a:noFill/>
                </a:ln>
                <a:uFillTx/>
                <a:latin typeface="Arial" pitchFamily="34"/>
                <a:ea typeface="Segoe UI" pitchFamily="2"/>
                <a:cs typeface="Tahoma" pitchFamily="2"/>
              </a:rPr>
              <a:t>EE </a:t>
            </a:r>
            <a:r>
              <a:rPr lang="fr-FR" sz="1200" b="0" i="1" u="none" strike="noStrike" kern="1200" dirty="0">
                <a:ln>
                  <a:noFill/>
                </a:ln>
                <a:latin typeface="Arial" pitchFamily="34"/>
                <a:ea typeface="Segoe UI" pitchFamily="2"/>
                <a:cs typeface="Tahoma" pitchFamily="2"/>
              </a:rPr>
              <a:t>: </a:t>
            </a:r>
            <a:r>
              <a:rPr lang="fr-FR" sz="1200" b="0" i="0" u="none" strike="noStrike" kern="1200" dirty="0">
                <a:ln>
                  <a:noFill/>
                </a:ln>
                <a:latin typeface="Arial" pitchFamily="34"/>
                <a:ea typeface="Segoe UI" pitchFamily="2"/>
                <a:cs typeface="Tahoma" pitchFamily="2"/>
              </a:rPr>
              <a:t>Chaîne d’énergie / Chaîne d’information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SIN: pupitre de commande, capteur de force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ITEC: mors, essai de traction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3</a:t>
            </a:fld>
            <a:endParaRPr lang="fr-FR"/>
          </a:p>
        </p:txBody>
      </p:sp>
    </p:spTree>
    <p:extLst>
      <p:ext uri="{BB962C8B-B14F-4D97-AF65-F5344CB8AC3E}">
        <p14:creationId xmlns:p14="http://schemas.microsoft.com/office/powerpoint/2010/main" val="424751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4</a:t>
            </a:fld>
            <a:endParaRPr lang="fr-FR"/>
          </a:p>
        </p:txBody>
      </p:sp>
    </p:spTree>
    <p:extLst>
      <p:ext uri="{BB962C8B-B14F-4D97-AF65-F5344CB8AC3E}">
        <p14:creationId xmlns:p14="http://schemas.microsoft.com/office/powerpoint/2010/main" val="140214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Qu’est ce que rilsan </a:t>
            </a:r>
          </a:p>
          <a:p>
            <a:r>
              <a:rPr lang="fr-FR" dirty="0"/>
              <a:t>Présenter </a:t>
            </a:r>
            <a:r>
              <a:rPr lang="fr-FR" dirty="0" err="1"/>
              <a:t>diag</a:t>
            </a:r>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5</a:t>
            </a:fld>
            <a:endParaRPr lang="fr-FR"/>
          </a:p>
        </p:txBody>
      </p:sp>
    </p:spTree>
    <p:extLst>
      <p:ext uri="{BB962C8B-B14F-4D97-AF65-F5344CB8AC3E}">
        <p14:creationId xmlns:p14="http://schemas.microsoft.com/office/powerpoint/2010/main" val="3881932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6949-0275-1165-7857-E16AB2E1735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F076042-E292-7CB6-EFBE-8FA3A4ECA5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8B69A09-4835-C27C-150A-1270535D329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E010B90-4305-5B03-AA9A-6C12D7AEFF96}"/>
              </a:ext>
            </a:extLst>
          </p:cNvPr>
          <p:cNvSpPr>
            <a:spLocks noGrp="1"/>
          </p:cNvSpPr>
          <p:nvPr>
            <p:ph type="sldNum" sz="quarter" idx="5"/>
          </p:nvPr>
        </p:nvSpPr>
        <p:spPr/>
        <p:txBody>
          <a:bodyPr/>
          <a:lstStyle/>
          <a:p>
            <a:fld id="{B2E731D1-85AE-4366-B364-066FEADE3F45}" type="slidenum">
              <a:rPr lang="fr-FR" smtClean="0"/>
              <a:t>6</a:t>
            </a:fld>
            <a:endParaRPr lang="fr-FR"/>
          </a:p>
        </p:txBody>
      </p:sp>
    </p:spTree>
    <p:extLst>
      <p:ext uri="{BB962C8B-B14F-4D97-AF65-F5344CB8AC3E}">
        <p14:creationId xmlns:p14="http://schemas.microsoft.com/office/powerpoint/2010/main" val="1800173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029BB-C44D-0C22-F70D-9D8BB60018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B32BA2-3680-BE21-F909-65EBFF2C61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180ECE-A90D-D7E9-4692-CD1E9F811BD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1C9014E-438C-395B-5FDC-844D6EC10B9B}"/>
              </a:ext>
            </a:extLst>
          </p:cNvPr>
          <p:cNvSpPr>
            <a:spLocks noGrp="1"/>
          </p:cNvSpPr>
          <p:nvPr>
            <p:ph type="sldNum" sz="quarter" idx="5"/>
          </p:nvPr>
        </p:nvSpPr>
        <p:spPr/>
        <p:txBody>
          <a:bodyPr/>
          <a:lstStyle/>
          <a:p>
            <a:fld id="{B2E731D1-85AE-4366-B364-066FEADE3F45}" type="slidenum">
              <a:rPr lang="fr-FR" smtClean="0"/>
              <a:t>7</a:t>
            </a:fld>
            <a:endParaRPr lang="fr-FR"/>
          </a:p>
        </p:txBody>
      </p:sp>
    </p:spTree>
    <p:extLst>
      <p:ext uri="{BB962C8B-B14F-4D97-AF65-F5344CB8AC3E}">
        <p14:creationId xmlns:p14="http://schemas.microsoft.com/office/powerpoint/2010/main" val="1923950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EE80-0250-8636-BFCE-5241D890FE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C930495-E8E3-C0C7-246D-C06C9BE0E0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6848D26-84B9-0C20-546F-A50F97768EF5}"/>
              </a:ext>
            </a:extLst>
          </p:cNvPr>
          <p:cNvSpPr>
            <a:spLocks noGrp="1"/>
          </p:cNvSpPr>
          <p:nvPr>
            <p:ph type="body" idx="1"/>
          </p:nvPr>
        </p:nvSpPr>
        <p:spPr/>
        <p:txBody>
          <a:bodyPr/>
          <a:lstStyle/>
          <a:p>
            <a:r>
              <a:rPr lang="fr-FR" dirty="0"/>
              <a:t> manque une slide ici pour ajouter de la fluidité dans le changement de partie</a:t>
            </a:r>
          </a:p>
        </p:txBody>
      </p:sp>
      <p:sp>
        <p:nvSpPr>
          <p:cNvPr id="4" name="Espace réservé du numéro de diapositive 3">
            <a:extLst>
              <a:ext uri="{FF2B5EF4-FFF2-40B4-BE49-F238E27FC236}">
                <a16:creationId xmlns:a16="http://schemas.microsoft.com/office/drawing/2014/main" id="{CFCD493E-C998-C6D1-5878-9E7D33232E0D}"/>
              </a:ext>
            </a:extLst>
          </p:cNvPr>
          <p:cNvSpPr>
            <a:spLocks noGrp="1"/>
          </p:cNvSpPr>
          <p:nvPr>
            <p:ph type="sldNum" sz="quarter" idx="5"/>
          </p:nvPr>
        </p:nvSpPr>
        <p:spPr/>
        <p:txBody>
          <a:bodyPr/>
          <a:lstStyle/>
          <a:p>
            <a:fld id="{B2E731D1-85AE-4366-B364-066FEADE3F45}" type="slidenum">
              <a:rPr lang="fr-FR" smtClean="0"/>
              <a:t>8</a:t>
            </a:fld>
            <a:endParaRPr lang="fr-FR"/>
          </a:p>
        </p:txBody>
      </p:sp>
    </p:spTree>
    <p:extLst>
      <p:ext uri="{BB962C8B-B14F-4D97-AF65-F5344CB8AC3E}">
        <p14:creationId xmlns:p14="http://schemas.microsoft.com/office/powerpoint/2010/main" val="636823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Taille classe nb heure placer séquence dans année</a:t>
            </a:r>
          </a:p>
          <a:p>
            <a:r>
              <a:rPr lang="fr-FR" dirty="0"/>
              <a:t>Pas TP, cours, TD (réservé a la prépa) mais activité pratique et activité dirigée (Cours TD) pour les sti2d</a:t>
            </a:r>
          </a:p>
          <a:p>
            <a:r>
              <a:rPr lang="fr-FR" dirty="0"/>
              <a:t>Objectifs séquence</a:t>
            </a:r>
          </a:p>
          <a:p>
            <a:r>
              <a:rPr lang="fr-FR" dirty="0"/>
              <a:t>Prérequis connaissances a transmettre</a:t>
            </a:r>
          </a:p>
          <a:p>
            <a:r>
              <a:rPr lang="fr-FR" dirty="0"/>
              <a:t>Prog annuelle les grades lignes</a:t>
            </a:r>
          </a:p>
          <a:p>
            <a:r>
              <a:rPr lang="fr-FR" dirty="0"/>
              <a:t>Puis architecture séquence bien détailler chaque module</a:t>
            </a:r>
          </a:p>
          <a:p>
            <a:r>
              <a:rPr lang="fr-FR" dirty="0"/>
              <a:t>Innovation, ingénierie et développement durable</a:t>
            </a:r>
          </a:p>
          <a:p>
            <a:r>
              <a:rPr lang="fr-FR" sz="1200" b="1" i="0" kern="1200" dirty="0">
                <a:solidFill>
                  <a:schemeClr val="tx1"/>
                </a:solidFill>
                <a:effectLst/>
                <a:latin typeface="+mn-lt"/>
                <a:ea typeface="+mn-ea"/>
                <a:cs typeface="+mn-cs"/>
              </a:rPr>
              <a:t>Innovation Technologique et Éco-Conception</a:t>
            </a:r>
            <a:endParaRPr lang="fr-FR" dirty="0"/>
          </a:p>
          <a:p>
            <a:r>
              <a:rPr lang="fr-FR" dirty="0" err="1"/>
              <a:t>Ac</a:t>
            </a:r>
            <a:r>
              <a:rPr lang="fr-FR" dirty="0"/>
              <a:t> </a:t>
            </a:r>
            <a:r>
              <a:rPr lang="fr-FR" dirty="0" err="1"/>
              <a:t>monpelier</a:t>
            </a:r>
            <a:r>
              <a:rPr lang="fr-FR" dirty="0"/>
              <a:t> limoges ou orléans et </a:t>
            </a:r>
            <a:r>
              <a:rPr lang="fr-FR" dirty="0" err="1"/>
              <a:t>éduscol</a:t>
            </a:r>
            <a:endParaRPr lang="fr-FR" dirty="0"/>
          </a:p>
          <a:p>
            <a:r>
              <a:rPr lang="fr-FR" dirty="0" err="1"/>
              <a:t>Preciser</a:t>
            </a:r>
            <a:r>
              <a:rPr lang="fr-FR" dirty="0"/>
              <a:t> </a:t>
            </a:r>
            <a:r>
              <a:rPr lang="fr-FR" dirty="0" err="1"/>
              <a:t>effictif</a:t>
            </a:r>
            <a:r>
              <a:rPr lang="fr-FR" dirty="0"/>
              <a:t> </a:t>
            </a:r>
            <a:r>
              <a:rPr lang="fr-FR" dirty="0" err="1"/>
              <a:t>allége</a:t>
            </a:r>
            <a:r>
              <a:rPr lang="fr-FR" dirty="0"/>
              <a:t> classe </a:t>
            </a:r>
            <a:r>
              <a:rPr lang="fr-FR" dirty="0" err="1"/>
              <a:t>entiere</a:t>
            </a:r>
            <a:endParaRPr lang="fr-FR" dirty="0"/>
          </a:p>
          <a:p>
            <a:r>
              <a:rPr lang="fr-FR" dirty="0"/>
              <a:t>2i2d 3h demi 1h complet spé 6h demi 2h demi</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9</a:t>
            </a:fld>
            <a:endParaRPr lang="fr-FR"/>
          </a:p>
        </p:txBody>
      </p:sp>
    </p:spTree>
    <p:extLst>
      <p:ext uri="{BB962C8B-B14F-4D97-AF65-F5344CB8AC3E}">
        <p14:creationId xmlns:p14="http://schemas.microsoft.com/office/powerpoint/2010/main" val="2330722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Juste discuter du placement de la séquence dans l’année et les grandes idées de la séquence</a:t>
            </a:r>
          </a:p>
          <a:p>
            <a:r>
              <a:rPr lang="fr-FR" dirty="0"/>
              <a:t>Bien progression par thème, évite de faire une compétence/bloc de connaissances par séquence</a:t>
            </a:r>
          </a:p>
          <a:p>
            <a:r>
              <a:rPr lang="fr-FR" dirty="0"/>
              <a:t>Pour de bonnes progressions BTS voir site du lycée </a:t>
            </a:r>
            <a:r>
              <a:rPr lang="fr-FR" dirty="0" err="1"/>
              <a:t>carriat</a:t>
            </a:r>
            <a:r>
              <a:rPr lang="fr-FR" dirty="0"/>
              <a:t> attention BTS tas TD TP mais atelier et </a:t>
            </a:r>
          </a:p>
          <a:p>
            <a:r>
              <a:rPr lang="fr-FR" dirty="0"/>
              <a:t>Toujours associer a un système ou y=un </a:t>
            </a:r>
            <a:r>
              <a:rPr lang="fr-FR" dirty="0" err="1"/>
              <a:t>opoduit</a:t>
            </a:r>
            <a:r>
              <a:rPr lang="fr-FR" dirty="0"/>
              <a:t> industriel / </a:t>
            </a:r>
            <a:r>
              <a:rPr lang="fr-FR" dirty="0" err="1"/>
              <a:t>piece</a:t>
            </a:r>
            <a:r>
              <a:rPr lang="fr-FR" dirty="0"/>
              <a:t> pour </a:t>
            </a:r>
            <a:r>
              <a:rPr lang="fr-FR" dirty="0" err="1"/>
              <a:t>chauqe</a:t>
            </a:r>
            <a:r>
              <a:rPr lang="fr-FR" dirty="0"/>
              <a:t> séance</a:t>
            </a:r>
          </a:p>
          <a:p>
            <a:r>
              <a:rPr lang="fr-FR" dirty="0"/>
              <a:t>Si la progression n’est pas donnée plutôt s’atteler a trouver une bonne problématique et placer la séquence.</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10</a:t>
            </a:fld>
            <a:endParaRPr lang="fr-FR"/>
          </a:p>
        </p:txBody>
      </p:sp>
    </p:spTree>
    <p:extLst>
      <p:ext uri="{BB962C8B-B14F-4D97-AF65-F5344CB8AC3E}">
        <p14:creationId xmlns:p14="http://schemas.microsoft.com/office/powerpoint/2010/main" val="177060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Chap</a:t>
            </a:r>
            <a:r>
              <a:rPr lang="fr-FR" dirty="0"/>
              <a:t> 1 on tourne autour de tous les sujets et o approfondit la partie RDM papier/</a:t>
            </a:r>
            <a:r>
              <a:rPr lang="fr-FR" dirty="0" err="1"/>
              <a:t>expe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Chap</a:t>
            </a:r>
            <a:r>
              <a:rPr lang="fr-FR" dirty="0"/>
              <a:t> 2 on refait une passe la dessus et on fait la partie simu éléments finis</a:t>
            </a:r>
          </a:p>
          <a:p>
            <a:r>
              <a:rPr lang="fr-FR" dirty="0"/>
              <a:t>Détailler plus la séance a </a:t>
            </a:r>
            <a:r>
              <a:rPr lang="fr-FR" dirty="0" err="1"/>
              <a:t>carectere</a:t>
            </a:r>
            <a:r>
              <a:rPr lang="fr-FR" dirty="0"/>
              <a:t> </a:t>
            </a:r>
            <a:r>
              <a:rPr lang="fr-FR" dirty="0" err="1"/>
              <a:t>expe</a:t>
            </a:r>
            <a:r>
              <a:rPr lang="fr-FR" dirty="0"/>
              <a:t> </a:t>
            </a:r>
          </a:p>
          <a:p>
            <a:r>
              <a:rPr lang="fr-FR" dirty="0"/>
              <a:t>Mettre a la fin une vue d’ensemble dans la séquence </a:t>
            </a:r>
          </a:p>
          <a:p>
            <a:r>
              <a:rPr lang="fr-FR" dirty="0"/>
              <a:t>quel logiciel pour faire le quizz repréciser le nombre d’heures pour chaque cours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11</a:t>
            </a:fld>
            <a:endParaRPr lang="fr-FR"/>
          </a:p>
        </p:txBody>
      </p:sp>
    </p:spTree>
    <p:extLst>
      <p:ext uri="{BB962C8B-B14F-4D97-AF65-F5344CB8AC3E}">
        <p14:creationId xmlns:p14="http://schemas.microsoft.com/office/powerpoint/2010/main" val="368429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12</a:t>
            </a:fld>
            <a:endParaRPr lang="fr-FR"/>
          </a:p>
        </p:txBody>
      </p:sp>
    </p:spTree>
    <p:extLst>
      <p:ext uri="{BB962C8B-B14F-4D97-AF65-F5344CB8AC3E}">
        <p14:creationId xmlns:p14="http://schemas.microsoft.com/office/powerpoint/2010/main" val="1498398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ADDD-99D9-35F7-7726-F51F9851B0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F7C728-517C-39FE-6465-F7329B902A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1B7F2F-81FB-8063-C269-6D288F4F05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Rigidité déformations/allongement</a:t>
            </a:r>
          </a:p>
        </p:txBody>
      </p:sp>
      <p:sp>
        <p:nvSpPr>
          <p:cNvPr id="4" name="Espace réservé du numéro de diapositive 3">
            <a:extLst>
              <a:ext uri="{FF2B5EF4-FFF2-40B4-BE49-F238E27FC236}">
                <a16:creationId xmlns:a16="http://schemas.microsoft.com/office/drawing/2014/main" id="{7ED40436-AA9A-A159-A0DE-1903BF42D7A8}"/>
              </a:ext>
            </a:extLst>
          </p:cNvPr>
          <p:cNvSpPr>
            <a:spLocks noGrp="1"/>
          </p:cNvSpPr>
          <p:nvPr>
            <p:ph type="sldNum" sz="quarter" idx="5"/>
          </p:nvPr>
        </p:nvSpPr>
        <p:spPr/>
        <p:txBody>
          <a:bodyPr/>
          <a:lstStyle/>
          <a:p>
            <a:fld id="{B2E731D1-85AE-4366-B364-066FEADE3F45}" type="slidenum">
              <a:rPr lang="fr-FR" smtClean="0"/>
              <a:t>13</a:t>
            </a:fld>
            <a:endParaRPr lang="fr-FR"/>
          </a:p>
        </p:txBody>
      </p:sp>
    </p:spTree>
    <p:extLst>
      <p:ext uri="{BB962C8B-B14F-4D97-AF65-F5344CB8AC3E}">
        <p14:creationId xmlns:p14="http://schemas.microsoft.com/office/powerpoint/2010/main" val="2263816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1244-A1F0-38F6-AEBD-F413F7B975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E928EA-667B-E5CE-0453-781D05D3F5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B21576-FB24-453F-2295-EB93F50B92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Préciser le logiciel du quizz</a:t>
            </a:r>
          </a:p>
        </p:txBody>
      </p:sp>
      <p:sp>
        <p:nvSpPr>
          <p:cNvPr id="4" name="Espace réservé du numéro de diapositive 3">
            <a:extLst>
              <a:ext uri="{FF2B5EF4-FFF2-40B4-BE49-F238E27FC236}">
                <a16:creationId xmlns:a16="http://schemas.microsoft.com/office/drawing/2014/main" id="{186F57F9-592D-6700-F695-76DB03119B06}"/>
              </a:ext>
            </a:extLst>
          </p:cNvPr>
          <p:cNvSpPr>
            <a:spLocks noGrp="1"/>
          </p:cNvSpPr>
          <p:nvPr>
            <p:ph type="sldNum" sz="quarter" idx="5"/>
          </p:nvPr>
        </p:nvSpPr>
        <p:spPr/>
        <p:txBody>
          <a:bodyPr/>
          <a:lstStyle/>
          <a:p>
            <a:fld id="{B2E731D1-85AE-4366-B364-066FEADE3F45}" type="slidenum">
              <a:rPr lang="fr-FR" smtClean="0"/>
              <a:t>14</a:t>
            </a:fld>
            <a:endParaRPr lang="fr-FR"/>
          </a:p>
        </p:txBody>
      </p:sp>
    </p:spTree>
    <p:extLst>
      <p:ext uri="{BB962C8B-B14F-4D97-AF65-F5344CB8AC3E}">
        <p14:creationId xmlns:p14="http://schemas.microsoft.com/office/powerpoint/2010/main" val="823818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6D53-56A9-752D-39D2-4D8DAF5A17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CAFA9D-4563-3A27-2A80-377C5C8DD8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63DED0-4EA3-76B8-6422-1830596C8A30}"/>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A8CD29C5-9050-1A3D-E8A1-0261E4F14F45}"/>
              </a:ext>
            </a:extLst>
          </p:cNvPr>
          <p:cNvSpPr>
            <a:spLocks noGrp="1"/>
          </p:cNvSpPr>
          <p:nvPr>
            <p:ph type="sldNum" sz="quarter" idx="5"/>
          </p:nvPr>
        </p:nvSpPr>
        <p:spPr/>
        <p:txBody>
          <a:bodyPr/>
          <a:lstStyle/>
          <a:p>
            <a:fld id="{B2E731D1-85AE-4366-B364-066FEADE3F45}" type="slidenum">
              <a:rPr lang="fr-FR" smtClean="0"/>
              <a:t>15</a:t>
            </a:fld>
            <a:endParaRPr lang="fr-FR"/>
          </a:p>
        </p:txBody>
      </p:sp>
    </p:spTree>
    <p:extLst>
      <p:ext uri="{BB962C8B-B14F-4D97-AF65-F5344CB8AC3E}">
        <p14:creationId xmlns:p14="http://schemas.microsoft.com/office/powerpoint/2010/main" val="2914275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DD35-2939-3B88-A71C-6B0C9CE065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4F8C8B-D5BA-C9D0-19E2-F882D7796A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B259AF-D7A1-7E6F-1FC8-6D3A589A14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7B1EFAEE-1C50-EA86-5D30-9453AEF820B0}"/>
              </a:ext>
            </a:extLst>
          </p:cNvPr>
          <p:cNvSpPr>
            <a:spLocks noGrp="1"/>
          </p:cNvSpPr>
          <p:nvPr>
            <p:ph type="sldNum" sz="quarter" idx="5"/>
          </p:nvPr>
        </p:nvSpPr>
        <p:spPr/>
        <p:txBody>
          <a:bodyPr/>
          <a:lstStyle/>
          <a:p>
            <a:fld id="{B2E731D1-85AE-4366-B364-066FEADE3F45}" type="slidenum">
              <a:rPr lang="fr-FR" smtClean="0"/>
              <a:t>16</a:t>
            </a:fld>
            <a:endParaRPr lang="fr-FR"/>
          </a:p>
        </p:txBody>
      </p:sp>
    </p:spTree>
    <p:extLst>
      <p:ext uri="{BB962C8B-B14F-4D97-AF65-F5344CB8AC3E}">
        <p14:creationId xmlns:p14="http://schemas.microsoft.com/office/powerpoint/2010/main" val="828374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00D2-5951-5EFD-A377-C5A7C8E26E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F88C7-DA28-9DED-CC78-FAA9ECECC9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D6AC76-B23A-DBAC-88B3-50488BC8B8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preciser</a:t>
            </a:r>
            <a:r>
              <a:rPr lang="fr-FR" dirty="0"/>
              <a:t> le type de pont vis a vis des </a:t>
            </a:r>
            <a:r>
              <a:rPr lang="fr-FR" dirty="0" err="1"/>
              <a:t>hypotheses</a:t>
            </a:r>
            <a:endParaRPr lang="fr-FR" dirty="0"/>
          </a:p>
        </p:txBody>
      </p:sp>
      <p:sp>
        <p:nvSpPr>
          <p:cNvPr id="4" name="Espace réservé du numéro de diapositive 3">
            <a:extLst>
              <a:ext uri="{FF2B5EF4-FFF2-40B4-BE49-F238E27FC236}">
                <a16:creationId xmlns:a16="http://schemas.microsoft.com/office/drawing/2014/main" id="{993C7FFF-1CC7-FAF6-3B94-F0C86E8A19E9}"/>
              </a:ext>
            </a:extLst>
          </p:cNvPr>
          <p:cNvSpPr>
            <a:spLocks noGrp="1"/>
          </p:cNvSpPr>
          <p:nvPr>
            <p:ph type="sldNum" sz="quarter" idx="5"/>
          </p:nvPr>
        </p:nvSpPr>
        <p:spPr/>
        <p:txBody>
          <a:bodyPr/>
          <a:lstStyle/>
          <a:p>
            <a:fld id="{B2E731D1-85AE-4366-B364-066FEADE3F45}" type="slidenum">
              <a:rPr lang="fr-FR" smtClean="0"/>
              <a:t>17</a:t>
            </a:fld>
            <a:endParaRPr lang="fr-FR"/>
          </a:p>
        </p:txBody>
      </p:sp>
    </p:spTree>
    <p:extLst>
      <p:ext uri="{BB962C8B-B14F-4D97-AF65-F5344CB8AC3E}">
        <p14:creationId xmlns:p14="http://schemas.microsoft.com/office/powerpoint/2010/main" val="1333416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9CF4-A951-36DE-DE18-5793A894FF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718F63-90E4-D6CA-5175-74E1D91518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C8F986-80D9-474A-5C56-CDE34E26EC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6DE1B40C-27D4-55F9-1EF5-B9D3130C4AD2}"/>
              </a:ext>
            </a:extLst>
          </p:cNvPr>
          <p:cNvSpPr>
            <a:spLocks noGrp="1"/>
          </p:cNvSpPr>
          <p:nvPr>
            <p:ph type="sldNum" sz="quarter" idx="5"/>
          </p:nvPr>
        </p:nvSpPr>
        <p:spPr/>
        <p:txBody>
          <a:bodyPr/>
          <a:lstStyle/>
          <a:p>
            <a:fld id="{B2E731D1-85AE-4366-B364-066FEADE3F45}" type="slidenum">
              <a:rPr lang="fr-FR" smtClean="0"/>
              <a:t>18</a:t>
            </a:fld>
            <a:endParaRPr lang="fr-FR"/>
          </a:p>
        </p:txBody>
      </p:sp>
    </p:spTree>
    <p:extLst>
      <p:ext uri="{BB962C8B-B14F-4D97-AF65-F5344CB8AC3E}">
        <p14:creationId xmlns:p14="http://schemas.microsoft.com/office/powerpoint/2010/main" val="2317955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78C0-4F06-8C8F-43FC-733EEAC79A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9D29FA-E8F9-7BB0-B221-7149472EE2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3227D3-F91A-0836-0524-E21F43F832BF}"/>
              </a:ext>
            </a:extLst>
          </p:cNvPr>
          <p:cNvSpPr>
            <a:spLocks noGrp="1"/>
          </p:cNvSpPr>
          <p:nvPr>
            <p:ph type="body" idx="1"/>
          </p:nvPr>
        </p:nvSpPr>
        <p:spPr/>
        <p:txBody>
          <a:bodyPr/>
          <a:lstStyle/>
          <a:p>
            <a:r>
              <a:rPr lang="fr-FR" dirty="0"/>
              <a:t>2,3: comment choisir le nombre d’échantillons: est ce que c’est de la qualification de nouveau produit ou alors juste un contrôle qualité habituel: ici contrôle qualité habituel donc échantillon plus petit ( voir même faire 2 essais par échantillon en le coupant en 2) disons 3-5 colliers pour un paquet de 100 il faut être précis de quand date la norme, son nom iso et son nom complet dire vite fait quels critères on choisit (ici S-2, II) la seule variable de notre essai de traction doit être le collier (et pas sont positionnement ou son serrage ou la course initiale)</a:t>
            </a:r>
          </a:p>
          <a:p>
            <a:r>
              <a:rPr lang="fr-FR" dirty="0"/>
              <a:t>Tests traction (RM ou Re), fatigue, résistance aux </a:t>
            </a:r>
            <a:r>
              <a:rPr lang="fr-FR" dirty="0" err="1"/>
              <a:t>UVs</a:t>
            </a:r>
            <a:r>
              <a:rPr lang="fr-FR" dirty="0"/>
              <a:t>, résistance a abrasion</a:t>
            </a:r>
          </a:p>
          <a:p>
            <a:r>
              <a:rPr lang="fr-FR" dirty="0"/>
              <a:t>Regarder le guide équipement officiel d’un labo de si pour le niveau considéré</a:t>
            </a:r>
          </a:p>
          <a:p>
            <a:r>
              <a:rPr lang="fr-FR" dirty="0"/>
              <a:t>Serrer clé </a:t>
            </a:r>
            <a:r>
              <a:rPr lang="fr-FR" dirty="0" err="1"/>
              <a:t>dymao</a:t>
            </a:r>
            <a:r>
              <a:rPr lang="fr-FR" dirty="0"/>
              <a:t> pour montrer la relativité (et pk pas le monter le glissement quand ce n’est pas assez serré ou la rupture au niveau du mords quand c’est trop serré)</a:t>
            </a:r>
          </a:p>
          <a:p>
            <a:r>
              <a:rPr lang="fr-FR" dirty="0"/>
              <a:t>Garder le plus longtemps possibles valeurs mesurés brutes afin que l’on puisse changer les paramètres (aka section ici ) pour faire des incertitudes par exemple</a:t>
            </a:r>
          </a:p>
          <a:p>
            <a:r>
              <a:rPr lang="fr-FR" dirty="0"/>
              <a:t>Couper tète, couper en deux, installer bien droit, d entre mords 40mm, et serre correctement (rilsan sur la totalité des mords), régler v déplacement( 45mm/min), mettre à 0, lancer acquisition et appui bouton monter exporter courbe en csv</a:t>
            </a:r>
          </a:p>
        </p:txBody>
      </p:sp>
      <p:sp>
        <p:nvSpPr>
          <p:cNvPr id="4" name="Espace réservé du numéro de diapositive 3">
            <a:extLst>
              <a:ext uri="{FF2B5EF4-FFF2-40B4-BE49-F238E27FC236}">
                <a16:creationId xmlns:a16="http://schemas.microsoft.com/office/drawing/2014/main" id="{16308E15-3F17-716F-6569-015893AD6111}"/>
              </a:ext>
            </a:extLst>
          </p:cNvPr>
          <p:cNvSpPr>
            <a:spLocks noGrp="1"/>
          </p:cNvSpPr>
          <p:nvPr>
            <p:ph type="sldNum" sz="quarter" idx="5"/>
          </p:nvPr>
        </p:nvSpPr>
        <p:spPr/>
        <p:txBody>
          <a:bodyPr/>
          <a:lstStyle/>
          <a:p>
            <a:fld id="{B2E731D1-85AE-4366-B364-066FEADE3F45}" type="slidenum">
              <a:rPr lang="fr-FR" smtClean="0"/>
              <a:t>19</a:t>
            </a:fld>
            <a:endParaRPr lang="fr-FR"/>
          </a:p>
        </p:txBody>
      </p:sp>
    </p:spTree>
    <p:extLst>
      <p:ext uri="{BB962C8B-B14F-4D97-AF65-F5344CB8AC3E}">
        <p14:creationId xmlns:p14="http://schemas.microsoft.com/office/powerpoint/2010/main" val="604303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Leur utilité? Apres avoir écrit les compétences en entier une seule fois, on peut juste écrire les numéros. Le jury connait le BO/Référentiel/ </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20</a:t>
            </a:fld>
            <a:endParaRPr lang="fr-FR"/>
          </a:p>
        </p:txBody>
      </p:sp>
    </p:spTree>
    <p:extLst>
      <p:ext uri="{BB962C8B-B14F-4D97-AF65-F5344CB8AC3E}">
        <p14:creationId xmlns:p14="http://schemas.microsoft.com/office/powerpoint/2010/main" val="3742640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Lourd les compétences a un moment pas de peut être il faut être sur de ses choix</a:t>
            </a:r>
          </a:p>
          <a:p>
            <a:r>
              <a:rPr lang="fr-FR" dirty="0"/>
              <a:t>Faire en sorte que le jury se retrouve toujours a quel endroit on est dans la diapo</a:t>
            </a:r>
          </a:p>
          <a:p>
            <a:r>
              <a:rPr lang="fr-FR" dirty="0"/>
              <a:t>Voir la près éros par mail se faire un plan type et adapter au truc donné bonne idée le jeu</a:t>
            </a:r>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21</a:t>
            </a:fld>
            <a:endParaRPr lang="fr-FR"/>
          </a:p>
        </p:txBody>
      </p:sp>
    </p:spTree>
    <p:extLst>
      <p:ext uri="{BB962C8B-B14F-4D97-AF65-F5344CB8AC3E}">
        <p14:creationId xmlns:p14="http://schemas.microsoft.com/office/powerpoint/2010/main" val="4079492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31D1-85AE-4366-B364-066FEADE3F45}" type="slidenum">
              <a:rPr lang="fr-FR" smtClean="0"/>
              <a:t>23</a:t>
            </a:fld>
            <a:endParaRPr lang="fr-FR"/>
          </a:p>
        </p:txBody>
      </p:sp>
    </p:spTree>
    <p:extLst>
      <p:ext uri="{BB962C8B-B14F-4D97-AF65-F5344CB8AC3E}">
        <p14:creationId xmlns:p14="http://schemas.microsoft.com/office/powerpoint/2010/main" val="3108244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6DF711-41FE-BC36-2551-915030E6E58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273F54A-5A33-D854-8941-37712C7550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C4476D4-928F-EE23-2208-DCCAE23D7291}"/>
              </a:ext>
            </a:extLst>
          </p:cNvPr>
          <p:cNvSpPr>
            <a:spLocks noGrp="1"/>
          </p:cNvSpPr>
          <p:nvPr>
            <p:ph type="dt" sz="half" idx="10"/>
          </p:nvPr>
        </p:nvSpPr>
        <p:spPr/>
        <p:txBody>
          <a:bodyPr/>
          <a:lstStyle/>
          <a:p>
            <a:fld id="{576F077C-0008-4FAD-8972-12E23C1C7B88}" type="datetime1">
              <a:rPr lang="fr-FR" smtClean="0"/>
              <a:t>07/06/2026</a:t>
            </a:fld>
            <a:endParaRPr lang="fr-FR"/>
          </a:p>
        </p:txBody>
      </p:sp>
      <p:sp>
        <p:nvSpPr>
          <p:cNvPr id="5" name="Espace réservé du pied de page 4">
            <a:extLst>
              <a:ext uri="{FF2B5EF4-FFF2-40B4-BE49-F238E27FC236}">
                <a16:creationId xmlns:a16="http://schemas.microsoft.com/office/drawing/2014/main" id="{E4A77797-E36C-F16F-09CA-B4E03B163160}"/>
              </a:ext>
            </a:extLst>
          </p:cNvPr>
          <p:cNvSpPr>
            <a:spLocks noGrp="1"/>
          </p:cNvSpPr>
          <p:nvPr>
            <p:ph type="ftr" sz="quarter" idx="11"/>
          </p:nvPr>
        </p:nvSpPr>
        <p:spPr/>
        <p:txBody>
          <a:bodyPr/>
          <a:lstStyle/>
          <a:p>
            <a:r>
              <a:rPr lang="fr-FR"/>
              <a:t>N° Arthur PREVISANI</a:t>
            </a:r>
          </a:p>
        </p:txBody>
      </p:sp>
      <p:sp>
        <p:nvSpPr>
          <p:cNvPr id="6" name="Espace réservé du numéro de diapositive 5">
            <a:extLst>
              <a:ext uri="{FF2B5EF4-FFF2-40B4-BE49-F238E27FC236}">
                <a16:creationId xmlns:a16="http://schemas.microsoft.com/office/drawing/2014/main" id="{9B916059-AA0D-B530-BBE5-C71F98C1A42F}"/>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630814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D296C9-7E6D-4C0B-AB2A-AD2F22AF89D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96F0445-EC47-CC69-A4DD-DCE62005833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E4EC8A-E889-7098-46A5-BBB24C8562E1}"/>
              </a:ext>
            </a:extLst>
          </p:cNvPr>
          <p:cNvSpPr>
            <a:spLocks noGrp="1"/>
          </p:cNvSpPr>
          <p:nvPr>
            <p:ph type="dt" sz="half" idx="10"/>
          </p:nvPr>
        </p:nvSpPr>
        <p:spPr/>
        <p:txBody>
          <a:bodyPr/>
          <a:lstStyle/>
          <a:p>
            <a:fld id="{0BB05C61-27FA-4AFD-B3B8-3EC1336A9565}" type="datetime1">
              <a:rPr lang="fr-FR" smtClean="0"/>
              <a:t>07/06/2026</a:t>
            </a:fld>
            <a:endParaRPr lang="fr-FR"/>
          </a:p>
        </p:txBody>
      </p:sp>
      <p:sp>
        <p:nvSpPr>
          <p:cNvPr id="5" name="Espace réservé du pied de page 4">
            <a:extLst>
              <a:ext uri="{FF2B5EF4-FFF2-40B4-BE49-F238E27FC236}">
                <a16:creationId xmlns:a16="http://schemas.microsoft.com/office/drawing/2014/main" id="{C967521B-EAA7-C302-0F50-637841A51A10}"/>
              </a:ext>
            </a:extLst>
          </p:cNvPr>
          <p:cNvSpPr>
            <a:spLocks noGrp="1"/>
          </p:cNvSpPr>
          <p:nvPr>
            <p:ph type="ftr" sz="quarter" idx="11"/>
          </p:nvPr>
        </p:nvSpPr>
        <p:spPr/>
        <p:txBody>
          <a:bodyPr/>
          <a:lstStyle/>
          <a:p>
            <a:r>
              <a:rPr lang="fr-FR"/>
              <a:t>N° Arthur PREVISANI</a:t>
            </a:r>
          </a:p>
        </p:txBody>
      </p:sp>
      <p:sp>
        <p:nvSpPr>
          <p:cNvPr id="6" name="Espace réservé du numéro de diapositive 5">
            <a:extLst>
              <a:ext uri="{FF2B5EF4-FFF2-40B4-BE49-F238E27FC236}">
                <a16:creationId xmlns:a16="http://schemas.microsoft.com/office/drawing/2014/main" id="{9B0EC2DB-EE08-D441-48A8-3E3204F652C9}"/>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32889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174776-5587-F858-2604-354A226A79D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449EA73-C48A-F2B5-0E08-D683776AF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8D039C8-A726-BD26-6FBA-D858D74EDC89}"/>
              </a:ext>
            </a:extLst>
          </p:cNvPr>
          <p:cNvSpPr>
            <a:spLocks noGrp="1"/>
          </p:cNvSpPr>
          <p:nvPr>
            <p:ph type="dt" sz="half" idx="10"/>
          </p:nvPr>
        </p:nvSpPr>
        <p:spPr/>
        <p:txBody>
          <a:bodyPr/>
          <a:lstStyle/>
          <a:p>
            <a:fld id="{34D5C2DE-F47C-48F5-A43C-714ADFE94D8C}" type="datetime1">
              <a:rPr lang="fr-FR" smtClean="0"/>
              <a:t>07/06/2026</a:t>
            </a:fld>
            <a:endParaRPr lang="fr-FR"/>
          </a:p>
        </p:txBody>
      </p:sp>
      <p:sp>
        <p:nvSpPr>
          <p:cNvPr id="5" name="Espace réservé du pied de page 4">
            <a:extLst>
              <a:ext uri="{FF2B5EF4-FFF2-40B4-BE49-F238E27FC236}">
                <a16:creationId xmlns:a16="http://schemas.microsoft.com/office/drawing/2014/main" id="{F006EF1D-F7EB-7B74-AD95-D98391D30783}"/>
              </a:ext>
            </a:extLst>
          </p:cNvPr>
          <p:cNvSpPr>
            <a:spLocks noGrp="1"/>
          </p:cNvSpPr>
          <p:nvPr>
            <p:ph type="ftr" sz="quarter" idx="11"/>
          </p:nvPr>
        </p:nvSpPr>
        <p:spPr/>
        <p:txBody>
          <a:bodyPr/>
          <a:lstStyle/>
          <a:p>
            <a:r>
              <a:rPr lang="fr-FR"/>
              <a:t>N° Arthur PREVISANI</a:t>
            </a:r>
          </a:p>
        </p:txBody>
      </p:sp>
      <p:sp>
        <p:nvSpPr>
          <p:cNvPr id="6" name="Espace réservé du numéro de diapositive 5">
            <a:extLst>
              <a:ext uri="{FF2B5EF4-FFF2-40B4-BE49-F238E27FC236}">
                <a16:creationId xmlns:a16="http://schemas.microsoft.com/office/drawing/2014/main" id="{1AF3C274-D32B-7344-652C-623CF784BEAB}"/>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381082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5BC0A-E2F3-981B-7B0A-EB3083BBD26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C1E34D3-9038-DC73-B4C8-9B0409BDA32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4BA138-3D33-5172-5F2D-6571B491603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8D29B37-88AE-5D1F-720A-EB6A4795BE11}"/>
              </a:ext>
            </a:extLst>
          </p:cNvPr>
          <p:cNvSpPr>
            <a:spLocks noGrp="1"/>
          </p:cNvSpPr>
          <p:nvPr>
            <p:ph type="dt" sz="half" idx="10"/>
          </p:nvPr>
        </p:nvSpPr>
        <p:spPr/>
        <p:txBody>
          <a:bodyPr/>
          <a:lstStyle/>
          <a:p>
            <a:fld id="{994E023B-5572-4B31-A638-1AC7BE0EC588}" type="datetime1">
              <a:rPr lang="fr-FR" smtClean="0"/>
              <a:t>07/06/2026</a:t>
            </a:fld>
            <a:endParaRPr lang="fr-FR"/>
          </a:p>
        </p:txBody>
      </p:sp>
      <p:sp>
        <p:nvSpPr>
          <p:cNvPr id="6" name="Espace réservé du pied de page 5">
            <a:extLst>
              <a:ext uri="{FF2B5EF4-FFF2-40B4-BE49-F238E27FC236}">
                <a16:creationId xmlns:a16="http://schemas.microsoft.com/office/drawing/2014/main" id="{6B2CB28E-189C-2720-7E67-FCB1706DB58E}"/>
              </a:ext>
            </a:extLst>
          </p:cNvPr>
          <p:cNvSpPr>
            <a:spLocks noGrp="1"/>
          </p:cNvSpPr>
          <p:nvPr>
            <p:ph type="ftr" sz="quarter" idx="11"/>
          </p:nvPr>
        </p:nvSpPr>
        <p:spPr/>
        <p:txBody>
          <a:bodyPr/>
          <a:lstStyle/>
          <a:p>
            <a:r>
              <a:rPr lang="fr-FR"/>
              <a:t>N° Arthur PREVISANI</a:t>
            </a:r>
          </a:p>
        </p:txBody>
      </p:sp>
      <p:sp>
        <p:nvSpPr>
          <p:cNvPr id="7" name="Espace réservé du numéro de diapositive 6">
            <a:extLst>
              <a:ext uri="{FF2B5EF4-FFF2-40B4-BE49-F238E27FC236}">
                <a16:creationId xmlns:a16="http://schemas.microsoft.com/office/drawing/2014/main" id="{53E1AE9A-E492-3608-CA3E-92F741EC9E0D}"/>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412728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D307AF-B24D-51CB-61B6-72864E2DED0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499181F-8B30-BCC2-B646-83FD69987D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640C097-C15A-FC95-866C-9BBCB3EEDF0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65E01B8-585B-AEE4-1C95-3910804D7B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6900EC2-CC71-9BE9-DC0A-B486BC5BD23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B5B798-F4C6-C695-7A5A-880C351385DA}"/>
              </a:ext>
            </a:extLst>
          </p:cNvPr>
          <p:cNvSpPr>
            <a:spLocks noGrp="1"/>
          </p:cNvSpPr>
          <p:nvPr>
            <p:ph type="dt" sz="half" idx="10"/>
          </p:nvPr>
        </p:nvSpPr>
        <p:spPr/>
        <p:txBody>
          <a:bodyPr/>
          <a:lstStyle/>
          <a:p>
            <a:fld id="{0D2D0933-BD22-4462-9260-1F2D8738FE4E}" type="datetime1">
              <a:rPr lang="fr-FR" smtClean="0"/>
              <a:t>07/06/2026</a:t>
            </a:fld>
            <a:endParaRPr lang="fr-FR"/>
          </a:p>
        </p:txBody>
      </p:sp>
      <p:sp>
        <p:nvSpPr>
          <p:cNvPr id="8" name="Espace réservé du pied de page 7">
            <a:extLst>
              <a:ext uri="{FF2B5EF4-FFF2-40B4-BE49-F238E27FC236}">
                <a16:creationId xmlns:a16="http://schemas.microsoft.com/office/drawing/2014/main" id="{C6F0C7EC-0544-73E9-DE29-9632F9D4221F}"/>
              </a:ext>
            </a:extLst>
          </p:cNvPr>
          <p:cNvSpPr>
            <a:spLocks noGrp="1"/>
          </p:cNvSpPr>
          <p:nvPr>
            <p:ph type="ftr" sz="quarter" idx="11"/>
          </p:nvPr>
        </p:nvSpPr>
        <p:spPr/>
        <p:txBody>
          <a:bodyPr/>
          <a:lstStyle/>
          <a:p>
            <a:r>
              <a:rPr lang="fr-FR"/>
              <a:t>N° Arthur PREVISANI</a:t>
            </a:r>
          </a:p>
        </p:txBody>
      </p:sp>
      <p:sp>
        <p:nvSpPr>
          <p:cNvPr id="9" name="Espace réservé du numéro de diapositive 8">
            <a:extLst>
              <a:ext uri="{FF2B5EF4-FFF2-40B4-BE49-F238E27FC236}">
                <a16:creationId xmlns:a16="http://schemas.microsoft.com/office/drawing/2014/main" id="{B7E9ED55-4600-4E3C-0DC6-EFE5D7D1C63B}"/>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091093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15B3D5-8A00-8AD8-1CAF-D23F937929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D054F4B-F70C-68AC-1FDC-37D3E0EF98C5}"/>
              </a:ext>
            </a:extLst>
          </p:cNvPr>
          <p:cNvSpPr>
            <a:spLocks noGrp="1"/>
          </p:cNvSpPr>
          <p:nvPr>
            <p:ph type="dt" sz="half" idx="10"/>
          </p:nvPr>
        </p:nvSpPr>
        <p:spPr/>
        <p:txBody>
          <a:bodyPr/>
          <a:lstStyle/>
          <a:p>
            <a:fld id="{8E500150-7925-41B0-8330-BB99F816AB0B}" type="datetime1">
              <a:rPr lang="fr-FR" smtClean="0"/>
              <a:t>07/06/2026</a:t>
            </a:fld>
            <a:endParaRPr lang="fr-FR"/>
          </a:p>
        </p:txBody>
      </p:sp>
      <p:sp>
        <p:nvSpPr>
          <p:cNvPr id="4" name="Espace réservé du pied de page 3">
            <a:extLst>
              <a:ext uri="{FF2B5EF4-FFF2-40B4-BE49-F238E27FC236}">
                <a16:creationId xmlns:a16="http://schemas.microsoft.com/office/drawing/2014/main" id="{A9B95A69-C762-41A3-5216-3BC55C07BC6E}"/>
              </a:ext>
            </a:extLst>
          </p:cNvPr>
          <p:cNvSpPr>
            <a:spLocks noGrp="1"/>
          </p:cNvSpPr>
          <p:nvPr>
            <p:ph type="ftr" sz="quarter" idx="11"/>
          </p:nvPr>
        </p:nvSpPr>
        <p:spPr/>
        <p:txBody>
          <a:bodyPr/>
          <a:lstStyle/>
          <a:p>
            <a:r>
              <a:rPr lang="fr-FR"/>
              <a:t>N° Arthur PREVISANI</a:t>
            </a:r>
          </a:p>
        </p:txBody>
      </p:sp>
      <p:sp>
        <p:nvSpPr>
          <p:cNvPr id="5" name="Espace réservé du numéro de diapositive 4">
            <a:extLst>
              <a:ext uri="{FF2B5EF4-FFF2-40B4-BE49-F238E27FC236}">
                <a16:creationId xmlns:a16="http://schemas.microsoft.com/office/drawing/2014/main" id="{F8162E71-4B9B-48DD-BE35-11327B397869}"/>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630546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8F44F57-3A95-4159-DB34-70E5FB23E158}"/>
              </a:ext>
            </a:extLst>
          </p:cNvPr>
          <p:cNvSpPr>
            <a:spLocks noGrp="1"/>
          </p:cNvSpPr>
          <p:nvPr>
            <p:ph type="dt" sz="half" idx="10"/>
          </p:nvPr>
        </p:nvSpPr>
        <p:spPr/>
        <p:txBody>
          <a:bodyPr/>
          <a:lstStyle/>
          <a:p>
            <a:fld id="{E5CD940D-B597-4167-BDF1-10B30BF9269C}" type="datetime1">
              <a:rPr lang="fr-FR" smtClean="0"/>
              <a:t>07/06/2026</a:t>
            </a:fld>
            <a:endParaRPr lang="fr-FR"/>
          </a:p>
        </p:txBody>
      </p:sp>
      <p:sp>
        <p:nvSpPr>
          <p:cNvPr id="3" name="Espace réservé du pied de page 2">
            <a:extLst>
              <a:ext uri="{FF2B5EF4-FFF2-40B4-BE49-F238E27FC236}">
                <a16:creationId xmlns:a16="http://schemas.microsoft.com/office/drawing/2014/main" id="{A8F05ACA-7EE0-B81F-E8AE-4CDEE549A065}"/>
              </a:ext>
            </a:extLst>
          </p:cNvPr>
          <p:cNvSpPr>
            <a:spLocks noGrp="1"/>
          </p:cNvSpPr>
          <p:nvPr>
            <p:ph type="ftr" sz="quarter" idx="11"/>
          </p:nvPr>
        </p:nvSpPr>
        <p:spPr/>
        <p:txBody>
          <a:bodyPr/>
          <a:lstStyle/>
          <a:p>
            <a:r>
              <a:rPr lang="fr-FR"/>
              <a:t>N° Arthur PREVISANI</a:t>
            </a:r>
          </a:p>
        </p:txBody>
      </p:sp>
      <p:sp>
        <p:nvSpPr>
          <p:cNvPr id="4" name="Espace réservé du numéro de diapositive 3">
            <a:extLst>
              <a:ext uri="{FF2B5EF4-FFF2-40B4-BE49-F238E27FC236}">
                <a16:creationId xmlns:a16="http://schemas.microsoft.com/office/drawing/2014/main" id="{FB7E460B-1F57-4B09-2A71-78CCCCBA3948}"/>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92590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6DC75D-8E80-7A95-E72E-40B4632B8FC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CB0C44B-C09A-A529-A204-134460066E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63512CE-393F-8FE4-F4FA-4B3328D95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F428757-884D-D118-79E3-802E5B07698C}"/>
              </a:ext>
            </a:extLst>
          </p:cNvPr>
          <p:cNvSpPr>
            <a:spLocks noGrp="1"/>
          </p:cNvSpPr>
          <p:nvPr>
            <p:ph type="dt" sz="half" idx="10"/>
          </p:nvPr>
        </p:nvSpPr>
        <p:spPr/>
        <p:txBody>
          <a:bodyPr/>
          <a:lstStyle/>
          <a:p>
            <a:fld id="{72D6EE46-9CE1-4053-A45B-48090CF6FA38}" type="datetime1">
              <a:rPr lang="fr-FR" smtClean="0"/>
              <a:t>07/06/2026</a:t>
            </a:fld>
            <a:endParaRPr lang="fr-FR"/>
          </a:p>
        </p:txBody>
      </p:sp>
      <p:sp>
        <p:nvSpPr>
          <p:cNvPr id="6" name="Espace réservé du pied de page 5">
            <a:extLst>
              <a:ext uri="{FF2B5EF4-FFF2-40B4-BE49-F238E27FC236}">
                <a16:creationId xmlns:a16="http://schemas.microsoft.com/office/drawing/2014/main" id="{C3ACB2A1-6CCC-651B-4E14-BA495A7722E3}"/>
              </a:ext>
            </a:extLst>
          </p:cNvPr>
          <p:cNvSpPr>
            <a:spLocks noGrp="1"/>
          </p:cNvSpPr>
          <p:nvPr>
            <p:ph type="ftr" sz="quarter" idx="11"/>
          </p:nvPr>
        </p:nvSpPr>
        <p:spPr/>
        <p:txBody>
          <a:bodyPr/>
          <a:lstStyle/>
          <a:p>
            <a:r>
              <a:rPr lang="fr-FR"/>
              <a:t>N° Arthur PREVISANI</a:t>
            </a:r>
          </a:p>
        </p:txBody>
      </p:sp>
      <p:sp>
        <p:nvSpPr>
          <p:cNvPr id="7" name="Espace réservé du numéro de diapositive 6">
            <a:extLst>
              <a:ext uri="{FF2B5EF4-FFF2-40B4-BE49-F238E27FC236}">
                <a16:creationId xmlns:a16="http://schemas.microsoft.com/office/drawing/2014/main" id="{F1A861B9-8372-F0D1-011D-E1F28649DB84}"/>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1614647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F59C4F-673A-ED4D-3B5D-FBA615818E3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7A36D45-7F70-D116-238E-50A3E0B23F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2A3A843-10B3-FE89-A865-0187D5C06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B4A0979-8D9A-AAE6-7FD8-4333BCDD40C6}"/>
              </a:ext>
            </a:extLst>
          </p:cNvPr>
          <p:cNvSpPr>
            <a:spLocks noGrp="1"/>
          </p:cNvSpPr>
          <p:nvPr>
            <p:ph type="dt" sz="half" idx="10"/>
          </p:nvPr>
        </p:nvSpPr>
        <p:spPr/>
        <p:txBody>
          <a:bodyPr/>
          <a:lstStyle/>
          <a:p>
            <a:fld id="{53DDF451-3877-4C1C-99E6-5E05F174E56C}" type="datetime1">
              <a:rPr lang="fr-FR" smtClean="0"/>
              <a:t>07/06/2026</a:t>
            </a:fld>
            <a:endParaRPr lang="fr-FR"/>
          </a:p>
        </p:txBody>
      </p:sp>
      <p:sp>
        <p:nvSpPr>
          <p:cNvPr id="6" name="Espace réservé du pied de page 5">
            <a:extLst>
              <a:ext uri="{FF2B5EF4-FFF2-40B4-BE49-F238E27FC236}">
                <a16:creationId xmlns:a16="http://schemas.microsoft.com/office/drawing/2014/main" id="{05FBFA0C-669A-2FFA-9D90-F020DED99D4A}"/>
              </a:ext>
            </a:extLst>
          </p:cNvPr>
          <p:cNvSpPr>
            <a:spLocks noGrp="1"/>
          </p:cNvSpPr>
          <p:nvPr>
            <p:ph type="ftr" sz="quarter" idx="11"/>
          </p:nvPr>
        </p:nvSpPr>
        <p:spPr/>
        <p:txBody>
          <a:bodyPr/>
          <a:lstStyle/>
          <a:p>
            <a:r>
              <a:rPr lang="fr-FR"/>
              <a:t>N° Arthur PREVISANI</a:t>
            </a:r>
          </a:p>
        </p:txBody>
      </p:sp>
      <p:sp>
        <p:nvSpPr>
          <p:cNvPr id="7" name="Espace réservé du numéro de diapositive 6">
            <a:extLst>
              <a:ext uri="{FF2B5EF4-FFF2-40B4-BE49-F238E27FC236}">
                <a16:creationId xmlns:a16="http://schemas.microsoft.com/office/drawing/2014/main" id="{39C3CF3B-3555-AB73-6404-79F7DF4DCAC1}"/>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744992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2D1158-D8BB-8A84-A615-78B0FEC4EF5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CC13670-FA7A-3BE4-9BCB-6FCE413B537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9631FC-316D-692B-2051-0D0A37A61C17}"/>
              </a:ext>
            </a:extLst>
          </p:cNvPr>
          <p:cNvSpPr>
            <a:spLocks noGrp="1"/>
          </p:cNvSpPr>
          <p:nvPr>
            <p:ph type="dt" sz="half" idx="10"/>
          </p:nvPr>
        </p:nvSpPr>
        <p:spPr/>
        <p:txBody>
          <a:bodyPr/>
          <a:lstStyle/>
          <a:p>
            <a:fld id="{6A420C7F-0C72-48A7-9C3C-93C37D69CCFB}" type="datetime1">
              <a:rPr lang="fr-FR" smtClean="0"/>
              <a:t>07/06/2026</a:t>
            </a:fld>
            <a:endParaRPr lang="fr-FR"/>
          </a:p>
        </p:txBody>
      </p:sp>
      <p:sp>
        <p:nvSpPr>
          <p:cNvPr id="5" name="Espace réservé du pied de page 4">
            <a:extLst>
              <a:ext uri="{FF2B5EF4-FFF2-40B4-BE49-F238E27FC236}">
                <a16:creationId xmlns:a16="http://schemas.microsoft.com/office/drawing/2014/main" id="{54E9125E-D720-8585-C7F5-F17B88883100}"/>
              </a:ext>
            </a:extLst>
          </p:cNvPr>
          <p:cNvSpPr>
            <a:spLocks noGrp="1"/>
          </p:cNvSpPr>
          <p:nvPr>
            <p:ph type="ftr" sz="quarter" idx="11"/>
          </p:nvPr>
        </p:nvSpPr>
        <p:spPr/>
        <p:txBody>
          <a:bodyPr/>
          <a:lstStyle/>
          <a:p>
            <a:r>
              <a:rPr lang="fr-FR"/>
              <a:t>N° Arthur PREVISANI</a:t>
            </a:r>
          </a:p>
        </p:txBody>
      </p:sp>
      <p:sp>
        <p:nvSpPr>
          <p:cNvPr id="6" name="Espace réservé du numéro de diapositive 5">
            <a:extLst>
              <a:ext uri="{FF2B5EF4-FFF2-40B4-BE49-F238E27FC236}">
                <a16:creationId xmlns:a16="http://schemas.microsoft.com/office/drawing/2014/main" id="{7F1C4AEC-6A8D-F86A-0707-0E5FCBF99F73}"/>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230645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DF9AE4B-2534-568D-B396-F2E647F3504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713E4F-9025-06A8-2D9E-D90F1C0F666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E9C4C49-7B8D-3D53-6826-3EEB742581D8}"/>
              </a:ext>
            </a:extLst>
          </p:cNvPr>
          <p:cNvSpPr>
            <a:spLocks noGrp="1"/>
          </p:cNvSpPr>
          <p:nvPr>
            <p:ph type="dt" sz="half" idx="10"/>
          </p:nvPr>
        </p:nvSpPr>
        <p:spPr/>
        <p:txBody>
          <a:bodyPr/>
          <a:lstStyle/>
          <a:p>
            <a:fld id="{19981B41-49FA-4D03-BF8D-609F3C57F39D}" type="datetime1">
              <a:rPr lang="fr-FR" smtClean="0"/>
              <a:t>07/06/2026</a:t>
            </a:fld>
            <a:endParaRPr lang="fr-FR"/>
          </a:p>
        </p:txBody>
      </p:sp>
      <p:sp>
        <p:nvSpPr>
          <p:cNvPr id="5" name="Espace réservé du pied de page 4">
            <a:extLst>
              <a:ext uri="{FF2B5EF4-FFF2-40B4-BE49-F238E27FC236}">
                <a16:creationId xmlns:a16="http://schemas.microsoft.com/office/drawing/2014/main" id="{5ECF3146-EE99-EA97-B96E-D78C9EE2825F}"/>
              </a:ext>
            </a:extLst>
          </p:cNvPr>
          <p:cNvSpPr>
            <a:spLocks noGrp="1"/>
          </p:cNvSpPr>
          <p:nvPr>
            <p:ph type="ftr" sz="quarter" idx="11"/>
          </p:nvPr>
        </p:nvSpPr>
        <p:spPr/>
        <p:txBody>
          <a:bodyPr/>
          <a:lstStyle/>
          <a:p>
            <a:r>
              <a:rPr lang="fr-FR"/>
              <a:t>N° Arthur PREVISANI</a:t>
            </a:r>
          </a:p>
        </p:txBody>
      </p:sp>
      <p:sp>
        <p:nvSpPr>
          <p:cNvPr id="6" name="Espace réservé du numéro de diapositive 5">
            <a:extLst>
              <a:ext uri="{FF2B5EF4-FFF2-40B4-BE49-F238E27FC236}">
                <a16:creationId xmlns:a16="http://schemas.microsoft.com/office/drawing/2014/main" id="{C961CCE9-E162-5478-91C0-456E14F3B62E}"/>
              </a:ext>
            </a:extLst>
          </p:cNvPr>
          <p:cNvSpPr>
            <a:spLocks noGrp="1"/>
          </p:cNvSpPr>
          <p:nvPr>
            <p:ph type="sldNum" sz="quarter" idx="12"/>
          </p:nvPr>
        </p:nvSpPr>
        <p:spPr/>
        <p:txBody>
          <a:bodyPr/>
          <a:lstStyle/>
          <a:p>
            <a:fld id="{201A5C1E-DE71-4D99-BC1E-739595F062E0}" type="slidenum">
              <a:rPr lang="fr-FR" smtClean="0"/>
              <a:t>‹N°›</a:t>
            </a:fld>
            <a:endParaRPr lang="fr-FR"/>
          </a:p>
        </p:txBody>
      </p:sp>
    </p:spTree>
    <p:extLst>
      <p:ext uri="{BB962C8B-B14F-4D97-AF65-F5344CB8AC3E}">
        <p14:creationId xmlns:p14="http://schemas.microsoft.com/office/powerpoint/2010/main" val="3371703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9A2220-585D-DA61-19CF-722946D89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041AB91-EA0A-1B3D-30DD-77EE464657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9984C2-764A-08FD-ACA0-4AD7F1D19C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FF3B65-912E-4A9B-B8D4-C7CCF08025C8}" type="datetime1">
              <a:rPr lang="fr-FR" smtClean="0"/>
              <a:t>07/06/2026</a:t>
            </a:fld>
            <a:endParaRPr lang="fr-FR"/>
          </a:p>
        </p:txBody>
      </p:sp>
      <p:sp>
        <p:nvSpPr>
          <p:cNvPr id="5" name="Espace réservé du pied de page 4">
            <a:extLst>
              <a:ext uri="{FF2B5EF4-FFF2-40B4-BE49-F238E27FC236}">
                <a16:creationId xmlns:a16="http://schemas.microsoft.com/office/drawing/2014/main" id="{8D4187E2-F0AC-C3C3-A07C-5CDFAD8CFF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N° Arthur PREVISANI</a:t>
            </a:r>
          </a:p>
        </p:txBody>
      </p:sp>
      <p:sp>
        <p:nvSpPr>
          <p:cNvPr id="6" name="Espace réservé du numéro de diapositive 5">
            <a:extLst>
              <a:ext uri="{FF2B5EF4-FFF2-40B4-BE49-F238E27FC236}">
                <a16:creationId xmlns:a16="http://schemas.microsoft.com/office/drawing/2014/main" id="{A7E6EC5D-6FA6-82DD-2D0C-3C11AD87F3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A5C1E-DE71-4D99-BC1E-739595F062E0}" type="slidenum">
              <a:rPr lang="fr-FR" smtClean="0"/>
              <a:t>‹N°›</a:t>
            </a:fld>
            <a:endParaRPr lang="fr-FR"/>
          </a:p>
        </p:txBody>
      </p:sp>
    </p:spTree>
    <p:extLst>
      <p:ext uri="{BB962C8B-B14F-4D97-AF65-F5344CB8AC3E}">
        <p14:creationId xmlns:p14="http://schemas.microsoft.com/office/powerpoint/2010/main" val="1716103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E3A031-9DFD-A1C4-37C2-C1A492BB8118}"/>
              </a:ext>
            </a:extLst>
          </p:cNvPr>
          <p:cNvSpPr>
            <a:spLocks noGrp="1"/>
          </p:cNvSpPr>
          <p:nvPr>
            <p:ph type="title"/>
          </p:nvPr>
        </p:nvSpPr>
        <p:spPr>
          <a:xfrm>
            <a:off x="4495799" y="846476"/>
            <a:ext cx="7315200" cy="1325563"/>
          </a:xfrm>
        </p:spPr>
        <p:txBody>
          <a:bodyPr>
            <a:noAutofit/>
          </a:bodyPr>
          <a:lstStyle/>
          <a:p>
            <a:pPr algn="ctr"/>
            <a:r>
              <a:rPr lang="fr-FR" sz="3600" dirty="0"/>
              <a:t>Epreuve d’activité pratique et d’exploitation pédagogique relatives à l’approche spécialisée d’un système pluri technologique</a:t>
            </a:r>
          </a:p>
        </p:txBody>
      </p:sp>
      <p:sp>
        <p:nvSpPr>
          <p:cNvPr id="3" name="Espace réservé du contenu 2">
            <a:extLst>
              <a:ext uri="{FF2B5EF4-FFF2-40B4-BE49-F238E27FC236}">
                <a16:creationId xmlns:a16="http://schemas.microsoft.com/office/drawing/2014/main" id="{080907E7-C971-AEFA-CFB8-25CD426883EE}"/>
              </a:ext>
            </a:extLst>
          </p:cNvPr>
          <p:cNvSpPr>
            <a:spLocks noGrp="1"/>
          </p:cNvSpPr>
          <p:nvPr>
            <p:ph idx="1"/>
          </p:nvPr>
        </p:nvSpPr>
        <p:spPr>
          <a:xfrm>
            <a:off x="4440009" y="3024356"/>
            <a:ext cx="7426779" cy="2479676"/>
          </a:xfrm>
        </p:spPr>
        <p:txBody>
          <a:bodyPr>
            <a:normAutofit/>
          </a:bodyPr>
          <a:lstStyle/>
          <a:p>
            <a:pPr marL="0" indent="0" algn="ctr">
              <a:buNone/>
            </a:pPr>
            <a:r>
              <a:rPr lang="fr-FR" dirty="0"/>
              <a:t>Comment mesurer, comparer et améliorer les caractéristiques d’une poutre dans une maison? </a:t>
            </a:r>
          </a:p>
          <a:p>
            <a:pPr marL="0" indent="0" algn="ctr">
              <a:buNone/>
            </a:pPr>
            <a:r>
              <a:rPr lang="fr-FR" dirty="0"/>
              <a:t>Bac Technologique STI2D, Machine de Traction</a:t>
            </a:r>
          </a:p>
          <a:p>
            <a:pPr marL="0" indent="0" algn="ctr">
              <a:buNone/>
            </a:pPr>
            <a:r>
              <a:rPr lang="fr-FR" dirty="0"/>
              <a:t>18/03/2025</a:t>
            </a:r>
          </a:p>
          <a:p>
            <a:pPr marL="0" indent="0" algn="ctr">
              <a:buNone/>
            </a:pPr>
            <a:r>
              <a:rPr lang="fr-FR" dirty="0"/>
              <a:t>Candidat N° PREVISANI Arthur</a:t>
            </a:r>
          </a:p>
        </p:txBody>
      </p:sp>
      <p:sp>
        <p:nvSpPr>
          <p:cNvPr id="7" name="Espace réservé du numéro de diapositive 6">
            <a:extLst>
              <a:ext uri="{FF2B5EF4-FFF2-40B4-BE49-F238E27FC236}">
                <a16:creationId xmlns:a16="http://schemas.microsoft.com/office/drawing/2014/main" id="{964811C3-26BC-7A32-D31A-96D937F45B04}"/>
              </a:ext>
            </a:extLst>
          </p:cNvPr>
          <p:cNvSpPr>
            <a:spLocks noGrp="1"/>
          </p:cNvSpPr>
          <p:nvPr>
            <p:ph type="sldNum" sz="quarter" idx="12"/>
          </p:nvPr>
        </p:nvSpPr>
        <p:spPr/>
        <p:txBody>
          <a:bodyPr/>
          <a:lstStyle/>
          <a:p>
            <a:fld id="{201A5C1E-DE71-4D99-BC1E-739595F062E0}" type="slidenum">
              <a:rPr lang="fr-FR" sz="2000" smtClean="0"/>
              <a:t>1</a:t>
            </a:fld>
            <a:r>
              <a:rPr lang="fr-FR" sz="2000" dirty="0"/>
              <a:t>/21</a:t>
            </a:r>
          </a:p>
        </p:txBody>
      </p:sp>
      <p:sp>
        <p:nvSpPr>
          <p:cNvPr id="4" name="Espace réservé du pied de page 3">
            <a:extLst>
              <a:ext uri="{FF2B5EF4-FFF2-40B4-BE49-F238E27FC236}">
                <a16:creationId xmlns:a16="http://schemas.microsoft.com/office/drawing/2014/main" id="{F913FA50-8192-515A-432A-D40308C5BACC}"/>
              </a:ext>
            </a:extLst>
          </p:cNvPr>
          <p:cNvSpPr>
            <a:spLocks noGrp="1"/>
          </p:cNvSpPr>
          <p:nvPr>
            <p:ph type="ftr" sz="quarter" idx="11"/>
          </p:nvPr>
        </p:nvSpPr>
        <p:spPr/>
        <p:txBody>
          <a:bodyPr/>
          <a:lstStyle/>
          <a:p>
            <a:r>
              <a:rPr lang="fr-FR" sz="1600" dirty="0">
                <a:solidFill>
                  <a:schemeClr val="tx1"/>
                </a:solidFill>
              </a:rPr>
              <a:t>N° Arthur PREVISANI</a:t>
            </a:r>
          </a:p>
        </p:txBody>
      </p:sp>
      <p:pic>
        <p:nvPicPr>
          <p:cNvPr id="5" name="Image 4">
            <a:extLst>
              <a:ext uri="{FF2B5EF4-FFF2-40B4-BE49-F238E27FC236}">
                <a16:creationId xmlns:a16="http://schemas.microsoft.com/office/drawing/2014/main" id="{1F278B52-BDD9-5857-77A8-28B365D5988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079500" y="51632"/>
            <a:ext cx="2959100" cy="6669843"/>
          </a:xfrm>
          <a:prstGeom prst="rect">
            <a:avLst/>
          </a:prstGeom>
        </p:spPr>
      </p:pic>
    </p:spTree>
    <p:extLst>
      <p:ext uri="{BB962C8B-B14F-4D97-AF65-F5344CB8AC3E}">
        <p14:creationId xmlns:p14="http://schemas.microsoft.com/office/powerpoint/2010/main" val="2421357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BB3BB-819C-F3A4-89D9-8D156E545E37}"/>
              </a:ext>
            </a:extLst>
          </p:cNvPr>
          <p:cNvSpPr>
            <a:spLocks noGrp="1"/>
          </p:cNvSpPr>
          <p:nvPr>
            <p:ph type="title"/>
          </p:nvPr>
        </p:nvSpPr>
        <p:spPr/>
        <p:txBody>
          <a:bodyPr>
            <a:normAutofit/>
          </a:bodyPr>
          <a:lstStyle/>
          <a:p>
            <a:r>
              <a:rPr lang="fr-FR" sz="5400" dirty="0"/>
              <a:t>Sommaire</a:t>
            </a:r>
          </a:p>
        </p:txBody>
      </p:sp>
      <p:sp>
        <p:nvSpPr>
          <p:cNvPr id="3" name="Espace réservé du contenu 2">
            <a:extLst>
              <a:ext uri="{FF2B5EF4-FFF2-40B4-BE49-F238E27FC236}">
                <a16:creationId xmlns:a16="http://schemas.microsoft.com/office/drawing/2014/main" id="{5B2AC53D-0D7A-E55F-53B9-6B50C25E5113}"/>
              </a:ext>
            </a:extLst>
          </p:cNvPr>
          <p:cNvSpPr>
            <a:spLocks noGrp="1"/>
          </p:cNvSpPr>
          <p:nvPr>
            <p:ph idx="1"/>
          </p:nvPr>
        </p:nvSpPr>
        <p:spPr>
          <a:xfrm>
            <a:off x="838200" y="1798638"/>
            <a:ext cx="10515600" cy="4351338"/>
          </a:xfrm>
        </p:spPr>
        <p:txBody>
          <a:bodyPr>
            <a:normAutofit/>
          </a:bodyPr>
          <a:lstStyle/>
          <a:p>
            <a:r>
              <a:rPr lang="fr-FR" sz="3600" dirty="0"/>
              <a:t>Présentation de la machine de traction</a:t>
            </a:r>
          </a:p>
          <a:p>
            <a:r>
              <a:rPr lang="fr-FR" sz="3600" dirty="0"/>
              <a:t>Résultats du TP</a:t>
            </a:r>
          </a:p>
          <a:p>
            <a:r>
              <a:rPr lang="fr-FR" sz="3600" dirty="0"/>
              <a:t>Contexte/progression annuelle</a:t>
            </a:r>
          </a:p>
          <a:p>
            <a:r>
              <a:rPr lang="fr-FR" sz="3600" dirty="0"/>
              <a:t>Prérequis/compétences</a:t>
            </a:r>
          </a:p>
          <a:p>
            <a:r>
              <a:rPr lang="fr-FR" sz="3600" dirty="0"/>
              <a:t>Organisation de la séquence</a:t>
            </a:r>
          </a:p>
          <a:p>
            <a:r>
              <a:rPr lang="fr-FR" sz="3600" dirty="0"/>
              <a:t>Description de la séance à caractère expérimental</a:t>
            </a:r>
          </a:p>
          <a:p>
            <a:r>
              <a:rPr lang="fr-FR" sz="3600" dirty="0"/>
              <a:t>Conclusion </a:t>
            </a:r>
          </a:p>
          <a:p>
            <a:endParaRPr lang="fr-FR" dirty="0"/>
          </a:p>
        </p:txBody>
      </p:sp>
      <p:sp>
        <p:nvSpPr>
          <p:cNvPr id="5" name="Espace réservé du numéro de diapositive 4">
            <a:extLst>
              <a:ext uri="{FF2B5EF4-FFF2-40B4-BE49-F238E27FC236}">
                <a16:creationId xmlns:a16="http://schemas.microsoft.com/office/drawing/2014/main" id="{98CCBB51-CFF7-C4CC-A63F-7F3F6851DCB9}"/>
              </a:ext>
            </a:extLst>
          </p:cNvPr>
          <p:cNvSpPr>
            <a:spLocks noGrp="1"/>
          </p:cNvSpPr>
          <p:nvPr>
            <p:ph type="sldNum" sz="quarter" idx="12"/>
          </p:nvPr>
        </p:nvSpPr>
        <p:spPr/>
        <p:txBody>
          <a:bodyPr/>
          <a:lstStyle/>
          <a:p>
            <a:fld id="{201A5C1E-DE71-4D99-BC1E-739595F062E0}" type="slidenum">
              <a:rPr lang="fr-FR" sz="2400" smtClean="0"/>
              <a:t>2</a:t>
            </a:fld>
            <a:r>
              <a:rPr lang="fr-FR" sz="2400" dirty="0"/>
              <a:t>/21</a:t>
            </a:r>
          </a:p>
        </p:txBody>
      </p:sp>
      <p:sp>
        <p:nvSpPr>
          <p:cNvPr id="4" name="Espace réservé du pied de page 3">
            <a:extLst>
              <a:ext uri="{FF2B5EF4-FFF2-40B4-BE49-F238E27FC236}">
                <a16:creationId xmlns:a16="http://schemas.microsoft.com/office/drawing/2014/main" id="{B8C15DF8-7A92-D884-5D62-C7D67D6755AF}"/>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045683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7E4D-A75C-2180-419E-41EF28C64A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FE3864-86C4-0B24-790C-B57D78E09306}"/>
              </a:ext>
            </a:extLst>
          </p:cNvPr>
          <p:cNvSpPr>
            <a:spLocks noGrp="1"/>
          </p:cNvSpPr>
          <p:nvPr>
            <p:ph type="title"/>
          </p:nvPr>
        </p:nvSpPr>
        <p:spPr>
          <a:xfrm>
            <a:off x="664028" y="-169440"/>
            <a:ext cx="10515600" cy="1325563"/>
          </a:xfrm>
        </p:spPr>
        <p:txBody>
          <a:bodyPr/>
          <a:lstStyle/>
          <a:p>
            <a:r>
              <a:rPr lang="fr-FR" dirty="0"/>
              <a:t>Présentation de la machine de traction</a:t>
            </a:r>
          </a:p>
        </p:txBody>
      </p:sp>
      <p:sp>
        <p:nvSpPr>
          <p:cNvPr id="8" name="Espace réservé du numéro de diapositive 7">
            <a:extLst>
              <a:ext uri="{FF2B5EF4-FFF2-40B4-BE49-F238E27FC236}">
                <a16:creationId xmlns:a16="http://schemas.microsoft.com/office/drawing/2014/main" id="{34CC167F-84B0-2E9E-3500-33080ACFB5B1}"/>
              </a:ext>
            </a:extLst>
          </p:cNvPr>
          <p:cNvSpPr>
            <a:spLocks noGrp="1"/>
          </p:cNvSpPr>
          <p:nvPr>
            <p:ph type="sldNum" sz="quarter" idx="12"/>
          </p:nvPr>
        </p:nvSpPr>
        <p:spPr/>
        <p:txBody>
          <a:bodyPr/>
          <a:lstStyle/>
          <a:p>
            <a:fld id="{201A5C1E-DE71-4D99-BC1E-739595F062E0}" type="slidenum">
              <a:rPr lang="fr-FR" sz="2000" smtClean="0"/>
              <a:t>3</a:t>
            </a:fld>
            <a:r>
              <a:rPr lang="fr-FR" sz="2000" dirty="0"/>
              <a:t>/21</a:t>
            </a:r>
          </a:p>
        </p:txBody>
      </p:sp>
      <p:pic>
        <p:nvPicPr>
          <p:cNvPr id="9" name="Image 8">
            <a:extLst>
              <a:ext uri="{FF2B5EF4-FFF2-40B4-BE49-F238E27FC236}">
                <a16:creationId xmlns:a16="http://schemas.microsoft.com/office/drawing/2014/main" id="{A58E1A2C-1923-E838-7FC3-84AD771F0A29}"/>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7658035" y="709714"/>
            <a:ext cx="2816225" cy="6093045"/>
          </a:xfrm>
          <a:prstGeom prst="rect">
            <a:avLst/>
          </a:prstGeom>
        </p:spPr>
      </p:pic>
      <p:grpSp>
        <p:nvGrpSpPr>
          <p:cNvPr id="21" name="Groupe 20">
            <a:extLst>
              <a:ext uri="{FF2B5EF4-FFF2-40B4-BE49-F238E27FC236}">
                <a16:creationId xmlns:a16="http://schemas.microsoft.com/office/drawing/2014/main" id="{0421839F-B9B4-577C-8AC5-20DC289B6B73}"/>
              </a:ext>
            </a:extLst>
          </p:cNvPr>
          <p:cNvGrpSpPr/>
          <p:nvPr/>
        </p:nvGrpSpPr>
        <p:grpSpPr>
          <a:xfrm>
            <a:off x="1066799" y="1404522"/>
            <a:ext cx="5444420" cy="4133848"/>
            <a:chOff x="200024" y="1885789"/>
            <a:chExt cx="5444420" cy="4133848"/>
          </a:xfrm>
        </p:grpSpPr>
        <p:pic>
          <p:nvPicPr>
            <p:cNvPr id="4" name="Image 3">
              <a:extLst>
                <a:ext uri="{FF2B5EF4-FFF2-40B4-BE49-F238E27FC236}">
                  <a16:creationId xmlns:a16="http://schemas.microsoft.com/office/drawing/2014/main" id="{82BD371E-113A-51B7-9623-54AC5505FC9F}"/>
                </a:ext>
              </a:extLst>
            </p:cNvPr>
            <p:cNvPicPr>
              <a:picLocks noChangeAspect="1"/>
            </p:cNvPicPr>
            <p:nvPr/>
          </p:nvPicPr>
          <p:blipFill>
            <a:blip r:embed="rId4"/>
            <a:stretch>
              <a:fillRect/>
            </a:stretch>
          </p:blipFill>
          <p:spPr>
            <a:xfrm>
              <a:off x="578745" y="1885789"/>
              <a:ext cx="5065699" cy="4133848"/>
            </a:xfrm>
            <a:prstGeom prst="rect">
              <a:avLst/>
            </a:prstGeom>
          </p:spPr>
        </p:pic>
        <p:sp>
          <p:nvSpPr>
            <p:cNvPr id="10" name="ZoneTexte 9">
              <a:extLst>
                <a:ext uri="{FF2B5EF4-FFF2-40B4-BE49-F238E27FC236}">
                  <a16:creationId xmlns:a16="http://schemas.microsoft.com/office/drawing/2014/main" id="{3745B670-2138-060B-B9A0-43AFD79CF203}"/>
                </a:ext>
              </a:extLst>
            </p:cNvPr>
            <p:cNvSpPr txBox="1"/>
            <p:nvPr/>
          </p:nvSpPr>
          <p:spPr>
            <a:xfrm>
              <a:off x="2514600" y="2266950"/>
              <a:ext cx="1265237" cy="830997"/>
            </a:xfrm>
            <a:prstGeom prst="rect">
              <a:avLst/>
            </a:prstGeom>
            <a:solidFill>
              <a:schemeClr val="bg1"/>
            </a:solidFill>
            <a:ln>
              <a:solidFill>
                <a:schemeClr val="bg1"/>
              </a:solidFill>
            </a:ln>
          </p:spPr>
          <p:txBody>
            <a:bodyPr wrap="square" rtlCol="0">
              <a:spAutoFit/>
            </a:bodyPr>
            <a:lstStyle/>
            <a:p>
              <a:r>
                <a:rPr lang="fr-FR" sz="1600" dirty="0"/>
                <a:t>Mesure de la force et du déplacement</a:t>
              </a:r>
            </a:p>
          </p:txBody>
        </p:sp>
        <p:sp>
          <p:nvSpPr>
            <p:cNvPr id="11" name="ZoneTexte 10">
              <a:extLst>
                <a:ext uri="{FF2B5EF4-FFF2-40B4-BE49-F238E27FC236}">
                  <a16:creationId xmlns:a16="http://schemas.microsoft.com/office/drawing/2014/main" id="{1DC3F9A7-D961-AF9B-1BF3-B2159D021E7D}"/>
                </a:ext>
              </a:extLst>
            </p:cNvPr>
            <p:cNvSpPr txBox="1"/>
            <p:nvPr/>
          </p:nvSpPr>
          <p:spPr>
            <a:xfrm>
              <a:off x="2478975" y="3549452"/>
              <a:ext cx="1265237" cy="584775"/>
            </a:xfrm>
            <a:prstGeom prst="rect">
              <a:avLst/>
            </a:prstGeom>
            <a:solidFill>
              <a:schemeClr val="bg1"/>
            </a:solidFill>
            <a:ln>
              <a:solidFill>
                <a:schemeClr val="bg1"/>
              </a:solidFill>
            </a:ln>
          </p:spPr>
          <p:txBody>
            <a:bodyPr wrap="square" rtlCol="0">
              <a:spAutoFit/>
            </a:bodyPr>
            <a:lstStyle/>
            <a:p>
              <a:endParaRPr lang="fr-FR" sz="1600" dirty="0"/>
            </a:p>
            <a:p>
              <a:endParaRPr lang="fr-FR" sz="1600" dirty="0"/>
            </a:p>
          </p:txBody>
        </p:sp>
        <p:sp>
          <p:nvSpPr>
            <p:cNvPr id="13" name="Rectangle 12">
              <a:extLst>
                <a:ext uri="{FF2B5EF4-FFF2-40B4-BE49-F238E27FC236}">
                  <a16:creationId xmlns:a16="http://schemas.microsoft.com/office/drawing/2014/main" id="{84A13F12-F8FC-CB29-5830-86AE224BA4EB}"/>
                </a:ext>
              </a:extLst>
            </p:cNvPr>
            <p:cNvSpPr/>
            <p:nvPr/>
          </p:nvSpPr>
          <p:spPr>
            <a:xfrm>
              <a:off x="3534410" y="3680619"/>
              <a:ext cx="739140" cy="152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66AE68D3-E57C-E77B-4269-3E39ADF6E751}"/>
                </a:ext>
              </a:extLst>
            </p:cNvPr>
            <p:cNvSpPr txBox="1"/>
            <p:nvPr/>
          </p:nvSpPr>
          <p:spPr>
            <a:xfrm>
              <a:off x="2496437" y="3563740"/>
              <a:ext cx="1743075" cy="338554"/>
            </a:xfrm>
            <a:prstGeom prst="rect">
              <a:avLst/>
            </a:prstGeom>
            <a:noFill/>
          </p:spPr>
          <p:txBody>
            <a:bodyPr wrap="square" rtlCol="0">
              <a:spAutoFit/>
            </a:bodyPr>
            <a:lstStyle/>
            <a:p>
              <a:r>
                <a:rPr lang="fr-FR" sz="1600" dirty="0"/>
                <a:t>Eprouvette</a:t>
              </a:r>
            </a:p>
          </p:txBody>
        </p:sp>
        <p:cxnSp>
          <p:nvCxnSpPr>
            <p:cNvPr id="16" name="Connecteur droit avec flèche 15">
              <a:extLst>
                <a:ext uri="{FF2B5EF4-FFF2-40B4-BE49-F238E27FC236}">
                  <a16:creationId xmlns:a16="http://schemas.microsoft.com/office/drawing/2014/main" id="{FD370D39-A057-7A81-3B47-0C38DD5F66BF}"/>
                </a:ext>
              </a:extLst>
            </p:cNvPr>
            <p:cNvCxnSpPr/>
            <p:nvPr/>
          </p:nvCxnSpPr>
          <p:spPr>
            <a:xfrm flipV="1">
              <a:off x="762000" y="3471446"/>
              <a:ext cx="809625" cy="78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a:extLst>
                <a:ext uri="{FF2B5EF4-FFF2-40B4-BE49-F238E27FC236}">
                  <a16:creationId xmlns:a16="http://schemas.microsoft.com/office/drawing/2014/main" id="{E0E29801-B5D6-059F-7F7E-54E973750A53}"/>
                </a:ext>
              </a:extLst>
            </p:cNvPr>
            <p:cNvCxnSpPr>
              <a:cxnSpLocks/>
            </p:cNvCxnSpPr>
            <p:nvPr/>
          </p:nvCxnSpPr>
          <p:spPr>
            <a:xfrm>
              <a:off x="800100" y="3563740"/>
              <a:ext cx="771525" cy="540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ZoneTexte 19">
              <a:extLst>
                <a:ext uri="{FF2B5EF4-FFF2-40B4-BE49-F238E27FC236}">
                  <a16:creationId xmlns:a16="http://schemas.microsoft.com/office/drawing/2014/main" id="{4B846F9A-932D-39E5-0805-5C8C5B682CD9}"/>
                </a:ext>
              </a:extLst>
            </p:cNvPr>
            <p:cNvSpPr txBox="1"/>
            <p:nvPr/>
          </p:nvSpPr>
          <p:spPr>
            <a:xfrm>
              <a:off x="200024" y="3386554"/>
              <a:ext cx="638175" cy="338554"/>
            </a:xfrm>
            <a:prstGeom prst="rect">
              <a:avLst/>
            </a:prstGeom>
            <a:solidFill>
              <a:schemeClr val="bg1"/>
            </a:solidFill>
            <a:ln>
              <a:solidFill>
                <a:schemeClr val="bg1"/>
              </a:solidFill>
            </a:ln>
          </p:spPr>
          <p:txBody>
            <a:bodyPr wrap="square" rtlCol="0">
              <a:spAutoFit/>
            </a:bodyPr>
            <a:lstStyle/>
            <a:p>
              <a:r>
                <a:rPr lang="fr-FR" sz="1600" dirty="0"/>
                <a:t>Mors</a:t>
              </a:r>
            </a:p>
          </p:txBody>
        </p:sp>
      </p:grpSp>
      <p:sp>
        <p:nvSpPr>
          <p:cNvPr id="22" name="ZoneTexte 21">
            <a:extLst>
              <a:ext uri="{FF2B5EF4-FFF2-40B4-BE49-F238E27FC236}">
                <a16:creationId xmlns:a16="http://schemas.microsoft.com/office/drawing/2014/main" id="{B538C7A4-B8F9-6E47-C909-2CCAAE461118}"/>
              </a:ext>
            </a:extLst>
          </p:cNvPr>
          <p:cNvSpPr txBox="1"/>
          <p:nvPr/>
        </p:nvSpPr>
        <p:spPr>
          <a:xfrm>
            <a:off x="1376997" y="5789820"/>
            <a:ext cx="6048375" cy="400110"/>
          </a:xfrm>
          <a:prstGeom prst="rect">
            <a:avLst/>
          </a:prstGeom>
          <a:noFill/>
        </p:spPr>
        <p:txBody>
          <a:bodyPr wrap="square" rtlCol="0">
            <a:spAutoFit/>
          </a:bodyPr>
          <a:lstStyle/>
          <a:p>
            <a:r>
              <a:rPr lang="fr-FR" sz="2000" dirty="0"/>
              <a:t>Schéma de principe d’une machine de traction</a:t>
            </a:r>
          </a:p>
        </p:txBody>
      </p:sp>
      <p:sp>
        <p:nvSpPr>
          <p:cNvPr id="23" name="Espace réservé du pied de page 22">
            <a:extLst>
              <a:ext uri="{FF2B5EF4-FFF2-40B4-BE49-F238E27FC236}">
                <a16:creationId xmlns:a16="http://schemas.microsoft.com/office/drawing/2014/main" id="{CFA336CD-A7A9-FB94-C41B-84D4D43DA90D}"/>
              </a:ext>
            </a:extLst>
          </p:cNvPr>
          <p:cNvSpPr>
            <a:spLocks noGrp="1"/>
          </p:cNvSpPr>
          <p:nvPr>
            <p:ph type="ftr" sz="quarter" idx="11"/>
          </p:nvPr>
        </p:nvSpPr>
        <p:spPr>
          <a:xfrm>
            <a:off x="4038600" y="6475880"/>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4015499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00A430-4DDA-48F3-F0A9-4F65C80DED4C}"/>
              </a:ext>
            </a:extLst>
          </p:cNvPr>
          <p:cNvSpPr>
            <a:spLocks noGrp="1"/>
          </p:cNvSpPr>
          <p:nvPr>
            <p:ph type="title"/>
          </p:nvPr>
        </p:nvSpPr>
        <p:spPr>
          <a:xfrm>
            <a:off x="689429" y="239554"/>
            <a:ext cx="10515600" cy="1325563"/>
          </a:xfrm>
        </p:spPr>
        <p:txBody>
          <a:bodyPr>
            <a:normAutofit/>
          </a:bodyPr>
          <a:lstStyle/>
          <a:p>
            <a:r>
              <a:rPr lang="fr-FR" dirty="0"/>
              <a:t>Logiciel</a:t>
            </a:r>
          </a:p>
        </p:txBody>
      </p:sp>
      <p:sp>
        <p:nvSpPr>
          <p:cNvPr id="7" name="Espace réservé du numéro de diapositive 6">
            <a:extLst>
              <a:ext uri="{FF2B5EF4-FFF2-40B4-BE49-F238E27FC236}">
                <a16:creationId xmlns:a16="http://schemas.microsoft.com/office/drawing/2014/main" id="{48BB0261-66A8-2937-39DB-E788829AFD3C}"/>
              </a:ext>
            </a:extLst>
          </p:cNvPr>
          <p:cNvSpPr>
            <a:spLocks noGrp="1"/>
          </p:cNvSpPr>
          <p:nvPr>
            <p:ph type="sldNum" sz="quarter" idx="12"/>
          </p:nvPr>
        </p:nvSpPr>
        <p:spPr/>
        <p:txBody>
          <a:bodyPr/>
          <a:lstStyle/>
          <a:p>
            <a:fld id="{201A5C1E-DE71-4D99-BC1E-739595F062E0}" type="slidenum">
              <a:rPr lang="fr-FR" sz="2000" smtClean="0"/>
              <a:t>4</a:t>
            </a:fld>
            <a:r>
              <a:rPr lang="fr-FR" sz="2000" dirty="0"/>
              <a:t>/21</a:t>
            </a:r>
          </a:p>
        </p:txBody>
      </p:sp>
      <p:pic>
        <p:nvPicPr>
          <p:cNvPr id="12" name="Image 11">
            <a:extLst>
              <a:ext uri="{FF2B5EF4-FFF2-40B4-BE49-F238E27FC236}">
                <a16:creationId xmlns:a16="http://schemas.microsoft.com/office/drawing/2014/main" id="{8DAF9C25-5E65-79F5-73B8-AE1783F62AE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37264" y="1400409"/>
            <a:ext cx="6095299" cy="4676838"/>
          </a:xfrm>
          <a:prstGeom prst="rect">
            <a:avLst/>
          </a:prstGeom>
        </p:spPr>
      </p:pic>
      <p:sp>
        <p:nvSpPr>
          <p:cNvPr id="13" name="ZoneTexte 12">
            <a:extLst>
              <a:ext uri="{FF2B5EF4-FFF2-40B4-BE49-F238E27FC236}">
                <a16:creationId xmlns:a16="http://schemas.microsoft.com/office/drawing/2014/main" id="{7E1B95B4-B180-4791-ABAF-9EB2D643E4E0}"/>
              </a:ext>
            </a:extLst>
          </p:cNvPr>
          <p:cNvSpPr txBox="1"/>
          <p:nvPr/>
        </p:nvSpPr>
        <p:spPr>
          <a:xfrm>
            <a:off x="994228" y="6077247"/>
            <a:ext cx="6981372" cy="461665"/>
          </a:xfrm>
          <a:prstGeom prst="rect">
            <a:avLst/>
          </a:prstGeom>
          <a:noFill/>
        </p:spPr>
        <p:txBody>
          <a:bodyPr wrap="square" rtlCol="0">
            <a:spAutoFit/>
          </a:bodyPr>
          <a:lstStyle/>
          <a:p>
            <a:pPr algn="ctr"/>
            <a:r>
              <a:rPr lang="fr-FR" sz="2400" dirty="0"/>
              <a:t>Logiciel associé à la machine de traction</a:t>
            </a:r>
          </a:p>
        </p:txBody>
      </p:sp>
      <p:sp>
        <p:nvSpPr>
          <p:cNvPr id="14" name="ZoneTexte 13">
            <a:extLst>
              <a:ext uri="{FF2B5EF4-FFF2-40B4-BE49-F238E27FC236}">
                <a16:creationId xmlns:a16="http://schemas.microsoft.com/office/drawing/2014/main" id="{D3E80EC3-97BD-41A1-42D6-F4315C1D1CA6}"/>
              </a:ext>
            </a:extLst>
          </p:cNvPr>
          <p:cNvSpPr txBox="1"/>
          <p:nvPr/>
        </p:nvSpPr>
        <p:spPr>
          <a:xfrm>
            <a:off x="7794171" y="1400409"/>
            <a:ext cx="3853894" cy="1938992"/>
          </a:xfrm>
          <a:prstGeom prst="rect">
            <a:avLst/>
          </a:prstGeom>
          <a:noFill/>
        </p:spPr>
        <p:txBody>
          <a:bodyPr wrap="square" rtlCol="0">
            <a:spAutoFit/>
          </a:bodyPr>
          <a:lstStyle/>
          <a:p>
            <a:r>
              <a:rPr lang="fr-FR" sz="2400" dirty="0"/>
              <a:t>Essais possibles:</a:t>
            </a:r>
          </a:p>
          <a:p>
            <a:r>
              <a:rPr lang="fr-FR" sz="2400" dirty="0"/>
              <a:t>Traction</a:t>
            </a:r>
          </a:p>
          <a:p>
            <a:r>
              <a:rPr lang="fr-FR" sz="2400" dirty="0"/>
              <a:t>Compression</a:t>
            </a:r>
          </a:p>
          <a:p>
            <a:r>
              <a:rPr lang="fr-FR" sz="2400" dirty="0"/>
              <a:t>Flexion</a:t>
            </a:r>
          </a:p>
          <a:p>
            <a:r>
              <a:rPr lang="fr-FR" sz="2400" dirty="0"/>
              <a:t>Cisaillement</a:t>
            </a:r>
          </a:p>
        </p:txBody>
      </p:sp>
      <p:sp>
        <p:nvSpPr>
          <p:cNvPr id="16" name="Espace réservé du pied de page 15">
            <a:extLst>
              <a:ext uri="{FF2B5EF4-FFF2-40B4-BE49-F238E27FC236}">
                <a16:creationId xmlns:a16="http://schemas.microsoft.com/office/drawing/2014/main" id="{79EFB243-D932-531B-1DDC-C0ADAF92FD3A}"/>
              </a:ext>
            </a:extLst>
          </p:cNvPr>
          <p:cNvSpPr>
            <a:spLocks noGrp="1"/>
          </p:cNvSpPr>
          <p:nvPr>
            <p:ph type="ftr" sz="quarter" idx="11"/>
          </p:nvPr>
        </p:nvSpPr>
        <p:spPr>
          <a:xfrm>
            <a:off x="4038600" y="6507851"/>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733354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2D10A-6718-1F27-1AEA-1F8D9DA06B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D5E2D0-820C-749F-4464-F6E89906C5C1}"/>
              </a:ext>
            </a:extLst>
          </p:cNvPr>
          <p:cNvSpPr>
            <a:spLocks noGrp="1"/>
          </p:cNvSpPr>
          <p:nvPr>
            <p:ph type="title"/>
          </p:nvPr>
        </p:nvSpPr>
        <p:spPr>
          <a:xfrm>
            <a:off x="571500" y="-14339"/>
            <a:ext cx="10515600" cy="1325563"/>
          </a:xfrm>
        </p:spPr>
        <p:txBody>
          <a:bodyPr/>
          <a:lstStyle/>
          <a:p>
            <a:r>
              <a:rPr lang="fr-FR" dirty="0"/>
              <a:t>Résultats du TP: contexte</a:t>
            </a:r>
          </a:p>
        </p:txBody>
      </p:sp>
      <p:pic>
        <p:nvPicPr>
          <p:cNvPr id="5" name="Image 4">
            <a:extLst>
              <a:ext uri="{FF2B5EF4-FFF2-40B4-BE49-F238E27FC236}">
                <a16:creationId xmlns:a16="http://schemas.microsoft.com/office/drawing/2014/main" id="{87A0FD6E-531C-8883-C2DF-431E4B3B19D9}"/>
              </a:ext>
            </a:extLst>
          </p:cNvPr>
          <p:cNvPicPr>
            <a:picLocks noChangeAspect="1"/>
          </p:cNvPicPr>
          <p:nvPr/>
        </p:nvPicPr>
        <p:blipFill>
          <a:blip r:embed="rId3" cstate="email">
            <a:extLst>
              <a:ext uri="{28A0092B-C50C-407E-A947-70E740481C1C}">
                <a14:useLocalDpi xmlns:a14="http://schemas.microsoft.com/office/drawing/2010/main"/>
              </a:ext>
            </a:extLst>
          </a:blip>
          <a:srcRect l="1741" r="1241"/>
          <a:stretch>
            <a:fillRect/>
          </a:stretch>
        </p:blipFill>
        <p:spPr>
          <a:xfrm>
            <a:off x="137160" y="2829035"/>
            <a:ext cx="5958840" cy="3694089"/>
          </a:xfrm>
          <a:prstGeom prst="rect">
            <a:avLst/>
          </a:prstGeom>
        </p:spPr>
      </p:pic>
      <p:pic>
        <p:nvPicPr>
          <p:cNvPr id="7" name="Image 6">
            <a:extLst>
              <a:ext uri="{FF2B5EF4-FFF2-40B4-BE49-F238E27FC236}">
                <a16:creationId xmlns:a16="http://schemas.microsoft.com/office/drawing/2014/main" id="{6F067771-1E77-D550-301E-017D88042BB7}"/>
              </a:ext>
            </a:extLst>
          </p:cNvPr>
          <p:cNvPicPr>
            <a:picLocks noChangeAspect="1"/>
          </p:cNvPicPr>
          <p:nvPr/>
        </p:nvPicPr>
        <p:blipFill>
          <a:blip r:embed="rId4" cstate="email">
            <a:extLst>
              <a:ext uri="{28A0092B-C50C-407E-A947-70E740481C1C}">
                <a14:useLocalDpi xmlns:a14="http://schemas.microsoft.com/office/drawing/2010/main"/>
              </a:ext>
            </a:extLst>
          </a:blip>
          <a:srcRect l="4560" r="5689"/>
          <a:stretch>
            <a:fillRect/>
          </a:stretch>
        </p:blipFill>
        <p:spPr>
          <a:xfrm>
            <a:off x="6225540" y="2829034"/>
            <a:ext cx="5699760" cy="3694089"/>
          </a:xfrm>
          <a:prstGeom prst="rect">
            <a:avLst/>
          </a:prstGeom>
        </p:spPr>
      </p:pic>
      <p:sp>
        <p:nvSpPr>
          <p:cNvPr id="9" name="ZoneTexte 8">
            <a:extLst>
              <a:ext uri="{FF2B5EF4-FFF2-40B4-BE49-F238E27FC236}">
                <a16:creationId xmlns:a16="http://schemas.microsoft.com/office/drawing/2014/main" id="{936AD857-A9E1-17F9-024C-8F20B526F762}"/>
              </a:ext>
            </a:extLst>
          </p:cNvPr>
          <p:cNvSpPr txBox="1"/>
          <p:nvPr/>
        </p:nvSpPr>
        <p:spPr>
          <a:xfrm>
            <a:off x="1287780" y="2399849"/>
            <a:ext cx="10287000" cy="461665"/>
          </a:xfrm>
          <a:prstGeom prst="rect">
            <a:avLst/>
          </a:prstGeom>
          <a:noFill/>
        </p:spPr>
        <p:txBody>
          <a:bodyPr wrap="square" rtlCol="0">
            <a:spAutoFit/>
          </a:bodyPr>
          <a:lstStyle/>
          <a:p>
            <a:r>
              <a:rPr lang="fr-FR" sz="2400" dirty="0"/>
              <a:t>Diagramme de contexte                                                   Diagramme des exigences</a:t>
            </a:r>
          </a:p>
        </p:txBody>
      </p:sp>
      <p:pic>
        <p:nvPicPr>
          <p:cNvPr id="12" name="Image 11">
            <a:extLst>
              <a:ext uri="{FF2B5EF4-FFF2-40B4-BE49-F238E27FC236}">
                <a16:creationId xmlns:a16="http://schemas.microsoft.com/office/drawing/2014/main" id="{760F0A63-0C8C-CE95-8864-16BB82C99C1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1500" y="1150250"/>
            <a:ext cx="11216640" cy="542483"/>
          </a:xfrm>
          <a:prstGeom prst="rect">
            <a:avLst/>
          </a:prstGeom>
        </p:spPr>
      </p:pic>
      <p:sp>
        <p:nvSpPr>
          <p:cNvPr id="13" name="ZoneTexte 12">
            <a:extLst>
              <a:ext uri="{FF2B5EF4-FFF2-40B4-BE49-F238E27FC236}">
                <a16:creationId xmlns:a16="http://schemas.microsoft.com/office/drawing/2014/main" id="{85B0ACF4-F46C-BF49-9613-CE96572A1F2D}"/>
              </a:ext>
            </a:extLst>
          </p:cNvPr>
          <p:cNvSpPr txBox="1"/>
          <p:nvPr/>
        </p:nvSpPr>
        <p:spPr>
          <a:xfrm>
            <a:off x="4406900" y="1692733"/>
            <a:ext cx="10287000" cy="461665"/>
          </a:xfrm>
          <a:prstGeom prst="rect">
            <a:avLst/>
          </a:prstGeom>
          <a:noFill/>
        </p:spPr>
        <p:txBody>
          <a:bodyPr wrap="square" rtlCol="0">
            <a:spAutoFit/>
          </a:bodyPr>
          <a:lstStyle/>
          <a:p>
            <a:r>
              <a:rPr lang="fr-FR" sz="2400" dirty="0"/>
              <a:t>Collier de serrage type Rilsan®</a:t>
            </a:r>
          </a:p>
        </p:txBody>
      </p:sp>
      <p:sp>
        <p:nvSpPr>
          <p:cNvPr id="14" name="Espace réservé du pied de page 13">
            <a:extLst>
              <a:ext uri="{FF2B5EF4-FFF2-40B4-BE49-F238E27FC236}">
                <a16:creationId xmlns:a16="http://schemas.microsoft.com/office/drawing/2014/main" id="{6C7CAB42-B8A2-B48B-C62A-991BA068EB80}"/>
              </a:ext>
            </a:extLst>
          </p:cNvPr>
          <p:cNvSpPr>
            <a:spLocks noGrp="1"/>
          </p:cNvSpPr>
          <p:nvPr>
            <p:ph type="ftr" sz="quarter" idx="11"/>
          </p:nvPr>
        </p:nvSpPr>
        <p:spPr>
          <a:xfrm>
            <a:off x="4038600" y="6492875"/>
            <a:ext cx="4114800" cy="365125"/>
          </a:xfrm>
        </p:spPr>
        <p:txBody>
          <a:bodyPr/>
          <a:lstStyle/>
          <a:p>
            <a:r>
              <a:rPr lang="fr-FR" sz="1600" dirty="0">
                <a:solidFill>
                  <a:schemeClr val="tx1"/>
                </a:solidFill>
              </a:rPr>
              <a:t>N° Arthur PREVISANI</a:t>
            </a:r>
          </a:p>
        </p:txBody>
      </p:sp>
      <p:sp>
        <p:nvSpPr>
          <p:cNvPr id="8" name="Espace réservé du numéro de diapositive 7">
            <a:extLst>
              <a:ext uri="{FF2B5EF4-FFF2-40B4-BE49-F238E27FC236}">
                <a16:creationId xmlns:a16="http://schemas.microsoft.com/office/drawing/2014/main" id="{7694F845-BCA3-1369-2235-8B02EF729B62}"/>
              </a:ext>
            </a:extLst>
          </p:cNvPr>
          <p:cNvSpPr>
            <a:spLocks noGrp="1"/>
          </p:cNvSpPr>
          <p:nvPr>
            <p:ph type="sldNum" sz="quarter" idx="12"/>
          </p:nvPr>
        </p:nvSpPr>
        <p:spPr/>
        <p:txBody>
          <a:bodyPr/>
          <a:lstStyle/>
          <a:p>
            <a:fld id="{201A5C1E-DE71-4D99-BC1E-739595F062E0}" type="slidenum">
              <a:rPr lang="fr-FR" sz="2000" smtClean="0"/>
              <a:t>5</a:t>
            </a:fld>
            <a:r>
              <a:rPr lang="fr-FR" sz="2000" dirty="0"/>
              <a:t>/21</a:t>
            </a:r>
            <a:endParaRPr lang="fr-FR" dirty="0"/>
          </a:p>
        </p:txBody>
      </p:sp>
    </p:spTree>
    <p:extLst>
      <p:ext uri="{BB962C8B-B14F-4D97-AF65-F5344CB8AC3E}">
        <p14:creationId xmlns:p14="http://schemas.microsoft.com/office/powerpoint/2010/main" val="196710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5406-E292-F473-3D29-BC62286B4A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F63023-E410-E779-3A5B-615D52F29B5A}"/>
              </a:ext>
            </a:extLst>
          </p:cNvPr>
          <p:cNvSpPr>
            <a:spLocks noGrp="1"/>
          </p:cNvSpPr>
          <p:nvPr>
            <p:ph type="title"/>
          </p:nvPr>
        </p:nvSpPr>
        <p:spPr>
          <a:xfrm>
            <a:off x="838200" y="370746"/>
            <a:ext cx="10515600" cy="1325563"/>
          </a:xfrm>
        </p:spPr>
        <p:txBody>
          <a:bodyPr/>
          <a:lstStyle/>
          <a:p>
            <a:r>
              <a:rPr lang="fr-FR" dirty="0"/>
              <a:t>Résultats du TP: Matériau</a:t>
            </a:r>
          </a:p>
        </p:txBody>
      </p:sp>
      <p:sp>
        <p:nvSpPr>
          <p:cNvPr id="8" name="Espace réservé du numéro de diapositive 7">
            <a:extLst>
              <a:ext uri="{FF2B5EF4-FFF2-40B4-BE49-F238E27FC236}">
                <a16:creationId xmlns:a16="http://schemas.microsoft.com/office/drawing/2014/main" id="{9C53BE6E-62B2-39C0-5F54-175B32A52E78}"/>
              </a:ext>
            </a:extLst>
          </p:cNvPr>
          <p:cNvSpPr>
            <a:spLocks noGrp="1"/>
          </p:cNvSpPr>
          <p:nvPr>
            <p:ph type="sldNum" sz="quarter" idx="12"/>
          </p:nvPr>
        </p:nvSpPr>
        <p:spPr/>
        <p:txBody>
          <a:bodyPr/>
          <a:lstStyle/>
          <a:p>
            <a:fld id="{201A5C1E-DE71-4D99-BC1E-739595F062E0}" type="slidenum">
              <a:rPr lang="fr-FR" sz="2000" smtClean="0"/>
              <a:t>6</a:t>
            </a:fld>
            <a:r>
              <a:rPr lang="fr-FR" sz="2000" dirty="0"/>
              <a:t>/21</a:t>
            </a:r>
            <a:endParaRPr lang="fr-FR" dirty="0"/>
          </a:p>
        </p:txBody>
      </p:sp>
      <p:sp>
        <p:nvSpPr>
          <p:cNvPr id="11" name="ZoneTexte 10">
            <a:extLst>
              <a:ext uri="{FF2B5EF4-FFF2-40B4-BE49-F238E27FC236}">
                <a16:creationId xmlns:a16="http://schemas.microsoft.com/office/drawing/2014/main" id="{9D2555A0-6E14-AFF0-2A9B-E180D3DBCFBC}"/>
              </a:ext>
            </a:extLst>
          </p:cNvPr>
          <p:cNvSpPr txBox="1"/>
          <p:nvPr/>
        </p:nvSpPr>
        <p:spPr>
          <a:xfrm>
            <a:off x="943429" y="1506022"/>
            <a:ext cx="10885714" cy="830997"/>
          </a:xfrm>
          <a:prstGeom prst="rect">
            <a:avLst/>
          </a:prstGeom>
          <a:noFill/>
        </p:spPr>
        <p:txBody>
          <a:bodyPr wrap="square" rtlCol="0">
            <a:spAutoFit/>
          </a:bodyPr>
          <a:lstStyle/>
          <a:p>
            <a:r>
              <a:rPr lang="fr-FR" sz="2400" dirty="0"/>
              <a:t>Choix de matériaux:        Polymère: ABS ou Polyamide (Nylon® ou Rilsan®)</a:t>
            </a:r>
          </a:p>
          <a:p>
            <a:r>
              <a:rPr lang="fr-FR" sz="2400" dirty="0"/>
              <a:t>		      	</a:t>
            </a:r>
          </a:p>
        </p:txBody>
      </p:sp>
      <p:sp>
        <p:nvSpPr>
          <p:cNvPr id="12" name="ZoneTexte 11">
            <a:extLst>
              <a:ext uri="{FF2B5EF4-FFF2-40B4-BE49-F238E27FC236}">
                <a16:creationId xmlns:a16="http://schemas.microsoft.com/office/drawing/2014/main" id="{A0DCDB52-FFCB-077B-94BA-56C4389D51F0}"/>
              </a:ext>
            </a:extLst>
          </p:cNvPr>
          <p:cNvSpPr txBox="1"/>
          <p:nvPr/>
        </p:nvSpPr>
        <p:spPr>
          <a:xfrm>
            <a:off x="996405" y="4432746"/>
            <a:ext cx="7460343" cy="523220"/>
          </a:xfrm>
          <a:prstGeom prst="rect">
            <a:avLst/>
          </a:prstGeom>
          <a:noFill/>
        </p:spPr>
        <p:txBody>
          <a:bodyPr wrap="square" rtlCol="0">
            <a:spAutoFit/>
          </a:bodyPr>
          <a:lstStyle/>
          <a:p>
            <a:r>
              <a:rPr lang="fr-FR" sz="2800" dirty="0"/>
              <a:t>Choix final : Polyamide</a:t>
            </a:r>
          </a:p>
        </p:txBody>
      </p:sp>
      <p:sp>
        <p:nvSpPr>
          <p:cNvPr id="13" name="ZoneTexte 12">
            <a:extLst>
              <a:ext uri="{FF2B5EF4-FFF2-40B4-BE49-F238E27FC236}">
                <a16:creationId xmlns:a16="http://schemas.microsoft.com/office/drawing/2014/main" id="{FEFCA5F2-DDB5-BD7D-93FD-1B32199D6B1C}"/>
              </a:ext>
            </a:extLst>
          </p:cNvPr>
          <p:cNvSpPr txBox="1"/>
          <p:nvPr/>
        </p:nvSpPr>
        <p:spPr>
          <a:xfrm>
            <a:off x="996405" y="2038360"/>
            <a:ext cx="10025744" cy="2308324"/>
          </a:xfrm>
          <a:prstGeom prst="rect">
            <a:avLst/>
          </a:prstGeom>
          <a:noFill/>
        </p:spPr>
        <p:txBody>
          <a:bodyPr wrap="square" rtlCol="0">
            <a:spAutoFit/>
          </a:bodyPr>
          <a:lstStyle/>
          <a:p>
            <a:r>
              <a:rPr lang="fr-FR" sz="2400" dirty="0"/>
              <a:t>D’après CES </a:t>
            </a:r>
            <a:r>
              <a:rPr lang="fr-FR" sz="2400" dirty="0" err="1"/>
              <a:t>EduPack</a:t>
            </a:r>
            <a:r>
              <a:rPr lang="fr-FR" sz="2400" dirty="0"/>
              <a:t>:</a:t>
            </a:r>
          </a:p>
          <a:p>
            <a:r>
              <a:rPr lang="fr-FR" sz="2400" dirty="0"/>
              <a:t>« Les Nylons sont résistants, ont un coefficient de friction faible, résistent bien aux </a:t>
            </a:r>
            <a:r>
              <a:rPr lang="fr-FR" sz="2400" dirty="0" err="1"/>
              <a:t>UVs</a:t>
            </a:r>
            <a:r>
              <a:rPr lang="fr-FR" sz="2400" dirty="0"/>
              <a:t> mais mal aux acides. Ils sont faciles a mouler par injection ».</a:t>
            </a:r>
          </a:p>
          <a:p>
            <a:r>
              <a:rPr lang="fr-FR" sz="2400" dirty="0"/>
              <a:t>«  L’ABS a une grande résistance aux chocs, résiste aux </a:t>
            </a:r>
            <a:r>
              <a:rPr lang="fr-FR" sz="2400" dirty="0" err="1"/>
              <a:t>UVs</a:t>
            </a:r>
            <a:r>
              <a:rPr lang="fr-FR" sz="2400" dirty="0"/>
              <a:t> si des adjuvants sont ajoutés lors de la fabrication mais ils résistent mal aux solvants. Ils sont faciles a mouler par injection ».</a:t>
            </a:r>
          </a:p>
        </p:txBody>
      </p:sp>
      <p:sp>
        <p:nvSpPr>
          <p:cNvPr id="14" name="Espace réservé du pied de page 13">
            <a:extLst>
              <a:ext uri="{FF2B5EF4-FFF2-40B4-BE49-F238E27FC236}">
                <a16:creationId xmlns:a16="http://schemas.microsoft.com/office/drawing/2014/main" id="{71E60DF1-4A0E-AF54-B6C0-51F06509EFB9}"/>
              </a:ext>
            </a:extLst>
          </p:cNvPr>
          <p:cNvSpPr>
            <a:spLocks noGrp="1"/>
          </p:cNvSpPr>
          <p:nvPr>
            <p:ph type="ftr" sz="quarter" idx="11"/>
          </p:nvPr>
        </p:nvSpPr>
        <p:spPr>
          <a:xfrm>
            <a:off x="4038600" y="6477454"/>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84609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1817-DEB5-D1E7-4296-B43C4D695CA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7A5F2C-CCF9-F726-9F7F-6093A0CF2816}"/>
              </a:ext>
            </a:extLst>
          </p:cNvPr>
          <p:cNvSpPr>
            <a:spLocks noGrp="1"/>
          </p:cNvSpPr>
          <p:nvPr>
            <p:ph type="title"/>
          </p:nvPr>
        </p:nvSpPr>
        <p:spPr/>
        <p:txBody>
          <a:bodyPr/>
          <a:lstStyle/>
          <a:p>
            <a:r>
              <a:rPr lang="fr-FR" dirty="0"/>
              <a:t>Résultats du TP: Qualification</a:t>
            </a:r>
          </a:p>
        </p:txBody>
      </p:sp>
      <p:sp>
        <p:nvSpPr>
          <p:cNvPr id="8" name="Espace réservé du numéro de diapositive 7">
            <a:extLst>
              <a:ext uri="{FF2B5EF4-FFF2-40B4-BE49-F238E27FC236}">
                <a16:creationId xmlns:a16="http://schemas.microsoft.com/office/drawing/2014/main" id="{DEDA94DA-876F-A6C9-06DB-9935137271BB}"/>
              </a:ext>
            </a:extLst>
          </p:cNvPr>
          <p:cNvSpPr>
            <a:spLocks noGrp="1"/>
          </p:cNvSpPr>
          <p:nvPr>
            <p:ph type="sldNum" sz="quarter" idx="12"/>
          </p:nvPr>
        </p:nvSpPr>
        <p:spPr/>
        <p:txBody>
          <a:bodyPr/>
          <a:lstStyle/>
          <a:p>
            <a:fld id="{201A5C1E-DE71-4D99-BC1E-739595F062E0}" type="slidenum">
              <a:rPr lang="fr-FR" sz="2000" smtClean="0"/>
              <a:t>7</a:t>
            </a:fld>
            <a:r>
              <a:rPr lang="fr-FR" sz="2000" dirty="0"/>
              <a:t>/21</a:t>
            </a:r>
            <a:endParaRPr lang="fr-FR" dirty="0"/>
          </a:p>
        </p:txBody>
      </p:sp>
      <p:sp>
        <p:nvSpPr>
          <p:cNvPr id="11" name="ZoneTexte 10">
            <a:extLst>
              <a:ext uri="{FF2B5EF4-FFF2-40B4-BE49-F238E27FC236}">
                <a16:creationId xmlns:a16="http://schemas.microsoft.com/office/drawing/2014/main" id="{4B4D215A-530C-2739-B910-C7FD4F7810FB}"/>
              </a:ext>
            </a:extLst>
          </p:cNvPr>
          <p:cNvSpPr txBox="1"/>
          <p:nvPr/>
        </p:nvSpPr>
        <p:spPr>
          <a:xfrm>
            <a:off x="943429" y="1506022"/>
            <a:ext cx="10885714" cy="830997"/>
          </a:xfrm>
          <a:prstGeom prst="rect">
            <a:avLst/>
          </a:prstGeom>
          <a:noFill/>
        </p:spPr>
        <p:txBody>
          <a:bodyPr wrap="square" rtlCol="0">
            <a:spAutoFit/>
          </a:bodyPr>
          <a:lstStyle/>
          <a:p>
            <a:r>
              <a:rPr lang="fr-FR" sz="2400" dirty="0"/>
              <a:t>Qualification de la série de colliers de serrage:</a:t>
            </a:r>
          </a:p>
          <a:p>
            <a:r>
              <a:rPr lang="fr-FR" sz="2400" dirty="0"/>
              <a:t>		      	</a:t>
            </a:r>
          </a:p>
        </p:txBody>
      </p:sp>
      <p:sp>
        <p:nvSpPr>
          <p:cNvPr id="13" name="ZoneTexte 12">
            <a:extLst>
              <a:ext uri="{FF2B5EF4-FFF2-40B4-BE49-F238E27FC236}">
                <a16:creationId xmlns:a16="http://schemas.microsoft.com/office/drawing/2014/main" id="{8E7082A3-E098-69A7-9F00-0B0399C96FF1}"/>
              </a:ext>
            </a:extLst>
          </p:cNvPr>
          <p:cNvSpPr txBox="1"/>
          <p:nvPr/>
        </p:nvSpPr>
        <p:spPr>
          <a:xfrm>
            <a:off x="996405" y="1921520"/>
            <a:ext cx="10199190" cy="3046988"/>
          </a:xfrm>
          <a:prstGeom prst="rect">
            <a:avLst/>
          </a:prstGeom>
          <a:noFill/>
        </p:spPr>
        <p:txBody>
          <a:bodyPr wrap="square" rtlCol="0">
            <a:spAutoFit/>
          </a:bodyPr>
          <a:lstStyle/>
          <a:p>
            <a:r>
              <a:rPr lang="fr-FR" sz="2400" dirty="0"/>
              <a:t>Essais possibles: Tests traction (</a:t>
            </a:r>
            <a:r>
              <a:rPr lang="fr-FR" sz="2400" dirty="0" err="1"/>
              <a:t>Rm</a:t>
            </a:r>
            <a:r>
              <a:rPr lang="fr-FR" sz="2400" dirty="0"/>
              <a:t>: Résistance mécanique ou Re: Résistance élastique), fatigue, résistance aux </a:t>
            </a:r>
            <a:r>
              <a:rPr lang="fr-FR" sz="2400" dirty="0" err="1"/>
              <a:t>UVs</a:t>
            </a:r>
            <a:r>
              <a:rPr lang="fr-FR" sz="2400" dirty="0"/>
              <a:t>, résistance à abrasion.</a:t>
            </a:r>
          </a:p>
          <a:p>
            <a:r>
              <a:rPr lang="fr-FR" sz="2400" dirty="0"/>
              <a:t>Nombre de colliers à tester?</a:t>
            </a:r>
          </a:p>
          <a:p>
            <a:r>
              <a:rPr lang="fr-FR" sz="2400" dirty="0"/>
              <a:t>On suppose qu’un paquet = 100 colliers = taille de série.</a:t>
            </a:r>
          </a:p>
          <a:p>
            <a:r>
              <a:rPr lang="fr-FR" sz="2400" dirty="0"/>
              <a:t>D’après la norme </a:t>
            </a:r>
            <a:r>
              <a:rPr lang="fr-FR" sz="2400" b="1" dirty="0"/>
              <a:t>ISO 2859-1 </a:t>
            </a:r>
            <a:r>
              <a:rPr lang="fr-FR" sz="2400" dirty="0"/>
              <a:t>qui définit les procédures d’échantillonnage </a:t>
            </a:r>
          </a:p>
          <a:p>
            <a:r>
              <a:rPr lang="fr-FR" sz="2400" dirty="0"/>
              <a:t>pour le contrôle par attributs des lots de produits, visant à garantir la qualité tout en optimisant les coûts de contrôle.</a:t>
            </a:r>
          </a:p>
          <a:p>
            <a:r>
              <a:rPr lang="fr-FR" sz="2400" dirty="0"/>
              <a:t>Cela donne 3 à 5 colliers à tester.</a:t>
            </a:r>
          </a:p>
        </p:txBody>
      </p:sp>
      <p:sp>
        <p:nvSpPr>
          <p:cNvPr id="3" name="Espace réservé du pied de page 2">
            <a:extLst>
              <a:ext uri="{FF2B5EF4-FFF2-40B4-BE49-F238E27FC236}">
                <a16:creationId xmlns:a16="http://schemas.microsoft.com/office/drawing/2014/main" id="{3207C9A6-5B77-DB2D-E78E-7E4A3B97F86E}"/>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31691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DFD26-0F3E-3DD3-9EBC-1F3AB2B210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3A223F-A8CE-416E-62D8-905B1570502A}"/>
              </a:ext>
            </a:extLst>
          </p:cNvPr>
          <p:cNvSpPr>
            <a:spLocks noGrp="1"/>
          </p:cNvSpPr>
          <p:nvPr>
            <p:ph type="title"/>
          </p:nvPr>
        </p:nvSpPr>
        <p:spPr>
          <a:xfrm>
            <a:off x="838200" y="0"/>
            <a:ext cx="10515600" cy="1325563"/>
          </a:xfrm>
        </p:spPr>
        <p:txBody>
          <a:bodyPr/>
          <a:lstStyle/>
          <a:p>
            <a:r>
              <a:rPr lang="fr-FR" dirty="0"/>
              <a:t>Résultats du TP: Mesures</a:t>
            </a:r>
          </a:p>
        </p:txBody>
      </p:sp>
      <p:sp>
        <p:nvSpPr>
          <p:cNvPr id="8" name="Espace réservé du numéro de diapositive 7">
            <a:extLst>
              <a:ext uri="{FF2B5EF4-FFF2-40B4-BE49-F238E27FC236}">
                <a16:creationId xmlns:a16="http://schemas.microsoft.com/office/drawing/2014/main" id="{6B87A0CF-D94F-9487-B42C-86F16F43DFA1}"/>
              </a:ext>
            </a:extLst>
          </p:cNvPr>
          <p:cNvSpPr>
            <a:spLocks noGrp="1"/>
          </p:cNvSpPr>
          <p:nvPr>
            <p:ph type="sldNum" sz="quarter" idx="12"/>
          </p:nvPr>
        </p:nvSpPr>
        <p:spPr/>
        <p:txBody>
          <a:bodyPr/>
          <a:lstStyle/>
          <a:p>
            <a:fld id="{201A5C1E-DE71-4D99-BC1E-739595F062E0}" type="slidenum">
              <a:rPr lang="fr-FR" sz="2000" smtClean="0"/>
              <a:t>8</a:t>
            </a:fld>
            <a:r>
              <a:rPr lang="fr-FR" sz="2000" dirty="0"/>
              <a:t>/21</a:t>
            </a:r>
            <a:endParaRPr lang="fr-FR" dirty="0"/>
          </a:p>
        </p:txBody>
      </p:sp>
      <p:grpSp>
        <p:nvGrpSpPr>
          <p:cNvPr id="10" name="Groupe 9">
            <a:extLst>
              <a:ext uri="{FF2B5EF4-FFF2-40B4-BE49-F238E27FC236}">
                <a16:creationId xmlns:a16="http://schemas.microsoft.com/office/drawing/2014/main" id="{8E6BF943-AADA-1872-AB62-4F961D59B031}"/>
              </a:ext>
            </a:extLst>
          </p:cNvPr>
          <p:cNvGrpSpPr/>
          <p:nvPr/>
        </p:nvGrpSpPr>
        <p:grpSpPr>
          <a:xfrm>
            <a:off x="5292581" y="4370207"/>
            <a:ext cx="5402580" cy="595087"/>
            <a:chOff x="3521284" y="3730170"/>
            <a:chExt cx="5402580" cy="595087"/>
          </a:xfrm>
        </p:grpSpPr>
        <p:pic>
          <p:nvPicPr>
            <p:cNvPr id="4" name="Image 3">
              <a:extLst>
                <a:ext uri="{FF2B5EF4-FFF2-40B4-BE49-F238E27FC236}">
                  <a16:creationId xmlns:a16="http://schemas.microsoft.com/office/drawing/2014/main" id="{F790DEE4-C013-F41C-904C-87D020BC061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21284" y="3730170"/>
              <a:ext cx="2743200" cy="595087"/>
            </a:xfrm>
            <a:prstGeom prst="rect">
              <a:avLst/>
            </a:prstGeom>
          </p:spPr>
        </p:pic>
        <p:pic>
          <p:nvPicPr>
            <p:cNvPr id="6" name="Image 5">
              <a:extLst>
                <a:ext uri="{FF2B5EF4-FFF2-40B4-BE49-F238E27FC236}">
                  <a16:creationId xmlns:a16="http://schemas.microsoft.com/office/drawing/2014/main" id="{2DA2FAFC-307C-AA26-64DE-C12F27AC634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a:off x="6180664" y="3730170"/>
              <a:ext cx="2743200" cy="595087"/>
            </a:xfrm>
            <a:prstGeom prst="rect">
              <a:avLst/>
            </a:prstGeom>
          </p:spPr>
        </p:pic>
      </p:grpSp>
      <p:sp>
        <p:nvSpPr>
          <p:cNvPr id="3" name="ZoneTexte 2">
            <a:extLst>
              <a:ext uri="{FF2B5EF4-FFF2-40B4-BE49-F238E27FC236}">
                <a16:creationId xmlns:a16="http://schemas.microsoft.com/office/drawing/2014/main" id="{8194684E-5A8D-0B2B-55F6-B1134BBF8718}"/>
              </a:ext>
            </a:extLst>
          </p:cNvPr>
          <p:cNvSpPr txBox="1"/>
          <p:nvPr/>
        </p:nvSpPr>
        <p:spPr>
          <a:xfrm>
            <a:off x="1262742" y="1094730"/>
            <a:ext cx="7721600" cy="461665"/>
          </a:xfrm>
          <a:prstGeom prst="rect">
            <a:avLst/>
          </a:prstGeom>
          <a:noFill/>
        </p:spPr>
        <p:txBody>
          <a:bodyPr wrap="square" rtlCol="0">
            <a:spAutoFit/>
          </a:bodyPr>
          <a:lstStyle/>
          <a:p>
            <a:r>
              <a:rPr lang="fr-FR" sz="2400" dirty="0"/>
              <a:t>Essai sur 2*2 demis rilsans</a:t>
            </a:r>
          </a:p>
        </p:txBody>
      </p:sp>
      <p:graphicFrame>
        <p:nvGraphicFramePr>
          <p:cNvPr id="5" name="Tableau 4">
            <a:extLst>
              <a:ext uri="{FF2B5EF4-FFF2-40B4-BE49-F238E27FC236}">
                <a16:creationId xmlns:a16="http://schemas.microsoft.com/office/drawing/2014/main" id="{2ED9FF8C-CDD1-22A2-534B-4947B26959B5}"/>
              </a:ext>
            </a:extLst>
          </p:cNvPr>
          <p:cNvGraphicFramePr>
            <a:graphicFrameLocks noGrp="1"/>
          </p:cNvGraphicFramePr>
          <p:nvPr>
            <p:extLst>
              <p:ext uri="{D42A27DB-BD31-4B8C-83A1-F6EECF244321}">
                <p14:modId xmlns:p14="http://schemas.microsoft.com/office/powerpoint/2010/main" val="2883782118"/>
              </p:ext>
            </p:extLst>
          </p:nvPr>
        </p:nvGraphicFramePr>
        <p:xfrm>
          <a:off x="1897529" y="1586472"/>
          <a:ext cx="8128000" cy="1854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973855035"/>
                    </a:ext>
                  </a:extLst>
                </a:gridCol>
                <a:gridCol w="1625600">
                  <a:extLst>
                    <a:ext uri="{9D8B030D-6E8A-4147-A177-3AD203B41FA5}">
                      <a16:colId xmlns:a16="http://schemas.microsoft.com/office/drawing/2014/main" val="967006663"/>
                    </a:ext>
                  </a:extLst>
                </a:gridCol>
                <a:gridCol w="1625600">
                  <a:extLst>
                    <a:ext uri="{9D8B030D-6E8A-4147-A177-3AD203B41FA5}">
                      <a16:colId xmlns:a16="http://schemas.microsoft.com/office/drawing/2014/main" val="1162036758"/>
                    </a:ext>
                  </a:extLst>
                </a:gridCol>
                <a:gridCol w="1625600">
                  <a:extLst>
                    <a:ext uri="{9D8B030D-6E8A-4147-A177-3AD203B41FA5}">
                      <a16:colId xmlns:a16="http://schemas.microsoft.com/office/drawing/2014/main" val="896785968"/>
                    </a:ext>
                  </a:extLst>
                </a:gridCol>
                <a:gridCol w="1625600">
                  <a:extLst>
                    <a:ext uri="{9D8B030D-6E8A-4147-A177-3AD203B41FA5}">
                      <a16:colId xmlns:a16="http://schemas.microsoft.com/office/drawing/2014/main" val="2348219183"/>
                    </a:ext>
                  </a:extLst>
                </a:gridCol>
              </a:tblGrid>
              <a:tr h="370840">
                <a:tc>
                  <a:txBody>
                    <a:bodyPr/>
                    <a:lstStyle/>
                    <a:p>
                      <a:endParaRPr lang="fr-FR"/>
                    </a:p>
                  </a:txBody>
                  <a:tcPr/>
                </a:tc>
                <a:tc>
                  <a:txBody>
                    <a:bodyPr/>
                    <a:lstStyle/>
                    <a:p>
                      <a:r>
                        <a:rPr lang="fr-FR" dirty="0"/>
                        <a:t>Re(N)</a:t>
                      </a:r>
                    </a:p>
                  </a:txBody>
                  <a:tcPr/>
                </a:tc>
                <a:tc>
                  <a:txBody>
                    <a:bodyPr/>
                    <a:lstStyle/>
                    <a:p>
                      <a:r>
                        <a:rPr lang="fr-FR" dirty="0" err="1"/>
                        <a:t>Rm</a:t>
                      </a:r>
                      <a:r>
                        <a:rPr lang="fr-FR" dirty="0"/>
                        <a:t> (N)</a:t>
                      </a:r>
                    </a:p>
                  </a:txBody>
                  <a:tcPr/>
                </a:tc>
                <a:tc>
                  <a:txBody>
                    <a:bodyPr/>
                    <a:lstStyle/>
                    <a:p>
                      <a:r>
                        <a:rPr lang="fr-FR" dirty="0"/>
                        <a:t>A%</a:t>
                      </a:r>
                    </a:p>
                  </a:txBody>
                  <a:tcPr/>
                </a:tc>
                <a:tc>
                  <a:txBody>
                    <a:bodyPr/>
                    <a:lstStyle/>
                    <a:p>
                      <a:r>
                        <a:rPr lang="fr-FR" dirty="0"/>
                        <a:t>E (N)</a:t>
                      </a:r>
                    </a:p>
                  </a:txBody>
                  <a:tcPr/>
                </a:tc>
                <a:extLst>
                  <a:ext uri="{0D108BD9-81ED-4DB2-BD59-A6C34878D82A}">
                    <a16:rowId xmlns:a16="http://schemas.microsoft.com/office/drawing/2014/main" val="844573056"/>
                  </a:ext>
                </a:extLst>
              </a:tr>
              <a:tr h="370840">
                <a:tc>
                  <a:txBody>
                    <a:bodyPr/>
                    <a:lstStyle/>
                    <a:p>
                      <a:r>
                        <a:rPr lang="fr-FR" dirty="0"/>
                        <a:t>Essai 1</a:t>
                      </a:r>
                    </a:p>
                  </a:txBody>
                  <a:tcPr/>
                </a:tc>
                <a:tc>
                  <a:txBody>
                    <a:bodyPr/>
                    <a:lstStyle/>
                    <a:p>
                      <a:r>
                        <a:rPr lang="fr-FR" dirty="0"/>
                        <a:t>190</a:t>
                      </a:r>
                    </a:p>
                  </a:txBody>
                  <a:tcPr/>
                </a:tc>
                <a:tc>
                  <a:txBody>
                    <a:bodyPr/>
                    <a:lstStyle/>
                    <a:p>
                      <a:r>
                        <a:rPr lang="fr-FR" dirty="0"/>
                        <a:t>282</a:t>
                      </a:r>
                    </a:p>
                  </a:txBody>
                  <a:tcPr/>
                </a:tc>
                <a:tc>
                  <a:txBody>
                    <a:bodyPr/>
                    <a:lstStyle/>
                    <a:p>
                      <a:r>
                        <a:rPr lang="fr-FR" dirty="0"/>
                        <a:t>20/40</a:t>
                      </a:r>
                    </a:p>
                  </a:txBody>
                  <a:tcPr/>
                </a:tc>
                <a:tc>
                  <a:txBody>
                    <a:bodyPr/>
                    <a:lstStyle/>
                    <a:p>
                      <a:r>
                        <a:rPr lang="fr-FR" dirty="0"/>
                        <a:t>180*1,6/40</a:t>
                      </a:r>
                    </a:p>
                  </a:txBody>
                  <a:tcPr/>
                </a:tc>
                <a:extLst>
                  <a:ext uri="{0D108BD9-81ED-4DB2-BD59-A6C34878D82A}">
                    <a16:rowId xmlns:a16="http://schemas.microsoft.com/office/drawing/2014/main" val="25154265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Essai 2</a:t>
                      </a:r>
                    </a:p>
                  </a:txBody>
                  <a:tcPr/>
                </a:tc>
                <a:tc>
                  <a:txBody>
                    <a:bodyPr/>
                    <a:lstStyle/>
                    <a:p>
                      <a:r>
                        <a:rPr lang="fr-FR" dirty="0"/>
                        <a:t>190</a:t>
                      </a:r>
                    </a:p>
                  </a:txBody>
                  <a:tcPr/>
                </a:tc>
                <a:tc>
                  <a:txBody>
                    <a:bodyPr/>
                    <a:lstStyle/>
                    <a:p>
                      <a:r>
                        <a:rPr lang="fr-FR" dirty="0"/>
                        <a:t>267</a:t>
                      </a:r>
                    </a:p>
                  </a:txBody>
                  <a:tcPr/>
                </a:tc>
                <a:tc>
                  <a:txBody>
                    <a:bodyPr/>
                    <a:lstStyle/>
                    <a:p>
                      <a:r>
                        <a:rPr lang="fr-FR" dirty="0"/>
                        <a:t>25/40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180*1,6/40</a:t>
                      </a:r>
                    </a:p>
                  </a:txBody>
                  <a:tcPr/>
                </a:tc>
                <a:extLst>
                  <a:ext uri="{0D108BD9-81ED-4DB2-BD59-A6C34878D82A}">
                    <a16:rowId xmlns:a16="http://schemas.microsoft.com/office/drawing/2014/main" val="27628654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Essai 3</a:t>
                      </a:r>
                    </a:p>
                  </a:txBody>
                  <a:tcPr/>
                </a:tc>
                <a:tc>
                  <a:txBody>
                    <a:bodyPr/>
                    <a:lstStyle/>
                    <a:p>
                      <a:r>
                        <a:rPr lang="fr-FR" dirty="0"/>
                        <a:t>190</a:t>
                      </a:r>
                    </a:p>
                  </a:txBody>
                  <a:tcPr/>
                </a:tc>
                <a:tc>
                  <a:txBody>
                    <a:bodyPr/>
                    <a:lstStyle/>
                    <a:p>
                      <a:r>
                        <a:rPr lang="fr-FR" dirty="0"/>
                        <a:t>282</a:t>
                      </a:r>
                    </a:p>
                  </a:txBody>
                  <a:tcPr/>
                </a:tc>
                <a:tc>
                  <a:txBody>
                    <a:bodyPr/>
                    <a:lstStyle/>
                    <a:p>
                      <a:r>
                        <a:rPr lang="fr-FR" dirty="0"/>
                        <a:t>20/40</a:t>
                      </a:r>
                    </a:p>
                  </a:txBody>
                  <a:tcPr/>
                </a:tc>
                <a:tc>
                  <a:txBody>
                    <a:bodyPr/>
                    <a:lstStyle/>
                    <a:p>
                      <a:r>
                        <a:rPr lang="fr-FR" dirty="0"/>
                        <a:t>180*1,2/40</a:t>
                      </a:r>
                    </a:p>
                  </a:txBody>
                  <a:tcPr/>
                </a:tc>
                <a:extLst>
                  <a:ext uri="{0D108BD9-81ED-4DB2-BD59-A6C34878D82A}">
                    <a16:rowId xmlns:a16="http://schemas.microsoft.com/office/drawing/2014/main" val="39086727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Essai 4</a:t>
                      </a:r>
                    </a:p>
                  </a:txBody>
                  <a:tcPr/>
                </a:tc>
                <a:tc>
                  <a:txBody>
                    <a:bodyPr/>
                    <a:lstStyle/>
                    <a:p>
                      <a:r>
                        <a:rPr lang="fr-FR" dirty="0"/>
                        <a:t>190</a:t>
                      </a:r>
                    </a:p>
                  </a:txBody>
                  <a:tcPr/>
                </a:tc>
                <a:tc>
                  <a:txBody>
                    <a:bodyPr/>
                    <a:lstStyle/>
                    <a:p>
                      <a:r>
                        <a:rPr lang="fr-FR" dirty="0"/>
                        <a:t>267</a:t>
                      </a:r>
                    </a:p>
                  </a:txBody>
                  <a:tcPr/>
                </a:tc>
                <a:tc>
                  <a:txBody>
                    <a:bodyPr/>
                    <a:lstStyle/>
                    <a:p>
                      <a:r>
                        <a:rPr lang="fr-FR" dirty="0"/>
                        <a:t>35/40</a:t>
                      </a:r>
                    </a:p>
                  </a:txBody>
                  <a:tcPr/>
                </a:tc>
                <a:tc>
                  <a:txBody>
                    <a:bodyPr/>
                    <a:lstStyle/>
                    <a:p>
                      <a:r>
                        <a:rPr lang="fr-FR" dirty="0"/>
                        <a:t>180*1,4/40</a:t>
                      </a:r>
                    </a:p>
                  </a:txBody>
                  <a:tcPr/>
                </a:tc>
                <a:extLst>
                  <a:ext uri="{0D108BD9-81ED-4DB2-BD59-A6C34878D82A}">
                    <a16:rowId xmlns:a16="http://schemas.microsoft.com/office/drawing/2014/main" val="3929713620"/>
                  </a:ext>
                </a:extLst>
              </a:tr>
            </a:tbl>
          </a:graphicData>
        </a:graphic>
      </p:graphicFrame>
      <p:pic>
        <p:nvPicPr>
          <p:cNvPr id="14" name="Image 13">
            <a:extLst>
              <a:ext uri="{FF2B5EF4-FFF2-40B4-BE49-F238E27FC236}">
                <a16:creationId xmlns:a16="http://schemas.microsoft.com/office/drawing/2014/main" id="{B2615D30-3AF4-07CE-61B4-E04EBD9550F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8378" y="3611562"/>
            <a:ext cx="4149041" cy="2927350"/>
          </a:xfrm>
          <a:prstGeom prst="rect">
            <a:avLst/>
          </a:prstGeom>
        </p:spPr>
      </p:pic>
      <p:sp>
        <p:nvSpPr>
          <p:cNvPr id="15" name="ZoneTexte 14">
            <a:extLst>
              <a:ext uri="{FF2B5EF4-FFF2-40B4-BE49-F238E27FC236}">
                <a16:creationId xmlns:a16="http://schemas.microsoft.com/office/drawing/2014/main" id="{B6779C25-A9B1-2B06-1D57-B82392E57BFC}"/>
              </a:ext>
            </a:extLst>
          </p:cNvPr>
          <p:cNvSpPr txBox="1"/>
          <p:nvPr/>
        </p:nvSpPr>
        <p:spPr>
          <a:xfrm>
            <a:off x="7245640" y="5046471"/>
            <a:ext cx="2902857" cy="369332"/>
          </a:xfrm>
          <a:prstGeom prst="rect">
            <a:avLst/>
          </a:prstGeom>
          <a:noFill/>
        </p:spPr>
        <p:txBody>
          <a:bodyPr wrap="square" rtlCol="0">
            <a:spAutoFit/>
          </a:bodyPr>
          <a:lstStyle/>
          <a:p>
            <a:r>
              <a:rPr lang="fr-FR" dirty="0"/>
              <a:t>Profil de rupture</a:t>
            </a:r>
          </a:p>
        </p:txBody>
      </p:sp>
      <p:sp>
        <p:nvSpPr>
          <p:cNvPr id="16" name="ZoneTexte 15">
            <a:extLst>
              <a:ext uri="{FF2B5EF4-FFF2-40B4-BE49-F238E27FC236}">
                <a16:creationId xmlns:a16="http://schemas.microsoft.com/office/drawing/2014/main" id="{F1508A20-7C72-795F-DFAF-F280D5BE4225}"/>
              </a:ext>
            </a:extLst>
          </p:cNvPr>
          <p:cNvSpPr txBox="1"/>
          <p:nvPr/>
        </p:nvSpPr>
        <p:spPr>
          <a:xfrm>
            <a:off x="5292581" y="3470749"/>
            <a:ext cx="2902857" cy="369332"/>
          </a:xfrm>
          <a:prstGeom prst="rect">
            <a:avLst/>
          </a:prstGeom>
          <a:noFill/>
        </p:spPr>
        <p:txBody>
          <a:bodyPr wrap="square" rtlCol="0">
            <a:spAutoFit/>
          </a:bodyPr>
          <a:lstStyle/>
          <a:p>
            <a:r>
              <a:rPr lang="fr-FR" dirty="0"/>
              <a:t>Résultats</a:t>
            </a:r>
          </a:p>
        </p:txBody>
      </p:sp>
      <p:sp>
        <p:nvSpPr>
          <p:cNvPr id="17" name="ZoneTexte 16">
            <a:extLst>
              <a:ext uri="{FF2B5EF4-FFF2-40B4-BE49-F238E27FC236}">
                <a16:creationId xmlns:a16="http://schemas.microsoft.com/office/drawing/2014/main" id="{43409C21-1FC8-EC78-E37F-488953EAA7AE}"/>
              </a:ext>
            </a:extLst>
          </p:cNvPr>
          <p:cNvSpPr txBox="1"/>
          <p:nvPr/>
        </p:nvSpPr>
        <p:spPr>
          <a:xfrm>
            <a:off x="1545558" y="6488668"/>
            <a:ext cx="2902857" cy="369332"/>
          </a:xfrm>
          <a:prstGeom prst="rect">
            <a:avLst/>
          </a:prstGeom>
          <a:noFill/>
        </p:spPr>
        <p:txBody>
          <a:bodyPr wrap="square" rtlCol="0">
            <a:spAutoFit/>
          </a:bodyPr>
          <a:lstStyle/>
          <a:p>
            <a:r>
              <a:rPr lang="fr-FR" dirty="0"/>
              <a:t>Courbe force déplacement.</a:t>
            </a:r>
          </a:p>
        </p:txBody>
      </p:sp>
      <p:sp>
        <p:nvSpPr>
          <p:cNvPr id="18" name="Espace réservé du pied de page 17">
            <a:extLst>
              <a:ext uri="{FF2B5EF4-FFF2-40B4-BE49-F238E27FC236}">
                <a16:creationId xmlns:a16="http://schemas.microsoft.com/office/drawing/2014/main" id="{1869C245-EAF5-EF3A-7285-40706B277E62}"/>
              </a:ext>
            </a:extLst>
          </p:cNvPr>
          <p:cNvSpPr>
            <a:spLocks noGrp="1"/>
          </p:cNvSpPr>
          <p:nvPr>
            <p:ph type="ftr" sz="quarter" idx="11"/>
          </p:nvPr>
        </p:nvSpPr>
        <p:spPr>
          <a:xfrm>
            <a:off x="4038600" y="6485958"/>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4257919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721221-444B-CB8F-5D46-F61CBF738D5C}"/>
              </a:ext>
            </a:extLst>
          </p:cNvPr>
          <p:cNvSpPr>
            <a:spLocks noGrp="1"/>
          </p:cNvSpPr>
          <p:nvPr>
            <p:ph type="title"/>
          </p:nvPr>
        </p:nvSpPr>
        <p:spPr>
          <a:xfrm>
            <a:off x="838200" y="0"/>
            <a:ext cx="10515600" cy="1325563"/>
          </a:xfrm>
        </p:spPr>
        <p:txBody>
          <a:bodyPr/>
          <a:lstStyle/>
          <a:p>
            <a:r>
              <a:rPr lang="fr-FR" dirty="0"/>
              <a:t>Contexte pédagogique</a:t>
            </a:r>
          </a:p>
        </p:txBody>
      </p:sp>
      <p:sp>
        <p:nvSpPr>
          <p:cNvPr id="6" name="ZoneTexte 5">
            <a:extLst>
              <a:ext uri="{FF2B5EF4-FFF2-40B4-BE49-F238E27FC236}">
                <a16:creationId xmlns:a16="http://schemas.microsoft.com/office/drawing/2014/main" id="{C44D3443-A7A0-E1C5-08ED-AE723CB105B3}"/>
              </a:ext>
            </a:extLst>
          </p:cNvPr>
          <p:cNvSpPr txBox="1"/>
          <p:nvPr/>
        </p:nvSpPr>
        <p:spPr>
          <a:xfrm>
            <a:off x="1247264" y="1028343"/>
            <a:ext cx="9116901" cy="2400657"/>
          </a:xfrm>
          <a:prstGeom prst="rect">
            <a:avLst/>
          </a:prstGeom>
          <a:noFill/>
        </p:spPr>
        <p:txBody>
          <a:bodyPr wrap="square" rtlCol="0">
            <a:spAutoFit/>
          </a:bodyPr>
          <a:lstStyle/>
          <a:p>
            <a:r>
              <a:rPr lang="fr-FR" sz="3000" dirty="0"/>
              <a:t>Terminale STI2D spécialité ITEC</a:t>
            </a:r>
          </a:p>
          <a:p>
            <a:r>
              <a:rPr lang="fr-FR" sz="3000" dirty="0"/>
              <a:t>Classe de 36 élèves</a:t>
            </a:r>
          </a:p>
          <a:p>
            <a:r>
              <a:rPr lang="fr-FR" sz="3000" dirty="0"/>
              <a:t>12h de cours hebdomadaire:</a:t>
            </a:r>
          </a:p>
          <a:p>
            <a:r>
              <a:rPr lang="fr-FR" sz="3000" dirty="0"/>
              <a:t>8h ITEC + 4h 2I2D  avec 8h en demi groupe</a:t>
            </a:r>
          </a:p>
          <a:p>
            <a:endParaRPr lang="fr-FR" sz="3000" dirty="0"/>
          </a:p>
        </p:txBody>
      </p:sp>
      <p:sp>
        <p:nvSpPr>
          <p:cNvPr id="8" name="Espace réservé du numéro de diapositive 7">
            <a:extLst>
              <a:ext uri="{FF2B5EF4-FFF2-40B4-BE49-F238E27FC236}">
                <a16:creationId xmlns:a16="http://schemas.microsoft.com/office/drawing/2014/main" id="{8CAA2D67-C65F-EDFD-796B-556AE1BB5E98}"/>
              </a:ext>
            </a:extLst>
          </p:cNvPr>
          <p:cNvSpPr>
            <a:spLocks noGrp="1"/>
          </p:cNvSpPr>
          <p:nvPr>
            <p:ph type="sldNum" sz="quarter" idx="12"/>
          </p:nvPr>
        </p:nvSpPr>
        <p:spPr/>
        <p:txBody>
          <a:bodyPr/>
          <a:lstStyle/>
          <a:p>
            <a:fld id="{201A5C1E-DE71-4D99-BC1E-739595F062E0}" type="slidenum">
              <a:rPr lang="fr-FR" sz="2000" smtClean="0"/>
              <a:t>9</a:t>
            </a:fld>
            <a:r>
              <a:rPr lang="fr-FR" sz="2000" dirty="0"/>
              <a:t>/21</a:t>
            </a:r>
          </a:p>
        </p:txBody>
      </p:sp>
      <p:graphicFrame>
        <p:nvGraphicFramePr>
          <p:cNvPr id="7" name="Tableau 6">
            <a:extLst>
              <a:ext uri="{FF2B5EF4-FFF2-40B4-BE49-F238E27FC236}">
                <a16:creationId xmlns:a16="http://schemas.microsoft.com/office/drawing/2014/main" id="{5439FABA-719A-637E-66E1-4BD1AE973ADB}"/>
              </a:ext>
            </a:extLst>
          </p:cNvPr>
          <p:cNvGraphicFramePr>
            <a:graphicFrameLocks noGrp="1"/>
          </p:cNvGraphicFramePr>
          <p:nvPr>
            <p:extLst>
              <p:ext uri="{D42A27DB-BD31-4B8C-83A1-F6EECF244321}">
                <p14:modId xmlns:p14="http://schemas.microsoft.com/office/powerpoint/2010/main" val="3597652630"/>
              </p:ext>
            </p:extLst>
          </p:nvPr>
        </p:nvGraphicFramePr>
        <p:xfrm>
          <a:off x="2031999" y="3018790"/>
          <a:ext cx="8128002" cy="333756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018625712"/>
                    </a:ext>
                  </a:extLst>
                </a:gridCol>
                <a:gridCol w="1354667">
                  <a:extLst>
                    <a:ext uri="{9D8B030D-6E8A-4147-A177-3AD203B41FA5}">
                      <a16:colId xmlns:a16="http://schemas.microsoft.com/office/drawing/2014/main" val="4108680489"/>
                    </a:ext>
                  </a:extLst>
                </a:gridCol>
                <a:gridCol w="1354667">
                  <a:extLst>
                    <a:ext uri="{9D8B030D-6E8A-4147-A177-3AD203B41FA5}">
                      <a16:colId xmlns:a16="http://schemas.microsoft.com/office/drawing/2014/main" val="1212889447"/>
                    </a:ext>
                  </a:extLst>
                </a:gridCol>
                <a:gridCol w="1354667">
                  <a:extLst>
                    <a:ext uri="{9D8B030D-6E8A-4147-A177-3AD203B41FA5}">
                      <a16:colId xmlns:a16="http://schemas.microsoft.com/office/drawing/2014/main" val="410268703"/>
                    </a:ext>
                  </a:extLst>
                </a:gridCol>
                <a:gridCol w="1354667">
                  <a:extLst>
                    <a:ext uri="{9D8B030D-6E8A-4147-A177-3AD203B41FA5}">
                      <a16:colId xmlns:a16="http://schemas.microsoft.com/office/drawing/2014/main" val="892389463"/>
                    </a:ext>
                  </a:extLst>
                </a:gridCol>
                <a:gridCol w="1354667">
                  <a:extLst>
                    <a:ext uri="{9D8B030D-6E8A-4147-A177-3AD203B41FA5}">
                      <a16:colId xmlns:a16="http://schemas.microsoft.com/office/drawing/2014/main" val="1090072327"/>
                    </a:ext>
                  </a:extLst>
                </a:gridCol>
              </a:tblGrid>
              <a:tr h="370840">
                <a:tc>
                  <a:txBody>
                    <a:bodyPr/>
                    <a:lstStyle/>
                    <a:p>
                      <a:pPr algn="ctr"/>
                      <a:endParaRPr lang="fr-FR" dirty="0"/>
                    </a:p>
                  </a:txBody>
                  <a:tcPr anchor="ctr"/>
                </a:tc>
                <a:tc>
                  <a:txBody>
                    <a:bodyPr/>
                    <a:lstStyle/>
                    <a:p>
                      <a:pPr algn="ctr"/>
                      <a:r>
                        <a:rPr lang="fr-FR" dirty="0"/>
                        <a:t>Lundi</a:t>
                      </a:r>
                    </a:p>
                  </a:txBody>
                  <a:tcPr anchor="ctr"/>
                </a:tc>
                <a:tc>
                  <a:txBody>
                    <a:bodyPr/>
                    <a:lstStyle/>
                    <a:p>
                      <a:pPr algn="ctr"/>
                      <a:r>
                        <a:rPr lang="fr-FR" dirty="0"/>
                        <a:t>Mardi</a:t>
                      </a:r>
                    </a:p>
                  </a:txBody>
                  <a:tcPr anchor="ctr"/>
                </a:tc>
                <a:tc>
                  <a:txBody>
                    <a:bodyPr/>
                    <a:lstStyle/>
                    <a:p>
                      <a:pPr algn="ctr"/>
                      <a:r>
                        <a:rPr lang="fr-FR" dirty="0"/>
                        <a:t>Mercredi</a:t>
                      </a:r>
                    </a:p>
                  </a:txBody>
                  <a:tcPr anchor="ctr"/>
                </a:tc>
                <a:tc>
                  <a:txBody>
                    <a:bodyPr/>
                    <a:lstStyle/>
                    <a:p>
                      <a:pPr algn="ctr"/>
                      <a:r>
                        <a:rPr lang="fr-FR" dirty="0"/>
                        <a:t>Jeudi</a:t>
                      </a:r>
                    </a:p>
                  </a:txBody>
                  <a:tcPr anchor="ctr"/>
                </a:tc>
                <a:tc>
                  <a:txBody>
                    <a:bodyPr/>
                    <a:lstStyle/>
                    <a:p>
                      <a:pPr algn="ctr"/>
                      <a:r>
                        <a:rPr lang="fr-FR" dirty="0"/>
                        <a:t>Vendredi</a:t>
                      </a:r>
                    </a:p>
                  </a:txBody>
                  <a:tcPr anchor="ctr"/>
                </a:tc>
                <a:extLst>
                  <a:ext uri="{0D108BD9-81ED-4DB2-BD59-A6C34878D82A}">
                    <a16:rowId xmlns:a16="http://schemas.microsoft.com/office/drawing/2014/main" val="2658959332"/>
                  </a:ext>
                </a:extLst>
              </a:tr>
              <a:tr h="370840">
                <a:tc>
                  <a:txBody>
                    <a:bodyPr/>
                    <a:lstStyle/>
                    <a:p>
                      <a:pPr algn="ctr"/>
                      <a:r>
                        <a:rPr lang="fr-FR" dirty="0"/>
                        <a:t>8-9H</a:t>
                      </a: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a:p>
                  </a:txBody>
                  <a:tcPr anchor="ctr"/>
                </a:tc>
                <a:extLst>
                  <a:ext uri="{0D108BD9-81ED-4DB2-BD59-A6C34878D82A}">
                    <a16:rowId xmlns:a16="http://schemas.microsoft.com/office/drawing/2014/main" val="2953442098"/>
                  </a:ext>
                </a:extLst>
              </a:tr>
              <a:tr h="370840">
                <a:tc>
                  <a:txBody>
                    <a:bodyPr/>
                    <a:lstStyle/>
                    <a:p>
                      <a:pPr algn="ctr"/>
                      <a:r>
                        <a:rPr lang="fr-FR" dirty="0"/>
                        <a:t>9-10H</a:t>
                      </a:r>
                    </a:p>
                  </a:txBody>
                  <a:tcPr anchor="ct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ITEC</a:t>
                      </a:r>
                    </a:p>
                  </a:txBody>
                  <a:tcPr anchor="ctr">
                    <a:solidFill>
                      <a:srgbClr val="FFEBB9"/>
                    </a:solidFill>
                  </a:tcPr>
                </a:tc>
                <a:tc>
                  <a:txBody>
                    <a:bodyPr/>
                    <a:lstStyle/>
                    <a:p>
                      <a:pPr algn="ctr"/>
                      <a:endParaRPr lang="fr-FR"/>
                    </a:p>
                  </a:txBody>
                  <a:tcPr anchor="ctr"/>
                </a:tc>
                <a:tc>
                  <a:txBody>
                    <a:bodyPr/>
                    <a:lstStyle/>
                    <a:p>
                      <a:pPr algn="ctr"/>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chemeClr val="bg1"/>
                    </a:solidFill>
                  </a:tcPr>
                </a:tc>
                <a:extLst>
                  <a:ext uri="{0D108BD9-81ED-4DB2-BD59-A6C34878D82A}">
                    <a16:rowId xmlns:a16="http://schemas.microsoft.com/office/drawing/2014/main" val="2199027498"/>
                  </a:ext>
                </a:extLst>
              </a:tr>
              <a:tr h="370840">
                <a:tc>
                  <a:txBody>
                    <a:bodyPr/>
                    <a:lstStyle/>
                    <a:p>
                      <a:pPr algn="ctr"/>
                      <a:r>
                        <a:rPr lang="fr-FR" dirty="0"/>
                        <a:t>10-11H</a:t>
                      </a:r>
                    </a:p>
                  </a:txBody>
                  <a:tcPr anchor="ctr"/>
                </a:tc>
                <a:tc>
                  <a:txBody>
                    <a:bodyPr/>
                    <a:lstStyle/>
                    <a:p>
                      <a:pPr algn="ctr"/>
                      <a:endParaRPr lang="fr-FR"/>
                    </a:p>
                  </a:txBody>
                  <a:tcPr anchor="ctr"/>
                </a:tc>
                <a:tc vMerge="1">
                  <a:txBody>
                    <a:bodyPr/>
                    <a:lstStyle/>
                    <a:p>
                      <a:endParaRP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2I2D</a:t>
                      </a:r>
                    </a:p>
                  </a:txBody>
                  <a:tcPr anchor="ctr">
                    <a:solidFill>
                      <a:srgbClr val="FFEBB9"/>
                    </a:solidFill>
                  </a:tcPr>
                </a:tc>
                <a:tc>
                  <a:txBody>
                    <a:bodyPr/>
                    <a:lstStyle/>
                    <a:p>
                      <a:pPr algn="ctr"/>
                      <a:endParaRPr lang="fr-FR" dirty="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ITEC</a:t>
                      </a:r>
                    </a:p>
                  </a:txBody>
                  <a:tcPr anchor="ctr">
                    <a:solidFill>
                      <a:srgbClr val="FFEBB9"/>
                    </a:solidFill>
                  </a:tcPr>
                </a:tc>
                <a:extLst>
                  <a:ext uri="{0D108BD9-81ED-4DB2-BD59-A6C34878D82A}">
                    <a16:rowId xmlns:a16="http://schemas.microsoft.com/office/drawing/2014/main" val="3438670470"/>
                  </a:ext>
                </a:extLst>
              </a:tr>
              <a:tr h="370840">
                <a:tc>
                  <a:txBody>
                    <a:bodyPr/>
                    <a:lstStyle/>
                    <a:p>
                      <a:pPr algn="ctr"/>
                      <a:r>
                        <a:rPr lang="fr-FR" dirty="0"/>
                        <a:t>11H-12H</a:t>
                      </a:r>
                    </a:p>
                  </a:txBody>
                  <a:tcPr anchor="ctr"/>
                </a:tc>
                <a:tc>
                  <a:txBody>
                    <a:bodyPr/>
                    <a:lstStyle/>
                    <a:p>
                      <a:pPr algn="ctr"/>
                      <a:endParaRPr lang="fr-FR"/>
                    </a:p>
                  </a:txBody>
                  <a:tcPr anchor="ctr"/>
                </a:tc>
                <a:tc vMerge="1">
                  <a:txBody>
                    <a:bodyPr/>
                    <a:lstStyle/>
                    <a:p>
                      <a:endParaRPr lang="fr-FR" dirty="0"/>
                    </a:p>
                  </a:txBody>
                  <a:tcPr/>
                </a:tc>
                <a:tc vMerge="1">
                  <a:txBody>
                    <a:bodyPr/>
                    <a:lstStyle/>
                    <a:p>
                      <a:endParaRPr lang="fr-FR" dirty="0"/>
                    </a:p>
                  </a:txBody>
                  <a:tcPr/>
                </a:tc>
                <a:tc>
                  <a:txBody>
                    <a:bodyPr/>
                    <a:lstStyle/>
                    <a:p>
                      <a:pPr algn="ctr"/>
                      <a:endParaRPr lang="fr-F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solidFill>
                      <a:srgbClr val="FFEBB9"/>
                    </a:solidFill>
                  </a:tcPr>
                </a:tc>
                <a:extLst>
                  <a:ext uri="{0D108BD9-81ED-4DB2-BD59-A6C34878D82A}">
                    <a16:rowId xmlns:a16="http://schemas.microsoft.com/office/drawing/2014/main" val="59387983"/>
                  </a:ext>
                </a:extLst>
              </a:tr>
              <a:tr h="370840">
                <a:tc>
                  <a:txBody>
                    <a:bodyPr/>
                    <a:lstStyle/>
                    <a:p>
                      <a:pPr algn="ctr"/>
                      <a:endParaRPr lang="fr-FR" dirty="0"/>
                    </a:p>
                  </a:txBody>
                  <a:tcPr anchor="ctr"/>
                </a:tc>
                <a:tc>
                  <a:txBody>
                    <a:bodyPr/>
                    <a:lstStyle/>
                    <a:p>
                      <a:pPr algn="ctr"/>
                      <a:endParaRPr lang="fr-FR" dirty="0"/>
                    </a:p>
                  </a:txBody>
                  <a:tcPr anchor="ctr"/>
                </a:tc>
                <a:tc>
                  <a:txBody>
                    <a:bodyPr/>
                    <a:lstStyle/>
                    <a:p>
                      <a:pPr algn="ctr"/>
                      <a:endParaRPr lang="fr-FR"/>
                    </a:p>
                  </a:txBody>
                  <a:tcPr anchor="ctr"/>
                </a:tc>
                <a:tc>
                  <a:txBody>
                    <a:bodyPr/>
                    <a:lstStyle/>
                    <a:p>
                      <a:pPr algn="ctr"/>
                      <a:endParaRPr lang="fr-FR"/>
                    </a:p>
                  </a:txBody>
                  <a:tcPr anchor="ctr"/>
                </a:tc>
                <a:tc>
                  <a:txBody>
                    <a:bodyPr/>
                    <a:lstStyle/>
                    <a:p>
                      <a:pPr algn="ctr"/>
                      <a:endParaRPr lang="fr-FR" dirty="0"/>
                    </a:p>
                  </a:txBody>
                  <a:tcPr anchor="ctr"/>
                </a:tc>
                <a:tc>
                  <a:txBody>
                    <a:bodyPr/>
                    <a:lstStyle/>
                    <a:p>
                      <a:pPr algn="ctr"/>
                      <a:endParaRPr lang="fr-FR" dirty="0"/>
                    </a:p>
                  </a:txBody>
                  <a:tcPr anchor="ctr"/>
                </a:tc>
                <a:extLst>
                  <a:ext uri="{0D108BD9-81ED-4DB2-BD59-A6C34878D82A}">
                    <a16:rowId xmlns:a16="http://schemas.microsoft.com/office/drawing/2014/main" val="3481300047"/>
                  </a:ext>
                </a:extLst>
              </a:tr>
              <a:tr h="370840">
                <a:tc>
                  <a:txBody>
                    <a:bodyPr/>
                    <a:lstStyle/>
                    <a:p>
                      <a:pPr algn="ctr"/>
                      <a:r>
                        <a:rPr lang="fr-FR" dirty="0"/>
                        <a:t>14-15H</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2H 2I2D</a:t>
                      </a:r>
                    </a:p>
                  </a:txBody>
                  <a:tcPr anchor="ctr">
                    <a:solidFill>
                      <a:srgbClr val="FFEBB9"/>
                    </a:solidFill>
                  </a:tcPr>
                </a:tc>
                <a:tc>
                  <a:txBody>
                    <a:bodyPr/>
                    <a:lstStyle/>
                    <a:p>
                      <a:pPr algn="ctr"/>
                      <a:endParaRPr lang="fr-FR"/>
                    </a:p>
                  </a:txBody>
                  <a:tcPr anchor="ctr"/>
                </a:tc>
                <a:tc>
                  <a:txBody>
                    <a:bodyPr/>
                    <a:lstStyle/>
                    <a:p>
                      <a:pPr algn="ctr"/>
                      <a:endParaRPr lang="fr-F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3H ITEC</a:t>
                      </a:r>
                    </a:p>
                  </a:txBody>
                  <a:tcPr anchor="ctr">
                    <a:solidFill>
                      <a:srgbClr val="FFEBB9"/>
                    </a:solidFill>
                  </a:tcPr>
                </a:tc>
                <a:tc>
                  <a:txBody>
                    <a:bodyPr/>
                    <a:lstStyle/>
                    <a:p>
                      <a:pPr algn="ctr"/>
                      <a:endParaRPr lang="fr-FR" dirty="0"/>
                    </a:p>
                  </a:txBody>
                  <a:tcPr anchor="ctr"/>
                </a:tc>
                <a:extLst>
                  <a:ext uri="{0D108BD9-81ED-4DB2-BD59-A6C34878D82A}">
                    <a16:rowId xmlns:a16="http://schemas.microsoft.com/office/drawing/2014/main" val="5938423"/>
                  </a:ext>
                </a:extLst>
              </a:tr>
              <a:tr h="370840">
                <a:tc>
                  <a:txBody>
                    <a:bodyPr/>
                    <a:lstStyle/>
                    <a:p>
                      <a:pPr algn="ctr"/>
                      <a:r>
                        <a:rPr lang="fr-FR" dirty="0"/>
                        <a:t>15-16H</a:t>
                      </a:r>
                    </a:p>
                  </a:txBody>
                  <a:tcPr anchor="ctr"/>
                </a:tc>
                <a:tc vMerge="1">
                  <a:txBody>
                    <a:bodyPr/>
                    <a:lstStyle/>
                    <a:p>
                      <a:endParaRPr dirty="0"/>
                    </a:p>
                  </a:txBody>
                  <a:tcPr/>
                </a:tc>
                <a:tc>
                  <a:txBody>
                    <a:bodyPr/>
                    <a:lstStyle/>
                    <a:p>
                      <a:pPr algn="ctr"/>
                      <a:endParaRPr lang="fr-FR"/>
                    </a:p>
                  </a:txBody>
                  <a:tcPr anchor="ctr"/>
                </a:tc>
                <a:tc>
                  <a:txBody>
                    <a:bodyPr/>
                    <a:lstStyle/>
                    <a:p>
                      <a:pPr algn="ctr"/>
                      <a:endParaRPr lang="fr-FR"/>
                    </a:p>
                  </a:txBody>
                  <a:tcPr anchor="ctr"/>
                </a:tc>
                <a:tc vMerge="1">
                  <a:txBody>
                    <a:bodyPr/>
                    <a:lstStyle/>
                    <a:p>
                      <a:endParaRPr/>
                    </a:p>
                  </a:txBody>
                  <a:tcPr/>
                </a:tc>
                <a:tc>
                  <a:txBody>
                    <a:bodyPr/>
                    <a:lstStyle/>
                    <a:p>
                      <a:pPr algn="ctr"/>
                      <a:endParaRPr lang="fr-FR" dirty="0"/>
                    </a:p>
                  </a:txBody>
                  <a:tcPr anchor="ctr"/>
                </a:tc>
                <a:extLst>
                  <a:ext uri="{0D108BD9-81ED-4DB2-BD59-A6C34878D82A}">
                    <a16:rowId xmlns:a16="http://schemas.microsoft.com/office/drawing/2014/main" val="1327619118"/>
                  </a:ext>
                </a:extLst>
              </a:tr>
              <a:tr h="370840">
                <a:tc>
                  <a:txBody>
                    <a:bodyPr/>
                    <a:lstStyle/>
                    <a:p>
                      <a:pPr algn="ctr"/>
                      <a:r>
                        <a:rPr lang="fr-FR" dirty="0"/>
                        <a:t>16-17H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nchor="ctr"/>
                </a:tc>
                <a:tc>
                  <a:txBody>
                    <a:bodyPr/>
                    <a:lstStyle/>
                    <a:p>
                      <a:pPr algn="ctr"/>
                      <a:endParaRPr lang="fr-FR"/>
                    </a:p>
                  </a:txBody>
                  <a:tcPr anchor="ctr"/>
                </a:tc>
                <a:tc>
                  <a:txBody>
                    <a:bodyPr/>
                    <a:lstStyle/>
                    <a:p>
                      <a:pPr algn="ctr"/>
                      <a:endParaRPr lang="fr-F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pPr algn="ctr"/>
                      <a:endParaRPr lang="fr-FR" dirty="0"/>
                    </a:p>
                  </a:txBody>
                  <a:tcPr anchor="ctr"/>
                </a:tc>
                <a:extLst>
                  <a:ext uri="{0D108BD9-81ED-4DB2-BD59-A6C34878D82A}">
                    <a16:rowId xmlns:a16="http://schemas.microsoft.com/office/drawing/2014/main" val="2008134226"/>
                  </a:ext>
                </a:extLst>
              </a:tr>
            </a:tbl>
          </a:graphicData>
        </a:graphic>
      </p:graphicFrame>
      <p:sp>
        <p:nvSpPr>
          <p:cNvPr id="9" name="Espace réservé du pied de page 8">
            <a:extLst>
              <a:ext uri="{FF2B5EF4-FFF2-40B4-BE49-F238E27FC236}">
                <a16:creationId xmlns:a16="http://schemas.microsoft.com/office/drawing/2014/main" id="{BAF4A9F7-F718-5065-88CC-124382460765}"/>
              </a:ext>
            </a:extLst>
          </p:cNvPr>
          <p:cNvSpPr>
            <a:spLocks noGrp="1"/>
          </p:cNvSpPr>
          <p:nvPr>
            <p:ph type="ftr" sz="quarter" idx="11"/>
          </p:nvPr>
        </p:nvSpPr>
        <p:spPr>
          <a:xfrm>
            <a:off x="4038600" y="6479721"/>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486173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6301CF-D518-5DB8-5F3E-C441216C236F}"/>
              </a:ext>
            </a:extLst>
          </p:cNvPr>
          <p:cNvSpPr>
            <a:spLocks noGrp="1"/>
          </p:cNvSpPr>
          <p:nvPr>
            <p:ph type="ctrTitle"/>
          </p:nvPr>
        </p:nvSpPr>
        <p:spPr>
          <a:xfrm>
            <a:off x="632010" y="254623"/>
            <a:ext cx="10927977" cy="659140"/>
          </a:xfrm>
        </p:spPr>
        <p:txBody>
          <a:bodyPr>
            <a:noAutofit/>
          </a:bodyPr>
          <a:lstStyle/>
          <a:p>
            <a:r>
              <a:rPr lang="fr-FR" sz="4400" dirty="0"/>
              <a:t>Progression annuelle</a:t>
            </a:r>
          </a:p>
        </p:txBody>
      </p:sp>
      <p:sp>
        <p:nvSpPr>
          <p:cNvPr id="9" name="Espace réservé du numéro de diapositive 8">
            <a:extLst>
              <a:ext uri="{FF2B5EF4-FFF2-40B4-BE49-F238E27FC236}">
                <a16:creationId xmlns:a16="http://schemas.microsoft.com/office/drawing/2014/main" id="{906E0DC1-27C4-CFE6-8E9F-33A97D309693}"/>
              </a:ext>
            </a:extLst>
          </p:cNvPr>
          <p:cNvSpPr>
            <a:spLocks noGrp="1"/>
          </p:cNvSpPr>
          <p:nvPr>
            <p:ph type="sldNum" sz="quarter" idx="12"/>
          </p:nvPr>
        </p:nvSpPr>
        <p:spPr/>
        <p:txBody>
          <a:bodyPr/>
          <a:lstStyle/>
          <a:p>
            <a:fld id="{201A5C1E-DE71-4D99-BC1E-739595F062E0}" type="slidenum">
              <a:rPr lang="fr-FR" sz="2000" smtClean="0"/>
              <a:t>10</a:t>
            </a:fld>
            <a:r>
              <a:rPr lang="fr-FR" sz="2000" dirty="0"/>
              <a:t>/21</a:t>
            </a:r>
          </a:p>
        </p:txBody>
      </p:sp>
      <p:graphicFrame>
        <p:nvGraphicFramePr>
          <p:cNvPr id="3" name="Tableau 2">
            <a:extLst>
              <a:ext uri="{FF2B5EF4-FFF2-40B4-BE49-F238E27FC236}">
                <a16:creationId xmlns:a16="http://schemas.microsoft.com/office/drawing/2014/main" id="{E3DFE076-BBFC-AFF8-5280-0D59931E19F5}"/>
              </a:ext>
            </a:extLst>
          </p:cNvPr>
          <p:cNvGraphicFramePr>
            <a:graphicFrameLocks noGrp="1"/>
          </p:cNvGraphicFramePr>
          <p:nvPr>
            <p:extLst>
              <p:ext uri="{D42A27DB-BD31-4B8C-83A1-F6EECF244321}">
                <p14:modId xmlns:p14="http://schemas.microsoft.com/office/powerpoint/2010/main" val="3050642259"/>
              </p:ext>
            </p:extLst>
          </p:nvPr>
        </p:nvGraphicFramePr>
        <p:xfrm>
          <a:off x="123587" y="1000849"/>
          <a:ext cx="11944825" cy="5099837"/>
        </p:xfrm>
        <a:graphic>
          <a:graphicData uri="http://schemas.openxmlformats.org/drawingml/2006/table">
            <a:tbl>
              <a:tblPr firstRow="1" bandRow="1">
                <a:tableStyleId>{C083E6E3-FA7D-4D7B-A595-EF9225AFEA82}</a:tableStyleId>
              </a:tblPr>
              <a:tblGrid>
                <a:gridCol w="1451001">
                  <a:extLst>
                    <a:ext uri="{9D8B030D-6E8A-4147-A177-3AD203B41FA5}">
                      <a16:colId xmlns:a16="http://schemas.microsoft.com/office/drawing/2014/main" val="830447667"/>
                    </a:ext>
                  </a:extLst>
                </a:gridCol>
                <a:gridCol w="3585024">
                  <a:extLst>
                    <a:ext uri="{9D8B030D-6E8A-4147-A177-3AD203B41FA5}">
                      <a16:colId xmlns:a16="http://schemas.microsoft.com/office/drawing/2014/main" val="925519965"/>
                    </a:ext>
                  </a:extLst>
                </a:gridCol>
                <a:gridCol w="3367314">
                  <a:extLst>
                    <a:ext uri="{9D8B030D-6E8A-4147-A177-3AD203B41FA5}">
                      <a16:colId xmlns:a16="http://schemas.microsoft.com/office/drawing/2014/main" val="2285352266"/>
                    </a:ext>
                  </a:extLst>
                </a:gridCol>
                <a:gridCol w="1378857">
                  <a:extLst>
                    <a:ext uri="{9D8B030D-6E8A-4147-A177-3AD203B41FA5}">
                      <a16:colId xmlns:a16="http://schemas.microsoft.com/office/drawing/2014/main" val="4246726365"/>
                    </a:ext>
                  </a:extLst>
                </a:gridCol>
                <a:gridCol w="2162629">
                  <a:extLst>
                    <a:ext uri="{9D8B030D-6E8A-4147-A177-3AD203B41FA5}">
                      <a16:colId xmlns:a16="http://schemas.microsoft.com/office/drawing/2014/main" val="145018786"/>
                    </a:ext>
                  </a:extLst>
                </a:gridCol>
              </a:tblGrid>
              <a:tr h="224482">
                <a:tc>
                  <a:txBody>
                    <a:bodyPr/>
                    <a:lstStyle/>
                    <a:p>
                      <a:r>
                        <a:rPr lang="fr-FR" dirty="0"/>
                        <a:t>Séquence 1 </a:t>
                      </a:r>
                    </a:p>
                  </a:txBody>
                  <a:tcPr/>
                </a:tc>
                <a:tc>
                  <a:txBody>
                    <a:bodyPr/>
                    <a:lstStyle/>
                    <a:p>
                      <a:r>
                        <a:rPr lang="fr-FR" dirty="0"/>
                        <a:t>Gérer la ville du futur</a:t>
                      </a:r>
                    </a:p>
                  </a:txBody>
                  <a:tcPr/>
                </a:tc>
                <a:tc>
                  <a:txBody>
                    <a:bodyPr/>
                    <a:lstStyle/>
                    <a:p>
                      <a:r>
                        <a:rPr lang="fr-FR" dirty="0"/>
                        <a:t>Etude statique d’un lampadaire</a:t>
                      </a:r>
                    </a:p>
                  </a:txBody>
                  <a:tcPr/>
                </a:tc>
                <a:tc>
                  <a:txBody>
                    <a:bodyPr/>
                    <a:lstStyle/>
                    <a:p>
                      <a:r>
                        <a:rPr lang="fr-FR" dirty="0"/>
                        <a:t>3 semaines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Début septembre</a:t>
                      </a:r>
                    </a:p>
                    <a:p>
                      <a:endParaRPr lang="fr-FR" dirty="0"/>
                    </a:p>
                  </a:txBody>
                  <a:tcPr/>
                </a:tc>
                <a:extLst>
                  <a:ext uri="{0D108BD9-81ED-4DB2-BD59-A6C34878D82A}">
                    <a16:rowId xmlns:a16="http://schemas.microsoft.com/office/drawing/2014/main" val="36934490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2</a:t>
                      </a:r>
                    </a:p>
                  </a:txBody>
                  <a:tcPr/>
                </a:tc>
                <a:tc>
                  <a:txBody>
                    <a:bodyPr/>
                    <a:lstStyle/>
                    <a:p>
                      <a:r>
                        <a:rPr lang="fr-FR" dirty="0"/>
                        <a:t>Préserver la santé</a:t>
                      </a:r>
                    </a:p>
                  </a:txBody>
                  <a:tcPr/>
                </a:tc>
                <a:tc>
                  <a:txBody>
                    <a:bodyPr/>
                    <a:lstStyle/>
                    <a:p>
                      <a:r>
                        <a:rPr lang="fr-FR" dirty="0"/>
                        <a:t>Transmettre la puissance mécanique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4 semaines</a:t>
                      </a:r>
                    </a:p>
                    <a:p>
                      <a:endParaRPr lang="fr-FR" dirty="0"/>
                    </a:p>
                  </a:txBody>
                  <a:tcPr/>
                </a:tc>
                <a:tc>
                  <a:txBody>
                    <a:bodyPr/>
                    <a:lstStyle/>
                    <a:p>
                      <a:endParaRPr lang="fr-FR" dirty="0"/>
                    </a:p>
                  </a:txBody>
                  <a:tcPr/>
                </a:tc>
                <a:extLst>
                  <a:ext uri="{0D108BD9-81ED-4DB2-BD59-A6C34878D82A}">
                    <a16:rowId xmlns:a16="http://schemas.microsoft.com/office/drawing/2014/main" val="1319325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3 </a:t>
                      </a:r>
                    </a:p>
                  </a:txBody>
                  <a:tcPr/>
                </a:tc>
                <a:tc>
                  <a:txBody>
                    <a:bodyPr/>
                    <a:lstStyle/>
                    <a:p>
                      <a:r>
                        <a:rPr lang="fr-FR" dirty="0"/>
                        <a:t>Assister l’homme</a:t>
                      </a:r>
                    </a:p>
                  </a:txBody>
                  <a:tcPr/>
                </a:tc>
                <a:tc>
                  <a:txBody>
                    <a:bodyPr/>
                    <a:lstStyle/>
                    <a:p>
                      <a:r>
                        <a:rPr lang="fr-FR" dirty="0"/>
                        <a:t>Modélisation d’un produit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3 semaines</a:t>
                      </a:r>
                    </a:p>
                    <a:p>
                      <a:endParaRPr lang="fr-FR" dirty="0"/>
                    </a:p>
                  </a:txBody>
                  <a:tcPr/>
                </a:tc>
                <a:tc>
                  <a:txBody>
                    <a:bodyPr/>
                    <a:lstStyle/>
                    <a:p>
                      <a:endParaRPr lang="fr-FR"/>
                    </a:p>
                  </a:txBody>
                  <a:tcPr/>
                </a:tc>
                <a:extLst>
                  <a:ext uri="{0D108BD9-81ED-4DB2-BD59-A6C34878D82A}">
                    <a16:rowId xmlns:a16="http://schemas.microsoft.com/office/drawing/2014/main" val="866322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4 </a:t>
                      </a:r>
                    </a:p>
                  </a:txBody>
                  <a:tcPr>
                    <a:solidFill>
                      <a:schemeClr val="accent4">
                        <a:lumMod val="75000"/>
                        <a:alpha val="20000"/>
                      </a:schemeClr>
                    </a:solidFill>
                  </a:tcPr>
                </a:tc>
                <a:tc>
                  <a:txBody>
                    <a:bodyPr/>
                    <a:lstStyle/>
                    <a:p>
                      <a:r>
                        <a:rPr lang="fr-FR" dirty="0"/>
                        <a:t>Concevoir l’habitat de demain</a:t>
                      </a:r>
                    </a:p>
                  </a:txBody>
                  <a:tcPr>
                    <a:solidFill>
                      <a:schemeClr val="accent4">
                        <a:lumMod val="75000"/>
                        <a:alpha val="20000"/>
                      </a:schemeClr>
                    </a:solidFill>
                  </a:tcPr>
                </a:tc>
                <a:tc>
                  <a:txBody>
                    <a:bodyPr/>
                    <a:lstStyle/>
                    <a:p>
                      <a:r>
                        <a:rPr lang="fr-FR" dirty="0"/>
                        <a:t>Forces appliquées aux poutres (RDM), choix de matériau</a:t>
                      </a:r>
                    </a:p>
                  </a:txBody>
                  <a:tcPr>
                    <a:solidFill>
                      <a:schemeClr val="accent4">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4 semaines</a:t>
                      </a:r>
                    </a:p>
                    <a:p>
                      <a:endParaRPr lang="fr-FR" dirty="0"/>
                    </a:p>
                  </a:txBody>
                  <a:tcPr>
                    <a:solidFill>
                      <a:schemeClr val="accent4">
                        <a:lumMod val="75000"/>
                        <a:alpha val="20000"/>
                      </a:schemeClr>
                    </a:solidFill>
                  </a:tcPr>
                </a:tc>
                <a:tc>
                  <a:txBody>
                    <a:bodyPr/>
                    <a:lstStyle/>
                    <a:p>
                      <a:endParaRPr lang="fr-FR" dirty="0"/>
                    </a:p>
                  </a:txBody>
                  <a:tcPr>
                    <a:solidFill>
                      <a:schemeClr val="accent4">
                        <a:lumMod val="75000"/>
                        <a:alpha val="20000"/>
                      </a:schemeClr>
                    </a:solidFill>
                  </a:tcPr>
                </a:tc>
                <a:extLst>
                  <a:ext uri="{0D108BD9-81ED-4DB2-BD59-A6C34878D82A}">
                    <a16:rowId xmlns:a16="http://schemas.microsoft.com/office/drawing/2014/main" val="23285255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Lancement projet grand oral</a:t>
                      </a:r>
                    </a:p>
                  </a:txBody>
                  <a:tcPr/>
                </a:tc>
                <a:tc>
                  <a:txBody>
                    <a:bodyPr/>
                    <a:lstStyle/>
                    <a:p>
                      <a:endParaRPr lang="fr-FR" dirty="0"/>
                    </a:p>
                  </a:txBody>
                  <a:tcPr/>
                </a:tc>
                <a:tc>
                  <a:txBody>
                    <a:bodyPr/>
                    <a:lstStyle/>
                    <a:p>
                      <a:endParaRPr lang="fr-FR" dirty="0"/>
                    </a:p>
                  </a:txBody>
                  <a:tcPr/>
                </a:tc>
                <a:tc>
                  <a:txBody>
                    <a:bodyPr/>
                    <a:lstStyle/>
                    <a:p>
                      <a:r>
                        <a:rPr lang="fr-FR" dirty="0"/>
                        <a:t>Début janvier</a:t>
                      </a:r>
                    </a:p>
                  </a:txBody>
                  <a:tcPr/>
                </a:tc>
                <a:extLst>
                  <a:ext uri="{0D108BD9-81ED-4DB2-BD59-A6C34878D82A}">
                    <a16:rowId xmlns:a16="http://schemas.microsoft.com/office/drawing/2014/main" val="2887470768"/>
                  </a:ext>
                </a:extLst>
              </a:tr>
              <a:tr h="416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5</a:t>
                      </a:r>
                    </a:p>
                  </a:txBody>
                  <a:tcPr/>
                </a:tc>
                <a:tc>
                  <a:txBody>
                    <a:bodyPr/>
                    <a:lstStyle/>
                    <a:p>
                      <a:r>
                        <a:rPr lang="fr-FR" dirty="0"/>
                        <a:t>Assister l’homme</a:t>
                      </a:r>
                    </a:p>
                  </a:txBody>
                  <a:tcPr/>
                </a:tc>
                <a:tc>
                  <a:txBody>
                    <a:bodyPr/>
                    <a:lstStyle/>
                    <a:p>
                      <a:r>
                        <a:rPr lang="fr-FR" dirty="0"/>
                        <a:t>Conception d’un produit</a:t>
                      </a:r>
                    </a:p>
                  </a:txBody>
                  <a:tcPr/>
                </a:tc>
                <a:tc>
                  <a:txBody>
                    <a:bodyPr/>
                    <a:lstStyle/>
                    <a:p>
                      <a:r>
                        <a:rPr lang="fr-FR" dirty="0"/>
                        <a:t>4 semaines</a:t>
                      </a:r>
                    </a:p>
                  </a:txBody>
                  <a:tcPr/>
                </a:tc>
                <a:tc>
                  <a:txBody>
                    <a:bodyPr/>
                    <a:lstStyle/>
                    <a:p>
                      <a:endParaRPr lang="fr-FR" dirty="0"/>
                    </a:p>
                  </a:txBody>
                  <a:tcPr/>
                </a:tc>
                <a:extLst>
                  <a:ext uri="{0D108BD9-81ED-4DB2-BD59-A6C34878D82A}">
                    <a16:rowId xmlns:a16="http://schemas.microsoft.com/office/drawing/2014/main" val="1458943850"/>
                  </a:ext>
                </a:extLst>
              </a:tr>
              <a:tr h="416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6</a:t>
                      </a:r>
                    </a:p>
                  </a:txBody>
                  <a:tcPr>
                    <a:solidFill>
                      <a:schemeClr val="bg1"/>
                    </a:solidFill>
                  </a:tcPr>
                </a:tc>
                <a:tc>
                  <a:txBody>
                    <a:bodyPr/>
                    <a:lstStyle/>
                    <a:p>
                      <a:r>
                        <a:rPr lang="fr-FR" dirty="0"/>
                        <a:t>Améliorer l’efficacité énergétique d’un produit</a:t>
                      </a:r>
                    </a:p>
                  </a:txBody>
                  <a:tcPr>
                    <a:solidFill>
                      <a:schemeClr val="bg1"/>
                    </a:solidFill>
                  </a:tcPr>
                </a:tc>
                <a:tc>
                  <a:txBody>
                    <a:bodyPr/>
                    <a:lstStyle/>
                    <a:p>
                      <a:r>
                        <a:rPr lang="fr-FR" dirty="0"/>
                        <a:t>Rendement, liaisons mécaniques</a:t>
                      </a:r>
                    </a:p>
                  </a:txBody>
                  <a:tcPr>
                    <a:solidFill>
                      <a:schemeClr val="bg1"/>
                    </a:solidFill>
                  </a:tcPr>
                </a:tc>
                <a:tc>
                  <a:txBody>
                    <a:bodyPr/>
                    <a:lstStyle/>
                    <a:p>
                      <a:r>
                        <a:rPr lang="fr-FR" dirty="0"/>
                        <a:t>3 semaines</a:t>
                      </a:r>
                    </a:p>
                  </a:txBody>
                  <a:tcPr>
                    <a:solidFill>
                      <a:schemeClr val="bg1"/>
                    </a:solidFill>
                  </a:tcPr>
                </a:tc>
                <a:tc>
                  <a:txBody>
                    <a:bodyPr/>
                    <a:lstStyle/>
                    <a:p>
                      <a:endParaRPr lang="fr-FR" dirty="0"/>
                    </a:p>
                  </a:txBody>
                  <a:tcPr>
                    <a:solidFill>
                      <a:schemeClr val="bg1"/>
                    </a:solidFill>
                  </a:tcPr>
                </a:tc>
                <a:extLst>
                  <a:ext uri="{0D108BD9-81ED-4DB2-BD59-A6C34878D82A}">
                    <a16:rowId xmlns:a16="http://schemas.microsoft.com/office/drawing/2014/main" val="21645103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tc>
                  <a:txBody>
                    <a:bodyPr/>
                    <a:lstStyle/>
                    <a:p>
                      <a:r>
                        <a:rPr lang="fr-FR" dirty="0"/>
                        <a:t>Épreuve écrite</a:t>
                      </a:r>
                    </a:p>
                  </a:txBody>
                  <a:tcPr/>
                </a:tc>
                <a:tc>
                  <a:txBody>
                    <a:bodyPr/>
                    <a:lstStyle/>
                    <a:p>
                      <a:endParaRPr lang="fr-FR" dirty="0"/>
                    </a:p>
                  </a:txBody>
                  <a:tcPr/>
                </a:tc>
                <a:tc>
                  <a:txBody>
                    <a:bodyPr/>
                    <a:lstStyle/>
                    <a:p>
                      <a:endParaRPr lang="fr-FR" dirty="0"/>
                    </a:p>
                  </a:txBody>
                  <a:tcPr/>
                </a:tc>
                <a:tc>
                  <a:txBody>
                    <a:bodyPr/>
                    <a:lstStyle/>
                    <a:p>
                      <a:r>
                        <a:rPr lang="fr-FR" dirty="0"/>
                        <a:t>Fin mars/début avril</a:t>
                      </a:r>
                    </a:p>
                  </a:txBody>
                  <a:tcPr/>
                </a:tc>
                <a:extLst>
                  <a:ext uri="{0D108BD9-81ED-4DB2-BD59-A6C34878D82A}">
                    <a16:rowId xmlns:a16="http://schemas.microsoft.com/office/drawing/2014/main" val="16654869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7</a:t>
                      </a:r>
                    </a:p>
                  </a:txBody>
                  <a:tcPr/>
                </a:tc>
                <a:tc>
                  <a:txBody>
                    <a:bodyPr/>
                    <a:lstStyle/>
                    <a:p>
                      <a:r>
                        <a:rPr lang="fr-FR" dirty="0"/>
                        <a:t>Construire les ouvrages de demain</a:t>
                      </a:r>
                    </a:p>
                  </a:txBody>
                  <a:tcPr/>
                </a:tc>
                <a:tc>
                  <a:txBody>
                    <a:bodyPr/>
                    <a:lstStyle/>
                    <a:p>
                      <a:r>
                        <a:rPr lang="fr-FR" dirty="0"/>
                        <a:t>Choix de matériau, résistance </a:t>
                      </a:r>
                    </a:p>
                  </a:txBody>
                  <a:tcPr/>
                </a:tc>
                <a:tc>
                  <a:txBody>
                    <a:bodyPr/>
                    <a:lstStyle/>
                    <a:p>
                      <a:r>
                        <a:rPr lang="fr-FR" dirty="0"/>
                        <a:t>3 semaines</a:t>
                      </a:r>
                    </a:p>
                  </a:txBody>
                  <a:tcPr/>
                </a:tc>
                <a:tc>
                  <a:txBody>
                    <a:bodyPr/>
                    <a:lstStyle/>
                    <a:p>
                      <a:endParaRPr lang="fr-FR" dirty="0"/>
                    </a:p>
                  </a:txBody>
                  <a:tcPr/>
                </a:tc>
                <a:extLst>
                  <a:ext uri="{0D108BD9-81ED-4DB2-BD59-A6C34878D82A}">
                    <a16:rowId xmlns:a16="http://schemas.microsoft.com/office/drawing/2014/main" val="6422572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Séquence 8</a:t>
                      </a:r>
                    </a:p>
                  </a:txBody>
                  <a:tcPr/>
                </a:tc>
                <a:tc>
                  <a:txBody>
                    <a:bodyPr/>
                    <a:lstStyle/>
                    <a:p>
                      <a:r>
                        <a:rPr lang="fr-FR" dirty="0"/>
                        <a:t>Projet</a:t>
                      </a:r>
                    </a:p>
                  </a:txBody>
                  <a:tcPr/>
                </a:tc>
                <a:tc>
                  <a:txBody>
                    <a:bodyPr/>
                    <a:lstStyle/>
                    <a:p>
                      <a:endParaRPr lang="fr-FR" dirty="0"/>
                    </a:p>
                  </a:txBody>
                  <a:tcPr/>
                </a:tc>
                <a:tc>
                  <a:txBody>
                    <a:bodyPr/>
                    <a:lstStyle/>
                    <a:p>
                      <a:r>
                        <a:rPr lang="fr-FR" dirty="0"/>
                        <a:t>8 semaines</a:t>
                      </a:r>
                    </a:p>
                  </a:txBody>
                  <a:tcPr/>
                </a:tc>
                <a:tc>
                  <a:txBody>
                    <a:bodyPr/>
                    <a:lstStyle/>
                    <a:p>
                      <a:r>
                        <a:rPr lang="fr-FR" dirty="0"/>
                        <a:t>Mai/juin</a:t>
                      </a:r>
                    </a:p>
                  </a:txBody>
                  <a:tcPr/>
                </a:tc>
                <a:extLst>
                  <a:ext uri="{0D108BD9-81ED-4DB2-BD59-A6C34878D82A}">
                    <a16:rowId xmlns:a16="http://schemas.microsoft.com/office/drawing/2014/main" val="634317777"/>
                  </a:ext>
                </a:extLst>
              </a:tr>
            </a:tbl>
          </a:graphicData>
        </a:graphic>
      </p:graphicFrame>
      <p:sp>
        <p:nvSpPr>
          <p:cNvPr id="6" name="Espace réservé du pied de page 5">
            <a:extLst>
              <a:ext uri="{FF2B5EF4-FFF2-40B4-BE49-F238E27FC236}">
                <a16:creationId xmlns:a16="http://schemas.microsoft.com/office/drawing/2014/main" id="{D12E1C78-AA35-07EA-A647-6DF243021229}"/>
              </a:ext>
            </a:extLst>
          </p:cNvPr>
          <p:cNvSpPr>
            <a:spLocks noGrp="1"/>
          </p:cNvSpPr>
          <p:nvPr>
            <p:ph type="ftr" sz="quarter" idx="11"/>
          </p:nvPr>
        </p:nvSpPr>
        <p:spPr>
          <a:xfrm>
            <a:off x="4038598" y="6479948"/>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0187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E65452-D626-344E-4E54-203BE6CB15C7}"/>
              </a:ext>
            </a:extLst>
          </p:cNvPr>
          <p:cNvSpPr>
            <a:spLocks noGrp="1"/>
          </p:cNvSpPr>
          <p:nvPr>
            <p:ph type="title"/>
          </p:nvPr>
        </p:nvSpPr>
        <p:spPr>
          <a:xfrm>
            <a:off x="838200" y="108075"/>
            <a:ext cx="10515600" cy="1325563"/>
          </a:xfrm>
        </p:spPr>
        <p:txBody>
          <a:bodyPr/>
          <a:lstStyle/>
          <a:p>
            <a:r>
              <a:rPr lang="fr-FR" dirty="0"/>
              <a:t>Organisation de la séquence 4</a:t>
            </a:r>
          </a:p>
        </p:txBody>
      </p:sp>
      <p:sp>
        <p:nvSpPr>
          <p:cNvPr id="3" name="Espace réservé du contenu 2">
            <a:extLst>
              <a:ext uri="{FF2B5EF4-FFF2-40B4-BE49-F238E27FC236}">
                <a16:creationId xmlns:a16="http://schemas.microsoft.com/office/drawing/2014/main" id="{6660A1DB-D40E-057B-1868-88FCCF21AD8F}"/>
              </a:ext>
            </a:extLst>
          </p:cNvPr>
          <p:cNvSpPr>
            <a:spLocks noGrp="1"/>
          </p:cNvSpPr>
          <p:nvPr>
            <p:ph idx="1"/>
          </p:nvPr>
        </p:nvSpPr>
        <p:spPr/>
        <p:txBody>
          <a:bodyPr/>
          <a:lstStyle/>
          <a:p>
            <a:endParaRPr lang="fr-FR" dirty="0"/>
          </a:p>
          <a:p>
            <a:endParaRPr lang="fr-FR" dirty="0"/>
          </a:p>
        </p:txBody>
      </p:sp>
      <p:sp>
        <p:nvSpPr>
          <p:cNvPr id="7" name="Espace réservé du numéro de diapositive 6">
            <a:extLst>
              <a:ext uri="{FF2B5EF4-FFF2-40B4-BE49-F238E27FC236}">
                <a16:creationId xmlns:a16="http://schemas.microsoft.com/office/drawing/2014/main" id="{6B1CB85A-9FD7-1066-DF70-D136BE2F5186}"/>
              </a:ext>
            </a:extLst>
          </p:cNvPr>
          <p:cNvSpPr>
            <a:spLocks noGrp="1"/>
          </p:cNvSpPr>
          <p:nvPr>
            <p:ph type="sldNum" sz="quarter" idx="12"/>
          </p:nvPr>
        </p:nvSpPr>
        <p:spPr/>
        <p:txBody>
          <a:bodyPr/>
          <a:lstStyle/>
          <a:p>
            <a:fld id="{201A5C1E-DE71-4D99-BC1E-739595F062E0}" type="slidenum">
              <a:rPr lang="fr-FR" sz="2000" smtClean="0"/>
              <a:t>11</a:t>
            </a:fld>
            <a:r>
              <a:rPr lang="fr-FR" sz="2000" dirty="0"/>
              <a:t>/21</a:t>
            </a:r>
          </a:p>
        </p:txBody>
      </p:sp>
      <p:sp>
        <p:nvSpPr>
          <p:cNvPr id="8" name="ZoneTexte 7">
            <a:extLst>
              <a:ext uri="{FF2B5EF4-FFF2-40B4-BE49-F238E27FC236}">
                <a16:creationId xmlns:a16="http://schemas.microsoft.com/office/drawing/2014/main" id="{E169C04D-595E-B3FA-C102-8E40B769266D}"/>
              </a:ext>
            </a:extLst>
          </p:cNvPr>
          <p:cNvSpPr txBox="1"/>
          <p:nvPr/>
        </p:nvSpPr>
        <p:spPr>
          <a:xfrm>
            <a:off x="939801" y="1046073"/>
            <a:ext cx="9205685" cy="1200329"/>
          </a:xfrm>
          <a:prstGeom prst="rect">
            <a:avLst/>
          </a:prstGeom>
          <a:noFill/>
        </p:spPr>
        <p:txBody>
          <a:bodyPr wrap="square">
            <a:spAutoFit/>
          </a:bodyPr>
          <a:lstStyle/>
          <a:p>
            <a:r>
              <a:rPr lang="fr-FR" sz="2400" dirty="0"/>
              <a:t>Séquence de 4 semaines découpée en deux chapitres de 2 semaines</a:t>
            </a:r>
          </a:p>
          <a:p>
            <a:r>
              <a:rPr lang="fr-FR" sz="2400" dirty="0"/>
              <a:t>Problématique: Comment mesurer, comparer et améliorer les caractéristiques d’une poutre (bastaing, linteau) dans une maison?</a:t>
            </a:r>
          </a:p>
        </p:txBody>
      </p:sp>
      <p:sp>
        <p:nvSpPr>
          <p:cNvPr id="9" name="Titre 1">
            <a:extLst>
              <a:ext uri="{FF2B5EF4-FFF2-40B4-BE49-F238E27FC236}">
                <a16:creationId xmlns:a16="http://schemas.microsoft.com/office/drawing/2014/main" id="{82FE3995-A956-BD05-F4E4-35890856FC31}"/>
              </a:ext>
            </a:extLst>
          </p:cNvPr>
          <p:cNvSpPr txBox="1">
            <a:spLocks/>
          </p:cNvSpPr>
          <p:nvPr/>
        </p:nvSpPr>
        <p:spPr>
          <a:xfrm>
            <a:off x="939801" y="3459491"/>
            <a:ext cx="10515600"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Prérequis</a:t>
            </a:r>
          </a:p>
        </p:txBody>
      </p:sp>
      <p:sp>
        <p:nvSpPr>
          <p:cNvPr id="10" name="Espace réservé du contenu 2">
            <a:extLst>
              <a:ext uri="{FF2B5EF4-FFF2-40B4-BE49-F238E27FC236}">
                <a16:creationId xmlns:a16="http://schemas.microsoft.com/office/drawing/2014/main" id="{0077DD3C-8F2C-F50A-D7FB-1191E1FA6653}"/>
              </a:ext>
            </a:extLst>
          </p:cNvPr>
          <p:cNvSpPr txBox="1">
            <a:spLocks/>
          </p:cNvSpPr>
          <p:nvPr/>
        </p:nvSpPr>
        <p:spPr>
          <a:xfrm>
            <a:off x="1278465" y="4220878"/>
            <a:ext cx="10515600" cy="247579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Savoirs:</a:t>
            </a:r>
          </a:p>
          <a:p>
            <a:r>
              <a:rPr lang="fr-FR" dirty="0"/>
              <a:t>1.2.2. Ingénierie système</a:t>
            </a:r>
          </a:p>
          <a:p>
            <a:r>
              <a:rPr lang="fr-FR" dirty="0"/>
              <a:t>3.1.1. Progiciels de simulation</a:t>
            </a:r>
          </a:p>
          <a:p>
            <a:r>
              <a:rPr lang="fr-FR" dirty="0"/>
              <a:t>3.2. Comportement mécanique de produits</a:t>
            </a:r>
          </a:p>
          <a:p>
            <a:r>
              <a:rPr lang="fr-FR" dirty="0"/>
              <a:t>6.2. Expérimentations et essais </a:t>
            </a:r>
          </a:p>
          <a:p>
            <a:endParaRPr lang="fr-FR" dirty="0"/>
          </a:p>
        </p:txBody>
      </p:sp>
      <p:graphicFrame>
        <p:nvGraphicFramePr>
          <p:cNvPr id="11" name="Tableau 10">
            <a:extLst>
              <a:ext uri="{FF2B5EF4-FFF2-40B4-BE49-F238E27FC236}">
                <a16:creationId xmlns:a16="http://schemas.microsoft.com/office/drawing/2014/main" id="{39AB1C13-3BA5-0C10-C7BF-D1FA05C4B340}"/>
              </a:ext>
            </a:extLst>
          </p:cNvPr>
          <p:cNvGraphicFramePr>
            <a:graphicFrameLocks noGrp="1"/>
          </p:cNvGraphicFramePr>
          <p:nvPr>
            <p:extLst>
              <p:ext uri="{D42A27DB-BD31-4B8C-83A1-F6EECF244321}">
                <p14:modId xmlns:p14="http://schemas.microsoft.com/office/powerpoint/2010/main" val="992534913"/>
              </p:ext>
            </p:extLst>
          </p:nvPr>
        </p:nvGraphicFramePr>
        <p:xfrm>
          <a:off x="1278465" y="2418766"/>
          <a:ext cx="9838272" cy="1047181"/>
        </p:xfrm>
        <a:graphic>
          <a:graphicData uri="http://schemas.openxmlformats.org/drawingml/2006/table">
            <a:tbl>
              <a:tblPr firstRow="1" bandRow="1">
                <a:tableStyleId>{2D5ABB26-0587-4C30-8999-92F81FD0307C}</a:tableStyleId>
              </a:tblPr>
              <a:tblGrid>
                <a:gridCol w="1639712">
                  <a:extLst>
                    <a:ext uri="{9D8B030D-6E8A-4147-A177-3AD203B41FA5}">
                      <a16:colId xmlns:a16="http://schemas.microsoft.com/office/drawing/2014/main" val="510414834"/>
                    </a:ext>
                  </a:extLst>
                </a:gridCol>
                <a:gridCol w="1668336">
                  <a:extLst>
                    <a:ext uri="{9D8B030D-6E8A-4147-A177-3AD203B41FA5}">
                      <a16:colId xmlns:a16="http://schemas.microsoft.com/office/drawing/2014/main" val="477646523"/>
                    </a:ext>
                  </a:extLst>
                </a:gridCol>
                <a:gridCol w="1611088">
                  <a:extLst>
                    <a:ext uri="{9D8B030D-6E8A-4147-A177-3AD203B41FA5}">
                      <a16:colId xmlns:a16="http://schemas.microsoft.com/office/drawing/2014/main" val="2362536329"/>
                    </a:ext>
                  </a:extLst>
                </a:gridCol>
                <a:gridCol w="1683655">
                  <a:extLst>
                    <a:ext uri="{9D8B030D-6E8A-4147-A177-3AD203B41FA5}">
                      <a16:colId xmlns:a16="http://schemas.microsoft.com/office/drawing/2014/main" val="1517061753"/>
                    </a:ext>
                  </a:extLst>
                </a:gridCol>
                <a:gridCol w="1595769">
                  <a:extLst>
                    <a:ext uri="{9D8B030D-6E8A-4147-A177-3AD203B41FA5}">
                      <a16:colId xmlns:a16="http://schemas.microsoft.com/office/drawing/2014/main" val="3565309784"/>
                    </a:ext>
                  </a:extLst>
                </a:gridCol>
                <a:gridCol w="1639712">
                  <a:extLst>
                    <a:ext uri="{9D8B030D-6E8A-4147-A177-3AD203B41FA5}">
                      <a16:colId xmlns:a16="http://schemas.microsoft.com/office/drawing/2014/main" val="4233430214"/>
                    </a:ext>
                  </a:extLst>
                </a:gridCol>
              </a:tblGrid>
              <a:tr h="589981">
                <a:tc>
                  <a:txBody>
                    <a:bodyPr/>
                    <a:lstStyle/>
                    <a:p>
                      <a:pPr algn="ctr"/>
                      <a:r>
                        <a:rPr lang="fr-FR" sz="2400" b="0"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 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TP1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TP2 +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55802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TD3 + </a:t>
                      </a:r>
                      <a:r>
                        <a:rPr lang="fr-FR" sz="2400" dirty="0" err="1"/>
                        <a:t>eval</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175682"/>
                  </a:ext>
                </a:extLst>
              </a:tr>
            </a:tbl>
          </a:graphicData>
        </a:graphic>
      </p:graphicFrame>
      <p:sp>
        <p:nvSpPr>
          <p:cNvPr id="12" name="Espace réservé du pied de page 11">
            <a:extLst>
              <a:ext uri="{FF2B5EF4-FFF2-40B4-BE49-F238E27FC236}">
                <a16:creationId xmlns:a16="http://schemas.microsoft.com/office/drawing/2014/main" id="{74560F90-E217-D34B-CB6B-AEC335D0708A}"/>
              </a:ext>
            </a:extLst>
          </p:cNvPr>
          <p:cNvSpPr>
            <a:spLocks noGrp="1"/>
          </p:cNvSpPr>
          <p:nvPr>
            <p:ph type="ftr" sz="quarter" idx="11"/>
          </p:nvPr>
        </p:nvSpPr>
        <p:spPr>
          <a:xfrm>
            <a:off x="4055535" y="6491968"/>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25188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134281-D53C-AED2-D059-A073CEEE58E8}"/>
              </a:ext>
            </a:extLst>
          </p:cNvPr>
          <p:cNvSpPr>
            <a:spLocks noGrp="1"/>
          </p:cNvSpPr>
          <p:nvPr>
            <p:ph type="title"/>
          </p:nvPr>
        </p:nvSpPr>
        <p:spPr>
          <a:xfrm>
            <a:off x="823686" y="-96137"/>
            <a:ext cx="10515600" cy="1325563"/>
          </a:xfrm>
        </p:spPr>
        <p:txBody>
          <a:bodyPr/>
          <a:lstStyle/>
          <a:p>
            <a:r>
              <a:rPr lang="fr-FR" dirty="0"/>
              <a:t>Compétences/savoir faire à transmettre</a:t>
            </a:r>
          </a:p>
        </p:txBody>
      </p:sp>
      <p:sp>
        <p:nvSpPr>
          <p:cNvPr id="3" name="Espace réservé du contenu 2">
            <a:extLst>
              <a:ext uri="{FF2B5EF4-FFF2-40B4-BE49-F238E27FC236}">
                <a16:creationId xmlns:a16="http://schemas.microsoft.com/office/drawing/2014/main" id="{7085431F-D716-B5C0-31F3-7A322631315D}"/>
              </a:ext>
            </a:extLst>
          </p:cNvPr>
          <p:cNvSpPr>
            <a:spLocks noGrp="1"/>
          </p:cNvSpPr>
          <p:nvPr>
            <p:ph idx="1"/>
          </p:nvPr>
        </p:nvSpPr>
        <p:spPr>
          <a:xfrm>
            <a:off x="852714" y="963137"/>
            <a:ext cx="10515600" cy="6486114"/>
          </a:xfrm>
        </p:spPr>
        <p:txBody>
          <a:bodyPr>
            <a:normAutofit fontScale="40000" lnSpcReduction="20000"/>
          </a:bodyPr>
          <a:lstStyle/>
          <a:p>
            <a:pPr marL="0" indent="0">
              <a:buNone/>
            </a:pPr>
            <a:r>
              <a:rPr lang="fr-FR" sz="5000" dirty="0"/>
              <a:t>Compétences:</a:t>
            </a:r>
          </a:p>
          <a:p>
            <a:pPr marL="0" indent="0">
              <a:buNone/>
            </a:pPr>
            <a:r>
              <a:rPr lang="fr-FR" sz="5000" dirty="0"/>
              <a:t>CO1.1. Justifier les choix des structures matérielles et/ou logicielles d’un produit, identifier les flux mis en œuvre dans une approche de développement durable. </a:t>
            </a:r>
          </a:p>
          <a:p>
            <a:pPr marL="0" indent="0">
              <a:buNone/>
            </a:pPr>
            <a:r>
              <a:rPr lang="fr-FR" sz="5000" dirty="0"/>
              <a:t>CO5.8. Concevoir </a:t>
            </a:r>
          </a:p>
          <a:p>
            <a:pPr marL="0" indent="0">
              <a:buNone/>
            </a:pPr>
            <a:r>
              <a:rPr lang="fr-FR" sz="5000" dirty="0"/>
              <a:t>Définir à l’aide d’un modeleur numérique, les formes et dimensions d’une pièce d’un produit à partir des contraintes fonctionnelles, de son procédé de réalisation et de son matériau. </a:t>
            </a:r>
          </a:p>
          <a:p>
            <a:pPr marL="0" indent="0">
              <a:buNone/>
            </a:pPr>
            <a:r>
              <a:rPr lang="fr-FR" sz="5000" dirty="0"/>
              <a:t>CO6.5. Interpréter les résultats d’une simulation et conclure sur la performance de la solution. </a:t>
            </a:r>
          </a:p>
          <a:p>
            <a:pPr marL="0" indent="0">
              <a:buNone/>
            </a:pPr>
            <a:r>
              <a:rPr lang="fr-FR" sz="5000" dirty="0"/>
              <a:t>CO6.3. Évaluer un écart entre le comportement du réel et les résultats fournis par le modèle en fonction des paramètres proposés, conclure sur la validité du modèle. </a:t>
            </a:r>
            <a:endParaRPr lang="fr-FR" sz="4500" dirty="0"/>
          </a:p>
          <a:p>
            <a:pPr marL="0" indent="0">
              <a:buNone/>
            </a:pPr>
            <a:r>
              <a:rPr lang="fr-FR" sz="5000" dirty="0"/>
              <a:t>CO7.6. Expérimenter</a:t>
            </a:r>
          </a:p>
          <a:p>
            <a:pPr marL="0" indent="0">
              <a:buNone/>
            </a:pPr>
            <a:r>
              <a:rPr lang="fr-FR" sz="5000" dirty="0"/>
              <a:t>Mesurer des performances d’un constituant </a:t>
            </a:r>
          </a:p>
          <a:p>
            <a:pPr marL="0" indent="0">
              <a:buNone/>
            </a:pPr>
            <a:r>
              <a:rPr lang="fr-FR" sz="5000" dirty="0"/>
              <a:t>ou d’un sous-ensemble d’un produit. </a:t>
            </a:r>
          </a:p>
          <a:p>
            <a:pPr marL="0" indent="0">
              <a:buNone/>
            </a:pPr>
            <a:r>
              <a:rPr lang="fr-FR" sz="5000" dirty="0"/>
              <a:t>Savoirs:</a:t>
            </a:r>
          </a:p>
          <a:p>
            <a:pPr marL="0" indent="0">
              <a:buNone/>
            </a:pPr>
            <a:r>
              <a:rPr lang="fr-FR" sz="5000" dirty="0"/>
              <a:t>3.1.1. Progiciels de simulation </a:t>
            </a:r>
          </a:p>
          <a:p>
            <a:pPr marL="0" indent="0">
              <a:buNone/>
            </a:pPr>
            <a:r>
              <a:rPr lang="fr-FR" sz="5000" dirty="0"/>
              <a:t>3.1.2. Paramétrage d’un modèle</a:t>
            </a:r>
          </a:p>
          <a:p>
            <a:pPr marL="0" indent="0">
              <a:buNone/>
            </a:pPr>
            <a:r>
              <a:rPr lang="fr-FR" sz="5000" dirty="0"/>
              <a:t>4.2.2. Choix des matériaux</a:t>
            </a:r>
          </a:p>
          <a:p>
            <a:pPr marL="0" indent="0">
              <a:buNone/>
            </a:pPr>
            <a:r>
              <a:rPr lang="fr-FR" sz="5000" dirty="0"/>
              <a:t>6.2. </a:t>
            </a:r>
            <a:r>
              <a:rPr lang="fr-FR" sz="5400" dirty="0"/>
              <a:t>Expérimentation sur les matériaux et sur les structures.</a:t>
            </a:r>
            <a:endParaRPr lang="fr-FR" sz="5000" dirty="0"/>
          </a:p>
          <a:p>
            <a:pPr marL="0" indent="0">
              <a:buNone/>
            </a:pPr>
            <a:endParaRPr lang="fr-FR" dirty="0"/>
          </a:p>
          <a:p>
            <a:pPr marL="0" indent="0">
              <a:buNone/>
            </a:pPr>
            <a:endParaRPr lang="fr-FR" dirty="0"/>
          </a:p>
        </p:txBody>
      </p:sp>
      <p:sp>
        <p:nvSpPr>
          <p:cNvPr id="7" name="Espace réservé du numéro de diapositive 6">
            <a:extLst>
              <a:ext uri="{FF2B5EF4-FFF2-40B4-BE49-F238E27FC236}">
                <a16:creationId xmlns:a16="http://schemas.microsoft.com/office/drawing/2014/main" id="{4BD84530-A3D8-A149-33AE-22D847DF02D2}"/>
              </a:ext>
            </a:extLst>
          </p:cNvPr>
          <p:cNvSpPr>
            <a:spLocks noGrp="1"/>
          </p:cNvSpPr>
          <p:nvPr>
            <p:ph type="sldNum" sz="quarter" idx="12"/>
          </p:nvPr>
        </p:nvSpPr>
        <p:spPr/>
        <p:txBody>
          <a:bodyPr/>
          <a:lstStyle/>
          <a:p>
            <a:fld id="{201A5C1E-DE71-4D99-BC1E-739595F062E0}" type="slidenum">
              <a:rPr lang="fr-FR" sz="2000" smtClean="0"/>
              <a:t>12</a:t>
            </a:fld>
            <a:r>
              <a:rPr lang="fr-FR" sz="2000" dirty="0"/>
              <a:t>/21</a:t>
            </a:r>
          </a:p>
        </p:txBody>
      </p:sp>
      <p:pic>
        <p:nvPicPr>
          <p:cNvPr id="5" name="Image 4">
            <a:extLst>
              <a:ext uri="{FF2B5EF4-FFF2-40B4-BE49-F238E27FC236}">
                <a16:creationId xmlns:a16="http://schemas.microsoft.com/office/drawing/2014/main" id="{1CF83E36-A9B2-E444-D6C7-4ED2153F5EA2}"/>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110514" y="3732023"/>
            <a:ext cx="2632094" cy="2235560"/>
          </a:xfrm>
          <a:prstGeom prst="rect">
            <a:avLst/>
          </a:prstGeom>
        </p:spPr>
      </p:pic>
      <p:pic>
        <p:nvPicPr>
          <p:cNvPr id="18" name="Image 17">
            <a:extLst>
              <a:ext uri="{FF2B5EF4-FFF2-40B4-BE49-F238E27FC236}">
                <a16:creationId xmlns:a16="http://schemas.microsoft.com/office/drawing/2014/main" id="{974D8CC5-53E4-5DB4-5E1C-C866F547D1B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765248" y="4102723"/>
            <a:ext cx="2632094" cy="1525851"/>
          </a:xfrm>
          <a:prstGeom prst="rect">
            <a:avLst/>
          </a:prstGeom>
        </p:spPr>
      </p:pic>
      <p:sp>
        <p:nvSpPr>
          <p:cNvPr id="19" name="Espace réservé du pied de page 18">
            <a:extLst>
              <a:ext uri="{FF2B5EF4-FFF2-40B4-BE49-F238E27FC236}">
                <a16:creationId xmlns:a16="http://schemas.microsoft.com/office/drawing/2014/main" id="{642F9AD9-0FDE-845B-5032-5A13ADD7C46A}"/>
              </a:ext>
            </a:extLst>
          </p:cNvPr>
          <p:cNvSpPr>
            <a:spLocks noGrp="1"/>
          </p:cNvSpPr>
          <p:nvPr>
            <p:ph type="ftr" sz="quarter" idx="11"/>
          </p:nvPr>
        </p:nvSpPr>
        <p:spPr>
          <a:xfrm>
            <a:off x="4024086" y="6492875"/>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3767910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F7CE-A787-42F7-1D5C-0CFD2E8940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723F69-2791-B13F-1A93-7CA4E235D01B}"/>
              </a:ext>
            </a:extLst>
          </p:cNvPr>
          <p:cNvSpPr>
            <a:spLocks noGrp="1"/>
          </p:cNvSpPr>
          <p:nvPr>
            <p:ph type="title"/>
          </p:nvPr>
        </p:nvSpPr>
        <p:spPr>
          <a:xfrm>
            <a:off x="838200" y="136525"/>
            <a:ext cx="10515600" cy="1325563"/>
          </a:xfrm>
        </p:spPr>
        <p:txBody>
          <a:bodyPr/>
          <a:lstStyle/>
          <a:p>
            <a:r>
              <a:rPr lang="fr-FR" dirty="0"/>
              <a:t>Cours 1 2h</a:t>
            </a:r>
          </a:p>
        </p:txBody>
      </p:sp>
      <p:sp>
        <p:nvSpPr>
          <p:cNvPr id="7" name="Espace réservé du numéro de diapositive 6">
            <a:extLst>
              <a:ext uri="{FF2B5EF4-FFF2-40B4-BE49-F238E27FC236}">
                <a16:creationId xmlns:a16="http://schemas.microsoft.com/office/drawing/2014/main" id="{678AD4A6-DB6A-40B5-3BF9-9D776B93AEA8}"/>
              </a:ext>
            </a:extLst>
          </p:cNvPr>
          <p:cNvSpPr>
            <a:spLocks noGrp="1"/>
          </p:cNvSpPr>
          <p:nvPr>
            <p:ph type="sldNum" sz="quarter" idx="12"/>
          </p:nvPr>
        </p:nvSpPr>
        <p:spPr/>
        <p:txBody>
          <a:bodyPr/>
          <a:lstStyle/>
          <a:p>
            <a:fld id="{201A5C1E-DE71-4D99-BC1E-739595F062E0}" type="slidenum">
              <a:rPr lang="fr-FR" sz="2000" smtClean="0"/>
              <a:t>13</a:t>
            </a:fld>
            <a:r>
              <a:rPr lang="fr-FR" sz="2000" dirty="0"/>
              <a:t>/21</a:t>
            </a:r>
          </a:p>
        </p:txBody>
      </p:sp>
      <p:sp>
        <p:nvSpPr>
          <p:cNvPr id="3" name="ZoneTexte 2">
            <a:extLst>
              <a:ext uri="{FF2B5EF4-FFF2-40B4-BE49-F238E27FC236}">
                <a16:creationId xmlns:a16="http://schemas.microsoft.com/office/drawing/2014/main" id="{E1B4019A-AA41-8815-B392-C1A378D68CB4}"/>
              </a:ext>
            </a:extLst>
          </p:cNvPr>
          <p:cNvSpPr txBox="1"/>
          <p:nvPr/>
        </p:nvSpPr>
        <p:spPr>
          <a:xfrm>
            <a:off x="838199" y="1138922"/>
            <a:ext cx="10787743" cy="1938992"/>
          </a:xfrm>
          <a:prstGeom prst="rect">
            <a:avLst/>
          </a:prstGeom>
          <a:noFill/>
        </p:spPr>
        <p:txBody>
          <a:bodyPr wrap="square" rtlCol="0">
            <a:spAutoFit/>
          </a:bodyPr>
          <a:lstStyle/>
          <a:p>
            <a:r>
              <a:rPr lang="fr-FR" sz="2400" dirty="0"/>
              <a:t>Découverte du concept de résistance:</a:t>
            </a:r>
          </a:p>
          <a:p>
            <a:r>
              <a:rPr lang="fr-FR" sz="2400" dirty="0"/>
              <a:t>Comment peut-on mesurer la résistance d’un matériau, quels pourraient être les critères pour quantifier ces performances</a:t>
            </a:r>
          </a:p>
          <a:p>
            <a:r>
              <a:rPr lang="fr-FR" sz="2400" dirty="0"/>
              <a:t>Démarche inductive, essayer de leur faire correspondre avec une situation que les élèves auraient déjà vécue.</a:t>
            </a:r>
          </a:p>
        </p:txBody>
      </p:sp>
      <p:sp>
        <p:nvSpPr>
          <p:cNvPr id="4" name="Titre 1">
            <a:extLst>
              <a:ext uri="{FF2B5EF4-FFF2-40B4-BE49-F238E27FC236}">
                <a16:creationId xmlns:a16="http://schemas.microsoft.com/office/drawing/2014/main" id="{B872F43F-0B41-E34E-24A4-D601765A3749}"/>
              </a:ext>
            </a:extLst>
          </p:cNvPr>
          <p:cNvSpPr txBox="1">
            <a:spLocks/>
          </p:cNvSpPr>
          <p:nvPr/>
        </p:nvSpPr>
        <p:spPr>
          <a:xfrm>
            <a:off x="838200" y="29673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TP1 3h</a:t>
            </a:r>
          </a:p>
        </p:txBody>
      </p:sp>
      <p:sp>
        <p:nvSpPr>
          <p:cNvPr id="6" name="ZoneTexte 5">
            <a:extLst>
              <a:ext uri="{FF2B5EF4-FFF2-40B4-BE49-F238E27FC236}">
                <a16:creationId xmlns:a16="http://schemas.microsoft.com/office/drawing/2014/main" id="{2AC34C6A-4F37-FC66-A9CF-3DDE4AD86748}"/>
              </a:ext>
            </a:extLst>
          </p:cNvPr>
          <p:cNvSpPr txBox="1"/>
          <p:nvPr/>
        </p:nvSpPr>
        <p:spPr>
          <a:xfrm>
            <a:off x="838199" y="4039115"/>
            <a:ext cx="10671629" cy="2215991"/>
          </a:xfrm>
          <a:prstGeom prst="rect">
            <a:avLst/>
          </a:prstGeom>
          <a:noFill/>
        </p:spPr>
        <p:txBody>
          <a:bodyPr wrap="square" rtlCol="0">
            <a:spAutoFit/>
          </a:bodyPr>
          <a:lstStyle/>
          <a:p>
            <a:r>
              <a:rPr lang="fr-FR" sz="2400" dirty="0"/>
              <a:t>En demi-groupe , 6 groupes de 3 élèves</a:t>
            </a:r>
          </a:p>
          <a:p>
            <a:r>
              <a:rPr lang="fr-FR" sz="2400" dirty="0"/>
              <a:t>Découverte de la notion de résistance mécanique, résistance élastique:</a:t>
            </a:r>
          </a:p>
          <a:p>
            <a:r>
              <a:rPr lang="fr-FR" sz="2400" dirty="0"/>
              <a:t>Comment peut-on mesurer la résistance d’un matériau</a:t>
            </a:r>
          </a:p>
          <a:p>
            <a:r>
              <a:rPr lang="fr-FR" sz="2400" dirty="0"/>
              <a:t>Essai de traction, on obtient une courbe, à quoi peut elle correspondre? </a:t>
            </a:r>
          </a:p>
          <a:p>
            <a:r>
              <a:rPr lang="fr-FR" sz="2400" dirty="0"/>
              <a:t>Simulation d’un essai de traction sous SolidWorks</a:t>
            </a:r>
          </a:p>
          <a:p>
            <a:endParaRPr lang="fr-FR" dirty="0"/>
          </a:p>
        </p:txBody>
      </p:sp>
      <p:graphicFrame>
        <p:nvGraphicFramePr>
          <p:cNvPr id="8" name="Tableau 7">
            <a:extLst>
              <a:ext uri="{FF2B5EF4-FFF2-40B4-BE49-F238E27FC236}">
                <a16:creationId xmlns:a16="http://schemas.microsoft.com/office/drawing/2014/main" id="{04ED6B27-CCDC-2050-8C8F-A7FE1D27D37C}"/>
              </a:ext>
            </a:extLst>
          </p:cNvPr>
          <p:cNvGraphicFramePr>
            <a:graphicFrameLocks noGrp="1"/>
          </p:cNvGraphicFramePr>
          <p:nvPr>
            <p:extLst>
              <p:ext uri="{D42A27DB-BD31-4B8C-83A1-F6EECF244321}">
                <p14:modId xmlns:p14="http://schemas.microsoft.com/office/powerpoint/2010/main" val="3197328539"/>
              </p:ext>
            </p:extLst>
          </p:nvPr>
        </p:nvGraphicFramePr>
        <p:xfrm>
          <a:off x="3617684" y="60289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9" name="Tableau 8">
            <a:extLst>
              <a:ext uri="{FF2B5EF4-FFF2-40B4-BE49-F238E27FC236}">
                <a16:creationId xmlns:a16="http://schemas.microsoft.com/office/drawing/2014/main" id="{1368E37F-65AC-4B09-9AEA-7CBD1E558BB1}"/>
              </a:ext>
            </a:extLst>
          </p:cNvPr>
          <p:cNvGraphicFramePr>
            <a:graphicFrameLocks noGrp="1"/>
          </p:cNvGraphicFramePr>
          <p:nvPr>
            <p:extLst>
              <p:ext uri="{D42A27DB-BD31-4B8C-83A1-F6EECF244321}">
                <p14:modId xmlns:p14="http://schemas.microsoft.com/office/powerpoint/2010/main" val="3007789155"/>
              </p:ext>
            </p:extLst>
          </p:nvPr>
        </p:nvGraphicFramePr>
        <p:xfrm>
          <a:off x="3617684" y="3429000"/>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10" name="Espace réservé du pied de page 9">
            <a:extLst>
              <a:ext uri="{FF2B5EF4-FFF2-40B4-BE49-F238E27FC236}">
                <a16:creationId xmlns:a16="http://schemas.microsoft.com/office/drawing/2014/main" id="{A79D4CA8-5A95-45BA-A4F1-2A2F23BA9B57}"/>
              </a:ext>
            </a:extLst>
          </p:cNvPr>
          <p:cNvSpPr>
            <a:spLocks noGrp="1"/>
          </p:cNvSpPr>
          <p:nvPr>
            <p:ph type="ftr" sz="quarter" idx="11"/>
          </p:nvPr>
        </p:nvSpPr>
        <p:spPr>
          <a:xfrm>
            <a:off x="4038600" y="6477454"/>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393055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81A4C-EC54-BD86-6537-6D17951A38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89B9873-1F9D-C64A-D43B-BFF0DAF8E626}"/>
              </a:ext>
            </a:extLst>
          </p:cNvPr>
          <p:cNvSpPr>
            <a:spLocks noGrp="1"/>
          </p:cNvSpPr>
          <p:nvPr>
            <p:ph type="title"/>
          </p:nvPr>
        </p:nvSpPr>
        <p:spPr>
          <a:xfrm>
            <a:off x="838200" y="262717"/>
            <a:ext cx="10515600" cy="1325563"/>
          </a:xfrm>
        </p:spPr>
        <p:txBody>
          <a:bodyPr/>
          <a:lstStyle/>
          <a:p>
            <a:r>
              <a:rPr lang="fr-FR" dirty="0"/>
              <a:t>TD1 2h</a:t>
            </a:r>
          </a:p>
        </p:txBody>
      </p:sp>
      <p:sp>
        <p:nvSpPr>
          <p:cNvPr id="7" name="Espace réservé du numéro de diapositive 6">
            <a:extLst>
              <a:ext uri="{FF2B5EF4-FFF2-40B4-BE49-F238E27FC236}">
                <a16:creationId xmlns:a16="http://schemas.microsoft.com/office/drawing/2014/main" id="{23E4AB98-6335-18B6-9B55-83B1EB782B2E}"/>
              </a:ext>
            </a:extLst>
          </p:cNvPr>
          <p:cNvSpPr>
            <a:spLocks noGrp="1"/>
          </p:cNvSpPr>
          <p:nvPr>
            <p:ph type="sldNum" sz="quarter" idx="12"/>
          </p:nvPr>
        </p:nvSpPr>
        <p:spPr/>
        <p:txBody>
          <a:bodyPr/>
          <a:lstStyle/>
          <a:p>
            <a:fld id="{201A5C1E-DE71-4D99-BC1E-739595F062E0}" type="slidenum">
              <a:rPr lang="fr-FR" sz="2000" smtClean="0"/>
              <a:t>14</a:t>
            </a:fld>
            <a:r>
              <a:rPr lang="fr-FR" sz="2000" dirty="0"/>
              <a:t>/21</a:t>
            </a:r>
          </a:p>
        </p:txBody>
      </p:sp>
      <p:sp>
        <p:nvSpPr>
          <p:cNvPr id="5" name="ZoneTexte 4">
            <a:extLst>
              <a:ext uri="{FF2B5EF4-FFF2-40B4-BE49-F238E27FC236}">
                <a16:creationId xmlns:a16="http://schemas.microsoft.com/office/drawing/2014/main" id="{D5D1C3A9-43D6-FE03-9538-4AAE4C719FF6}"/>
              </a:ext>
            </a:extLst>
          </p:cNvPr>
          <p:cNvSpPr txBox="1"/>
          <p:nvPr/>
        </p:nvSpPr>
        <p:spPr>
          <a:xfrm>
            <a:off x="838200" y="1265114"/>
            <a:ext cx="8494486" cy="2308324"/>
          </a:xfrm>
          <a:prstGeom prst="rect">
            <a:avLst/>
          </a:prstGeom>
          <a:noFill/>
        </p:spPr>
        <p:txBody>
          <a:bodyPr wrap="square" rtlCol="0">
            <a:spAutoFit/>
          </a:bodyPr>
          <a:lstStyle/>
          <a:p>
            <a:r>
              <a:rPr lang="fr-FR" sz="2400" dirty="0"/>
              <a:t>Quizz sur les notions vues au départ</a:t>
            </a:r>
          </a:p>
          <a:p>
            <a:r>
              <a:rPr lang="fr-FR" sz="2400" dirty="0"/>
              <a:t>Lecture de courbes d’essai normalisés, comparaison des caractéristiques de différentes matériaux. </a:t>
            </a:r>
          </a:p>
          <a:p>
            <a:r>
              <a:rPr lang="fr-FR" sz="2400" dirty="0"/>
              <a:t>Exemple sur une règle en plastique souple, une en fer et une en plastique. Et autre système si les élèves ont des idées plus intéressantes selon eux.</a:t>
            </a:r>
          </a:p>
        </p:txBody>
      </p:sp>
      <p:sp>
        <p:nvSpPr>
          <p:cNvPr id="10" name="ZoneTexte 9">
            <a:extLst>
              <a:ext uri="{FF2B5EF4-FFF2-40B4-BE49-F238E27FC236}">
                <a16:creationId xmlns:a16="http://schemas.microsoft.com/office/drawing/2014/main" id="{DEBE1CC3-B678-25E1-AE63-8256AEB7E3E4}"/>
              </a:ext>
            </a:extLst>
          </p:cNvPr>
          <p:cNvSpPr txBox="1"/>
          <p:nvPr/>
        </p:nvSpPr>
        <p:spPr>
          <a:xfrm>
            <a:off x="838200" y="4588565"/>
            <a:ext cx="11469914" cy="1200329"/>
          </a:xfrm>
          <a:prstGeom prst="rect">
            <a:avLst/>
          </a:prstGeom>
          <a:noFill/>
        </p:spPr>
        <p:txBody>
          <a:bodyPr wrap="square" rtlCol="0">
            <a:spAutoFit/>
          </a:bodyPr>
          <a:lstStyle/>
          <a:p>
            <a:r>
              <a:rPr lang="fr-FR" sz="2400" dirty="0"/>
              <a:t>En demi-groupe , 3 groupes de 6 élèves</a:t>
            </a:r>
          </a:p>
          <a:p>
            <a:r>
              <a:rPr lang="fr-FR" sz="2400" dirty="0"/>
              <a:t>Comment quantifier l’influence du matériau sur les caractéristiques d’un produit</a:t>
            </a:r>
          </a:p>
          <a:p>
            <a:r>
              <a:rPr lang="fr-FR" sz="2400" dirty="0"/>
              <a:t>Séance détaillée juste après</a:t>
            </a:r>
          </a:p>
        </p:txBody>
      </p:sp>
      <p:sp>
        <p:nvSpPr>
          <p:cNvPr id="11" name="Titre 1">
            <a:extLst>
              <a:ext uri="{FF2B5EF4-FFF2-40B4-BE49-F238E27FC236}">
                <a16:creationId xmlns:a16="http://schemas.microsoft.com/office/drawing/2014/main" id="{0E0B2FC9-0D54-76F0-D2E3-E1793D693421}"/>
              </a:ext>
            </a:extLst>
          </p:cNvPr>
          <p:cNvSpPr txBox="1">
            <a:spLocks/>
          </p:cNvSpPr>
          <p:nvPr/>
        </p:nvSpPr>
        <p:spPr>
          <a:xfrm>
            <a:off x="838200" y="3772024"/>
            <a:ext cx="10515600" cy="861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TP2 3h</a:t>
            </a:r>
          </a:p>
        </p:txBody>
      </p:sp>
      <p:graphicFrame>
        <p:nvGraphicFramePr>
          <p:cNvPr id="12" name="Tableau 11">
            <a:extLst>
              <a:ext uri="{FF2B5EF4-FFF2-40B4-BE49-F238E27FC236}">
                <a16:creationId xmlns:a16="http://schemas.microsoft.com/office/drawing/2014/main" id="{1451EC03-F103-8645-C7CC-A8B21FDDC155}"/>
              </a:ext>
            </a:extLst>
          </p:cNvPr>
          <p:cNvGraphicFramePr>
            <a:graphicFrameLocks noGrp="1"/>
          </p:cNvGraphicFramePr>
          <p:nvPr>
            <p:extLst>
              <p:ext uri="{D42A27DB-BD31-4B8C-83A1-F6EECF244321}">
                <p14:modId xmlns:p14="http://schemas.microsoft.com/office/powerpoint/2010/main" val="1356617918"/>
              </p:ext>
            </p:extLst>
          </p:nvPr>
        </p:nvGraphicFramePr>
        <p:xfrm>
          <a:off x="2799442" y="72983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graphicFrame>
        <p:nvGraphicFramePr>
          <p:cNvPr id="13" name="Tableau 12">
            <a:extLst>
              <a:ext uri="{FF2B5EF4-FFF2-40B4-BE49-F238E27FC236}">
                <a16:creationId xmlns:a16="http://schemas.microsoft.com/office/drawing/2014/main" id="{E07FFB79-2907-836F-2F6B-A44F9F05C302}"/>
              </a:ext>
            </a:extLst>
          </p:cNvPr>
          <p:cNvGraphicFramePr>
            <a:graphicFrameLocks noGrp="1"/>
          </p:cNvGraphicFramePr>
          <p:nvPr>
            <p:extLst>
              <p:ext uri="{D42A27DB-BD31-4B8C-83A1-F6EECF244321}">
                <p14:modId xmlns:p14="http://schemas.microsoft.com/office/powerpoint/2010/main" val="98820920"/>
              </p:ext>
            </p:extLst>
          </p:nvPr>
        </p:nvGraphicFramePr>
        <p:xfrm>
          <a:off x="2799442" y="4019139"/>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16" name="Espace réservé du pied de page 15">
            <a:extLst>
              <a:ext uri="{FF2B5EF4-FFF2-40B4-BE49-F238E27FC236}">
                <a16:creationId xmlns:a16="http://schemas.microsoft.com/office/drawing/2014/main" id="{1C91ADFD-A443-FB9C-5B88-436ACD697260}"/>
              </a:ext>
            </a:extLst>
          </p:cNvPr>
          <p:cNvSpPr>
            <a:spLocks noGrp="1"/>
          </p:cNvSpPr>
          <p:nvPr>
            <p:ph type="ftr" sz="quarter" idx="11"/>
          </p:nvPr>
        </p:nvSpPr>
        <p:spPr>
          <a:xfrm>
            <a:off x="4038600" y="6451683"/>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225910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28A6-7459-1768-BE5E-A721F82CA1A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5660EF3-0B3B-80FA-0A52-32BA2736A317}"/>
              </a:ext>
            </a:extLst>
          </p:cNvPr>
          <p:cNvSpPr>
            <a:spLocks noGrp="1"/>
          </p:cNvSpPr>
          <p:nvPr>
            <p:ph type="sldNum" sz="quarter" idx="12"/>
          </p:nvPr>
        </p:nvSpPr>
        <p:spPr/>
        <p:txBody>
          <a:bodyPr/>
          <a:lstStyle/>
          <a:p>
            <a:fld id="{201A5C1E-DE71-4D99-BC1E-739595F062E0}" type="slidenum">
              <a:rPr lang="fr-FR" sz="2000" smtClean="0"/>
              <a:t>15</a:t>
            </a:fld>
            <a:r>
              <a:rPr lang="fr-FR" sz="2000" dirty="0"/>
              <a:t>/21</a:t>
            </a:r>
          </a:p>
        </p:txBody>
      </p:sp>
      <p:sp>
        <p:nvSpPr>
          <p:cNvPr id="9" name="Titre 1">
            <a:extLst>
              <a:ext uri="{FF2B5EF4-FFF2-40B4-BE49-F238E27FC236}">
                <a16:creationId xmlns:a16="http://schemas.microsoft.com/office/drawing/2014/main" id="{527844A1-A2FF-9885-BFAF-17F445244CAC}"/>
              </a:ext>
            </a:extLst>
          </p:cNvPr>
          <p:cNvSpPr>
            <a:spLocks noGrp="1"/>
          </p:cNvSpPr>
          <p:nvPr>
            <p:ph type="title"/>
          </p:nvPr>
        </p:nvSpPr>
        <p:spPr>
          <a:xfrm>
            <a:off x="954314" y="447636"/>
            <a:ext cx="10515600" cy="1325563"/>
          </a:xfrm>
        </p:spPr>
        <p:txBody>
          <a:bodyPr/>
          <a:lstStyle/>
          <a:p>
            <a:r>
              <a:rPr lang="fr-FR" dirty="0"/>
              <a:t>TP3 2h</a:t>
            </a:r>
          </a:p>
        </p:txBody>
      </p:sp>
      <p:sp>
        <p:nvSpPr>
          <p:cNvPr id="10" name="ZoneTexte 9">
            <a:extLst>
              <a:ext uri="{FF2B5EF4-FFF2-40B4-BE49-F238E27FC236}">
                <a16:creationId xmlns:a16="http://schemas.microsoft.com/office/drawing/2014/main" id="{2A7C0FE1-0B5E-3535-4117-1167EF57D808}"/>
              </a:ext>
            </a:extLst>
          </p:cNvPr>
          <p:cNvSpPr txBox="1"/>
          <p:nvPr/>
        </p:nvSpPr>
        <p:spPr>
          <a:xfrm>
            <a:off x="954314" y="1516817"/>
            <a:ext cx="7493000" cy="1200329"/>
          </a:xfrm>
          <a:prstGeom prst="rect">
            <a:avLst/>
          </a:prstGeom>
          <a:noFill/>
        </p:spPr>
        <p:txBody>
          <a:bodyPr wrap="square">
            <a:spAutoFit/>
          </a:bodyPr>
          <a:lstStyle/>
          <a:p>
            <a:r>
              <a:rPr lang="fr-FR" sz="2400" dirty="0"/>
              <a:t>En demi-groupe , 3 groupes de 6 élèves</a:t>
            </a:r>
          </a:p>
          <a:p>
            <a:r>
              <a:rPr lang="fr-FR" sz="2400" dirty="0"/>
              <a:t>Finalisation du TP3 et préparation d’un petit diaporama pour présenter aux autres élèves en vue du grand oral</a:t>
            </a:r>
          </a:p>
        </p:txBody>
      </p:sp>
      <p:sp>
        <p:nvSpPr>
          <p:cNvPr id="11" name="Titre 1">
            <a:extLst>
              <a:ext uri="{FF2B5EF4-FFF2-40B4-BE49-F238E27FC236}">
                <a16:creationId xmlns:a16="http://schemas.microsoft.com/office/drawing/2014/main" id="{7671BD5D-9572-E6F0-7C55-D6C7B4C145EE}"/>
              </a:ext>
            </a:extLst>
          </p:cNvPr>
          <p:cNvSpPr txBox="1">
            <a:spLocks/>
          </p:cNvSpPr>
          <p:nvPr/>
        </p:nvSpPr>
        <p:spPr>
          <a:xfrm>
            <a:off x="954314" y="31264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Cours 2 2h</a:t>
            </a:r>
          </a:p>
        </p:txBody>
      </p:sp>
      <p:sp>
        <p:nvSpPr>
          <p:cNvPr id="14" name="ZoneTexte 13">
            <a:extLst>
              <a:ext uri="{FF2B5EF4-FFF2-40B4-BE49-F238E27FC236}">
                <a16:creationId xmlns:a16="http://schemas.microsoft.com/office/drawing/2014/main" id="{7E862862-33E0-6DB6-ABAB-A857F2E86485}"/>
              </a:ext>
            </a:extLst>
          </p:cNvPr>
          <p:cNvSpPr txBox="1"/>
          <p:nvPr/>
        </p:nvSpPr>
        <p:spPr>
          <a:xfrm>
            <a:off x="954314" y="4221133"/>
            <a:ext cx="9655629" cy="1200329"/>
          </a:xfrm>
          <a:prstGeom prst="rect">
            <a:avLst/>
          </a:prstGeom>
          <a:noFill/>
        </p:spPr>
        <p:txBody>
          <a:bodyPr wrap="square">
            <a:spAutoFit/>
          </a:bodyPr>
          <a:lstStyle/>
          <a:p>
            <a:r>
              <a:rPr lang="fr-FR" sz="2400" dirty="0"/>
              <a:t>Cours sur les sollicitations qui ont pu être observés lors des </a:t>
            </a:r>
            <a:r>
              <a:rPr lang="fr-FR" sz="2400" dirty="0" err="1"/>
              <a:t>TPs</a:t>
            </a:r>
            <a:r>
              <a:rPr lang="fr-FR" sz="2400" dirty="0"/>
              <a:t> précédents</a:t>
            </a:r>
          </a:p>
          <a:p>
            <a:r>
              <a:rPr lang="fr-FR" sz="2400" dirty="0"/>
              <a:t>Sollicitations: flexion, loi de Hooke, résistance élastique, résistance mécanique, hypothèses.</a:t>
            </a:r>
          </a:p>
        </p:txBody>
      </p:sp>
      <p:graphicFrame>
        <p:nvGraphicFramePr>
          <p:cNvPr id="12" name="Tableau 11">
            <a:extLst>
              <a:ext uri="{FF2B5EF4-FFF2-40B4-BE49-F238E27FC236}">
                <a16:creationId xmlns:a16="http://schemas.microsoft.com/office/drawing/2014/main" id="{6D7CC1A4-97EC-0A85-0D4F-E9EC4FC9D4E1}"/>
              </a:ext>
            </a:extLst>
          </p:cNvPr>
          <p:cNvGraphicFramePr>
            <a:graphicFrameLocks noGrp="1"/>
          </p:cNvGraphicFramePr>
          <p:nvPr>
            <p:extLst>
              <p:ext uri="{D42A27DB-BD31-4B8C-83A1-F6EECF244321}">
                <p14:modId xmlns:p14="http://schemas.microsoft.com/office/powerpoint/2010/main" val="993089093"/>
              </p:ext>
            </p:extLst>
          </p:nvPr>
        </p:nvGraphicFramePr>
        <p:xfrm>
          <a:off x="3617684" y="914005"/>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665967402"/>
                  </a:ext>
                </a:extLst>
              </a:tr>
            </a:tbl>
          </a:graphicData>
        </a:graphic>
      </p:graphicFrame>
      <p:graphicFrame>
        <p:nvGraphicFramePr>
          <p:cNvPr id="13" name="Tableau 12">
            <a:extLst>
              <a:ext uri="{FF2B5EF4-FFF2-40B4-BE49-F238E27FC236}">
                <a16:creationId xmlns:a16="http://schemas.microsoft.com/office/drawing/2014/main" id="{2010B5F4-ABF7-D3FA-97A2-D27D7F19CDD7}"/>
              </a:ext>
            </a:extLst>
          </p:cNvPr>
          <p:cNvGraphicFramePr>
            <a:graphicFrameLocks noGrp="1"/>
          </p:cNvGraphicFramePr>
          <p:nvPr>
            <p:extLst>
              <p:ext uri="{D42A27DB-BD31-4B8C-83A1-F6EECF244321}">
                <p14:modId xmlns:p14="http://schemas.microsoft.com/office/powerpoint/2010/main" val="3878477180"/>
              </p:ext>
            </p:extLst>
          </p:nvPr>
        </p:nvGraphicFramePr>
        <p:xfrm>
          <a:off x="3617684" y="3603764"/>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
        <p:nvSpPr>
          <p:cNvPr id="15" name="Espace réservé du pied de page 14">
            <a:extLst>
              <a:ext uri="{FF2B5EF4-FFF2-40B4-BE49-F238E27FC236}">
                <a16:creationId xmlns:a16="http://schemas.microsoft.com/office/drawing/2014/main" id="{0F4ABBB3-4AC0-4781-417D-9F136CBA6770}"/>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57142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3C2D-2749-87CE-02EE-5B2AE7F0ADE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0AAF29C-7192-01D5-AF0F-26A662E705B0}"/>
              </a:ext>
            </a:extLst>
          </p:cNvPr>
          <p:cNvSpPr>
            <a:spLocks noGrp="1"/>
          </p:cNvSpPr>
          <p:nvPr>
            <p:ph type="sldNum" sz="quarter" idx="12"/>
          </p:nvPr>
        </p:nvSpPr>
        <p:spPr/>
        <p:txBody>
          <a:bodyPr/>
          <a:lstStyle/>
          <a:p>
            <a:fld id="{201A5C1E-DE71-4D99-BC1E-739595F062E0}" type="slidenum">
              <a:rPr lang="fr-FR" sz="2000" smtClean="0"/>
              <a:t>16</a:t>
            </a:fld>
            <a:r>
              <a:rPr lang="fr-FR" sz="2000" dirty="0"/>
              <a:t>/21</a:t>
            </a:r>
          </a:p>
        </p:txBody>
      </p:sp>
      <p:sp>
        <p:nvSpPr>
          <p:cNvPr id="11" name="ZoneTexte 10">
            <a:extLst>
              <a:ext uri="{FF2B5EF4-FFF2-40B4-BE49-F238E27FC236}">
                <a16:creationId xmlns:a16="http://schemas.microsoft.com/office/drawing/2014/main" id="{AACE3DE3-8112-817A-8DEA-8FFA1010425D}"/>
              </a:ext>
            </a:extLst>
          </p:cNvPr>
          <p:cNvSpPr txBox="1"/>
          <p:nvPr/>
        </p:nvSpPr>
        <p:spPr>
          <a:xfrm>
            <a:off x="838199" y="4792469"/>
            <a:ext cx="8973457" cy="1200329"/>
          </a:xfrm>
          <a:prstGeom prst="rect">
            <a:avLst/>
          </a:prstGeom>
          <a:noFill/>
        </p:spPr>
        <p:txBody>
          <a:bodyPr wrap="square" rtlCol="0">
            <a:spAutoFit/>
          </a:bodyPr>
          <a:lstStyle/>
          <a:p>
            <a:r>
              <a:rPr lang="fr-FR" sz="2400" dirty="0"/>
              <a:t>Remédiation grâce au quizz et au compte rendu de TP précédent, analyse de simulations par éléments finis, comparaison aux essais réels menés dans les </a:t>
            </a:r>
            <a:r>
              <a:rPr lang="fr-FR" sz="2400" dirty="0" err="1"/>
              <a:t>TPs</a:t>
            </a:r>
            <a:r>
              <a:rPr lang="fr-FR" sz="2400" dirty="0"/>
              <a:t> précédents, analyse de sollicitations.</a:t>
            </a:r>
          </a:p>
        </p:txBody>
      </p:sp>
      <p:sp>
        <p:nvSpPr>
          <p:cNvPr id="12" name="Titre 1">
            <a:extLst>
              <a:ext uri="{FF2B5EF4-FFF2-40B4-BE49-F238E27FC236}">
                <a16:creationId xmlns:a16="http://schemas.microsoft.com/office/drawing/2014/main" id="{31897C00-8224-CF47-6A2A-56DC2EB624C6}"/>
              </a:ext>
            </a:extLst>
          </p:cNvPr>
          <p:cNvSpPr>
            <a:spLocks noGrp="1"/>
          </p:cNvSpPr>
          <p:nvPr>
            <p:ph type="title"/>
          </p:nvPr>
        </p:nvSpPr>
        <p:spPr>
          <a:xfrm>
            <a:off x="838200" y="4084014"/>
            <a:ext cx="10515600" cy="616122"/>
          </a:xfrm>
        </p:spPr>
        <p:txBody>
          <a:bodyPr>
            <a:normAutofit fontScale="90000"/>
          </a:bodyPr>
          <a:lstStyle/>
          <a:p>
            <a:r>
              <a:rPr lang="fr-FR" dirty="0"/>
              <a:t>TD2 2h</a:t>
            </a:r>
          </a:p>
        </p:txBody>
      </p:sp>
      <p:sp>
        <p:nvSpPr>
          <p:cNvPr id="16" name="ZoneTexte 15">
            <a:extLst>
              <a:ext uri="{FF2B5EF4-FFF2-40B4-BE49-F238E27FC236}">
                <a16:creationId xmlns:a16="http://schemas.microsoft.com/office/drawing/2014/main" id="{67DB0CD1-F86B-0202-255F-E8C4B19854DD}"/>
              </a:ext>
            </a:extLst>
          </p:cNvPr>
          <p:cNvSpPr txBox="1"/>
          <p:nvPr/>
        </p:nvSpPr>
        <p:spPr>
          <a:xfrm>
            <a:off x="838199" y="1265946"/>
            <a:ext cx="9089572" cy="2308324"/>
          </a:xfrm>
          <a:prstGeom prst="rect">
            <a:avLst/>
          </a:prstGeom>
          <a:noFill/>
        </p:spPr>
        <p:txBody>
          <a:bodyPr wrap="square">
            <a:spAutoFit/>
          </a:bodyPr>
          <a:lstStyle/>
          <a:p>
            <a:r>
              <a:rPr lang="fr-FR" sz="2400" dirty="0"/>
              <a:t>En demi-groupe , 6 groupes de 3 élèves</a:t>
            </a:r>
          </a:p>
          <a:p>
            <a:r>
              <a:rPr lang="fr-FR" sz="2400" dirty="0"/>
              <a:t>Comment quantifier la rigidité d’un produit</a:t>
            </a:r>
          </a:p>
          <a:p>
            <a:r>
              <a:rPr lang="fr-FR" sz="2400" dirty="0"/>
              <a:t>Essai de traction</a:t>
            </a:r>
          </a:p>
          <a:p>
            <a:r>
              <a:rPr lang="fr-FR" sz="2400" dirty="0"/>
              <a:t>Découverte du module d’Young</a:t>
            </a:r>
          </a:p>
          <a:p>
            <a:r>
              <a:rPr lang="fr-FR" sz="2400" dirty="0"/>
              <a:t>Compréhension de l’impact d’une mauvaise rigidité: ex cadre de vélo ou pont.</a:t>
            </a:r>
          </a:p>
        </p:txBody>
      </p:sp>
      <p:sp>
        <p:nvSpPr>
          <p:cNvPr id="17" name="Titre 1">
            <a:extLst>
              <a:ext uri="{FF2B5EF4-FFF2-40B4-BE49-F238E27FC236}">
                <a16:creationId xmlns:a16="http://schemas.microsoft.com/office/drawing/2014/main" id="{EDA2B5F4-9E75-BA1A-68A0-C41F5BD36BC3}"/>
              </a:ext>
            </a:extLst>
          </p:cNvPr>
          <p:cNvSpPr txBox="1">
            <a:spLocks/>
          </p:cNvSpPr>
          <p:nvPr/>
        </p:nvSpPr>
        <p:spPr>
          <a:xfrm>
            <a:off x="838200" y="2231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TP4 3h</a:t>
            </a:r>
          </a:p>
        </p:txBody>
      </p:sp>
      <p:graphicFrame>
        <p:nvGraphicFramePr>
          <p:cNvPr id="18" name="Tableau 17">
            <a:extLst>
              <a:ext uri="{FF2B5EF4-FFF2-40B4-BE49-F238E27FC236}">
                <a16:creationId xmlns:a16="http://schemas.microsoft.com/office/drawing/2014/main" id="{0B64518D-C3B9-F041-BA36-87F3913DC05D}"/>
              </a:ext>
            </a:extLst>
          </p:cNvPr>
          <p:cNvGraphicFramePr>
            <a:graphicFrameLocks noGrp="1"/>
          </p:cNvGraphicFramePr>
          <p:nvPr>
            <p:extLst>
              <p:ext uri="{D42A27DB-BD31-4B8C-83A1-F6EECF244321}">
                <p14:modId xmlns:p14="http://schemas.microsoft.com/office/powerpoint/2010/main" val="3901423394"/>
              </p:ext>
            </p:extLst>
          </p:nvPr>
        </p:nvGraphicFramePr>
        <p:xfrm>
          <a:off x="2877455" y="679782"/>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graphicFrame>
        <p:nvGraphicFramePr>
          <p:cNvPr id="19" name="Tableau 18">
            <a:extLst>
              <a:ext uri="{FF2B5EF4-FFF2-40B4-BE49-F238E27FC236}">
                <a16:creationId xmlns:a16="http://schemas.microsoft.com/office/drawing/2014/main" id="{EDFF347C-A209-F512-EBFA-D05938AF2CD7}"/>
              </a:ext>
            </a:extLst>
          </p:cNvPr>
          <p:cNvGraphicFramePr>
            <a:graphicFrameLocks noGrp="1"/>
          </p:cNvGraphicFramePr>
          <p:nvPr>
            <p:extLst>
              <p:ext uri="{D42A27DB-BD31-4B8C-83A1-F6EECF244321}">
                <p14:modId xmlns:p14="http://schemas.microsoft.com/office/powerpoint/2010/main" val="1804632701"/>
              </p:ext>
            </p:extLst>
          </p:nvPr>
        </p:nvGraphicFramePr>
        <p:xfrm>
          <a:off x="3240312" y="4206655"/>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sp>
        <p:nvSpPr>
          <p:cNvPr id="20" name="Espace réservé du pied de page 19">
            <a:extLst>
              <a:ext uri="{FF2B5EF4-FFF2-40B4-BE49-F238E27FC236}">
                <a16:creationId xmlns:a16="http://schemas.microsoft.com/office/drawing/2014/main" id="{3FEEBEBB-96DD-A9A4-FB3A-9AE243BF1F3D}"/>
              </a:ext>
            </a:extLst>
          </p:cNvPr>
          <p:cNvSpPr>
            <a:spLocks noGrp="1"/>
          </p:cNvSpPr>
          <p:nvPr>
            <p:ph type="ftr" sz="quarter" idx="11"/>
          </p:nvPr>
        </p:nvSpPr>
        <p:spPr>
          <a:xfrm>
            <a:off x="4038600" y="6452276"/>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829924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44F11-37A0-FCA6-41DC-D295C37DECBC}"/>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A8C3FDC-8432-4489-FAF9-8A66062FB3BA}"/>
              </a:ext>
            </a:extLst>
          </p:cNvPr>
          <p:cNvSpPr>
            <a:spLocks noGrp="1"/>
          </p:cNvSpPr>
          <p:nvPr>
            <p:ph type="sldNum" sz="quarter" idx="12"/>
          </p:nvPr>
        </p:nvSpPr>
        <p:spPr/>
        <p:txBody>
          <a:bodyPr/>
          <a:lstStyle/>
          <a:p>
            <a:fld id="{201A5C1E-DE71-4D99-BC1E-739595F062E0}" type="slidenum">
              <a:rPr lang="fr-FR" sz="2000" smtClean="0"/>
              <a:t>17</a:t>
            </a:fld>
            <a:r>
              <a:rPr lang="fr-FR" sz="2000" dirty="0"/>
              <a:t>/21</a:t>
            </a:r>
          </a:p>
        </p:txBody>
      </p:sp>
      <p:sp>
        <p:nvSpPr>
          <p:cNvPr id="4" name="Titre 1">
            <a:extLst>
              <a:ext uri="{FF2B5EF4-FFF2-40B4-BE49-F238E27FC236}">
                <a16:creationId xmlns:a16="http://schemas.microsoft.com/office/drawing/2014/main" id="{68075DBC-3972-6370-1102-7293C7710DE6}"/>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TP5 3h</a:t>
            </a:r>
          </a:p>
        </p:txBody>
      </p:sp>
      <p:sp>
        <p:nvSpPr>
          <p:cNvPr id="3" name="Titre 1">
            <a:extLst>
              <a:ext uri="{FF2B5EF4-FFF2-40B4-BE49-F238E27FC236}">
                <a16:creationId xmlns:a16="http://schemas.microsoft.com/office/drawing/2014/main" id="{60C5C25C-B762-2C3C-A5F5-73911686C8A3}"/>
              </a:ext>
            </a:extLst>
          </p:cNvPr>
          <p:cNvSpPr txBox="1">
            <a:spLocks/>
          </p:cNvSpPr>
          <p:nvPr/>
        </p:nvSpPr>
        <p:spPr>
          <a:xfrm>
            <a:off x="838200" y="4497172"/>
            <a:ext cx="10515600" cy="7246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TD3 + éval 1h+1h </a:t>
            </a:r>
          </a:p>
        </p:txBody>
      </p:sp>
      <p:sp>
        <p:nvSpPr>
          <p:cNvPr id="9" name="ZoneTexte 8">
            <a:extLst>
              <a:ext uri="{FF2B5EF4-FFF2-40B4-BE49-F238E27FC236}">
                <a16:creationId xmlns:a16="http://schemas.microsoft.com/office/drawing/2014/main" id="{C4221A2C-6A7A-5B51-92B4-4D43AFC097AA}"/>
              </a:ext>
            </a:extLst>
          </p:cNvPr>
          <p:cNvSpPr txBox="1"/>
          <p:nvPr/>
        </p:nvSpPr>
        <p:spPr>
          <a:xfrm>
            <a:off x="838199" y="1232617"/>
            <a:ext cx="9046030" cy="3046988"/>
          </a:xfrm>
          <a:prstGeom prst="rect">
            <a:avLst/>
          </a:prstGeom>
          <a:noFill/>
        </p:spPr>
        <p:txBody>
          <a:bodyPr wrap="square">
            <a:spAutoFit/>
          </a:bodyPr>
          <a:lstStyle/>
          <a:p>
            <a:r>
              <a:rPr lang="fr-FR" sz="2400" dirty="0"/>
              <a:t>En demi-groupe , 6 groupes de 3 élèves</a:t>
            </a:r>
          </a:p>
          <a:p>
            <a:r>
              <a:rPr lang="fr-FR" sz="2400" dirty="0"/>
              <a:t>Comment le chargement d’un pont peut il faire varier sa déformation?</a:t>
            </a:r>
          </a:p>
          <a:p>
            <a:r>
              <a:rPr lang="fr-FR" sz="2400" dirty="0"/>
              <a:t>Essai de flexion, simulation sous SolidWorks d’un essai de flexion. Avec des éprouvettes type barres et des poids sur une poutre bi appuyée (ex pont a poutres, en port à faux ou en arc) mesure de la flèche, comparaison au modèle numérique </a:t>
            </a:r>
          </a:p>
          <a:p>
            <a:r>
              <a:rPr lang="fr-FR" sz="2400" dirty="0"/>
              <a:t>Analyse avec CES </a:t>
            </a:r>
            <a:r>
              <a:rPr lang="fr-FR" sz="2400" dirty="0" err="1"/>
              <a:t>EduPack</a:t>
            </a:r>
            <a:r>
              <a:rPr lang="fr-FR" sz="2400" dirty="0"/>
              <a:t> de l’impact environnemental des différents matériaux</a:t>
            </a:r>
          </a:p>
        </p:txBody>
      </p:sp>
      <p:sp>
        <p:nvSpPr>
          <p:cNvPr id="12" name="ZoneTexte 11">
            <a:extLst>
              <a:ext uri="{FF2B5EF4-FFF2-40B4-BE49-F238E27FC236}">
                <a16:creationId xmlns:a16="http://schemas.microsoft.com/office/drawing/2014/main" id="{21FB749B-092D-B64D-1C22-BD19EB68539B}"/>
              </a:ext>
            </a:extLst>
          </p:cNvPr>
          <p:cNvSpPr txBox="1"/>
          <p:nvPr/>
        </p:nvSpPr>
        <p:spPr>
          <a:xfrm>
            <a:off x="838200" y="5098083"/>
            <a:ext cx="6096000" cy="1200329"/>
          </a:xfrm>
          <a:prstGeom prst="rect">
            <a:avLst/>
          </a:prstGeom>
          <a:noFill/>
        </p:spPr>
        <p:txBody>
          <a:bodyPr wrap="square">
            <a:spAutoFit/>
          </a:bodyPr>
          <a:lstStyle/>
          <a:p>
            <a:r>
              <a:rPr lang="fr-FR" sz="2400" dirty="0"/>
              <a:t>Faire correctement comprendre la différence entre traction/compression et flexion.</a:t>
            </a:r>
          </a:p>
          <a:p>
            <a:endParaRPr lang="fr-FR" sz="2400" dirty="0"/>
          </a:p>
        </p:txBody>
      </p:sp>
      <p:graphicFrame>
        <p:nvGraphicFramePr>
          <p:cNvPr id="13" name="Tableau 12">
            <a:extLst>
              <a:ext uri="{FF2B5EF4-FFF2-40B4-BE49-F238E27FC236}">
                <a16:creationId xmlns:a16="http://schemas.microsoft.com/office/drawing/2014/main" id="{DFB63CA6-CDA7-1048-5E4D-E6679F8FF89C}"/>
              </a:ext>
            </a:extLst>
          </p:cNvPr>
          <p:cNvGraphicFramePr>
            <a:graphicFrameLocks noGrp="1"/>
          </p:cNvGraphicFramePr>
          <p:nvPr>
            <p:extLst>
              <p:ext uri="{D42A27DB-BD31-4B8C-83A1-F6EECF244321}">
                <p14:modId xmlns:p14="http://schemas.microsoft.com/office/powerpoint/2010/main" val="3833980500"/>
              </p:ext>
            </p:extLst>
          </p:nvPr>
        </p:nvGraphicFramePr>
        <p:xfrm>
          <a:off x="2752268" y="767759"/>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5967402"/>
                  </a:ext>
                </a:extLst>
              </a:tr>
            </a:tbl>
          </a:graphicData>
        </a:graphic>
      </p:graphicFrame>
      <p:graphicFrame>
        <p:nvGraphicFramePr>
          <p:cNvPr id="14" name="Tableau 13">
            <a:extLst>
              <a:ext uri="{FF2B5EF4-FFF2-40B4-BE49-F238E27FC236}">
                <a16:creationId xmlns:a16="http://schemas.microsoft.com/office/drawing/2014/main" id="{DDC1768F-FCCF-29E8-A755-14E85F292E64}"/>
              </a:ext>
            </a:extLst>
          </p:cNvPr>
          <p:cNvGraphicFramePr>
            <a:graphicFrameLocks noGrp="1"/>
          </p:cNvGraphicFramePr>
          <p:nvPr>
            <p:extLst>
              <p:ext uri="{D42A27DB-BD31-4B8C-83A1-F6EECF244321}">
                <p14:modId xmlns:p14="http://schemas.microsoft.com/office/powerpoint/2010/main" val="1047383973"/>
              </p:ext>
            </p:extLst>
          </p:nvPr>
        </p:nvGraphicFramePr>
        <p:xfrm>
          <a:off x="5038269" y="4674078"/>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éval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665967402"/>
                  </a:ext>
                </a:extLst>
              </a:tr>
            </a:tbl>
          </a:graphicData>
        </a:graphic>
      </p:graphicFrame>
      <p:sp>
        <p:nvSpPr>
          <p:cNvPr id="15" name="Espace réservé du pied de page 14">
            <a:extLst>
              <a:ext uri="{FF2B5EF4-FFF2-40B4-BE49-F238E27FC236}">
                <a16:creationId xmlns:a16="http://schemas.microsoft.com/office/drawing/2014/main" id="{5C455E31-DBC5-B390-E306-1DB1C7C304B6}"/>
              </a:ext>
            </a:extLst>
          </p:cNvPr>
          <p:cNvSpPr>
            <a:spLocks noGrp="1"/>
          </p:cNvSpPr>
          <p:nvPr>
            <p:ph type="ftr" sz="quarter" idx="11"/>
          </p:nvPr>
        </p:nvSpPr>
        <p:spPr>
          <a:xfrm>
            <a:off x="4038600" y="6492875"/>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226650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64B26-C642-3223-3D57-939B21492A8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E6E49DEA-8AAE-9277-11B4-EBF2B8200E80}"/>
              </a:ext>
            </a:extLst>
          </p:cNvPr>
          <p:cNvSpPr>
            <a:spLocks noGrp="1"/>
          </p:cNvSpPr>
          <p:nvPr>
            <p:ph type="sldNum" sz="quarter" idx="12"/>
          </p:nvPr>
        </p:nvSpPr>
        <p:spPr/>
        <p:txBody>
          <a:bodyPr/>
          <a:lstStyle/>
          <a:p>
            <a:fld id="{201A5C1E-DE71-4D99-BC1E-739595F062E0}" type="slidenum">
              <a:rPr lang="fr-FR" sz="2000" smtClean="0"/>
              <a:t>18</a:t>
            </a:fld>
            <a:r>
              <a:rPr lang="fr-FR" sz="2000" dirty="0"/>
              <a:t>/21</a:t>
            </a:r>
          </a:p>
        </p:txBody>
      </p:sp>
      <p:sp>
        <p:nvSpPr>
          <p:cNvPr id="4" name="Titre 1">
            <a:extLst>
              <a:ext uri="{FF2B5EF4-FFF2-40B4-BE49-F238E27FC236}">
                <a16:creationId xmlns:a16="http://schemas.microsoft.com/office/drawing/2014/main" id="{CDD944AD-A040-39A8-0A8D-89DB2689E310}"/>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expérimentale: TP2 3h</a:t>
            </a:r>
          </a:p>
        </p:txBody>
      </p:sp>
      <p:sp>
        <p:nvSpPr>
          <p:cNvPr id="15" name="ZoneTexte 14">
            <a:extLst>
              <a:ext uri="{FF2B5EF4-FFF2-40B4-BE49-F238E27FC236}">
                <a16:creationId xmlns:a16="http://schemas.microsoft.com/office/drawing/2014/main" id="{8E17E065-4388-DDA4-FE8C-0EA9CCEA2DAC}"/>
              </a:ext>
            </a:extLst>
          </p:cNvPr>
          <p:cNvSpPr txBox="1"/>
          <p:nvPr/>
        </p:nvSpPr>
        <p:spPr>
          <a:xfrm>
            <a:off x="939800" y="1440722"/>
            <a:ext cx="9924142" cy="4893647"/>
          </a:xfrm>
          <a:prstGeom prst="rect">
            <a:avLst/>
          </a:prstGeom>
          <a:noFill/>
        </p:spPr>
        <p:txBody>
          <a:bodyPr wrap="square">
            <a:spAutoFit/>
          </a:bodyPr>
          <a:lstStyle/>
          <a:p>
            <a:r>
              <a:rPr lang="fr-FR" sz="2400" dirty="0"/>
              <a:t>Comment quantifier l’influence du matériau sur les caractéristiques d’un produit</a:t>
            </a:r>
          </a:p>
          <a:p>
            <a:r>
              <a:rPr lang="fr-FR" sz="2400" dirty="0"/>
              <a:t>Support d’étude: 3 colliers de serrage de marques différentes</a:t>
            </a:r>
          </a:p>
          <a:p>
            <a:r>
              <a:rPr lang="fr-FR" sz="2400" dirty="0"/>
              <a:t>Compte rendu en fin de séance</a:t>
            </a:r>
          </a:p>
          <a:p>
            <a:r>
              <a:rPr lang="fr-FR" sz="2400" dirty="0"/>
              <a:t>En demi-groupe , 3 groupes de 6 élèves</a:t>
            </a:r>
          </a:p>
          <a:p>
            <a:pPr marL="342900" indent="-342900">
              <a:buFont typeface="Arial" panose="020B0604020202020204" pitchFamily="34" charset="0"/>
              <a:buChar char="•"/>
            </a:pPr>
            <a:r>
              <a:rPr lang="fr-FR" sz="2400" dirty="0"/>
              <a:t>2 élèves chef de groupe, en charge de la présentation et du compte rendu</a:t>
            </a:r>
          </a:p>
          <a:p>
            <a:pPr marL="342900" indent="-342900">
              <a:buFont typeface="Arial" panose="020B0604020202020204" pitchFamily="34" charset="0"/>
              <a:buChar char="•"/>
            </a:pPr>
            <a:r>
              <a:rPr lang="fr-FR" sz="2400" dirty="0"/>
              <a:t>2 élèves en charge de la simulation</a:t>
            </a:r>
          </a:p>
          <a:p>
            <a:pPr marL="342900" indent="-342900">
              <a:buFont typeface="Arial" panose="020B0604020202020204" pitchFamily="34" charset="0"/>
              <a:buChar char="•"/>
            </a:pPr>
            <a:r>
              <a:rPr lang="fr-FR" sz="2400" dirty="0"/>
              <a:t>2 élèves en charge de l’expérimentation</a:t>
            </a:r>
          </a:p>
          <a:p>
            <a:r>
              <a:rPr lang="fr-FR" sz="2400" dirty="0"/>
              <a:t>Organisation:</a:t>
            </a:r>
          </a:p>
          <a:p>
            <a:pPr marL="342900" indent="-342900">
              <a:buFont typeface="Arial" panose="020B0604020202020204" pitchFamily="34" charset="0"/>
              <a:buChar char="•"/>
            </a:pPr>
            <a:r>
              <a:rPr lang="fr-FR" sz="2400" dirty="0"/>
              <a:t>30 min: Préparation, Analyse du besoin: à quoi répond le collier de serrage</a:t>
            </a:r>
          </a:p>
          <a:p>
            <a:pPr marL="342900" indent="-342900">
              <a:buFont typeface="Arial" panose="020B0604020202020204" pitchFamily="34" charset="0"/>
              <a:buChar char="•"/>
            </a:pPr>
            <a:r>
              <a:rPr lang="fr-FR" sz="2400" dirty="0"/>
              <a:t>1h: Manip par groupe sur des colliers de 3 marques différentes: 3 essais de traction, relevé des caractéristiques classiques classiques</a:t>
            </a:r>
          </a:p>
          <a:p>
            <a:pPr marL="342900" indent="-342900">
              <a:buFont typeface="Arial" panose="020B0604020202020204" pitchFamily="34" charset="0"/>
              <a:buChar char="•"/>
            </a:pPr>
            <a:r>
              <a:rPr lang="fr-FR" sz="2400" dirty="0"/>
              <a:t>1h 30: Réalisation des simulations et comparaison</a:t>
            </a:r>
          </a:p>
        </p:txBody>
      </p:sp>
      <p:sp>
        <p:nvSpPr>
          <p:cNvPr id="5" name="Espace réservé du pied de page 4">
            <a:extLst>
              <a:ext uri="{FF2B5EF4-FFF2-40B4-BE49-F238E27FC236}">
                <a16:creationId xmlns:a16="http://schemas.microsoft.com/office/drawing/2014/main" id="{362EDB8A-B547-EB76-500E-7E025567A761}"/>
              </a:ext>
            </a:extLst>
          </p:cNvPr>
          <p:cNvSpPr>
            <a:spLocks noGrp="1"/>
          </p:cNvSpPr>
          <p:nvPr>
            <p:ph type="ftr" sz="quarter" idx="11"/>
          </p:nvPr>
        </p:nvSpPr>
        <p:spPr>
          <a:xfrm>
            <a:off x="4038600" y="6465433"/>
            <a:ext cx="4114800" cy="365125"/>
          </a:xfrm>
        </p:spPr>
        <p:txBody>
          <a:bodyPr/>
          <a:lstStyle/>
          <a:p>
            <a:r>
              <a:rPr lang="fr-FR" sz="1600" dirty="0">
                <a:solidFill>
                  <a:schemeClr val="tx1"/>
                </a:solidFill>
              </a:rPr>
              <a:t>N° Arthur PREVISANI</a:t>
            </a:r>
          </a:p>
        </p:txBody>
      </p:sp>
      <p:graphicFrame>
        <p:nvGraphicFramePr>
          <p:cNvPr id="10" name="Tableau 9">
            <a:extLst>
              <a:ext uri="{FF2B5EF4-FFF2-40B4-BE49-F238E27FC236}">
                <a16:creationId xmlns:a16="http://schemas.microsoft.com/office/drawing/2014/main" id="{8F19175B-5792-793B-4536-FE4F75C5BD07}"/>
              </a:ext>
            </a:extLst>
          </p:cNvPr>
          <p:cNvGraphicFramePr>
            <a:graphicFrameLocks noGrp="1"/>
          </p:cNvGraphicFramePr>
          <p:nvPr>
            <p:extLst>
              <p:ext uri="{D42A27DB-BD31-4B8C-83A1-F6EECF244321}">
                <p14:modId xmlns:p14="http://schemas.microsoft.com/office/powerpoint/2010/main" val="4095488047"/>
              </p:ext>
            </p:extLst>
          </p:nvPr>
        </p:nvGraphicFramePr>
        <p:xfrm>
          <a:off x="5557157" y="206718"/>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Tree>
    <p:extLst>
      <p:ext uri="{BB962C8B-B14F-4D97-AF65-F5344CB8AC3E}">
        <p14:creationId xmlns:p14="http://schemas.microsoft.com/office/powerpoint/2010/main" val="3423622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2B1C9-47AD-0F04-15B4-1EE31CC495AB}"/>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53E36484-AF4B-2E26-E7F8-78C1C7944DBF}"/>
              </a:ext>
            </a:extLst>
          </p:cNvPr>
          <p:cNvSpPr>
            <a:spLocks noGrp="1"/>
          </p:cNvSpPr>
          <p:nvPr>
            <p:ph type="sldNum" sz="quarter" idx="12"/>
          </p:nvPr>
        </p:nvSpPr>
        <p:spPr/>
        <p:txBody>
          <a:bodyPr/>
          <a:lstStyle/>
          <a:p>
            <a:fld id="{201A5C1E-DE71-4D99-BC1E-739595F062E0}" type="slidenum">
              <a:rPr lang="fr-FR" sz="2000" smtClean="0"/>
              <a:t>19</a:t>
            </a:fld>
            <a:r>
              <a:rPr lang="fr-FR" sz="2000" dirty="0"/>
              <a:t>/21</a:t>
            </a:r>
          </a:p>
        </p:txBody>
      </p:sp>
      <p:sp>
        <p:nvSpPr>
          <p:cNvPr id="4" name="Titre 1">
            <a:extLst>
              <a:ext uri="{FF2B5EF4-FFF2-40B4-BE49-F238E27FC236}">
                <a16:creationId xmlns:a16="http://schemas.microsoft.com/office/drawing/2014/main" id="{63243F53-D949-781A-BE7C-72580E5BCF1E}"/>
              </a:ext>
            </a:extLst>
          </p:cNvPr>
          <p:cNvSpPr txBox="1">
            <a:spLocks/>
          </p:cNvSpPr>
          <p:nvPr/>
        </p:nvSpPr>
        <p:spPr>
          <a:xfrm>
            <a:off x="736600" y="290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Séance à caractère expérimentale: TP2 3h</a:t>
            </a:r>
          </a:p>
        </p:txBody>
      </p:sp>
      <p:graphicFrame>
        <p:nvGraphicFramePr>
          <p:cNvPr id="2" name="Tableau 1">
            <a:extLst>
              <a:ext uri="{FF2B5EF4-FFF2-40B4-BE49-F238E27FC236}">
                <a16:creationId xmlns:a16="http://schemas.microsoft.com/office/drawing/2014/main" id="{828AE20C-071C-F126-E069-399C29BF47B2}"/>
              </a:ext>
            </a:extLst>
          </p:cNvPr>
          <p:cNvGraphicFramePr>
            <a:graphicFrameLocks noGrp="1"/>
          </p:cNvGraphicFramePr>
          <p:nvPr>
            <p:extLst>
              <p:ext uri="{D42A27DB-BD31-4B8C-83A1-F6EECF244321}">
                <p14:modId xmlns:p14="http://schemas.microsoft.com/office/powerpoint/2010/main" val="2105280944"/>
              </p:ext>
            </p:extLst>
          </p:nvPr>
        </p:nvGraphicFramePr>
        <p:xfrm>
          <a:off x="5557157" y="206718"/>
          <a:ext cx="4572002" cy="370840"/>
        </p:xfrm>
        <a:graphic>
          <a:graphicData uri="http://schemas.openxmlformats.org/drawingml/2006/table">
            <a:tbl>
              <a:tblPr firstRow="1" bandRow="1">
                <a:tableStyleId>{2D5ABB26-0587-4C30-8999-92F81FD0307C}</a:tableStyleId>
              </a:tblPr>
              <a:tblGrid>
                <a:gridCol w="1202872">
                  <a:extLst>
                    <a:ext uri="{9D8B030D-6E8A-4147-A177-3AD203B41FA5}">
                      <a16:colId xmlns:a16="http://schemas.microsoft.com/office/drawing/2014/main" val="3768321597"/>
                    </a:ext>
                  </a:extLst>
                </a:gridCol>
                <a:gridCol w="673826">
                  <a:extLst>
                    <a:ext uri="{9D8B030D-6E8A-4147-A177-3AD203B41FA5}">
                      <a16:colId xmlns:a16="http://schemas.microsoft.com/office/drawing/2014/main" val="603146100"/>
                    </a:ext>
                  </a:extLst>
                </a:gridCol>
                <a:gridCol w="673826">
                  <a:extLst>
                    <a:ext uri="{9D8B030D-6E8A-4147-A177-3AD203B41FA5}">
                      <a16:colId xmlns:a16="http://schemas.microsoft.com/office/drawing/2014/main" val="2202000248"/>
                    </a:ext>
                  </a:extLst>
                </a:gridCol>
                <a:gridCol w="673826">
                  <a:extLst>
                    <a:ext uri="{9D8B030D-6E8A-4147-A177-3AD203B41FA5}">
                      <a16:colId xmlns:a16="http://schemas.microsoft.com/office/drawing/2014/main" val="2237200760"/>
                    </a:ext>
                  </a:extLst>
                </a:gridCol>
                <a:gridCol w="673826">
                  <a:extLst>
                    <a:ext uri="{9D8B030D-6E8A-4147-A177-3AD203B41FA5}">
                      <a16:colId xmlns:a16="http://schemas.microsoft.com/office/drawing/2014/main" val="2538769403"/>
                    </a:ext>
                  </a:extLst>
                </a:gridCol>
                <a:gridCol w="673826">
                  <a:extLst>
                    <a:ext uri="{9D8B030D-6E8A-4147-A177-3AD203B41FA5}">
                      <a16:colId xmlns:a16="http://schemas.microsoft.com/office/drawing/2014/main" val="1791742753"/>
                    </a:ext>
                  </a:extLst>
                </a:gridCol>
              </a:tblGrid>
              <a:tr h="370840">
                <a:tc>
                  <a:txBody>
                    <a:bodyPr/>
                    <a:lstStyle/>
                    <a:p>
                      <a:pPr algn="ctr"/>
                      <a:r>
                        <a:rPr lang="fr-FR"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CM1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dirty="0"/>
                        <a:t>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t>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fr-FR" dirty="0"/>
                        <a:t>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967402"/>
                  </a:ext>
                </a:extLst>
              </a:tr>
            </a:tbl>
          </a:graphicData>
        </a:graphic>
      </p:graphicFrame>
      <p:sp>
        <p:nvSpPr>
          <p:cNvPr id="3" name="Espace réservé du pied de page 2">
            <a:extLst>
              <a:ext uri="{FF2B5EF4-FFF2-40B4-BE49-F238E27FC236}">
                <a16:creationId xmlns:a16="http://schemas.microsoft.com/office/drawing/2014/main" id="{A9BDD8F3-D7D6-4455-40D9-9B3811EFBFF3}"/>
              </a:ext>
            </a:extLst>
          </p:cNvPr>
          <p:cNvSpPr>
            <a:spLocks noGrp="1"/>
          </p:cNvSpPr>
          <p:nvPr>
            <p:ph type="ftr" sz="quarter" idx="11"/>
          </p:nvPr>
        </p:nvSpPr>
        <p:spPr/>
        <p:txBody>
          <a:bodyPr/>
          <a:lstStyle/>
          <a:p>
            <a:r>
              <a:rPr lang="fr-FR" sz="1600" dirty="0">
                <a:solidFill>
                  <a:schemeClr val="tx1"/>
                </a:solidFill>
              </a:rPr>
              <a:t>N° Arthur PREVISANI</a:t>
            </a:r>
          </a:p>
        </p:txBody>
      </p:sp>
      <p:sp>
        <p:nvSpPr>
          <p:cNvPr id="8" name="ZoneTexte 7">
            <a:extLst>
              <a:ext uri="{FF2B5EF4-FFF2-40B4-BE49-F238E27FC236}">
                <a16:creationId xmlns:a16="http://schemas.microsoft.com/office/drawing/2014/main" id="{099D1726-A826-BB9E-673C-B5DDD3B5A975}"/>
              </a:ext>
            </a:extLst>
          </p:cNvPr>
          <p:cNvSpPr txBox="1"/>
          <p:nvPr/>
        </p:nvSpPr>
        <p:spPr>
          <a:xfrm>
            <a:off x="838200" y="1235557"/>
            <a:ext cx="9437914" cy="5539978"/>
          </a:xfrm>
          <a:prstGeom prst="rect">
            <a:avLst/>
          </a:prstGeom>
          <a:noFill/>
        </p:spPr>
        <p:txBody>
          <a:bodyPr wrap="square">
            <a:spAutoFit/>
          </a:bodyPr>
          <a:lstStyle/>
          <a:p>
            <a:r>
              <a:rPr lang="fr-FR" sz="2400" dirty="0"/>
              <a:t>Protocole expérimental d’un essai de traction:</a:t>
            </a:r>
          </a:p>
          <a:p>
            <a:r>
              <a:rPr lang="fr-FR" sz="2400" dirty="0"/>
              <a:t>Couper la tête du collier, écarter les mords de la machine d’environ 40 mm, installer le collier dans les mords, bien aligné avec la machine et au centre des mors. Serrer correctement. Fermez le capot et Régler la vitesse de déplacement a 50mm/min à l’aide de la mollette sur le pupitre. Mettre les capteurs à 0, lancer l’acquisition à l’aide du bouton feu tricolore.</a:t>
            </a:r>
          </a:p>
          <a:p>
            <a:r>
              <a:rPr lang="fr-FR" sz="2400" dirty="0"/>
              <a:t>Relevez la valeur de l’allongement, de la résistance élastique et de la résistance mécanique.</a:t>
            </a:r>
          </a:p>
          <a:p>
            <a:r>
              <a:rPr lang="fr-FR" sz="2400" dirty="0"/>
              <a:t>Refaites le même protocole pour les deux autres colliers.</a:t>
            </a:r>
          </a:p>
          <a:p>
            <a:r>
              <a:rPr lang="fr-FR" sz="2400" dirty="0"/>
              <a:t>Enfin comparez aux résultats de la simulation. </a:t>
            </a:r>
          </a:p>
          <a:p>
            <a:endParaRPr lang="fr-FR" sz="2400" dirty="0"/>
          </a:p>
          <a:p>
            <a:r>
              <a:rPr lang="fr-FR" sz="2400" dirty="0"/>
              <a:t>Problème de relativité: qu’est ce que « bien serré »?</a:t>
            </a:r>
          </a:p>
          <a:p>
            <a:r>
              <a:rPr lang="fr-FR" sz="2400" dirty="0"/>
              <a:t>Serrer à la clé dynamométrique pour montrer la relativité et garantir le bon réglage.</a:t>
            </a:r>
          </a:p>
          <a:p>
            <a:endParaRPr lang="fr-FR" dirty="0"/>
          </a:p>
        </p:txBody>
      </p:sp>
    </p:spTree>
    <p:extLst>
      <p:ext uri="{BB962C8B-B14F-4D97-AF65-F5344CB8AC3E}">
        <p14:creationId xmlns:p14="http://schemas.microsoft.com/office/powerpoint/2010/main" val="2955947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B6A07-1F88-7B6A-BCE2-2D8CA9C6154F}"/>
              </a:ext>
            </a:extLst>
          </p:cNvPr>
          <p:cNvSpPr>
            <a:spLocks noGrp="1"/>
          </p:cNvSpPr>
          <p:nvPr>
            <p:ph type="title"/>
          </p:nvPr>
        </p:nvSpPr>
        <p:spPr/>
        <p:txBody>
          <a:bodyPr/>
          <a:lstStyle/>
          <a:p>
            <a:r>
              <a:rPr lang="fr-FR" dirty="0"/>
              <a:t>Evaluations</a:t>
            </a:r>
          </a:p>
        </p:txBody>
      </p:sp>
      <p:sp>
        <p:nvSpPr>
          <p:cNvPr id="3" name="Espace réservé du contenu 2">
            <a:extLst>
              <a:ext uri="{FF2B5EF4-FFF2-40B4-BE49-F238E27FC236}">
                <a16:creationId xmlns:a16="http://schemas.microsoft.com/office/drawing/2014/main" id="{E82A5177-4F47-C4BB-B597-5B0421810A7E}"/>
              </a:ext>
            </a:extLst>
          </p:cNvPr>
          <p:cNvSpPr>
            <a:spLocks noGrp="1"/>
          </p:cNvSpPr>
          <p:nvPr>
            <p:ph idx="1"/>
          </p:nvPr>
        </p:nvSpPr>
        <p:spPr>
          <a:xfrm>
            <a:off x="838199" y="1492946"/>
            <a:ext cx="10918371" cy="5365054"/>
          </a:xfrm>
        </p:spPr>
        <p:txBody>
          <a:bodyPr>
            <a:normAutofit/>
          </a:bodyPr>
          <a:lstStyle/>
          <a:p>
            <a:r>
              <a:rPr lang="fr-FR" sz="2400" dirty="0"/>
              <a:t>Evaluation formative:</a:t>
            </a:r>
          </a:p>
          <a:p>
            <a:pPr marL="0" indent="0">
              <a:buNone/>
            </a:pPr>
            <a:r>
              <a:rPr lang="fr-FR" sz="2400" dirty="0"/>
              <a:t>	Quizz au TD2 sur la mesure des caractéristiques d’un matériau </a:t>
            </a:r>
          </a:p>
          <a:p>
            <a:r>
              <a:rPr lang="fr-FR" sz="2400" dirty="0"/>
              <a:t>Evaluation sommative</a:t>
            </a:r>
          </a:p>
          <a:p>
            <a:pPr marL="0" indent="0">
              <a:buNone/>
            </a:pPr>
            <a:r>
              <a:rPr lang="fr-FR" sz="2400" dirty="0"/>
              <a:t>	Remplissage d’un document réponse lors du TP3 et 4 sur les comparaisons de 	la résistance mécanique entre différentes marques de collier de serrage avec 	l’oral à la fin</a:t>
            </a:r>
          </a:p>
          <a:p>
            <a:pPr marL="0" indent="0">
              <a:buNone/>
            </a:pPr>
            <a:r>
              <a:rPr lang="fr-FR" dirty="0"/>
              <a:t>		</a:t>
            </a:r>
            <a:r>
              <a:rPr lang="fr-FR" sz="2000" dirty="0"/>
              <a:t>CO7.6. Expérimenter, </a:t>
            </a:r>
          </a:p>
          <a:p>
            <a:pPr marL="0" indent="0">
              <a:buNone/>
            </a:pPr>
            <a:r>
              <a:rPr lang="fr-FR" sz="2000" dirty="0"/>
              <a:t>		CO6.3. Évaluer un écart réel/simulation</a:t>
            </a:r>
          </a:p>
          <a:p>
            <a:pPr marL="0" indent="0">
              <a:buNone/>
            </a:pPr>
            <a:r>
              <a:rPr lang="fr-FR" dirty="0"/>
              <a:t>	</a:t>
            </a:r>
            <a:r>
              <a:rPr lang="fr-FR" sz="2400" dirty="0"/>
              <a:t>Evaluation sur table d’1H sur une partie des compétences attendues: </a:t>
            </a:r>
          </a:p>
          <a:p>
            <a:pPr marL="0" indent="0">
              <a:buNone/>
            </a:pPr>
            <a:r>
              <a:rPr lang="fr-FR" sz="2400" dirty="0"/>
              <a:t>		</a:t>
            </a:r>
            <a:r>
              <a:rPr lang="fr-FR" sz="2000" dirty="0"/>
              <a:t> CO6.3. Évaluer un écart réel/simulation. </a:t>
            </a:r>
            <a:endParaRPr lang="fr-FR" sz="2400" dirty="0"/>
          </a:p>
        </p:txBody>
      </p:sp>
      <p:sp>
        <p:nvSpPr>
          <p:cNvPr id="4" name="Espace réservé du numéro de diapositive 3">
            <a:extLst>
              <a:ext uri="{FF2B5EF4-FFF2-40B4-BE49-F238E27FC236}">
                <a16:creationId xmlns:a16="http://schemas.microsoft.com/office/drawing/2014/main" id="{BD759126-8373-3231-935F-6340F7DB4FB7}"/>
              </a:ext>
            </a:extLst>
          </p:cNvPr>
          <p:cNvSpPr>
            <a:spLocks noGrp="1"/>
          </p:cNvSpPr>
          <p:nvPr>
            <p:ph type="sldNum" sz="quarter" idx="12"/>
          </p:nvPr>
        </p:nvSpPr>
        <p:spPr/>
        <p:txBody>
          <a:bodyPr/>
          <a:lstStyle/>
          <a:p>
            <a:fld id="{201A5C1E-DE71-4D99-BC1E-739595F062E0}" type="slidenum">
              <a:rPr lang="fr-FR" sz="2000" smtClean="0"/>
              <a:t>20</a:t>
            </a:fld>
            <a:r>
              <a:rPr lang="fr-FR" sz="2000" dirty="0"/>
              <a:t>/21</a:t>
            </a:r>
          </a:p>
        </p:txBody>
      </p:sp>
      <p:sp>
        <p:nvSpPr>
          <p:cNvPr id="5" name="Espace réservé du pied de page 4">
            <a:extLst>
              <a:ext uri="{FF2B5EF4-FFF2-40B4-BE49-F238E27FC236}">
                <a16:creationId xmlns:a16="http://schemas.microsoft.com/office/drawing/2014/main" id="{D182F4FE-3C40-5DA5-0267-175776118DCC}"/>
              </a:ext>
            </a:extLst>
          </p:cNvPr>
          <p:cNvSpPr>
            <a:spLocks noGrp="1"/>
          </p:cNvSpPr>
          <p:nvPr>
            <p:ph type="ftr" sz="quarter" idx="11"/>
          </p:nvPr>
        </p:nvSpPr>
        <p:spPr>
          <a:xfrm>
            <a:off x="4038600" y="6462939"/>
            <a:ext cx="4114800" cy="365125"/>
          </a:xfrm>
        </p:spPr>
        <p:txBody>
          <a:bodyPr/>
          <a:lstStyle/>
          <a:p>
            <a:r>
              <a:rPr lang="fr-FR" sz="1600" dirty="0">
                <a:solidFill>
                  <a:schemeClr val="tx1"/>
                </a:solidFill>
              </a:rPr>
              <a:t>N° Arthur PREVISANI</a:t>
            </a:r>
          </a:p>
        </p:txBody>
      </p:sp>
    </p:spTree>
    <p:extLst>
      <p:ext uri="{BB962C8B-B14F-4D97-AF65-F5344CB8AC3E}">
        <p14:creationId xmlns:p14="http://schemas.microsoft.com/office/powerpoint/2010/main" val="1262361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E73848-1DDC-C86D-4897-50BA36860424}"/>
              </a:ext>
            </a:extLst>
          </p:cNvPr>
          <p:cNvSpPr>
            <a:spLocks noGrp="1"/>
          </p:cNvSpPr>
          <p:nvPr>
            <p:ph type="title"/>
          </p:nvPr>
        </p:nvSpPr>
        <p:spPr/>
        <p:txBody>
          <a:bodyPr/>
          <a:lstStyle/>
          <a:p>
            <a:r>
              <a:rPr lang="fr-FR" dirty="0"/>
              <a:t>Conclusion de la séquence</a:t>
            </a:r>
          </a:p>
        </p:txBody>
      </p:sp>
      <p:sp>
        <p:nvSpPr>
          <p:cNvPr id="4" name="Espace réservé du numéro de diapositive 3">
            <a:extLst>
              <a:ext uri="{FF2B5EF4-FFF2-40B4-BE49-F238E27FC236}">
                <a16:creationId xmlns:a16="http://schemas.microsoft.com/office/drawing/2014/main" id="{8937FC83-8E1F-123D-5446-A6D19C5AB040}"/>
              </a:ext>
            </a:extLst>
          </p:cNvPr>
          <p:cNvSpPr>
            <a:spLocks noGrp="1"/>
          </p:cNvSpPr>
          <p:nvPr>
            <p:ph type="sldNum" sz="quarter" idx="12"/>
          </p:nvPr>
        </p:nvSpPr>
        <p:spPr/>
        <p:txBody>
          <a:bodyPr/>
          <a:lstStyle/>
          <a:p>
            <a:fld id="{201A5C1E-DE71-4D99-BC1E-739595F062E0}" type="slidenum">
              <a:rPr lang="fr-FR" sz="2000" smtClean="0"/>
              <a:t>21</a:t>
            </a:fld>
            <a:r>
              <a:rPr lang="fr-FR" sz="2000" dirty="0"/>
              <a:t>/21</a:t>
            </a:r>
            <a:endParaRPr lang="fr-FR" dirty="0"/>
          </a:p>
        </p:txBody>
      </p:sp>
      <p:sp>
        <p:nvSpPr>
          <p:cNvPr id="9" name="Espace réservé du pied de page 8">
            <a:extLst>
              <a:ext uri="{FF2B5EF4-FFF2-40B4-BE49-F238E27FC236}">
                <a16:creationId xmlns:a16="http://schemas.microsoft.com/office/drawing/2014/main" id="{3A58C7D3-A1E5-3549-4086-21825BCDCCCA}"/>
              </a:ext>
            </a:extLst>
          </p:cNvPr>
          <p:cNvSpPr>
            <a:spLocks noGrp="1"/>
          </p:cNvSpPr>
          <p:nvPr>
            <p:ph type="ftr" sz="quarter" idx="11"/>
          </p:nvPr>
        </p:nvSpPr>
        <p:spPr>
          <a:xfrm>
            <a:off x="4038599" y="6492875"/>
            <a:ext cx="4114800" cy="365125"/>
          </a:xfrm>
        </p:spPr>
        <p:txBody>
          <a:bodyPr/>
          <a:lstStyle/>
          <a:p>
            <a:r>
              <a:rPr lang="fr-FR" sz="1600" dirty="0">
                <a:solidFill>
                  <a:schemeClr val="tx1"/>
                </a:solidFill>
              </a:rPr>
              <a:t>N° Arthur PREVISANI</a:t>
            </a:r>
          </a:p>
        </p:txBody>
      </p:sp>
      <p:graphicFrame>
        <p:nvGraphicFramePr>
          <p:cNvPr id="10" name="Tableau 9">
            <a:extLst>
              <a:ext uri="{FF2B5EF4-FFF2-40B4-BE49-F238E27FC236}">
                <a16:creationId xmlns:a16="http://schemas.microsoft.com/office/drawing/2014/main" id="{38647AC5-F87E-308F-E144-56EBAF8CB54F}"/>
              </a:ext>
            </a:extLst>
          </p:cNvPr>
          <p:cNvGraphicFramePr>
            <a:graphicFrameLocks noGrp="1"/>
          </p:cNvGraphicFramePr>
          <p:nvPr>
            <p:extLst>
              <p:ext uri="{D42A27DB-BD31-4B8C-83A1-F6EECF244321}">
                <p14:modId xmlns:p14="http://schemas.microsoft.com/office/powerpoint/2010/main" val="578877332"/>
              </p:ext>
            </p:extLst>
          </p:nvPr>
        </p:nvGraphicFramePr>
        <p:xfrm>
          <a:off x="631371" y="1981715"/>
          <a:ext cx="10383764" cy="3474720"/>
        </p:xfrm>
        <a:graphic>
          <a:graphicData uri="http://schemas.openxmlformats.org/drawingml/2006/table">
            <a:tbl>
              <a:tblPr firstRow="1" bandRow="1">
                <a:tableStyleId>{2D5ABB26-0587-4C30-8999-92F81FD0307C}</a:tableStyleId>
              </a:tblPr>
              <a:tblGrid>
                <a:gridCol w="1516743">
                  <a:extLst>
                    <a:ext uri="{9D8B030D-6E8A-4147-A177-3AD203B41FA5}">
                      <a16:colId xmlns:a16="http://schemas.microsoft.com/office/drawing/2014/main" val="510414834"/>
                    </a:ext>
                  </a:extLst>
                </a:gridCol>
                <a:gridCol w="1814286">
                  <a:extLst>
                    <a:ext uri="{9D8B030D-6E8A-4147-A177-3AD203B41FA5}">
                      <a16:colId xmlns:a16="http://schemas.microsoft.com/office/drawing/2014/main" val="477646523"/>
                    </a:ext>
                  </a:extLst>
                </a:gridCol>
                <a:gridCol w="1712686">
                  <a:extLst>
                    <a:ext uri="{9D8B030D-6E8A-4147-A177-3AD203B41FA5}">
                      <a16:colId xmlns:a16="http://schemas.microsoft.com/office/drawing/2014/main" val="2362536329"/>
                    </a:ext>
                  </a:extLst>
                </a:gridCol>
                <a:gridCol w="2206171">
                  <a:extLst>
                    <a:ext uri="{9D8B030D-6E8A-4147-A177-3AD203B41FA5}">
                      <a16:colId xmlns:a16="http://schemas.microsoft.com/office/drawing/2014/main" val="1517061753"/>
                    </a:ext>
                  </a:extLst>
                </a:gridCol>
                <a:gridCol w="1727200">
                  <a:extLst>
                    <a:ext uri="{9D8B030D-6E8A-4147-A177-3AD203B41FA5}">
                      <a16:colId xmlns:a16="http://schemas.microsoft.com/office/drawing/2014/main" val="3565309784"/>
                    </a:ext>
                  </a:extLst>
                </a:gridCol>
                <a:gridCol w="1406678">
                  <a:extLst>
                    <a:ext uri="{9D8B030D-6E8A-4147-A177-3AD203B41FA5}">
                      <a16:colId xmlns:a16="http://schemas.microsoft.com/office/drawing/2014/main" val="4233430214"/>
                    </a:ext>
                  </a:extLst>
                </a:gridCol>
              </a:tblGrid>
              <a:tr h="589981">
                <a:tc>
                  <a:txBody>
                    <a:bodyPr/>
                    <a:lstStyle/>
                    <a:p>
                      <a:pPr algn="ctr"/>
                      <a:r>
                        <a:rPr lang="fr-FR" sz="2400" b="0" dirty="0"/>
                        <a:t>Semaine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 1 </a:t>
                      </a:r>
                    </a:p>
                    <a:p>
                      <a:pPr algn="ctr"/>
                      <a:r>
                        <a:rPr lang="fr-FR" sz="2400" dirty="0"/>
                        <a:t>Introduction concept de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TP1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Découverte Re, </a:t>
                      </a:r>
                      <a:r>
                        <a:rPr lang="fr-FR" sz="2400" dirty="0" err="1"/>
                        <a:t>Rm</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TD1 </a:t>
                      </a:r>
                    </a:p>
                    <a:p>
                      <a:pPr algn="ctr"/>
                      <a:r>
                        <a:rPr lang="fr-FR" sz="2400" dirty="0"/>
                        <a:t>Quizz</a:t>
                      </a:r>
                    </a:p>
                    <a:p>
                      <a:pPr algn="ctr"/>
                      <a:r>
                        <a:rPr lang="fr-FR" sz="2400" dirty="0"/>
                        <a:t>Essai normalisé </a:t>
                      </a:r>
                    </a:p>
                    <a:p>
                      <a:pPr algn="ctr"/>
                      <a:r>
                        <a:rPr lang="fr-FR" sz="2400" dirty="0"/>
                        <a:t>caractéristiques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TP2</a:t>
                      </a:r>
                    </a:p>
                    <a:p>
                      <a:pPr algn="ctr"/>
                      <a:r>
                        <a:rPr lang="fr-FR" sz="2400" dirty="0"/>
                        <a:t>Lien matériau résistance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TP3</a:t>
                      </a:r>
                    </a:p>
                    <a:p>
                      <a:pPr algn="ctr"/>
                      <a:r>
                        <a:rPr lang="fr-FR" sz="2400" dirty="0"/>
                        <a:t>Suite + oral et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558022"/>
                  </a:ext>
                </a:extLst>
              </a:tr>
              <a:tr h="0">
                <a:tc>
                  <a:txBody>
                    <a:bodyPr/>
                    <a:lstStyle/>
                    <a:p>
                      <a:pPr algn="ctr"/>
                      <a:r>
                        <a:rPr lang="fr-FR" sz="2400" b="0" dirty="0"/>
                        <a:t>Semaine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Cours2</a:t>
                      </a:r>
                    </a:p>
                    <a:p>
                      <a:pPr algn="ctr"/>
                      <a:r>
                        <a:rPr lang="fr-FR" sz="2400" dirty="0"/>
                        <a:t>Sollicitations: traction, flexion,…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TP4</a:t>
                      </a:r>
                    </a:p>
                    <a:p>
                      <a:pPr algn="ctr"/>
                      <a:r>
                        <a:rPr lang="fr-FR" sz="2400" dirty="0"/>
                        <a:t>Découverte rigidité, module d’Young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TD2 comparaison essais réels et simulations, remédiation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TP5</a:t>
                      </a:r>
                    </a:p>
                    <a:p>
                      <a:pPr algn="ctr"/>
                      <a:r>
                        <a:rPr lang="fr-FR" sz="2400" dirty="0"/>
                        <a:t>Lien type de chargement/ déformation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400" dirty="0"/>
                        <a:t>TD3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2400" dirty="0"/>
                        <a:t>Fin du TD + </a:t>
                      </a:r>
                      <a:r>
                        <a:rPr lang="fr-FR" sz="2400" dirty="0" err="1"/>
                        <a:t>eval</a:t>
                      </a:r>
                      <a:endParaRPr lang="fr-FR"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175682"/>
                  </a:ext>
                </a:extLst>
              </a:tr>
            </a:tbl>
          </a:graphicData>
        </a:graphic>
      </p:graphicFrame>
      <p:sp>
        <p:nvSpPr>
          <p:cNvPr id="11" name="ZoneTexte 10">
            <a:extLst>
              <a:ext uri="{FF2B5EF4-FFF2-40B4-BE49-F238E27FC236}">
                <a16:creationId xmlns:a16="http://schemas.microsoft.com/office/drawing/2014/main" id="{91E7AC75-F7F9-F988-56FE-F8E2055E422C}"/>
              </a:ext>
            </a:extLst>
          </p:cNvPr>
          <p:cNvSpPr txBox="1"/>
          <p:nvPr/>
        </p:nvSpPr>
        <p:spPr>
          <a:xfrm>
            <a:off x="838200" y="5605323"/>
            <a:ext cx="7489371" cy="461665"/>
          </a:xfrm>
          <a:prstGeom prst="rect">
            <a:avLst/>
          </a:prstGeom>
          <a:noFill/>
        </p:spPr>
        <p:txBody>
          <a:bodyPr wrap="square" rtlCol="0">
            <a:spAutoFit/>
          </a:bodyPr>
          <a:lstStyle/>
          <a:p>
            <a:r>
              <a:rPr lang="fr-FR" sz="2400" dirty="0"/>
              <a:t>1 évaluation formative, 2 sommatives</a:t>
            </a:r>
          </a:p>
        </p:txBody>
      </p:sp>
    </p:spTree>
    <p:extLst>
      <p:ext uri="{BB962C8B-B14F-4D97-AF65-F5344CB8AC3E}">
        <p14:creationId xmlns:p14="http://schemas.microsoft.com/office/powerpoint/2010/main" val="535908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969E10-8A52-BE84-71F9-CEE19A459758}"/>
              </a:ext>
            </a:extLst>
          </p:cNvPr>
          <p:cNvSpPr>
            <a:spLocks noGrp="1"/>
          </p:cNvSpPr>
          <p:nvPr>
            <p:ph type="title"/>
          </p:nvPr>
        </p:nvSpPr>
        <p:spPr/>
        <p:txBody>
          <a:bodyPr/>
          <a:lstStyle/>
          <a:p>
            <a:r>
              <a:rPr lang="fr-FR" dirty="0"/>
              <a:t>Partie 1.4</a:t>
            </a:r>
          </a:p>
        </p:txBody>
      </p:sp>
      <p:sp>
        <p:nvSpPr>
          <p:cNvPr id="3" name="Espace réservé du contenu 2">
            <a:extLst>
              <a:ext uri="{FF2B5EF4-FFF2-40B4-BE49-F238E27FC236}">
                <a16:creationId xmlns:a16="http://schemas.microsoft.com/office/drawing/2014/main" id="{56502267-B310-52D4-8F4B-1F794E4E87DC}"/>
              </a:ext>
            </a:extLst>
          </p:cNvPr>
          <p:cNvSpPr>
            <a:spLocks noGrp="1"/>
          </p:cNvSpPr>
          <p:nvPr>
            <p:ph idx="1"/>
          </p:nvPr>
        </p:nvSpPr>
        <p:spPr/>
        <p:txBody>
          <a:bodyPr>
            <a:normAutofit fontScale="77500" lnSpcReduction="20000"/>
          </a:bodyPr>
          <a:lstStyle/>
          <a:p>
            <a:r>
              <a:rPr lang="fr-FR" dirty="0"/>
              <a:t>O</a:t>
            </a:r>
            <a:r>
              <a:rPr lang="fr-FR" dirty="0">
                <a:solidFill>
                  <a:srgbClr val="FF0000"/>
                </a:solidFill>
              </a:rPr>
              <a:t>bj</a:t>
            </a:r>
            <a:r>
              <a:rPr lang="fr-FR" dirty="0"/>
              <a:t>ectifs: monter l’influence des différents correcteurs sur la réponse du système.</a:t>
            </a:r>
          </a:p>
          <a:p>
            <a:r>
              <a:rPr lang="fr-FR" dirty="0">
                <a:solidFill>
                  <a:srgbClr val="FF0000"/>
                </a:solidFill>
              </a:rPr>
              <a:t>Pré</a:t>
            </a:r>
            <a:r>
              <a:rPr lang="fr-FR" dirty="0"/>
              <a:t>requis: ce qu’ils devaient savoir en début de séquence + bases vues dans les deux 1ers cours sur les schémas blocs et la fonction d’un correcteur.</a:t>
            </a:r>
          </a:p>
          <a:p>
            <a:r>
              <a:rPr lang="fr-FR" dirty="0">
                <a:solidFill>
                  <a:srgbClr val="FF0000"/>
                </a:solidFill>
              </a:rPr>
              <a:t>Pla</a:t>
            </a:r>
            <a:r>
              <a:rPr lang="fr-FR" dirty="0"/>
              <a:t>cement milieu de semaine 2</a:t>
            </a:r>
          </a:p>
          <a:p>
            <a:r>
              <a:rPr lang="fr-FR" dirty="0"/>
              <a:t>Problématique+ déroulé : Comment améliorer les performances d’un système</a:t>
            </a:r>
          </a:p>
          <a:p>
            <a:r>
              <a:rPr lang="fr-FR" dirty="0"/>
              <a:t>Chane Energie info et but </a:t>
            </a:r>
            <a:r>
              <a:rPr lang="fr-FR" dirty="0" err="1"/>
              <a:t>tp</a:t>
            </a:r>
            <a:r>
              <a:rPr lang="fr-FR" dirty="0"/>
              <a:t> compléter le tableau des performances des différents correcteurs par comparaison de ce ci sur les trics habituels stabilité rapidité précision</a:t>
            </a:r>
          </a:p>
          <a:p>
            <a:r>
              <a:rPr lang="fr-FR" dirty="0"/>
              <a:t>Organisation en demi groupe ( donc 18 élèves) sur une séance de deux heures de TP si on a 7 systèmes cela fait ici 7+1=8 </a:t>
            </a:r>
            <a:r>
              <a:rPr lang="fr-FR" dirty="0" err="1"/>
              <a:t>sys</a:t>
            </a:r>
            <a:r>
              <a:rPr lang="fr-FR" dirty="0"/>
              <a:t> dispo donc 6*3 élèves</a:t>
            </a:r>
          </a:p>
          <a:p>
            <a:r>
              <a:rPr lang="fr-FR" dirty="0"/>
              <a:t>Tous les supports de </a:t>
            </a:r>
            <a:r>
              <a:rPr lang="fr-FR" dirty="0" err="1"/>
              <a:t>TPs</a:t>
            </a:r>
            <a:r>
              <a:rPr lang="fr-FR" dirty="0"/>
              <a:t> présents dans la salle sont compatibles avec le même TP car tous ont un correcteur =&gt; </a:t>
            </a:r>
            <a:r>
              <a:rPr lang="fr-FR" dirty="0" err="1"/>
              <a:t>mme</a:t>
            </a:r>
            <a:r>
              <a:rPr lang="fr-FR" dirty="0"/>
              <a:t> sujet </a:t>
            </a:r>
            <a:r>
              <a:rPr lang="fr-FR" dirty="0" err="1"/>
              <a:t>pr</a:t>
            </a:r>
            <a:r>
              <a:rPr lang="fr-FR" dirty="0"/>
              <a:t> chaque </a:t>
            </a:r>
            <a:r>
              <a:rPr lang="fr-FR" dirty="0" err="1"/>
              <a:t>grpe</a:t>
            </a:r>
            <a:endParaRPr lang="fr-FR" dirty="0"/>
          </a:p>
          <a:p>
            <a:r>
              <a:rPr lang="fr-FR" dirty="0"/>
              <a:t>Le sujet donne les différentes manips a faire et les gains correcteurs associées</a:t>
            </a:r>
          </a:p>
          <a:p>
            <a:endParaRPr lang="fr-FR" dirty="0"/>
          </a:p>
        </p:txBody>
      </p:sp>
      <p:sp>
        <p:nvSpPr>
          <p:cNvPr id="5" name="Espace réservé du numéro de diapositive 4">
            <a:extLst>
              <a:ext uri="{FF2B5EF4-FFF2-40B4-BE49-F238E27FC236}">
                <a16:creationId xmlns:a16="http://schemas.microsoft.com/office/drawing/2014/main" id="{4F3C85C8-1ADD-A891-8BC4-E06B3C023D12}"/>
              </a:ext>
            </a:extLst>
          </p:cNvPr>
          <p:cNvSpPr>
            <a:spLocks noGrp="1"/>
          </p:cNvSpPr>
          <p:nvPr>
            <p:ph type="sldNum" sz="quarter" idx="12"/>
          </p:nvPr>
        </p:nvSpPr>
        <p:spPr/>
        <p:txBody>
          <a:bodyPr/>
          <a:lstStyle/>
          <a:p>
            <a:fld id="{201A5C1E-DE71-4D99-BC1E-739595F062E0}" type="slidenum">
              <a:rPr lang="fr-FR" sz="2000" smtClean="0"/>
              <a:t>22</a:t>
            </a:fld>
            <a:endParaRPr lang="fr-FR" dirty="0"/>
          </a:p>
        </p:txBody>
      </p:sp>
      <p:sp>
        <p:nvSpPr>
          <p:cNvPr id="4" name="Espace réservé du pied de page 3">
            <a:extLst>
              <a:ext uri="{FF2B5EF4-FFF2-40B4-BE49-F238E27FC236}">
                <a16:creationId xmlns:a16="http://schemas.microsoft.com/office/drawing/2014/main" id="{F049D889-9A16-3C27-FD11-E4112D75D56C}"/>
              </a:ext>
            </a:extLst>
          </p:cNvPr>
          <p:cNvSpPr>
            <a:spLocks noGrp="1"/>
          </p:cNvSpPr>
          <p:nvPr>
            <p:ph type="ftr" sz="quarter" idx="11"/>
          </p:nvPr>
        </p:nvSpPr>
        <p:spPr/>
        <p:txBody>
          <a:bodyPr/>
          <a:lstStyle/>
          <a:p>
            <a:r>
              <a:rPr lang="fr-FR"/>
              <a:t>N° Arthur PREVISANI</a:t>
            </a:r>
          </a:p>
        </p:txBody>
      </p:sp>
    </p:spTree>
    <p:extLst>
      <p:ext uri="{BB962C8B-B14F-4D97-AF65-F5344CB8AC3E}">
        <p14:creationId xmlns:p14="http://schemas.microsoft.com/office/powerpoint/2010/main" val="1119908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12493E-5A77-5443-E5F8-E25B74772BC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0A3C46A-A7E0-DAC9-2E32-4F60AC37358A}"/>
              </a:ext>
            </a:extLst>
          </p:cNvPr>
          <p:cNvSpPr>
            <a:spLocks noGrp="1"/>
          </p:cNvSpPr>
          <p:nvPr>
            <p:ph idx="1"/>
          </p:nvPr>
        </p:nvSpPr>
        <p:spPr/>
        <p:txBody>
          <a:bodyPr/>
          <a:lstStyle/>
          <a:p>
            <a:r>
              <a:rPr lang="fr-FR" dirty="0"/>
              <a:t>Faire mesure avec tels valeurs qq constatez vous remplir un tableau pour chaque valeur puis a la fin faire tableau récapitulatif</a:t>
            </a:r>
          </a:p>
          <a:p>
            <a:r>
              <a:rPr lang="fr-FR" dirty="0"/>
              <a:t>Mesurer tr 5% es et oscillation </a:t>
            </a:r>
          </a:p>
          <a:p>
            <a:r>
              <a:rPr lang="fr-FR" dirty="0"/>
              <a:t>Aller plus vers l’écran du projecteur: être dynamique</a:t>
            </a:r>
          </a:p>
          <a:p>
            <a:r>
              <a:rPr lang="fr-FR" dirty="0"/>
              <a:t>Pourquoi pas écrire au tableau</a:t>
            </a:r>
          </a:p>
          <a:p>
            <a:r>
              <a:rPr lang="fr-FR" dirty="0"/>
              <a:t>Faire le trace pour la mesure du temps de réponse</a:t>
            </a:r>
          </a:p>
          <a:p>
            <a:r>
              <a:rPr lang="fr-FR" dirty="0"/>
              <a:t>Point clé attention lien BO connaissances compétences illustrer</a:t>
            </a:r>
          </a:p>
        </p:txBody>
      </p:sp>
      <p:sp>
        <p:nvSpPr>
          <p:cNvPr id="5" name="Espace réservé du numéro de diapositive 4">
            <a:extLst>
              <a:ext uri="{FF2B5EF4-FFF2-40B4-BE49-F238E27FC236}">
                <a16:creationId xmlns:a16="http://schemas.microsoft.com/office/drawing/2014/main" id="{564B285A-8FBC-444E-FD0B-ED0DD93920EC}"/>
              </a:ext>
            </a:extLst>
          </p:cNvPr>
          <p:cNvSpPr>
            <a:spLocks noGrp="1"/>
          </p:cNvSpPr>
          <p:nvPr>
            <p:ph type="sldNum" sz="quarter" idx="12"/>
          </p:nvPr>
        </p:nvSpPr>
        <p:spPr/>
        <p:txBody>
          <a:bodyPr/>
          <a:lstStyle/>
          <a:p>
            <a:fld id="{201A5C1E-DE71-4D99-BC1E-739595F062E0}" type="slidenum">
              <a:rPr lang="fr-FR" sz="2000" smtClean="0"/>
              <a:t>23</a:t>
            </a:fld>
            <a:endParaRPr lang="fr-FR" dirty="0"/>
          </a:p>
        </p:txBody>
      </p:sp>
      <p:sp>
        <p:nvSpPr>
          <p:cNvPr id="7" name="Rectangle 6">
            <a:extLst>
              <a:ext uri="{FF2B5EF4-FFF2-40B4-BE49-F238E27FC236}">
                <a16:creationId xmlns:a16="http://schemas.microsoft.com/office/drawing/2014/main" id="{1D96F342-07BE-38AB-9C4B-E6D8542FB1C8}"/>
              </a:ext>
            </a:extLst>
          </p:cNvPr>
          <p:cNvSpPr/>
          <p:nvPr/>
        </p:nvSpPr>
        <p:spPr>
          <a:xfrm>
            <a:off x="2361844" y="5835142"/>
            <a:ext cx="965437" cy="521208"/>
          </a:xfrm>
          <a:prstGeom prst="rect">
            <a:avLst/>
          </a:prstGeom>
          <a:solidFill>
            <a:srgbClr val="FFEBB9"/>
          </a:solidFill>
          <a:ln>
            <a:solidFill>
              <a:srgbClr val="FFEB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E58AD993-A170-31EC-A6B8-B28D5DFCC69D}"/>
              </a:ext>
            </a:extLst>
          </p:cNvPr>
          <p:cNvCxnSpPr>
            <a:cxnSpLocks/>
          </p:cNvCxnSpPr>
          <p:nvPr/>
        </p:nvCxnSpPr>
        <p:spPr>
          <a:xfrm>
            <a:off x="3232031" y="4339971"/>
            <a:ext cx="190500" cy="0"/>
          </a:xfrm>
          <a:prstGeom prst="line">
            <a:avLst/>
          </a:prstGeom>
          <a:ln w="57150"/>
        </p:spPr>
        <p:style>
          <a:lnRef idx="3">
            <a:schemeClr val="dk1"/>
          </a:lnRef>
          <a:fillRef idx="0">
            <a:schemeClr val="dk1"/>
          </a:fillRef>
          <a:effectRef idx="2">
            <a:schemeClr val="dk1"/>
          </a:effectRef>
          <a:fontRef idx="minor">
            <a:schemeClr val="tx1"/>
          </a:fontRef>
        </p:style>
      </p:cxnSp>
      <p:sp>
        <p:nvSpPr>
          <p:cNvPr id="4" name="Espace réservé du pied de page 3">
            <a:extLst>
              <a:ext uri="{FF2B5EF4-FFF2-40B4-BE49-F238E27FC236}">
                <a16:creationId xmlns:a16="http://schemas.microsoft.com/office/drawing/2014/main" id="{C6A73CAF-AA8F-8A5D-163A-8884BA206765}"/>
              </a:ext>
            </a:extLst>
          </p:cNvPr>
          <p:cNvSpPr>
            <a:spLocks noGrp="1"/>
          </p:cNvSpPr>
          <p:nvPr>
            <p:ph type="ftr" sz="quarter" idx="11"/>
          </p:nvPr>
        </p:nvSpPr>
        <p:spPr/>
        <p:txBody>
          <a:bodyPr/>
          <a:lstStyle/>
          <a:p>
            <a:r>
              <a:rPr lang="fr-FR"/>
              <a:t>N° Arthur PREVISANI</a:t>
            </a:r>
          </a:p>
        </p:txBody>
      </p:sp>
    </p:spTree>
    <p:extLst>
      <p:ext uri="{BB962C8B-B14F-4D97-AF65-F5344CB8AC3E}">
        <p14:creationId xmlns:p14="http://schemas.microsoft.com/office/powerpoint/2010/main" val="41466008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2974</Words>
  <Application>Microsoft Office PowerPoint</Application>
  <PresentationFormat>Grand écran</PresentationFormat>
  <Paragraphs>468</Paragraphs>
  <Slides>23</Slides>
  <Notes>21</Notes>
  <HiddenSlides>2</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vt:i4>
      </vt:variant>
    </vt:vector>
  </HeadingPairs>
  <TitlesOfParts>
    <vt:vector size="27" baseType="lpstr">
      <vt:lpstr>Arial</vt:lpstr>
      <vt:lpstr>Calibri</vt:lpstr>
      <vt:lpstr>Calibri Light</vt:lpstr>
      <vt:lpstr>Thème Office</vt:lpstr>
      <vt:lpstr>Epreuve d’activité pratique et d’exploitation pédagogique relatives à l’approche spécialisée d’un système pluri technologique</vt:lpstr>
      <vt:lpstr>Sommaire</vt:lpstr>
      <vt:lpstr>Présentation de la machine de traction</vt:lpstr>
      <vt:lpstr>Logiciel</vt:lpstr>
      <vt:lpstr>Résultats du TP: contexte</vt:lpstr>
      <vt:lpstr>Résultats du TP: Matériau</vt:lpstr>
      <vt:lpstr>Résultats du TP: Qualification</vt:lpstr>
      <vt:lpstr>Résultats du TP: Mesures</vt:lpstr>
      <vt:lpstr>Contexte pédagogique</vt:lpstr>
      <vt:lpstr>Progression annuelle</vt:lpstr>
      <vt:lpstr>Organisation de la séquence 4</vt:lpstr>
      <vt:lpstr>Compétences/savoir faire à transmettre</vt:lpstr>
      <vt:lpstr>Cours 1 2h</vt:lpstr>
      <vt:lpstr>TD1 2h</vt:lpstr>
      <vt:lpstr>TP3 2h</vt:lpstr>
      <vt:lpstr>TD2 2h</vt:lpstr>
      <vt:lpstr>Présentation PowerPoint</vt:lpstr>
      <vt:lpstr>Présentation PowerPoint</vt:lpstr>
      <vt:lpstr>Présentation PowerPoint</vt:lpstr>
      <vt:lpstr>Evaluations</vt:lpstr>
      <vt:lpstr>Conclusion de la séquence</vt:lpstr>
      <vt:lpstr>Partie 1.4</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Previsani Arthur</dc:creator>
  <cp:lastModifiedBy>Hugues Brice</cp:lastModifiedBy>
  <cp:revision>22</cp:revision>
  <dcterms:created xsi:type="dcterms:W3CDTF">2026-03-05T13:15:03Z</dcterms:created>
  <dcterms:modified xsi:type="dcterms:W3CDTF">2026-06-07T11:58:55Z</dcterms:modified>
</cp:coreProperties>
</file>