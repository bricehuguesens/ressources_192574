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62" r:id="rId5"/>
    <p:sldId id="263" r:id="rId6"/>
    <p:sldId id="259" r:id="rId7"/>
    <p:sldId id="287" r:id="rId8"/>
    <p:sldId id="288" r:id="rId9"/>
    <p:sldId id="289" r:id="rId10"/>
    <p:sldId id="265" r:id="rId11"/>
    <p:sldId id="268" r:id="rId12"/>
    <p:sldId id="271" r:id="rId13"/>
    <p:sldId id="273" r:id="rId14"/>
    <p:sldId id="272" r:id="rId15"/>
    <p:sldId id="264" r:id="rId16"/>
    <p:sldId id="266" r:id="rId17"/>
    <p:sldId id="267" r:id="rId18"/>
    <p:sldId id="276" r:id="rId19"/>
    <p:sldId id="277" r:id="rId20"/>
    <p:sldId id="278" r:id="rId21"/>
    <p:sldId id="279" r:id="rId22"/>
    <p:sldId id="281" r:id="rId23"/>
    <p:sldId id="284" r:id="rId24"/>
    <p:sldId id="285" r:id="rId25"/>
    <p:sldId id="282" r:id="rId26"/>
    <p:sldId id="280" r:id="rId2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F356D7-FDE4-4CBF-95AA-9BE48B9CBEB0}" type="datetimeFigureOut">
              <a:rPr lang="fr-FR" smtClean="0"/>
              <a:t>12/03/2026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FEF385-5DDB-4FAB-84A3-837995CE5DB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0521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02C61-2C62-667A-1A0E-8621BCD0E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841D7FB-E014-4805-00AD-850F008525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365FE27-2686-AF08-CD98-1FE295E3C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60E9886-D5F8-F8ED-FAA2-3085B40DC9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FEF385-5DDB-4FAB-84A3-837995CE5DB2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56785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1D0A4-6098-5396-E79F-0781DB102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77A539F-58E8-9CF1-2387-85329EE42E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6FCAE48-C9D0-8265-FF91-720EB545EA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5F6A001-9622-E969-CD31-31A9787203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FEF385-5DDB-4FAB-84A3-837995CE5DB2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15309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584CA-840D-8206-8360-0B508F680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CC061CA-23D7-F326-AD06-00C33D79CC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67182F8-4423-445F-4381-272EAF8766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2D44B37-A2B4-3092-A4F7-C3B27ED524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FEF385-5DDB-4FAB-84A3-837995CE5DB2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79865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F9EDD4-598F-BE6D-FC51-EAD296761D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A8A343A-890A-668B-1071-9FB7BBC66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F2AC943-4C4D-2BB7-9CC7-EF0F8BFB9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20399-12D9-4DFE-83CC-BA7F00E4B5CC}" type="datetime1">
              <a:rPr lang="fr-FR" smtClean="0"/>
              <a:t>12/03/2026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80D00A5-ABDF-8024-2312-92D489129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A250CBA-F708-AD1F-0096-1BF37AECD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4732-A3D1-4FE6-9CDE-A1BE3A82EB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9363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A56ECC-031E-81E6-C2BA-4E3B6C5A4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684D98-2FA5-B12A-E4C8-BDB8557A23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DAB8A44-1A27-F6A8-F912-26543C5B1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021D5-3D95-4669-9B0D-5CE9C642C5F6}" type="datetime1">
              <a:rPr lang="fr-FR" smtClean="0"/>
              <a:t>12/03/2026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887762C-C499-418A-93DC-2FA0D8C89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6470413-8DDC-5EBA-CC94-2C379056C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4732-A3D1-4FE6-9CDE-A1BE3A82EB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6073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3A6A9E-9973-4B29-E4E0-1953DECA9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130552C-F8D3-FE86-366A-E5ABE7EB7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63D5ABD-0094-2432-0554-D20DE0557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10CFE-FDE4-470A-94FF-3755594E9278}" type="datetime1">
              <a:rPr lang="fr-FR" smtClean="0"/>
              <a:t>12/03/2026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AE6291E-E852-557C-2712-31799B6B2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3F898B-19D5-B6BB-A095-43882D5D7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4732-A3D1-4FE6-9CDE-A1BE3A82EB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9257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7E0C4A-051B-4201-0B81-57844309E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EB56397-307C-F486-C6DA-A488CF16DD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6B5C6B4-A70D-55D2-AD72-92D0AD2433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62B8B06-6EC0-7ABF-C8D4-EA93AF65C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20A33-9F13-460F-B07F-F899D00798C1}" type="datetime1">
              <a:rPr lang="fr-FR" smtClean="0"/>
              <a:t>12/03/2026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8728BA1-C59E-E76D-77FC-3022ECAF3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27D2402-A7EB-5217-A0D2-2D08C8C86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4732-A3D1-4FE6-9CDE-A1BE3A82EB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4988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02F256-2FF6-0B9C-2B74-1369DDC2E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2815D35-8D02-DF1E-91BD-D5BCEF2257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7772ACA-6445-00E7-D16B-7071DD9E70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CACF66F-2192-B9FA-76E7-FF4601E075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35C0197-7161-3653-286D-EA93E33A34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E6B1479-FC98-9F97-CEF5-37654EC72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A1893-7821-48F7-A679-E2E94E31405F}" type="datetime1">
              <a:rPr lang="fr-FR" smtClean="0"/>
              <a:t>12/03/2026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B4379B4-769C-8C6C-6C81-EDC742E93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191C7FC-B364-6BD1-9DD0-E7536BCB4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4732-A3D1-4FE6-9CDE-A1BE3A82EB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4486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77CD87-FC70-E812-BFCF-38BE8F0E6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2364529-54CA-F967-5385-A4D992764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7507A-E223-4827-8F28-C212A7E13036}" type="datetime1">
              <a:rPr lang="fr-FR" smtClean="0"/>
              <a:t>12/03/2026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6B66687-4239-A0C5-BA21-065840D82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52CC555-6E11-47C6-40A9-803706FA4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4732-A3D1-4FE6-9CDE-A1BE3A82EB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7245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18BD6E5-1AA1-9558-08CE-064466112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E3EDD-54DC-496B-A1D6-90DA8ACD8EB7}" type="datetime1">
              <a:rPr lang="fr-FR" smtClean="0"/>
              <a:t>12/03/2026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425CEE1-5D00-9875-9835-EADD42C5B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16DFF3B-1107-2881-3412-FE3A09F85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4732-A3D1-4FE6-9CDE-A1BE3A82EB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7073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9EE16D-46E1-938E-EFA1-A8015875F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49062A9-5FA2-690C-176F-BF566D6ACF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B32AEF2-0257-0151-1497-116DC2A1CE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3905ADA-65C6-2F25-05C9-9B7927D4F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D3D9A-5C9B-46EF-B4AB-26D0327643F5}" type="datetime1">
              <a:rPr lang="fr-FR" smtClean="0"/>
              <a:t>12/03/2026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01425CB-1EC2-B403-357C-38F276102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5E3DF40-7297-FAF9-F1FA-CCBA15FF9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4732-A3D1-4FE6-9CDE-A1BE3A82EB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0762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89D7C1-F838-F6F6-E379-DCEFF99A4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84A9105-2B61-52BB-D8C8-6E3C0F7422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CD9AB8C-0C08-6A6F-17DA-3E5F2E297A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22FAA16-BAA6-B596-471C-A198691BC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75A5D-7F41-46CE-8328-E6522F804B8A}" type="datetime1">
              <a:rPr lang="fr-FR" smtClean="0"/>
              <a:t>12/03/2026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1D39E51-9F01-E52F-2DEF-B1ADAA296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A64EA06-AB5C-2918-967F-2B9A825D6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4732-A3D1-4FE6-9CDE-A1BE3A82EB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7083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BC0225-5578-B763-8BD7-99E641E38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1C83D53-7E68-3831-2DA6-B9D9AF57F6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F8AABF1-5EFB-21ED-0438-876A5895E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7E3BA-2057-43EC-AE86-0CCF54AC029E}" type="datetime1">
              <a:rPr lang="fr-FR" smtClean="0"/>
              <a:t>12/03/2026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7A3E3FF-7CDA-D29C-CC75-8E3F5076D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8EB2220-2A61-DCB8-A028-2DC6D4B4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4732-A3D1-4FE6-9CDE-A1BE3A82EB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4126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DA719AB-3135-88AB-D916-798407EB81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046B695-9B88-7573-BDA7-9E4988254F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B719276-7683-0B57-881A-810B68556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F7AE5-BC49-4114-B04E-3092075E2030}" type="datetime1">
              <a:rPr lang="fr-FR" smtClean="0"/>
              <a:t>12/03/2026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D35DAE-F431-86DE-788C-CAA1DEA9A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6441829-C9E5-0D2E-DD82-167C9C3C1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4732-A3D1-4FE6-9CDE-A1BE3A82EB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383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A3A1EC1-D66C-7C89-9BB5-1E0DC75A4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4B0B426-419F-6EFE-9EE1-B35614490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57F574E-B11F-33AA-FC13-2B334C64B3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70B30F-8D8D-48C6-9DD9-74D95A609046}" type="datetime1">
              <a:rPr lang="fr-FR" smtClean="0"/>
              <a:t>12/03/2026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E1884C8-FFE7-F8E2-5D73-F0D9BC015A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D9F48A6-FE4E-BF63-31C6-ED7FBDECDE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2C4732-A3D1-4FE6-9CDE-A1BE3A82EB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485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556198-322C-2210-E9FF-2B327E5A9C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29357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fr-FR" b="1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Séquence 1 MEI : « Comment décrire l’organisation d’un produit ? »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78A8C42-CA51-9922-17DE-8C4F832C0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4732-A3D1-4FE6-9CDE-A1BE3A82EBAD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5354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83BAA7-0934-0190-940F-22F87F49A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Modalités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E88382C-6FA3-B1C1-C8C5-C210C6BE88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Classe 1</a:t>
            </a:r>
            <a:r>
              <a:rPr lang="fr-FR" baseline="30000" dirty="0"/>
              <a:t>ère</a:t>
            </a:r>
            <a:r>
              <a:rPr lang="fr-FR" dirty="0"/>
              <a:t> STI2D</a:t>
            </a:r>
          </a:p>
          <a:p>
            <a:r>
              <a:rPr lang="fr-FR" dirty="0"/>
              <a:t>Durée de la séquence : 3 semaines </a:t>
            </a:r>
          </a:p>
          <a:p>
            <a:r>
              <a:rPr lang="fr-FR" u="sng" dirty="0"/>
              <a:t>9h/semaine I2D (5h classe entière / 4h demi-groupe)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24DB67E-3DD5-760F-5B32-2BBAE8167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4732-A3D1-4FE6-9CDE-A1BE3A82EBAD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8084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33E4AF-1A42-7441-7224-A053910BA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Objectifs de la séquence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EA8538C-CB8E-1FCB-D0A0-C9ADDB9EAB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CO3.1 : Identifier et caractériser les fonctions et les constituants d’un produit ainsi que ses entrées/sorties</a:t>
            </a:r>
          </a:p>
          <a:p>
            <a:r>
              <a:rPr lang="fr-FR" dirty="0"/>
              <a:t>CO3.2 : Identifier et caractériser l’agencement matériel et/ou logiciel d’un produit.</a:t>
            </a:r>
          </a:p>
          <a:p>
            <a:r>
              <a:rPr lang="fr-FR" dirty="0"/>
              <a:t>CO3.3 : Identifier et caractériser le fonctionnement temporel d’un produit ou d’un processus. </a:t>
            </a:r>
          </a:p>
          <a:p>
            <a:r>
              <a:rPr lang="fr-FR" dirty="0"/>
              <a:t>CO3.4 : Identifier et caractériser des solutions techniques.</a:t>
            </a:r>
          </a:p>
          <a:p>
            <a:endParaRPr lang="fr-FR" dirty="0"/>
          </a:p>
          <a:p>
            <a:pPr lvl="1"/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B176714-3595-D86C-CE13-3ACD17AD305A}"/>
              </a:ext>
            </a:extLst>
          </p:cNvPr>
          <p:cNvSpPr txBox="1"/>
          <p:nvPr/>
        </p:nvSpPr>
        <p:spPr>
          <a:xfrm>
            <a:off x="353568" y="5724144"/>
            <a:ext cx="114848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O3 : Analyser l’organisation fonctionnelle et structurelle d’un produit.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5BC225B-0C9A-3088-7031-702B04A21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4732-A3D1-4FE6-9CDE-A1BE3A82EBAD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6770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455AD-D9EC-9DB8-97EC-AA5F7D093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63DDDD-5013-9470-387F-E8F818D53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Objectifs de la séquence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5006F0-FEEB-E896-2C19-042F0D446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	- Connaissance 3.4. Comportement informationnel des produits</a:t>
            </a:r>
          </a:p>
          <a:p>
            <a:pPr marL="0" indent="0">
              <a:buNone/>
            </a:pPr>
            <a:r>
              <a:rPr lang="fr-FR" dirty="0"/>
              <a:t>Niveau taxonomique 2 (Niveau d’expression)</a:t>
            </a:r>
          </a:p>
          <a:p>
            <a:pPr marL="0" indent="0">
              <a:buNone/>
            </a:pPr>
            <a:r>
              <a:rPr lang="fr-FR" dirty="0"/>
              <a:t>	- Connaissance 6.2. Expérimentations et essais</a:t>
            </a:r>
          </a:p>
          <a:p>
            <a:pPr marL="0" indent="0">
              <a:buNone/>
            </a:pPr>
            <a:r>
              <a:rPr lang="fr-FR" dirty="0"/>
              <a:t>Niveau taxonomique 2-3 (Niveau d’expression-de maîtrise d’outil)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DBD2937-2D27-B4E1-FE26-278F64158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4732-A3D1-4FE6-9CDE-A1BE3A82EBAD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8817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2A5BA-1A6E-6EA2-5DD4-FDFDD739E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96C27D-16FE-C080-439F-D2A007083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Objectifs de la séquence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26396F8-1344-E761-8408-D02D9BCDB8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	- Connaissance 2.1 : Représentation des flux MEI.</a:t>
            </a:r>
          </a:p>
          <a:p>
            <a:pPr marL="0" indent="0">
              <a:buNone/>
            </a:pPr>
            <a:r>
              <a:rPr lang="fr-FR" dirty="0"/>
              <a:t>Niveau taxonomique 2</a:t>
            </a:r>
          </a:p>
          <a:p>
            <a:pPr marL="0" indent="0">
              <a:buNone/>
            </a:pPr>
            <a:r>
              <a:rPr lang="fr-FR" dirty="0"/>
              <a:t>	- Connaissance 2.3 : Approche fonctionnelle et structurelle des chaînes de puissance</a:t>
            </a:r>
          </a:p>
          <a:p>
            <a:pPr marL="0" indent="0">
              <a:buNone/>
            </a:pPr>
            <a:r>
              <a:rPr lang="fr-FR" dirty="0"/>
              <a:t>Niveau taxonomique 2</a:t>
            </a:r>
          </a:p>
          <a:p>
            <a:pPr marL="0" indent="0">
              <a:buNone/>
            </a:pPr>
            <a:r>
              <a:rPr lang="fr-FR" dirty="0"/>
              <a:t>	- Connaissance 2.4 : Approche fonctionnelle et structurelle d’une chaîne d’information</a:t>
            </a:r>
          </a:p>
          <a:p>
            <a:pPr marL="0" indent="0">
              <a:buNone/>
            </a:pPr>
            <a:r>
              <a:rPr lang="fr-FR" dirty="0"/>
              <a:t>Niveau taxonomique 2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198298D-D990-CE73-EB49-41ED2F6B6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4732-A3D1-4FE6-9CDE-A1BE3A82EBAD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0593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E89FE7-5CE5-4533-22ED-0CE0DA63D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Prérequis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EFBCBD6-F7D9-38DF-4BAC-FADB4D9B9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086100" cy="4351338"/>
          </a:xfrm>
        </p:spPr>
        <p:txBody>
          <a:bodyPr/>
          <a:lstStyle/>
          <a:p>
            <a:r>
              <a:rPr lang="fr-FR" dirty="0"/>
              <a:t>Première séquence de l’année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C3E1F49-B1C9-3570-1600-6091C093D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4732-A3D1-4FE6-9CDE-A1BE3A82EBAD}" type="slidenum">
              <a:rPr lang="fr-FR" smtClean="0"/>
              <a:t>6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D556E25-39EF-9CF4-C6D8-FD75FC3852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0643" y="501650"/>
            <a:ext cx="6301207" cy="5032976"/>
          </a:xfrm>
          <a:prstGeom prst="rect">
            <a:avLst/>
          </a:prstGeom>
        </p:spPr>
      </p:pic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EE374E4A-0054-909B-342C-2229AC271B6C}"/>
              </a:ext>
            </a:extLst>
          </p:cNvPr>
          <p:cNvSpPr/>
          <p:nvPr/>
        </p:nvSpPr>
        <p:spPr>
          <a:xfrm>
            <a:off x="6705600" y="2313433"/>
            <a:ext cx="2105025" cy="1687862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798D4D0-1078-6EB3-8893-AB700B810752}"/>
              </a:ext>
            </a:extLst>
          </p:cNvPr>
          <p:cNvSpPr txBox="1"/>
          <p:nvPr/>
        </p:nvSpPr>
        <p:spPr>
          <a:xfrm>
            <a:off x="6705600" y="5760822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/>
              <a:t>Tiré du BO SSI Seconde</a:t>
            </a:r>
          </a:p>
        </p:txBody>
      </p:sp>
    </p:spTree>
    <p:extLst>
      <p:ext uri="{BB962C8B-B14F-4D97-AF65-F5344CB8AC3E}">
        <p14:creationId xmlns:p14="http://schemas.microsoft.com/office/powerpoint/2010/main" val="3963891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030FE-35A8-8B50-CAA3-11A2BA774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522370-DFAC-2AA8-A4EC-31471A7EF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Architecture de la séquence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21BD630-B1C8-4DF0-696E-5A4DE8BDB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4732-A3D1-4FE6-9CDE-A1BE3A82EBAD}" type="slidenum">
              <a:rPr lang="fr-FR" smtClean="0"/>
              <a:t>7</a:t>
            </a:fld>
            <a:endParaRPr lang="fr-FR"/>
          </a:p>
        </p:txBody>
      </p:sp>
      <p:graphicFrame>
        <p:nvGraphicFramePr>
          <p:cNvPr id="6" name="Espace réservé du contenu 5">
            <a:extLst>
              <a:ext uri="{FF2B5EF4-FFF2-40B4-BE49-F238E27FC236}">
                <a16:creationId xmlns:a16="http://schemas.microsoft.com/office/drawing/2014/main" id="{F2BCA157-2B39-0B48-930C-A6D377A220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9917144"/>
              </p:ext>
            </p:extLst>
          </p:nvPr>
        </p:nvGraphicFramePr>
        <p:xfrm>
          <a:off x="294130" y="1490472"/>
          <a:ext cx="11603740" cy="4853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2646">
                  <a:extLst>
                    <a:ext uri="{9D8B030D-6E8A-4147-A177-3AD203B41FA5}">
                      <a16:colId xmlns:a16="http://schemas.microsoft.com/office/drawing/2014/main" val="3746943096"/>
                    </a:ext>
                  </a:extLst>
                </a:gridCol>
                <a:gridCol w="978102">
                  <a:extLst>
                    <a:ext uri="{9D8B030D-6E8A-4147-A177-3AD203B41FA5}">
                      <a16:colId xmlns:a16="http://schemas.microsoft.com/office/drawing/2014/main" val="1784724935"/>
                    </a:ext>
                  </a:extLst>
                </a:gridCol>
                <a:gridCol w="1160374">
                  <a:extLst>
                    <a:ext uri="{9D8B030D-6E8A-4147-A177-3AD203B41FA5}">
                      <a16:colId xmlns:a16="http://schemas.microsoft.com/office/drawing/2014/main" val="3085937017"/>
                    </a:ext>
                  </a:extLst>
                </a:gridCol>
                <a:gridCol w="1160374">
                  <a:extLst>
                    <a:ext uri="{9D8B030D-6E8A-4147-A177-3AD203B41FA5}">
                      <a16:colId xmlns:a16="http://schemas.microsoft.com/office/drawing/2014/main" val="2069439043"/>
                    </a:ext>
                  </a:extLst>
                </a:gridCol>
                <a:gridCol w="1160374">
                  <a:extLst>
                    <a:ext uri="{9D8B030D-6E8A-4147-A177-3AD203B41FA5}">
                      <a16:colId xmlns:a16="http://schemas.microsoft.com/office/drawing/2014/main" val="1336235096"/>
                    </a:ext>
                  </a:extLst>
                </a:gridCol>
                <a:gridCol w="1160374">
                  <a:extLst>
                    <a:ext uri="{9D8B030D-6E8A-4147-A177-3AD203B41FA5}">
                      <a16:colId xmlns:a16="http://schemas.microsoft.com/office/drawing/2014/main" val="394425891"/>
                    </a:ext>
                  </a:extLst>
                </a:gridCol>
                <a:gridCol w="1160374">
                  <a:extLst>
                    <a:ext uri="{9D8B030D-6E8A-4147-A177-3AD203B41FA5}">
                      <a16:colId xmlns:a16="http://schemas.microsoft.com/office/drawing/2014/main" val="2395809515"/>
                    </a:ext>
                  </a:extLst>
                </a:gridCol>
                <a:gridCol w="1160374">
                  <a:extLst>
                    <a:ext uri="{9D8B030D-6E8A-4147-A177-3AD203B41FA5}">
                      <a16:colId xmlns:a16="http://schemas.microsoft.com/office/drawing/2014/main" val="3401109954"/>
                    </a:ext>
                  </a:extLst>
                </a:gridCol>
                <a:gridCol w="1160374">
                  <a:extLst>
                    <a:ext uri="{9D8B030D-6E8A-4147-A177-3AD203B41FA5}">
                      <a16:colId xmlns:a16="http://schemas.microsoft.com/office/drawing/2014/main" val="2176014463"/>
                    </a:ext>
                  </a:extLst>
                </a:gridCol>
                <a:gridCol w="1160374">
                  <a:extLst>
                    <a:ext uri="{9D8B030D-6E8A-4147-A177-3AD203B41FA5}">
                      <a16:colId xmlns:a16="http://schemas.microsoft.com/office/drawing/2014/main" val="509644257"/>
                    </a:ext>
                  </a:extLst>
                </a:gridCol>
              </a:tblGrid>
              <a:tr h="419957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6h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7h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8h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0407470"/>
                  </a:ext>
                </a:extLst>
              </a:tr>
              <a:tr h="1420462">
                <a:tc>
                  <a:txBody>
                    <a:bodyPr/>
                    <a:lstStyle/>
                    <a:p>
                      <a:r>
                        <a:rPr lang="fr-FR" sz="1800" dirty="0"/>
                        <a:t>Semaine 1</a:t>
                      </a:r>
                      <a:endParaRPr lang="fr-FR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fr-FR" sz="1400" b="0" dirty="0"/>
                        <a:t>TP exploratoire</a:t>
                      </a:r>
                    </a:p>
                    <a:p>
                      <a:r>
                        <a:rPr lang="fr-FR" sz="1400" b="0" dirty="0"/>
                        <a:t>Îlots (7 maquettes)</a:t>
                      </a:r>
                    </a:p>
                    <a:p>
                      <a:r>
                        <a:rPr lang="fr-FR" sz="1400" b="1" dirty="0"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Demi-groupe</a:t>
                      </a:r>
                      <a:br>
                        <a:rPr lang="fr-FR" sz="1400" b="0" dirty="0"/>
                      </a:br>
                      <a:r>
                        <a:rPr lang="fr-FR" sz="1400" b="0" dirty="0"/>
                        <a:t>Comment le système sait qu’il doit agir ?</a:t>
                      </a:r>
                    </a:p>
                    <a:p>
                      <a:r>
                        <a:rPr lang="fr-FR" sz="1400" b="0" dirty="0"/>
                        <a:t>Comment le système agit physiquement ?</a:t>
                      </a:r>
                    </a:p>
                    <a:p>
                      <a:r>
                        <a:rPr lang="fr-FR" sz="1400" b="0" dirty="0"/>
                        <a:t>4 rotations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fr-FR" sz="1400" dirty="0"/>
                        <a:t>Discussion sur les </a:t>
                      </a:r>
                      <a:r>
                        <a:rPr lang="fr-FR" sz="1400" dirty="0" err="1"/>
                        <a:t>TPs</a:t>
                      </a:r>
                      <a:r>
                        <a:rPr lang="fr-FR" sz="1400" dirty="0"/>
                        <a:t> =&gt; émergence de la notion de chaîne d’énergie et d’information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fr-FR" sz="1400" dirty="0"/>
                        <a:t>Entrainement chaîne d’énergie chaîne d’information (exemple/TD)</a:t>
                      </a:r>
                    </a:p>
                    <a:p>
                      <a:r>
                        <a:rPr lang="fr-FR" sz="1400" dirty="0"/>
                        <a:t>Support vidéo, chaînes à compléter.</a:t>
                      </a:r>
                    </a:p>
                    <a:p>
                      <a:r>
                        <a:rPr lang="fr-FR" sz="1400" dirty="0"/>
                        <a:t>Structuration d’un cours écrit pour trace.</a:t>
                      </a:r>
                    </a:p>
                    <a:p>
                      <a:r>
                        <a:rPr lang="fr-FR" sz="1400" dirty="0"/>
                        <a:t>(acquérir, convertir, distribuer, …)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8939917"/>
                  </a:ext>
                </a:extLst>
              </a:tr>
              <a:tr h="1641423">
                <a:tc>
                  <a:txBody>
                    <a:bodyPr/>
                    <a:lstStyle/>
                    <a:p>
                      <a:r>
                        <a:rPr lang="fr-FR" sz="1800" dirty="0"/>
                        <a:t>Semaine 2</a:t>
                      </a:r>
                      <a:endParaRPr lang="fr-FR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fr-FR" sz="1400" dirty="0"/>
                        <a:t>TP sur la chaîne de transmission mécanique, et la chaîne d’information.</a:t>
                      </a:r>
                    </a:p>
                    <a:p>
                      <a:r>
                        <a:rPr lang="fr-FR" sz="1400" dirty="0"/>
                        <a:t>Îlots (7 maquettes)</a:t>
                      </a:r>
                    </a:p>
                    <a:p>
                      <a:r>
                        <a:rPr lang="fr-FR" sz="1400" dirty="0"/>
                        <a:t>TP relevé (fiche à compléter + rendu numérique)</a:t>
                      </a:r>
                    </a:p>
                    <a:p>
                      <a:r>
                        <a:rPr lang="fr-FR" sz="1400" b="1" kern="1200" dirty="0"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Demi-groupe</a:t>
                      </a:r>
                    </a:p>
                    <a:p>
                      <a:r>
                        <a:rPr lang="fr-FR" sz="1400" dirty="0"/>
                        <a:t>2 rotations</a:t>
                      </a:r>
                    </a:p>
                    <a:p>
                      <a:r>
                        <a:rPr lang="fr-FR" sz="1400" dirty="0">
                          <a:solidFill>
                            <a:schemeClr val="accent6"/>
                          </a:solidFill>
                        </a:rPr>
                        <a:t>(SCE Control X)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fr-FR" sz="1400" dirty="0"/>
                        <a:t>Transmission mécanique, discussion avec ce qui a été vu en TP, cataloguer les différentes technologies de transmission.</a:t>
                      </a:r>
                    </a:p>
                    <a:p>
                      <a:r>
                        <a:rPr lang="fr-FR" sz="1400" dirty="0"/>
                        <a:t>Vidéo pour compléter.</a:t>
                      </a:r>
                    </a:p>
                    <a:p>
                      <a:r>
                        <a:rPr lang="fr-FR" sz="1400" dirty="0"/>
                        <a:t>Notion de rapport de transformation.</a:t>
                      </a:r>
                    </a:p>
                    <a:p>
                      <a:r>
                        <a:rPr lang="fr-FR" sz="1400" dirty="0"/>
                        <a:t>Structuration d’un cours écrit pour trace.</a:t>
                      </a:r>
                    </a:p>
                    <a:p>
                      <a:r>
                        <a:rPr lang="fr-FR" sz="1400" dirty="0"/>
                        <a:t>+ entraînement sur table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fr-FR" sz="1400" dirty="0"/>
                        <a:t>Pareil sur l’acquisition de l’information.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111661"/>
                  </a:ext>
                </a:extLst>
              </a:tr>
              <a:tr h="1310883">
                <a:tc>
                  <a:txBody>
                    <a:bodyPr/>
                    <a:lstStyle/>
                    <a:p>
                      <a:r>
                        <a:rPr lang="fr-FR" sz="1800" dirty="0"/>
                        <a:t>Semaine 3</a:t>
                      </a:r>
                      <a:endParaRPr lang="fr-FR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fr-FR" sz="1400" dirty="0"/>
                        <a:t>TP sur la chaîne de transmission mécanique, et la chaîne d’information.</a:t>
                      </a:r>
                    </a:p>
                    <a:p>
                      <a:r>
                        <a:rPr lang="fr-FR" sz="1400" dirty="0"/>
                        <a:t>Îlots (7 maquettes)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1" kern="1200" dirty="0"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Demi-groupe</a:t>
                      </a:r>
                    </a:p>
                    <a:p>
                      <a:endParaRPr lang="fr-FR" sz="1400" dirty="0"/>
                    </a:p>
                    <a:p>
                      <a:r>
                        <a:rPr lang="fr-FR" sz="1400" dirty="0"/>
                        <a:t>Préparation soutenance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fr-FR" sz="1400" dirty="0"/>
                        <a:t>Retour sur les soutenances.</a:t>
                      </a:r>
                    </a:p>
                    <a:p>
                      <a:r>
                        <a:rPr lang="fr-FR" sz="1400" dirty="0"/>
                        <a:t>Remédiation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fr-FR" sz="1400" dirty="0"/>
                        <a:t>Entraînement sur table.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Devoir surveillé.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4909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0719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51741-E3D6-9077-0A3D-EA06B94D0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4BED8A-4496-93A5-D589-24E89AA53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Architecture de la séquence : connaissances mobilisées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2FF056E-F781-A066-DE1A-692C76B55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4732-A3D1-4FE6-9CDE-A1BE3A82EBAD}" type="slidenum">
              <a:rPr lang="fr-FR" smtClean="0"/>
              <a:t>8</a:t>
            </a:fld>
            <a:endParaRPr lang="fr-FR"/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9BE9D007-AD47-2A63-2D69-4F3E542F4F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602484"/>
              </p:ext>
            </p:extLst>
          </p:nvPr>
        </p:nvGraphicFramePr>
        <p:xfrm>
          <a:off x="188975" y="1690688"/>
          <a:ext cx="11814050" cy="4754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6736">
                  <a:extLst>
                    <a:ext uri="{9D8B030D-6E8A-4147-A177-3AD203B41FA5}">
                      <a16:colId xmlns:a16="http://schemas.microsoft.com/office/drawing/2014/main" val="4023779786"/>
                    </a:ext>
                  </a:extLst>
                </a:gridCol>
                <a:gridCol w="1046074">
                  <a:extLst>
                    <a:ext uri="{9D8B030D-6E8A-4147-A177-3AD203B41FA5}">
                      <a16:colId xmlns:a16="http://schemas.microsoft.com/office/drawing/2014/main" val="854468079"/>
                    </a:ext>
                  </a:extLst>
                </a:gridCol>
                <a:gridCol w="1181405">
                  <a:extLst>
                    <a:ext uri="{9D8B030D-6E8A-4147-A177-3AD203B41FA5}">
                      <a16:colId xmlns:a16="http://schemas.microsoft.com/office/drawing/2014/main" val="1767025195"/>
                    </a:ext>
                  </a:extLst>
                </a:gridCol>
                <a:gridCol w="1181405">
                  <a:extLst>
                    <a:ext uri="{9D8B030D-6E8A-4147-A177-3AD203B41FA5}">
                      <a16:colId xmlns:a16="http://schemas.microsoft.com/office/drawing/2014/main" val="3753901545"/>
                    </a:ext>
                  </a:extLst>
                </a:gridCol>
                <a:gridCol w="1181405">
                  <a:extLst>
                    <a:ext uri="{9D8B030D-6E8A-4147-A177-3AD203B41FA5}">
                      <a16:colId xmlns:a16="http://schemas.microsoft.com/office/drawing/2014/main" val="3252218832"/>
                    </a:ext>
                  </a:extLst>
                </a:gridCol>
                <a:gridCol w="1181405">
                  <a:extLst>
                    <a:ext uri="{9D8B030D-6E8A-4147-A177-3AD203B41FA5}">
                      <a16:colId xmlns:a16="http://schemas.microsoft.com/office/drawing/2014/main" val="3271963047"/>
                    </a:ext>
                  </a:extLst>
                </a:gridCol>
                <a:gridCol w="1181405">
                  <a:extLst>
                    <a:ext uri="{9D8B030D-6E8A-4147-A177-3AD203B41FA5}">
                      <a16:colId xmlns:a16="http://schemas.microsoft.com/office/drawing/2014/main" val="2398582750"/>
                    </a:ext>
                  </a:extLst>
                </a:gridCol>
                <a:gridCol w="1181405">
                  <a:extLst>
                    <a:ext uri="{9D8B030D-6E8A-4147-A177-3AD203B41FA5}">
                      <a16:colId xmlns:a16="http://schemas.microsoft.com/office/drawing/2014/main" val="1624607967"/>
                    </a:ext>
                  </a:extLst>
                </a:gridCol>
                <a:gridCol w="1181405">
                  <a:extLst>
                    <a:ext uri="{9D8B030D-6E8A-4147-A177-3AD203B41FA5}">
                      <a16:colId xmlns:a16="http://schemas.microsoft.com/office/drawing/2014/main" val="2965026283"/>
                    </a:ext>
                  </a:extLst>
                </a:gridCol>
                <a:gridCol w="1181405">
                  <a:extLst>
                    <a:ext uri="{9D8B030D-6E8A-4147-A177-3AD203B41FA5}">
                      <a16:colId xmlns:a16="http://schemas.microsoft.com/office/drawing/2014/main" val="3986735396"/>
                    </a:ext>
                  </a:extLst>
                </a:gridCol>
              </a:tblGrid>
              <a:tr h="759847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6h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7h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8h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3832273"/>
                  </a:ext>
                </a:extLst>
              </a:tr>
              <a:tr h="1311516">
                <a:tc>
                  <a:txBody>
                    <a:bodyPr/>
                    <a:lstStyle/>
                    <a:p>
                      <a:r>
                        <a:rPr lang="fr-FR" dirty="0"/>
                        <a:t>Semaine 1</a:t>
                      </a: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fr-FR" sz="1200" dirty="0"/>
                        <a:t>Approche fonctionnelle et structurelle des chaînes de puissance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/>
                        <a:t>Approche fonctionnelle et structurelle d’une chaîne d’information</a:t>
                      </a:r>
                    </a:p>
                    <a:p>
                      <a:endParaRPr lang="fr-FR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fr-FR" sz="1200" dirty="0"/>
                        <a:t>Représentation des flux MEI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fr-FR" sz="1200" dirty="0"/>
                        <a:t>Représentation des flux MEI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9270447"/>
                  </a:ext>
                </a:extLst>
              </a:tr>
              <a:tr h="1311516">
                <a:tc>
                  <a:txBody>
                    <a:bodyPr/>
                    <a:lstStyle/>
                    <a:p>
                      <a:r>
                        <a:rPr lang="fr-FR" dirty="0"/>
                        <a:t>Semaine 2</a:t>
                      </a: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fr-FR" sz="1200" dirty="0"/>
                        <a:t>Représentation des flux MEI</a:t>
                      </a:r>
                      <a:br>
                        <a:rPr lang="fr-FR" sz="1200" dirty="0"/>
                      </a:br>
                      <a:r>
                        <a:rPr lang="fr-FR" sz="1200" dirty="0"/>
                        <a:t>Approche fonctionnelle et structurelle des chaînes de puissance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/>
                        <a:t>Approche fonctionnelle et structurelle d’une chaîne d’information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/>
                        <a:t>Expérimentations et essais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/>
                        <a:t>Comportement informationnel des produits</a:t>
                      </a:r>
                    </a:p>
                    <a:p>
                      <a:endParaRPr lang="fr-FR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/>
                        <a:t>Approche fonctionnelle et structurelle des chaînes de puissance</a:t>
                      </a:r>
                    </a:p>
                    <a:p>
                      <a:endParaRPr lang="fr-FR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/>
                        <a:t>Approche fonctionnelle et structurelle d’une chaîne d’information</a:t>
                      </a:r>
                    </a:p>
                    <a:p>
                      <a:endParaRPr lang="fr-FR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302239"/>
                  </a:ext>
                </a:extLst>
              </a:tr>
              <a:tr h="1311516">
                <a:tc>
                  <a:txBody>
                    <a:bodyPr/>
                    <a:lstStyle/>
                    <a:p>
                      <a:r>
                        <a:rPr lang="fr-FR" dirty="0"/>
                        <a:t>Semaine 3 </a:t>
                      </a: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fr-FR" sz="1200" dirty="0"/>
                        <a:t>Représentation des flux MEI</a:t>
                      </a:r>
                      <a:br>
                        <a:rPr lang="fr-FR" sz="1200" dirty="0"/>
                      </a:br>
                      <a:r>
                        <a:rPr lang="fr-FR" sz="1200" dirty="0"/>
                        <a:t>Approche fonctionnelle et structurelle des chaînes de puissance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/>
                        <a:t>Approche fonctionnelle et structurelle d’une chaîne d’information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/>
                        <a:t>Expérimentations et essais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/>
                        <a:t>Comportement informationnel des produits</a:t>
                      </a:r>
                    </a:p>
                    <a:p>
                      <a:endParaRPr lang="fr-FR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fr-FR" sz="1200" dirty="0"/>
                        <a:t>Approche fonctionnelle et structurelle des chaînes de puissance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/>
                        <a:t>Approche fonctionnelle et structurelle d’une chaîne d’information</a:t>
                      </a:r>
                    </a:p>
                    <a:p>
                      <a:endParaRPr lang="fr-FR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38333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68671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8B927-7CE0-CB87-0106-FA5FC3B90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14BBEC-5488-4825-01AE-1BCF62272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896" y="-293242"/>
            <a:ext cx="11332464" cy="1325563"/>
          </a:xfrm>
        </p:spPr>
        <p:txBody>
          <a:bodyPr>
            <a:normAutofit/>
          </a:bodyPr>
          <a:lstStyle/>
          <a:p>
            <a:r>
              <a:rPr lang="fr-FR" sz="36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Architecture de la séquence : Montée en </a:t>
            </a:r>
            <a:r>
              <a:rPr lang="fr-FR" sz="3600" b="1" u="sng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compétances</a:t>
            </a:r>
            <a:endParaRPr lang="fr-FR" sz="3600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E3B8BA4-B34B-24EB-23A2-7610ECA22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4732-A3D1-4FE6-9CDE-A1BE3A82EBAD}" type="slidenum">
              <a:rPr lang="fr-FR" smtClean="0"/>
              <a:t>9</a:t>
            </a:fld>
            <a:endParaRPr lang="fr-FR"/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5AF9303B-9DCF-04F2-EE35-E7D8E62BEF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0884228"/>
              </p:ext>
            </p:extLst>
          </p:nvPr>
        </p:nvGraphicFramePr>
        <p:xfrm>
          <a:off x="188975" y="913449"/>
          <a:ext cx="11814050" cy="5372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6736">
                  <a:extLst>
                    <a:ext uri="{9D8B030D-6E8A-4147-A177-3AD203B41FA5}">
                      <a16:colId xmlns:a16="http://schemas.microsoft.com/office/drawing/2014/main" val="4023779786"/>
                    </a:ext>
                  </a:extLst>
                </a:gridCol>
                <a:gridCol w="1046074">
                  <a:extLst>
                    <a:ext uri="{9D8B030D-6E8A-4147-A177-3AD203B41FA5}">
                      <a16:colId xmlns:a16="http://schemas.microsoft.com/office/drawing/2014/main" val="854468079"/>
                    </a:ext>
                  </a:extLst>
                </a:gridCol>
                <a:gridCol w="1181405">
                  <a:extLst>
                    <a:ext uri="{9D8B030D-6E8A-4147-A177-3AD203B41FA5}">
                      <a16:colId xmlns:a16="http://schemas.microsoft.com/office/drawing/2014/main" val="1767025195"/>
                    </a:ext>
                  </a:extLst>
                </a:gridCol>
                <a:gridCol w="1181405">
                  <a:extLst>
                    <a:ext uri="{9D8B030D-6E8A-4147-A177-3AD203B41FA5}">
                      <a16:colId xmlns:a16="http://schemas.microsoft.com/office/drawing/2014/main" val="3753901545"/>
                    </a:ext>
                  </a:extLst>
                </a:gridCol>
                <a:gridCol w="1181405">
                  <a:extLst>
                    <a:ext uri="{9D8B030D-6E8A-4147-A177-3AD203B41FA5}">
                      <a16:colId xmlns:a16="http://schemas.microsoft.com/office/drawing/2014/main" val="3252218832"/>
                    </a:ext>
                  </a:extLst>
                </a:gridCol>
                <a:gridCol w="1181405">
                  <a:extLst>
                    <a:ext uri="{9D8B030D-6E8A-4147-A177-3AD203B41FA5}">
                      <a16:colId xmlns:a16="http://schemas.microsoft.com/office/drawing/2014/main" val="3271963047"/>
                    </a:ext>
                  </a:extLst>
                </a:gridCol>
                <a:gridCol w="1181405">
                  <a:extLst>
                    <a:ext uri="{9D8B030D-6E8A-4147-A177-3AD203B41FA5}">
                      <a16:colId xmlns:a16="http://schemas.microsoft.com/office/drawing/2014/main" val="2398582750"/>
                    </a:ext>
                  </a:extLst>
                </a:gridCol>
                <a:gridCol w="950366">
                  <a:extLst>
                    <a:ext uri="{9D8B030D-6E8A-4147-A177-3AD203B41FA5}">
                      <a16:colId xmlns:a16="http://schemas.microsoft.com/office/drawing/2014/main" val="1624607967"/>
                    </a:ext>
                  </a:extLst>
                </a:gridCol>
                <a:gridCol w="1412444">
                  <a:extLst>
                    <a:ext uri="{9D8B030D-6E8A-4147-A177-3AD203B41FA5}">
                      <a16:colId xmlns:a16="http://schemas.microsoft.com/office/drawing/2014/main" val="1763731590"/>
                    </a:ext>
                  </a:extLst>
                </a:gridCol>
                <a:gridCol w="1181405">
                  <a:extLst>
                    <a:ext uri="{9D8B030D-6E8A-4147-A177-3AD203B41FA5}">
                      <a16:colId xmlns:a16="http://schemas.microsoft.com/office/drawing/2014/main" val="3986735396"/>
                    </a:ext>
                  </a:extLst>
                </a:gridCol>
              </a:tblGrid>
              <a:tr h="726745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6h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7h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8h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3832273"/>
                  </a:ext>
                </a:extLst>
              </a:tr>
              <a:tr h="1254381">
                <a:tc>
                  <a:txBody>
                    <a:bodyPr/>
                    <a:lstStyle/>
                    <a:p>
                      <a:r>
                        <a:rPr lang="fr-FR" dirty="0"/>
                        <a:t>Semaine 1</a:t>
                      </a: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fr-FR" sz="1200" dirty="0"/>
                        <a:t>CO3.1 : Identifier et caractériser les fonctions et les constituants d’un produit ainsi que ses entrées/sorties</a:t>
                      </a:r>
                    </a:p>
                    <a:p>
                      <a:endParaRPr lang="fr-FR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/>
                        <a:t>CO3.4 : Identifier et caractériser des solutions techniques.</a:t>
                      </a:r>
                    </a:p>
                    <a:p>
                      <a:endParaRPr lang="fr-FR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9270447"/>
                  </a:ext>
                </a:extLst>
              </a:tr>
              <a:tr h="1486760">
                <a:tc>
                  <a:txBody>
                    <a:bodyPr/>
                    <a:lstStyle/>
                    <a:p>
                      <a:r>
                        <a:rPr lang="fr-FR" dirty="0"/>
                        <a:t>Semaine 2</a:t>
                      </a: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fr-FR" sz="1200" dirty="0"/>
                        <a:t>CO3.1 : Identifier et caractériser les fonctions et les constituants d’un produit ainsi que ses entrées/sorties</a:t>
                      </a:r>
                    </a:p>
                    <a:p>
                      <a:r>
                        <a:rPr lang="fr-FR" sz="1200" dirty="0"/>
                        <a:t>CO3.2 : Identifier et caractériser l’agencement matériel et/ou logiciel d’un produit.</a:t>
                      </a:r>
                    </a:p>
                    <a:p>
                      <a:r>
                        <a:rPr lang="fr-FR" sz="1200" dirty="0"/>
                        <a:t>CO3.3 : Identifier et caractériser le fonctionnement temporel d’un produit ou d’un processus. </a:t>
                      </a:r>
                    </a:p>
                    <a:p>
                      <a:r>
                        <a:rPr lang="fr-FR" sz="1200" dirty="0"/>
                        <a:t>CO3.4 : Identifier et caractériser des solutions techniques.</a:t>
                      </a:r>
                    </a:p>
                    <a:p>
                      <a:pPr marL="0" algn="l" defTabSz="914400" rtl="0" eaLnBrk="1" latinLnBrk="0" hangingPunct="1"/>
                      <a:endParaRPr lang="fr-FR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fr-FR" sz="1200" dirty="0"/>
                        <a:t>CO3.1 : Identifier et caractériser les fonctions et les constituants d’un produit ainsi que ses entrées/sorties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/>
                        <a:t>CO3.2 : Identifier et caractériser l’agencement matériel et/ou logiciel d’un produit.</a:t>
                      </a:r>
                      <a:br>
                        <a:rPr lang="fr-FR" sz="1200" dirty="0"/>
                      </a:br>
                      <a:r>
                        <a:rPr lang="fr-FR" sz="1200" dirty="0"/>
                        <a:t>CO3.4 : Identifier et caractériser des solutions techniques.</a:t>
                      </a:r>
                    </a:p>
                    <a:p>
                      <a:endParaRPr lang="fr-FR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fr-FR" sz="1200" dirty="0"/>
                        <a:t>CO3.1 : Identifier et caractériser les fonctions et les constituants d’un produit ainsi que ses entrées/sorties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/>
                        <a:t>CO3.2 : Identifier et caractériser l’agencement matériel et/ou logiciel d’un produit.</a:t>
                      </a:r>
                      <a:br>
                        <a:rPr lang="fr-FR" sz="1200" dirty="0"/>
                      </a:br>
                      <a:r>
                        <a:rPr lang="fr-FR" sz="1200" dirty="0"/>
                        <a:t>CO3.4 : Identifier et caractériser des solutions techniques.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302239"/>
                  </a:ext>
                </a:extLst>
              </a:tr>
              <a:tr h="1836586">
                <a:tc>
                  <a:txBody>
                    <a:bodyPr/>
                    <a:lstStyle/>
                    <a:p>
                      <a:r>
                        <a:rPr lang="fr-FR" dirty="0"/>
                        <a:t>Semaine 3 </a:t>
                      </a: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fr-FR" sz="1200" dirty="0"/>
                        <a:t>CO3.1 : Identifier et caractériser les fonctions et les constituants d’un produit ainsi que ses entrées/sorties</a:t>
                      </a:r>
                    </a:p>
                    <a:p>
                      <a:r>
                        <a:rPr lang="fr-FR" sz="1200" dirty="0"/>
                        <a:t>CO3.2 : Identifier et caractériser l’agencement matériel et/ou logiciel d’un produit.</a:t>
                      </a:r>
                    </a:p>
                    <a:p>
                      <a:r>
                        <a:rPr lang="fr-FR" sz="1200" dirty="0"/>
                        <a:t>CO3.3 : Identifier et caractériser le fonctionnement temporel d’un produit ou d’un processus. </a:t>
                      </a:r>
                    </a:p>
                    <a:p>
                      <a:r>
                        <a:rPr lang="fr-FR" sz="1200" dirty="0"/>
                        <a:t>CO3.4 : Identifier et caractériser des solutions techniques.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fr-FR" sz="1200" dirty="0"/>
                        <a:t>CO3.1 : Identifier et caractériser les fonctions et les constituants d’un produit ainsi que ses entrées/sorties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/>
                        <a:t>CO3.2 : Identifier et caractériser l’agencement matériel et/ou logiciel d’un produit.</a:t>
                      </a:r>
                      <a:br>
                        <a:rPr lang="fr-FR" sz="1200" dirty="0"/>
                      </a:br>
                      <a:r>
                        <a:rPr lang="fr-FR" sz="1200" dirty="0"/>
                        <a:t>CO3.4 : Identifier et caractériser des solutions techniques.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38333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758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03AAD-2A73-A7C2-1693-922B078FF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25893C-9601-F4A7-450F-9AF887495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Modalités de la séance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361F3EC-A730-618B-9F3B-0E8BBD13E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Demi-groupe : 17 élèves.</a:t>
            </a:r>
          </a:p>
          <a:p>
            <a:r>
              <a:rPr lang="fr-FR" dirty="0"/>
              <a:t>Travail en îlots (7 TP en parallèle) =&gt; 2/3 élèves.</a:t>
            </a:r>
          </a:p>
          <a:p>
            <a:r>
              <a:rPr lang="fr-FR" dirty="0" err="1"/>
              <a:t>Comax</a:t>
            </a:r>
            <a:r>
              <a:rPr lang="fr-FR" dirty="0"/>
              <a:t>, </a:t>
            </a:r>
            <a:r>
              <a:rPr lang="fr-FR" dirty="0" err="1"/>
              <a:t>Maxpid</a:t>
            </a:r>
            <a:r>
              <a:rPr lang="fr-FR" dirty="0"/>
              <a:t>, Drone, Radar Automatique, PAC, VMC double flux, VAE, </a:t>
            </a:r>
            <a:r>
              <a:rPr lang="fr-FR" dirty="0">
                <a:solidFill>
                  <a:srgbClr val="FF0000"/>
                </a:solidFill>
              </a:rPr>
              <a:t>Control X</a:t>
            </a:r>
            <a:r>
              <a:rPr lang="fr-FR" dirty="0"/>
              <a:t>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B4CAF28-C873-D738-47F2-CB8FE98AB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4732-A3D1-4FE6-9CDE-A1BE3A82EBAD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42773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587F2-D06D-AF91-402F-0E3A7727A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6A6BFD-0162-5618-E97D-1FA699A53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 Control X : présentation</a:t>
            </a:r>
          </a:p>
        </p:txBody>
      </p:sp>
      <p:pic>
        <p:nvPicPr>
          <p:cNvPr id="1026" name="Picture 2" descr="Une image contenant machine, intérieur&#10;&#10;Le contenu généré par l’IA peut être incorrect.">
            <a:extLst>
              <a:ext uri="{FF2B5EF4-FFF2-40B4-BE49-F238E27FC236}">
                <a16:creationId xmlns:a16="http://schemas.microsoft.com/office/drawing/2014/main" id="{8357219D-B671-89BD-F095-BCA5C87C30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782" y="2065592"/>
            <a:ext cx="5071013" cy="4097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3712B9A0-9830-D0D7-7669-DF9210E9CA1C}"/>
              </a:ext>
            </a:extLst>
          </p:cNvPr>
          <p:cNvSpPr txBox="1"/>
          <p:nvPr/>
        </p:nvSpPr>
        <p:spPr>
          <a:xfrm>
            <a:off x="6766560" y="1847088"/>
            <a:ext cx="458724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/>
              <a:t>Origine : Pick and place 3 axes. </a:t>
            </a:r>
            <a:r>
              <a:rPr lang="fr-FR" sz="2400" dirty="0" err="1"/>
              <a:t>Lexium</a:t>
            </a:r>
            <a:r>
              <a:rPr lang="fr-FR" sz="2400" dirty="0"/>
              <a:t> Max R – Schneider Electric 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/>
              <a:t>Placement précis sur un axe donné 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/>
              <a:t>Soft : Matlab et Control Drive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277A50E-B1F3-A9B6-FC62-85424C885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4732-A3D1-4FE6-9CDE-A1BE3A82EBAD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09528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5CBCC-B8E2-E66C-9057-20EC7A4E7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3F0CAB-F046-D21B-4082-E9F3F7D6A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 Control X : matériel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8F13D86-ABD3-EBDF-6F32-A38C53921E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00107"/>
            <a:ext cx="5353700" cy="3503444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1D3D263B-C078-D4A3-1DE2-118515306CDA}"/>
              </a:ext>
            </a:extLst>
          </p:cNvPr>
          <p:cNvSpPr txBox="1"/>
          <p:nvPr/>
        </p:nvSpPr>
        <p:spPr>
          <a:xfrm>
            <a:off x="7096125" y="1819275"/>
            <a:ext cx="39243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Transmission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Moteur =&gt; Réducteur =&gt; Poulie crantée =&gt; Courroie crantée.</a:t>
            </a:r>
          </a:p>
          <a:p>
            <a:r>
              <a:rPr lang="fr-FR" dirty="0"/>
              <a:t>Capteur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Butée, règle magnétique, codeur incrémental, Joystick, capteur de distance, autres.</a:t>
            </a:r>
          </a:p>
          <a:p>
            <a:r>
              <a:rPr lang="fr-FR" dirty="0"/>
              <a:t>Energie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Alimentation à découpage connectée au réseau.</a:t>
            </a:r>
          </a:p>
          <a:p>
            <a:r>
              <a:rPr lang="fr-FR" dirty="0"/>
              <a:t>Pilotage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Carte de commande.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917D3255-D068-7347-1B20-4A094ABA9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4732-A3D1-4FE6-9CDE-A1BE3A82EBAD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76381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2267D-77FF-248C-0179-B47483E30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7B62C8-6313-63C9-E1A4-F71906DFE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 Control X : sécurité</a:t>
            </a:r>
          </a:p>
        </p:txBody>
      </p:sp>
      <p:pic>
        <p:nvPicPr>
          <p:cNvPr id="1026" name="Picture 2" descr="Une image contenant dessin humoristiqu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CF6C993E-8A1B-407C-F66D-DEED6E0B3E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1179" y="2633788"/>
            <a:ext cx="3352800" cy="3419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B3276E3C-593F-A7C4-444B-8FA829000E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231296"/>
            <a:ext cx="7258050" cy="5152507"/>
          </a:xfrm>
          <a:prstGeom prst="rect">
            <a:avLst/>
          </a:prstGeo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03436EC-5E7C-9A46-E97A-6AAA1AC46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4732-A3D1-4FE6-9CDE-A1BE3A82EBAD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41854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66E3D-60B0-53B8-1583-E3E6D7EF4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3F3575-D915-84FD-1780-125EB3925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 Control X : potentialité didactique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2E8E012-9B15-3B0C-CEA1-966A29BC3DED}"/>
              </a:ext>
            </a:extLst>
          </p:cNvPr>
          <p:cNvSpPr txBox="1"/>
          <p:nvPr/>
        </p:nvSpPr>
        <p:spPr>
          <a:xfrm>
            <a:off x="1095375" y="1809750"/>
            <a:ext cx="854392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/>
              <a:t>Transmission mécanique 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/>
              <a:t>Schéma cinématique 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/>
              <a:t>Asservissement (Matlab) 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/>
              <a:t>Expérimentation et essais (Control Drive / Matlab) 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/>
              <a:t>Capteurs.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55D3158-54EC-C707-F015-75498DF4B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4732-A3D1-4FE6-9CDE-A1BE3A82EBAD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97162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DEE431-839C-230A-AF06-B5E473863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Séance à caractère expérimentale : </a:t>
            </a:r>
            <a:br>
              <a:rPr lang="fr-FR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Control X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86FC949-C924-0EBC-259A-7A9710FADA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b="1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Prérequis : </a:t>
            </a:r>
          </a:p>
          <a:p>
            <a:pPr marL="0" indent="0">
              <a:buNone/>
            </a:pPr>
            <a:r>
              <a:rPr lang="fr-FR" dirty="0"/>
              <a:t>2.1 : Représentation des flux MEI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Objectifs :</a:t>
            </a:r>
          </a:p>
          <a:p>
            <a:pPr marL="0" indent="0">
              <a:buNone/>
            </a:pPr>
            <a:r>
              <a:rPr lang="fr-FR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Compétences :</a:t>
            </a:r>
            <a:r>
              <a:rPr lang="fr-FR" dirty="0"/>
              <a:t> CO3.1,2,3,4 (O3 : Analyser l’organisation fonctionnelle et structurelle d’un produit)</a:t>
            </a:r>
          </a:p>
          <a:p>
            <a:pPr marL="0" indent="0">
              <a:buNone/>
            </a:pPr>
            <a:r>
              <a:rPr lang="fr-FR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Connaissances : </a:t>
            </a:r>
          </a:p>
          <a:p>
            <a:pPr lvl="1"/>
            <a:r>
              <a:rPr lang="fr-FR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2.3/4 : </a:t>
            </a:r>
            <a:r>
              <a:rPr lang="fr-FR" dirty="0"/>
              <a:t> Approche fonctionnelle et structurelle des chaînes de puissance et d’information ;</a:t>
            </a:r>
          </a:p>
          <a:p>
            <a:pPr lvl="1"/>
            <a:r>
              <a:rPr lang="fr-FR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3.4 : </a:t>
            </a:r>
            <a:r>
              <a:rPr lang="fr-FR" dirty="0"/>
              <a:t>Comportement informationnel des produits ;</a:t>
            </a:r>
          </a:p>
          <a:p>
            <a:pPr lvl="1"/>
            <a:r>
              <a:rPr lang="fr-FR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6.2 : </a:t>
            </a:r>
            <a:r>
              <a:rPr lang="fr-FR" dirty="0"/>
              <a:t>Expérimentations et essais.</a:t>
            </a:r>
            <a:br>
              <a:rPr lang="fr-FR" dirty="0"/>
            </a:br>
            <a:br>
              <a:rPr lang="fr-FR" dirty="0"/>
            </a:b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8D0D44C-06F2-BC40-D3D2-D11E061CE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4732-A3D1-4FE6-9CDE-A1BE3A82EBAD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53344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AE759-7F0A-4665-FC68-871C75D7A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A7D9BC-1761-2BA6-9C60-2CEF5FB5E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Scénario de la séance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84B1730-F017-CB4C-FA78-BAF7A90DF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464" y="1478153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fr-FR" dirty="0"/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Présentation du système dans son contexte industriel.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Identification des différents composants de la chaine de transmission. Aide du logiciel Control Drive pour l’identification avec le système réel (schéma cinématique).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Identification des différents composants de la chaine d’information. Interrogation sur l’utilité des différents capteurs.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Compléter une chaine de puissance/d’information du système.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Prise en main rapide du logiciel (Notice)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Acquisition de l’évolution de la position en réponse à une consigne (échelon).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Identifier la vitesse maximale du chariot lorsque qu’il réalise son amplitude complète.</a:t>
            </a:r>
          </a:p>
          <a:p>
            <a:pPr marL="514350" indent="-514350">
              <a:buFont typeface="+mj-lt"/>
              <a:buAutoNum type="arabicPeriod"/>
            </a:pPr>
            <a:endParaRPr lang="fr-FR" dirty="0"/>
          </a:p>
          <a:p>
            <a:pPr marL="514350" indent="-514350">
              <a:buFont typeface="+mj-lt"/>
              <a:buAutoNum type="arabicPeriod"/>
            </a:pPr>
            <a:endParaRPr lang="fr-FR" dirty="0"/>
          </a:p>
          <a:p>
            <a:pPr marL="514350" indent="-514350">
              <a:buFont typeface="+mj-lt"/>
              <a:buAutoNum type="arabicPeriod"/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72BBE71-7CD6-4CCA-FCAA-3AC645646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4732-A3D1-4FE6-9CDE-A1BE3A82EBAD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41034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F234A-A611-7187-E507-A4AFD35B0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7259A9-E07C-BD15-2295-9566DFD4B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Scénario de la séance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5B17F97-737D-06DB-EA22-A70FD78ADD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8. A l’aide d’acquisitions, trouver le rapport entre la vitesse linéaire et la vitesse de rotation moteur (pour aller plus loin).</a:t>
            </a:r>
          </a:p>
          <a:p>
            <a:pPr marL="514350" indent="-514350">
              <a:buFont typeface="+mj-lt"/>
              <a:buAutoNum type="arabicPeriod"/>
            </a:pPr>
            <a:endParaRPr lang="fr-FR" dirty="0"/>
          </a:p>
          <a:p>
            <a:pPr marL="514350" indent="-514350">
              <a:buFont typeface="+mj-lt"/>
              <a:buAutoNum type="arabicPeriod"/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168DCA6-D1A0-7B5D-C499-8D9102808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4732-A3D1-4FE6-9CDE-A1BE3A82EBAD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66307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FE40F-0F96-A240-DD1C-D8FA85E0A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F83E67-FB74-ED26-5065-6D23000D3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Scénario de la séance : </a:t>
            </a:r>
            <a:r>
              <a:rPr lang="fr-FR" b="1" u="sng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premiere</a:t>
            </a:r>
            <a:r>
              <a:rPr lang="fr-FR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acquisition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9310573-31A4-4EF4-0E30-A0A32ABCE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endParaRPr lang="fr-FR" dirty="0"/>
          </a:p>
          <a:p>
            <a:pPr marL="514350" indent="-514350">
              <a:buFont typeface="+mj-lt"/>
              <a:buAutoNum type="arabicPeriod"/>
            </a:pP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0B83699-B6C3-876F-DD3B-F15E0D3F8A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150" y="1690688"/>
            <a:ext cx="5710801" cy="474664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1CF50E0C-7E9D-796D-5ACA-F17CE853FCA3}"/>
              </a:ext>
            </a:extLst>
          </p:cNvPr>
          <p:cNvSpPr txBox="1"/>
          <p:nvPr/>
        </p:nvSpPr>
        <p:spPr>
          <a:xfrm>
            <a:off x="8172450" y="1825625"/>
            <a:ext cx="33051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Consigne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400 mm 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0,3 s.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3A3FFBD-C954-B26B-5246-75F6349C4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4732-A3D1-4FE6-9CDE-A1BE3A82EBAD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27160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ED26C-44DA-29FA-A2A3-6F931A443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DD9A1B-EC99-AFD7-28D7-1AE873AAF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Scénario de la séance : vitesse max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12D939C-9E28-B5D3-BD26-2F397377A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endParaRPr lang="fr-FR" dirty="0"/>
          </a:p>
          <a:p>
            <a:pPr marL="514350" indent="-514350">
              <a:buFont typeface="+mj-lt"/>
              <a:buAutoNum type="arabicPeriod"/>
            </a:pP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9DE3DDA-006E-09AF-2317-A33A59142C32}"/>
              </a:ext>
            </a:extLst>
          </p:cNvPr>
          <p:cNvSpPr txBox="1"/>
          <p:nvPr/>
        </p:nvSpPr>
        <p:spPr>
          <a:xfrm>
            <a:off x="8172450" y="1825625"/>
            <a:ext cx="33051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Consigne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400 mm 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0,3 s.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2BE4BF7-A436-FA7C-3633-7E664C4B3D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77" y="1671414"/>
            <a:ext cx="7692248" cy="4505549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7C8C0E9-9E3B-6DDD-1837-C9D2CE3E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4732-A3D1-4FE6-9CDE-A1BE3A82EBAD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31375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85201-50B7-7F36-D13C-8BE648A53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588C4B-1A41-460A-B242-83FF974DD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Scénario de la séance : rapport de réduction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F75D7BA-07F9-8B94-2A27-6BD36ECA1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endParaRPr lang="fr-FR" dirty="0"/>
          </a:p>
          <a:p>
            <a:pPr marL="514350" indent="-514350">
              <a:buFont typeface="+mj-lt"/>
              <a:buAutoNum type="arabicPeriod"/>
            </a:pPr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49D544D-84A0-A903-B9FE-2CA60CC7AA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460" y="1690688"/>
            <a:ext cx="7373165" cy="4275954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12543D50-B179-B0F1-8D36-417559369AD0}"/>
              </a:ext>
            </a:extLst>
          </p:cNvPr>
          <p:cNvSpPr txBox="1"/>
          <p:nvPr/>
        </p:nvSpPr>
        <p:spPr>
          <a:xfrm>
            <a:off x="8172450" y="1825625"/>
            <a:ext cx="33051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Consigne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400 mm 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0,3 s.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CF3A61C-AAC9-1B37-DED2-3F8B9EB8C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4732-A3D1-4FE6-9CDE-A1BE3A82EBAD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47293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09C00-AB00-7C83-93D8-764541EFD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B29C57-B695-0883-915B-7A5E5F1CD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Scénario de la séance : pour aller plus loin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9899BC-A12A-AEBF-453C-9A82A407FD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endParaRPr lang="fr-FR" dirty="0"/>
          </a:p>
          <a:p>
            <a:pPr marL="514350" indent="-514350">
              <a:buFont typeface="+mj-lt"/>
              <a:buAutoNum type="arabicPeriod"/>
            </a:pPr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A127E48-9928-600E-246A-E07F8C4D9FB9}"/>
              </a:ext>
            </a:extLst>
          </p:cNvPr>
          <p:cNvSpPr txBox="1"/>
          <p:nvPr/>
        </p:nvSpPr>
        <p:spPr>
          <a:xfrm>
            <a:off x="8172450" y="1825625"/>
            <a:ext cx="33051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Consigne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400 mm 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0,3 s.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CC35E87-4523-DDCD-D22C-9851F61521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010" y="1437721"/>
            <a:ext cx="6344630" cy="5036104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71C5F3E-A943-5EC9-5E5E-A5C584AB3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4732-A3D1-4FE6-9CDE-A1BE3A82EBAD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81760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5922C-D049-8F4F-5303-1ABE6895B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17B54C-C8C0-4968-7594-F3B1B0E2F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Scénario de la séance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7722BE7-266D-90E4-2D30-687746009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464" y="1478153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1. Présentation du système dans son contexte industriel.</a:t>
            </a:r>
          </a:p>
          <a:p>
            <a:pPr marL="0" indent="0">
              <a:buNone/>
            </a:pPr>
            <a:r>
              <a:rPr lang="fr-FR" dirty="0"/>
              <a:t>2. Identification des différents composants de la chaine de transmission. Aide du logiciel Control Drive pour l’identification avec le système réel (schéma cinématique). </a:t>
            </a:r>
            <a:br>
              <a:rPr lang="fr-FR" dirty="0"/>
            </a:br>
            <a:r>
              <a:rPr lang="fr-FR" b="1" dirty="0">
                <a:solidFill>
                  <a:schemeClr val="accent1"/>
                </a:solidFill>
              </a:rPr>
              <a:t>CO3.1 : Identifier et caractériser les fonctions et les constituants d’un produit ainsi que ses entrées/sorties ;</a:t>
            </a:r>
            <a:br>
              <a:rPr lang="fr-FR" b="1" dirty="0">
                <a:solidFill>
                  <a:schemeClr val="accent1"/>
                </a:solidFill>
              </a:rPr>
            </a:br>
            <a:r>
              <a:rPr lang="fr-FR" b="1" dirty="0">
                <a:solidFill>
                  <a:schemeClr val="accent1"/>
                </a:solidFill>
              </a:rPr>
              <a:t>CO3.2 : Identifier et caractériser l’agencement matériel et/ou logiciel d’un produit ;</a:t>
            </a:r>
            <a:br>
              <a:rPr lang="fr-FR" b="1" dirty="0">
                <a:solidFill>
                  <a:schemeClr val="accent1"/>
                </a:solidFill>
              </a:rPr>
            </a:br>
            <a:r>
              <a:rPr lang="fr-FR" b="1" dirty="0">
                <a:solidFill>
                  <a:schemeClr val="accent1"/>
                </a:solidFill>
              </a:rPr>
              <a:t>CO3.4 : Identifier et caractériser des solutions techniques.</a:t>
            </a:r>
            <a:br>
              <a:rPr lang="fr-FR" b="1" dirty="0">
                <a:solidFill>
                  <a:schemeClr val="accent1"/>
                </a:solidFill>
              </a:rPr>
            </a:br>
            <a:r>
              <a:rPr lang="fr-FR" b="1" dirty="0">
                <a:solidFill>
                  <a:schemeClr val="accent6">
                    <a:lumMod val="75000"/>
                  </a:schemeClr>
                </a:solidFill>
              </a:rPr>
              <a:t>Connaissance 2.3 : Approche fonctionnelle et structurelle des chaînes de puissance.</a:t>
            </a:r>
          </a:p>
          <a:p>
            <a:pPr marL="514350" indent="-514350">
              <a:buFont typeface="+mj-lt"/>
              <a:buAutoNum type="arabicPeriod"/>
            </a:pPr>
            <a:endParaRPr lang="fr-FR" dirty="0"/>
          </a:p>
          <a:p>
            <a:pPr marL="514350" indent="-514350">
              <a:buFont typeface="+mj-lt"/>
              <a:buAutoNum type="arabicPeriod"/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3684FE0-1FDD-B7F0-8625-48C0B6C1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4732-A3D1-4FE6-9CDE-A1BE3A82EBAD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77379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11EDA-8460-AE45-35F4-94104C71C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3D8324-8A5C-C26C-6385-1A1EF2B3F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Scénario de la séance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D29E866-E723-8E0B-F5B2-5ECFC111E7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76" y="1118552"/>
            <a:ext cx="10515600" cy="462089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3. Identification des différents composants de la chaine d’information. Interrogation sur l’utilité des différents capteurs.</a:t>
            </a:r>
            <a:br>
              <a:rPr lang="fr-FR" dirty="0"/>
            </a:br>
            <a:r>
              <a:rPr lang="fr-FR" b="1" dirty="0">
                <a:solidFill>
                  <a:schemeClr val="accent1"/>
                </a:solidFill>
              </a:rPr>
              <a:t>CO3.1 : Identifier et caractériser les fonctions et les constituants d’un produit ainsi que ses entrées/sorties ;</a:t>
            </a:r>
            <a:br>
              <a:rPr lang="fr-FR" b="1" dirty="0">
                <a:solidFill>
                  <a:schemeClr val="accent1"/>
                </a:solidFill>
              </a:rPr>
            </a:br>
            <a:r>
              <a:rPr lang="fr-FR" b="1" dirty="0">
                <a:solidFill>
                  <a:schemeClr val="accent1"/>
                </a:solidFill>
              </a:rPr>
              <a:t>CO3.2 : Identifier et caractériser l’agencement matériel et/ou logiciel d’un produit ;</a:t>
            </a:r>
            <a:br>
              <a:rPr lang="fr-FR" b="1" dirty="0">
                <a:solidFill>
                  <a:schemeClr val="accent1"/>
                </a:solidFill>
              </a:rPr>
            </a:br>
            <a:r>
              <a:rPr lang="fr-FR" b="1" dirty="0">
                <a:solidFill>
                  <a:schemeClr val="accent1"/>
                </a:solidFill>
              </a:rPr>
              <a:t>CO3.4 : Identifier et caractériser des solutions techniques.</a:t>
            </a:r>
            <a:br>
              <a:rPr lang="fr-FR" b="1" dirty="0">
                <a:solidFill>
                  <a:schemeClr val="accent1"/>
                </a:solidFill>
              </a:rPr>
            </a:br>
            <a:r>
              <a:rPr lang="fr-FR" b="1" dirty="0">
                <a:solidFill>
                  <a:schemeClr val="accent6">
                    <a:lumMod val="75000"/>
                  </a:schemeClr>
                </a:solidFill>
              </a:rPr>
              <a:t>Connaissance 2.3 : Approche fonctionnelle et structurelle des chaînes  d’information.</a:t>
            </a:r>
          </a:p>
          <a:p>
            <a:pPr marL="0" indent="0">
              <a:buNone/>
            </a:pPr>
            <a:endParaRPr lang="fr-FR" dirty="0"/>
          </a:p>
          <a:p>
            <a:pPr marL="514350" indent="-514350">
              <a:buFont typeface="+mj-lt"/>
              <a:buAutoNum type="arabicPeriod"/>
            </a:pPr>
            <a:endParaRPr lang="fr-FR" dirty="0"/>
          </a:p>
          <a:p>
            <a:pPr marL="514350" indent="-514350">
              <a:buFont typeface="+mj-lt"/>
              <a:buAutoNum type="arabicPeriod"/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1452192-913A-F712-7157-A22E42EAB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4732-A3D1-4FE6-9CDE-A1BE3A82EBAD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41600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8D1DD-0B22-9378-7DC9-D85D91FBA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EB4448-CB7A-475C-4F87-4A5A922DA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Scénario de la séance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6EDBADB-1C79-F50A-B975-25AB8D340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76" y="1118552"/>
            <a:ext cx="10515600" cy="4620895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fr-FR" b="1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fr-FR" dirty="0"/>
              <a:t>4. Compléter une chaine de puissance/d’information du système.</a:t>
            </a:r>
            <a:br>
              <a:rPr lang="fr-FR" dirty="0"/>
            </a:br>
            <a:r>
              <a:rPr lang="fr-FR" b="1" dirty="0">
                <a:solidFill>
                  <a:schemeClr val="accent1"/>
                </a:solidFill>
              </a:rPr>
              <a:t>CO3.1 : Identifier et caractériser les fonctions et les constituants d’un produit ainsi que ses entrées/sorties ;</a:t>
            </a:r>
            <a:br>
              <a:rPr lang="fr-FR" dirty="0"/>
            </a:br>
            <a:r>
              <a:rPr lang="fr-FR" sz="2700" b="1" dirty="0">
                <a:solidFill>
                  <a:schemeClr val="accent6">
                    <a:lumMod val="75000"/>
                  </a:schemeClr>
                </a:solidFill>
              </a:rPr>
              <a:t>Connaissance 2.1 : Représentation des flux MEI.</a:t>
            </a: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514350" indent="-514350">
              <a:buFont typeface="+mj-lt"/>
              <a:buAutoNum type="arabicPeriod"/>
            </a:pPr>
            <a:endParaRPr lang="fr-FR" dirty="0"/>
          </a:p>
          <a:p>
            <a:pPr marL="514350" indent="-514350">
              <a:buFont typeface="+mj-lt"/>
              <a:buAutoNum type="arabicPeriod"/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506DE5F-C46D-A21F-6186-8D1370A58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4732-A3D1-4FE6-9CDE-A1BE3A82EBAD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5715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D9B99-E25A-6700-F209-7E79D0ECB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29B82A-94BB-F9CD-F47C-D9780F50F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Scénario de la séance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B6BCD2D-4215-1FB1-0927-6B2D39A78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FR" dirty="0"/>
              <a:t>5. Prise en main rapide du logiciel (Notice)</a:t>
            </a:r>
          </a:p>
          <a:p>
            <a:pPr marL="0" indent="0">
              <a:buNone/>
            </a:pPr>
            <a:r>
              <a:rPr lang="fr-FR" dirty="0"/>
              <a:t>6. Acquisition de l’évolution de la position en réponse à une consigne (échelon).</a:t>
            </a:r>
          </a:p>
          <a:p>
            <a:pPr marL="0" indent="0">
              <a:buNone/>
            </a:pPr>
            <a:r>
              <a:rPr lang="fr-FR" dirty="0"/>
              <a:t>7. Identifier la vitesse maximale du chariot lorsque qu’il réalise son amplitude complète.</a:t>
            </a:r>
          </a:p>
          <a:p>
            <a:pPr marL="0" indent="0">
              <a:buNone/>
            </a:pPr>
            <a:r>
              <a:rPr lang="fr-FR" dirty="0"/>
              <a:t>8. A l’aide d’acquisition, trouver le rapport entre la vitesse linéaire et la vitesse de rotation moteur (pour aller plus loin).</a:t>
            </a:r>
            <a:br>
              <a:rPr lang="fr-FR" dirty="0"/>
            </a:br>
            <a:br>
              <a:rPr lang="fr-FR" b="1" dirty="0">
                <a:solidFill>
                  <a:schemeClr val="accent1"/>
                </a:solidFill>
              </a:rPr>
            </a:br>
            <a:r>
              <a:rPr lang="fr-FR" b="1" dirty="0">
                <a:solidFill>
                  <a:schemeClr val="accent1"/>
                </a:solidFill>
              </a:rPr>
              <a:t>CO3.3 : Identifier et caractériser le fonctionnement temporel d’un produit ou d’un processus.</a:t>
            </a:r>
            <a:br>
              <a:rPr lang="fr-FR" b="1" dirty="0">
                <a:solidFill>
                  <a:schemeClr val="accent1"/>
                </a:solidFill>
              </a:rPr>
            </a:br>
            <a:r>
              <a:rPr lang="fr-FR" b="1" dirty="0">
                <a:solidFill>
                  <a:schemeClr val="accent6">
                    <a:lumMod val="75000"/>
                  </a:schemeClr>
                </a:solidFill>
              </a:rPr>
              <a:t>Connaissance 6.2. Expérimentations et essais</a:t>
            </a:r>
            <a:br>
              <a:rPr lang="fr-FR" b="1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fr-FR" b="1" dirty="0">
                <a:solidFill>
                  <a:schemeClr val="accent6">
                    <a:lumMod val="75000"/>
                  </a:schemeClr>
                </a:solidFill>
              </a:rPr>
              <a:t>Connaissance 3.4. Comportement informationnel des produits</a:t>
            </a:r>
          </a:p>
          <a:p>
            <a:pPr marL="0" indent="0">
              <a:buNone/>
            </a:pPr>
            <a:endParaRPr lang="fr-FR" b="1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fr-FR" b="1" dirty="0">
                <a:solidFill>
                  <a:schemeClr val="accent1"/>
                </a:solidFill>
              </a:rPr>
              <a:t> </a:t>
            </a:r>
          </a:p>
          <a:p>
            <a:pPr marL="0" indent="0">
              <a:buNone/>
            </a:pPr>
            <a:endParaRPr lang="fr-FR" dirty="0"/>
          </a:p>
          <a:p>
            <a:pPr marL="514350" indent="-514350">
              <a:buFont typeface="+mj-lt"/>
              <a:buAutoNum type="arabicPeriod"/>
            </a:pPr>
            <a:endParaRPr lang="fr-FR" dirty="0"/>
          </a:p>
          <a:p>
            <a:pPr marL="514350" indent="-514350">
              <a:buFont typeface="+mj-lt"/>
              <a:buAutoNum type="arabicPeriod"/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3078641-9932-B393-FB61-9D82BF864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4732-A3D1-4FE6-9CDE-A1BE3A82EBAD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80504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CD1A8-B645-9B96-59D5-2388893AD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8684B1-79B4-5557-DB11-776DC2C92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5" y="240347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54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95F8C3-FA0B-5DFF-CBE2-9A5CE7987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endParaRPr lang="fr-FR" dirty="0"/>
          </a:p>
          <a:p>
            <a:pPr marL="514350" indent="-514350">
              <a:buFont typeface="+mj-lt"/>
              <a:buAutoNum type="arabicPeriod"/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B7207DC-605F-AAA2-E202-0B4A7B703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4732-A3D1-4FE6-9CDE-A1BE3A82EBAD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213352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</TotalTime>
  <Words>1590</Words>
  <Application>Microsoft Office PowerPoint</Application>
  <PresentationFormat>Grand écran</PresentationFormat>
  <Paragraphs>241</Paragraphs>
  <Slides>26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0" baseType="lpstr">
      <vt:lpstr>Aptos</vt:lpstr>
      <vt:lpstr>Aptos Display</vt:lpstr>
      <vt:lpstr>Arial</vt:lpstr>
      <vt:lpstr>Thème Office</vt:lpstr>
      <vt:lpstr>Séquence 1 MEI : « Comment décrire l’organisation d’un produit ? »</vt:lpstr>
      <vt:lpstr>Modalités</vt:lpstr>
      <vt:lpstr>Objectifs de la séquence</vt:lpstr>
      <vt:lpstr>Objectifs de la séquence</vt:lpstr>
      <vt:lpstr>Objectifs de la séquence</vt:lpstr>
      <vt:lpstr>Prérequis</vt:lpstr>
      <vt:lpstr>Architecture de la séquence</vt:lpstr>
      <vt:lpstr>Architecture de la séquence : connaissances mobilisées</vt:lpstr>
      <vt:lpstr>Architecture de la séquence : Montée en compétances</vt:lpstr>
      <vt:lpstr>Modalités de la séance</vt:lpstr>
      <vt:lpstr>Le Control X : présentation</vt:lpstr>
      <vt:lpstr>Le Control X : matériel</vt:lpstr>
      <vt:lpstr>Le Control X : sécurité</vt:lpstr>
      <vt:lpstr>Le Control X : potentialité didactique</vt:lpstr>
      <vt:lpstr>Séance à caractère expérimentale :  Control X</vt:lpstr>
      <vt:lpstr>Scénario de la séance</vt:lpstr>
      <vt:lpstr>Scénario de la séance</vt:lpstr>
      <vt:lpstr>Scénario de la séance : premiere acquisition</vt:lpstr>
      <vt:lpstr>Scénario de la séance : vitesse max</vt:lpstr>
      <vt:lpstr>Scénario de la séance : rapport de réduction</vt:lpstr>
      <vt:lpstr>Scénario de la séance : pour aller plus loin</vt:lpstr>
      <vt:lpstr>Scénario de la séance</vt:lpstr>
      <vt:lpstr>Scénario de la séance</vt:lpstr>
      <vt:lpstr>Scénario de la séance</vt:lpstr>
      <vt:lpstr>Scénario de la séance</vt:lpstr>
      <vt:lpstr>Fin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Thierry jolan</dc:creator>
  <cp:lastModifiedBy>Thierry jolan</cp:lastModifiedBy>
  <cp:revision>10</cp:revision>
  <dcterms:created xsi:type="dcterms:W3CDTF">2026-03-05T13:01:39Z</dcterms:created>
  <dcterms:modified xsi:type="dcterms:W3CDTF">2026-03-12T08:38:51Z</dcterms:modified>
</cp:coreProperties>
</file>