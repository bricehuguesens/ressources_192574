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6.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71" r:id="rId3"/>
    <p:sldId id="286" r:id="rId4"/>
    <p:sldId id="285" r:id="rId5"/>
    <p:sldId id="272" r:id="rId6"/>
    <p:sldId id="257" r:id="rId7"/>
    <p:sldId id="258" r:id="rId8"/>
    <p:sldId id="275" r:id="rId9"/>
    <p:sldId id="261" r:id="rId10"/>
    <p:sldId id="279" r:id="rId11"/>
    <p:sldId id="260" r:id="rId12"/>
    <p:sldId id="280" r:id="rId13"/>
    <p:sldId id="277" r:id="rId14"/>
    <p:sldId id="281" r:id="rId15"/>
    <p:sldId id="278" r:id="rId16"/>
    <p:sldId id="264" r:id="rId17"/>
    <p:sldId id="265" r:id="rId18"/>
    <p:sldId id="284" r:id="rId19"/>
    <p:sldId id="269" r:id="rId20"/>
    <p:sldId id="267" r:id="rId21"/>
    <p:sldId id="282" r:id="rId22"/>
    <p:sldId id="270" r:id="rId23"/>
    <p:sldId id="283" r:id="rId24"/>
    <p:sldId id="274" r:id="rId2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4CED12-929C-42F6-B497-2F7578AEB128}" v="2" dt="2026-06-07T11:59:36.898"/>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9104" autoAdjust="0"/>
  </p:normalViewPr>
  <p:slideViewPr>
    <p:cSldViewPr snapToGrid="0">
      <p:cViewPr varScale="1">
        <p:scale>
          <a:sx n="98" d="100"/>
          <a:sy n="98" d="100"/>
        </p:scale>
        <p:origin x="1074" y="9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gues Brice" userId="c7df3fbd-a2ff-4947-a36f-3c79731735f9" providerId="ADAL" clId="{11C87FC2-1AF0-40DF-92CC-B891D987192B}"/>
    <pc:docChg chg="undo custSel addSld delSld modSld sldOrd addMainMaster delMainMaster modMainMaster">
      <pc:chgData name="Hugues Brice" userId="c7df3fbd-a2ff-4947-a36f-3c79731735f9" providerId="ADAL" clId="{11C87FC2-1AF0-40DF-92CC-B891D987192B}" dt="2026-05-18T11:59:10.490" v="19147" actId="1035"/>
      <pc:docMkLst>
        <pc:docMk/>
      </pc:docMkLst>
      <pc:sldChg chg="addSp delSp modSp new mod ord">
        <pc:chgData name="Hugues Brice" userId="c7df3fbd-a2ff-4947-a36f-3c79731735f9" providerId="ADAL" clId="{11C87FC2-1AF0-40DF-92CC-B891D987192B}" dt="2026-05-18T10:04:59.858" v="19068" actId="20577"/>
        <pc:sldMkLst>
          <pc:docMk/>
          <pc:sldMk cId="344714951" sldId="271"/>
        </pc:sldMkLst>
        <pc:spChg chg="add mod">
          <ac:chgData name="Hugues Brice" userId="c7df3fbd-a2ff-4947-a36f-3c79731735f9" providerId="ADAL" clId="{11C87FC2-1AF0-40DF-92CC-B891D987192B}" dt="2026-05-18T10:04:19.274" v="19005" actId="1076"/>
          <ac:spMkLst>
            <pc:docMk/>
            <pc:sldMk cId="344714951" sldId="271"/>
            <ac:spMk id="8" creationId="{BC0B774F-D1F9-1975-4E94-8CA0236BAB0A}"/>
          </ac:spMkLst>
        </pc:spChg>
        <pc:spChg chg="add mod">
          <ac:chgData name="Hugues Brice" userId="c7df3fbd-a2ff-4947-a36f-3c79731735f9" providerId="ADAL" clId="{11C87FC2-1AF0-40DF-92CC-B891D987192B}" dt="2026-05-18T10:04:38.612" v="19036" actId="20577"/>
          <ac:spMkLst>
            <pc:docMk/>
            <pc:sldMk cId="344714951" sldId="271"/>
            <ac:spMk id="9" creationId="{DBDB80FB-300D-4140-B5A7-F6E396885583}"/>
          </ac:spMkLst>
        </pc:spChg>
        <pc:spChg chg="mod">
          <ac:chgData name="Hugues Brice" userId="c7df3fbd-a2ff-4947-a36f-3c79731735f9" providerId="ADAL" clId="{11C87FC2-1AF0-40DF-92CC-B891D987192B}" dt="2026-05-18T10:04:47.005" v="19039" actId="1076"/>
          <ac:spMkLst>
            <pc:docMk/>
            <pc:sldMk cId="344714951" sldId="271"/>
            <ac:spMk id="12" creationId="{D92538B7-0C8F-E4D3-7802-C719355722C3}"/>
          </ac:spMkLst>
        </pc:spChg>
        <pc:spChg chg="mod">
          <ac:chgData name="Hugues Brice" userId="c7df3fbd-a2ff-4947-a36f-3c79731735f9" providerId="ADAL" clId="{11C87FC2-1AF0-40DF-92CC-B891D987192B}" dt="2026-05-18T10:01:18.606" v="18872" actId="1076"/>
          <ac:spMkLst>
            <pc:docMk/>
            <pc:sldMk cId="344714951" sldId="271"/>
            <ac:spMk id="13" creationId="{8DE5D0C1-6B02-D4FE-328A-45112B411C18}"/>
          </ac:spMkLst>
        </pc:spChg>
        <pc:spChg chg="add mod">
          <ac:chgData name="Hugues Brice" userId="c7df3fbd-a2ff-4947-a36f-3c79731735f9" providerId="ADAL" clId="{11C87FC2-1AF0-40DF-92CC-B891D987192B}" dt="2026-05-18T10:04:59.858" v="19068" actId="20577"/>
          <ac:spMkLst>
            <pc:docMk/>
            <pc:sldMk cId="344714951" sldId="271"/>
            <ac:spMk id="15" creationId="{B6E4D95A-B86F-F576-6AB8-2A4D6804330A}"/>
          </ac:spMkLst>
        </pc:spChg>
        <pc:picChg chg="mod">
          <ac:chgData name="Hugues Brice" userId="c7df3fbd-a2ff-4947-a36f-3c79731735f9" providerId="ADAL" clId="{11C87FC2-1AF0-40DF-92CC-B891D987192B}" dt="2026-05-18T10:04:51.533" v="19040" actId="1076"/>
          <ac:picMkLst>
            <pc:docMk/>
            <pc:sldMk cId="344714951" sldId="271"/>
            <ac:picMk id="10" creationId="{4858824A-6A5C-6297-6764-6ABDBA6D497A}"/>
          </ac:picMkLst>
        </pc:picChg>
      </pc:sldChg>
      <pc:sldChg chg="addSp delSp modSp new mod">
        <pc:chgData name="Hugues Brice" userId="c7df3fbd-a2ff-4947-a36f-3c79731735f9" providerId="ADAL" clId="{11C87FC2-1AF0-40DF-92CC-B891D987192B}" dt="2026-05-18T10:00:45.318" v="18870" actId="1076"/>
        <pc:sldMkLst>
          <pc:docMk/>
          <pc:sldMk cId="3679292356" sldId="285"/>
        </pc:sldMkLst>
        <pc:spChg chg="mod">
          <ac:chgData name="Hugues Brice" userId="c7df3fbd-a2ff-4947-a36f-3c79731735f9" providerId="ADAL" clId="{11C87FC2-1AF0-40DF-92CC-B891D987192B}" dt="2026-05-18T09:57:52.596" v="18839" actId="20577"/>
          <ac:spMkLst>
            <pc:docMk/>
            <pc:sldMk cId="3679292356" sldId="285"/>
            <ac:spMk id="2" creationId="{C24591BE-B8F9-6603-C2E9-5F8B1AB37CF5}"/>
          </ac:spMkLst>
        </pc:spChg>
        <pc:spChg chg="add mod">
          <ac:chgData name="Hugues Brice" userId="c7df3fbd-a2ff-4947-a36f-3c79731735f9" providerId="ADAL" clId="{11C87FC2-1AF0-40DF-92CC-B891D987192B}" dt="2026-05-18T10:00:45.318" v="18870" actId="1076"/>
          <ac:spMkLst>
            <pc:docMk/>
            <pc:sldMk cId="3679292356" sldId="285"/>
            <ac:spMk id="9" creationId="{5443BEA2-7223-7983-BCF6-33E3A21250DA}"/>
          </ac:spMkLst>
        </pc:spChg>
        <pc:picChg chg="add mod">
          <ac:chgData name="Hugues Brice" userId="c7df3fbd-a2ff-4947-a36f-3c79731735f9" providerId="ADAL" clId="{11C87FC2-1AF0-40DF-92CC-B891D987192B}" dt="2026-05-18T09:59:46.586" v="18869" actId="1076"/>
          <ac:picMkLst>
            <pc:docMk/>
            <pc:sldMk cId="3679292356" sldId="285"/>
            <ac:picMk id="7" creationId="{EA43F9E5-A42F-283B-584F-4D1AD672D331}"/>
          </ac:picMkLst>
        </pc:picChg>
      </pc:sldChg>
      <pc:sldChg chg="addSp delSp modSp add mod">
        <pc:chgData name="Hugues Brice" userId="c7df3fbd-a2ff-4947-a36f-3c79731735f9" providerId="ADAL" clId="{11C87FC2-1AF0-40DF-92CC-B891D987192B}" dt="2026-05-18T11:59:10.490" v="19147" actId="1035"/>
        <pc:sldMkLst>
          <pc:docMk/>
          <pc:sldMk cId="3414184331" sldId="286"/>
        </pc:sldMkLst>
        <pc:spChg chg="add mod">
          <ac:chgData name="Hugues Brice" userId="c7df3fbd-a2ff-4947-a36f-3c79731735f9" providerId="ADAL" clId="{11C87FC2-1AF0-40DF-92CC-B891D987192B}" dt="2026-05-18T11:59:10.490" v="19147" actId="1035"/>
          <ac:spMkLst>
            <pc:docMk/>
            <pc:sldMk cId="3414184331" sldId="286"/>
            <ac:spMk id="7" creationId="{2145C009-8136-6E4E-99C5-D30063F2B015}"/>
          </ac:spMkLst>
        </pc:spChg>
        <pc:spChg chg="mod">
          <ac:chgData name="Hugues Brice" userId="c7df3fbd-a2ff-4947-a36f-3c79731735f9" providerId="ADAL" clId="{11C87FC2-1AF0-40DF-92CC-B891D987192B}" dt="2026-05-18T11:57:30.657" v="19099" actId="1076"/>
          <ac:spMkLst>
            <pc:docMk/>
            <pc:sldMk cId="3414184331" sldId="286"/>
            <ac:spMk id="11" creationId="{94A5BD2E-46EC-A4A3-F588-C5C0CE7232D9}"/>
          </ac:spMkLst>
        </pc:spChg>
        <pc:spChg chg="mod">
          <ac:chgData name="Hugues Brice" userId="c7df3fbd-a2ff-4947-a36f-3c79731735f9" providerId="ADAL" clId="{11C87FC2-1AF0-40DF-92CC-B891D987192B}" dt="2026-05-18T11:57:36.240" v="19102" actId="1076"/>
          <ac:spMkLst>
            <pc:docMk/>
            <pc:sldMk cId="3414184331" sldId="286"/>
            <ac:spMk id="12" creationId="{697A948D-9FE7-CD6D-C877-FF915EA3F394}"/>
          </ac:spMkLst>
        </pc:spChg>
        <pc:picChg chg="add mod">
          <ac:chgData name="Hugues Brice" userId="c7df3fbd-a2ff-4947-a36f-3c79731735f9" providerId="ADAL" clId="{11C87FC2-1AF0-40DF-92CC-B891D987192B}" dt="2026-05-18T11:57:39.392" v="19103" actId="1076"/>
          <ac:picMkLst>
            <pc:docMk/>
            <pc:sldMk cId="3414184331" sldId="286"/>
            <ac:picMk id="3" creationId="{C0DB3433-9A96-6D1D-490A-9C97711509A2}"/>
          </ac:picMkLst>
        </pc:picChg>
        <pc:picChg chg="mod ord modCrop">
          <ac:chgData name="Hugues Brice" userId="c7df3fbd-a2ff-4947-a36f-3c79731735f9" providerId="ADAL" clId="{11C87FC2-1AF0-40DF-92CC-B891D987192B}" dt="2026-05-18T11:57:41.390" v="19104" actId="1076"/>
          <ac:picMkLst>
            <pc:docMk/>
            <pc:sldMk cId="3414184331" sldId="286"/>
            <ac:picMk id="10" creationId="{A97D7E02-28EB-EAD9-5237-F5E8706E90A9}"/>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ensrennes-my.sharepoint.com/personal/brice_hugues_ens-rennes_fr/Documents/ActExp_TpP&#233;da_ChevilleNao.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ensrennes-my.sharepoint.com/personal/brice_hugues_ens-rennes_fr/Documents/ActExp_TpP&#233;da_ChevilleNao.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ysClr val="windowText" lastClr="000000"/>
                </a:solidFill>
                <a:latin typeface="+mn-lt"/>
                <a:ea typeface="+mn-ea"/>
                <a:cs typeface="+mn-cs"/>
              </a:defRPr>
            </a:pPr>
            <a:r>
              <a:rPr lang="en-US"/>
              <a:t>Diagramme de bode en gain</a:t>
            </a:r>
          </a:p>
        </c:rich>
      </c:tx>
      <c:overlay val="0"/>
      <c:spPr>
        <a:noFill/>
        <a:ln>
          <a:noFill/>
        </a:ln>
        <a:effectLst/>
      </c:spPr>
      <c:txPr>
        <a:bodyPr rot="0" spcFirstLastPara="1" vertOverflow="ellipsis" vert="horz" wrap="square" anchor="ctr" anchorCtr="1"/>
        <a:lstStyle/>
        <a:p>
          <a:pPr>
            <a:defRPr sz="1400" b="0" i="0" u="none" strike="noStrike" kern="1200" spc="0" baseline="0">
              <a:solidFill>
                <a:sysClr val="windowText" lastClr="000000"/>
              </a:solidFill>
              <a:latin typeface="+mn-lt"/>
              <a:ea typeface="+mn-ea"/>
              <a:cs typeface="+mn-cs"/>
            </a:defRPr>
          </a:pPr>
          <a:endParaRPr lang="fr-FR"/>
        </a:p>
      </c:txPr>
    </c:title>
    <c:autoTitleDeleted val="0"/>
    <c:plotArea>
      <c:layout/>
      <c:scatterChart>
        <c:scatterStyle val="smoothMarker"/>
        <c:varyColors val="0"/>
        <c:ser>
          <c:idx val="0"/>
          <c:order val="0"/>
          <c:tx>
            <c:strRef>
              <c:f>Feuil1!$C$1</c:f>
              <c:strCache>
                <c:ptCount val="1"/>
                <c:pt idx="0">
                  <c:v>Gain db</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Feuil1!$B$2:$B$6</c:f>
              <c:numCache>
                <c:formatCode>General</c:formatCode>
                <c:ptCount val="5"/>
                <c:pt idx="0">
                  <c:v>0.63</c:v>
                </c:pt>
                <c:pt idx="1">
                  <c:v>1.3</c:v>
                </c:pt>
                <c:pt idx="2">
                  <c:v>6.3</c:v>
                </c:pt>
                <c:pt idx="3">
                  <c:v>12.4</c:v>
                </c:pt>
                <c:pt idx="4">
                  <c:v>63</c:v>
                </c:pt>
              </c:numCache>
            </c:numRef>
          </c:xVal>
          <c:yVal>
            <c:numRef>
              <c:f>Feuil1!$C$2:$C$6</c:f>
              <c:numCache>
                <c:formatCode>General</c:formatCode>
                <c:ptCount val="5"/>
                <c:pt idx="0">
                  <c:v>-0.9</c:v>
                </c:pt>
                <c:pt idx="1">
                  <c:v>-0.9</c:v>
                </c:pt>
                <c:pt idx="2">
                  <c:v>-0.4</c:v>
                </c:pt>
                <c:pt idx="3">
                  <c:v>-4.9000000000000004</c:v>
                </c:pt>
                <c:pt idx="4">
                  <c:v>-14</c:v>
                </c:pt>
              </c:numCache>
            </c:numRef>
          </c:yVal>
          <c:smooth val="1"/>
          <c:extLst>
            <c:ext xmlns:c16="http://schemas.microsoft.com/office/drawing/2014/chart" uri="{C3380CC4-5D6E-409C-BE32-E72D297353CC}">
              <c16:uniqueId val="{00000000-B86E-4224-A5BE-BAFBE451659C}"/>
            </c:ext>
          </c:extLst>
        </c:ser>
        <c:dLbls>
          <c:showLegendKey val="0"/>
          <c:showVal val="0"/>
          <c:showCatName val="0"/>
          <c:showSerName val="0"/>
          <c:showPercent val="0"/>
          <c:showBubbleSize val="0"/>
        </c:dLbls>
        <c:axId val="750433903"/>
        <c:axId val="750434383"/>
      </c:scatterChart>
      <c:valAx>
        <c:axId val="750433903"/>
        <c:scaling>
          <c:logBase val="10"/>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r>
                  <a:rPr lang="fr-FR"/>
                  <a:t>Pulsation (rad/s)</a:t>
                </a:r>
              </a:p>
            </c:rich>
          </c:tx>
          <c:overlay val="0"/>
          <c:spPr>
            <a:noFill/>
            <a:ln>
              <a:noFill/>
            </a:ln>
            <a:effectLst/>
          </c:spPr>
          <c:txPr>
            <a:bodyPr rot="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fr-FR"/>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fr-FR"/>
          </a:p>
        </c:txPr>
        <c:crossAx val="750434383"/>
        <c:crosses val="autoZero"/>
        <c:crossBetween val="midCat"/>
      </c:valAx>
      <c:valAx>
        <c:axId val="75043438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r>
                  <a:rPr lang="fr-FR"/>
                  <a:t>Gain (dB)</a:t>
                </a:r>
              </a:p>
            </c:rich>
          </c:tx>
          <c:overlay val="0"/>
          <c:spPr>
            <a:noFill/>
            <a:ln>
              <a:noFill/>
            </a:ln>
            <a:effectLst/>
          </c:spPr>
          <c:txPr>
            <a:bodyPr rot="-54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fr-FR"/>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fr-FR"/>
          </a:p>
        </c:txPr>
        <c:crossAx val="750433903"/>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accent1"/>
      </a:solidFill>
    </a:ln>
    <a:effectLst/>
  </c:spPr>
  <c:txPr>
    <a:bodyPr/>
    <a:lstStyle/>
    <a:p>
      <a:pPr>
        <a:defRPr>
          <a:solidFill>
            <a:sysClr val="windowText" lastClr="000000"/>
          </a:solidFill>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ysClr val="windowText" lastClr="000000"/>
                </a:solidFill>
                <a:latin typeface="+mn-lt"/>
                <a:ea typeface="+mn-ea"/>
                <a:cs typeface="+mn-cs"/>
              </a:defRPr>
            </a:pPr>
            <a:r>
              <a:rPr lang="en-US"/>
              <a:t>Diagramme de bode en phase</a:t>
            </a:r>
          </a:p>
        </c:rich>
      </c:tx>
      <c:overlay val="0"/>
      <c:spPr>
        <a:noFill/>
        <a:ln>
          <a:noFill/>
        </a:ln>
        <a:effectLst/>
      </c:spPr>
      <c:txPr>
        <a:bodyPr rot="0" spcFirstLastPara="1" vertOverflow="ellipsis" vert="horz" wrap="square" anchor="ctr" anchorCtr="1"/>
        <a:lstStyle/>
        <a:p>
          <a:pPr>
            <a:defRPr sz="1400" b="0" i="0" u="none" strike="noStrike" kern="1200" spc="0" baseline="0">
              <a:solidFill>
                <a:sysClr val="windowText" lastClr="000000"/>
              </a:solidFill>
              <a:latin typeface="+mn-lt"/>
              <a:ea typeface="+mn-ea"/>
              <a:cs typeface="+mn-cs"/>
            </a:defRPr>
          </a:pPr>
          <a:endParaRPr lang="fr-FR"/>
        </a:p>
      </c:txPr>
    </c:title>
    <c:autoTitleDeleted val="0"/>
    <c:plotArea>
      <c:layout/>
      <c:scatterChart>
        <c:scatterStyle val="smoothMarker"/>
        <c:varyColors val="0"/>
        <c:ser>
          <c:idx val="0"/>
          <c:order val="0"/>
          <c:tx>
            <c:strRef>
              <c:f>Feuil1!$E$1</c:f>
              <c:strCache>
                <c:ptCount val="1"/>
                <c:pt idx="0">
                  <c:v>Déphasage (deg)</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Feuil1!$B$2:$B$6</c:f>
              <c:numCache>
                <c:formatCode>General</c:formatCode>
                <c:ptCount val="5"/>
                <c:pt idx="0">
                  <c:v>0.63</c:v>
                </c:pt>
                <c:pt idx="1">
                  <c:v>1.3</c:v>
                </c:pt>
                <c:pt idx="2">
                  <c:v>6.3</c:v>
                </c:pt>
                <c:pt idx="3">
                  <c:v>12.4</c:v>
                </c:pt>
                <c:pt idx="4">
                  <c:v>63</c:v>
                </c:pt>
              </c:numCache>
            </c:numRef>
          </c:xVal>
          <c:yVal>
            <c:numRef>
              <c:f>Feuil1!$E$2:$E$6</c:f>
              <c:numCache>
                <c:formatCode>General</c:formatCode>
                <c:ptCount val="5"/>
                <c:pt idx="0">
                  <c:v>-18</c:v>
                </c:pt>
                <c:pt idx="1">
                  <c:v>-21.599999999999998</c:v>
                </c:pt>
                <c:pt idx="2">
                  <c:v>-61.2</c:v>
                </c:pt>
                <c:pt idx="3">
                  <c:v>-93.600000000000009</c:v>
                </c:pt>
                <c:pt idx="4">
                  <c:v>-161.99999999999997</c:v>
                </c:pt>
              </c:numCache>
            </c:numRef>
          </c:yVal>
          <c:smooth val="1"/>
          <c:extLst>
            <c:ext xmlns:c16="http://schemas.microsoft.com/office/drawing/2014/chart" uri="{C3380CC4-5D6E-409C-BE32-E72D297353CC}">
              <c16:uniqueId val="{00000000-8361-445C-B163-041137A69965}"/>
            </c:ext>
          </c:extLst>
        </c:ser>
        <c:dLbls>
          <c:showLegendKey val="0"/>
          <c:showVal val="0"/>
          <c:showCatName val="0"/>
          <c:showSerName val="0"/>
          <c:showPercent val="0"/>
          <c:showBubbleSize val="0"/>
        </c:dLbls>
        <c:axId val="750433903"/>
        <c:axId val="750434383"/>
      </c:scatterChart>
      <c:valAx>
        <c:axId val="750433903"/>
        <c:scaling>
          <c:logBase val="10"/>
          <c:orientation val="minMax"/>
          <c:max val="1000"/>
          <c:min val="1.0000000000000002E-2"/>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r>
                  <a:rPr lang="fr-FR"/>
                  <a:t>Pulsation (rad/s)</a:t>
                </a:r>
              </a:p>
            </c:rich>
          </c:tx>
          <c:overlay val="0"/>
          <c:spPr>
            <a:noFill/>
            <a:ln>
              <a:noFill/>
            </a:ln>
            <a:effectLst/>
          </c:spPr>
          <c:txPr>
            <a:bodyPr rot="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fr-FR"/>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fr-FR"/>
          </a:p>
        </c:txPr>
        <c:crossAx val="750434383"/>
        <c:crosses val="autoZero"/>
        <c:crossBetween val="midCat"/>
      </c:valAx>
      <c:valAx>
        <c:axId val="75043438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r>
                  <a:rPr lang="fr-FR"/>
                  <a:t>Déphasage (deg)</a:t>
                </a:r>
              </a:p>
            </c:rich>
          </c:tx>
          <c:overlay val="0"/>
          <c:spPr>
            <a:noFill/>
            <a:ln>
              <a:noFill/>
            </a:ln>
            <a:effectLst/>
          </c:spPr>
          <c:txPr>
            <a:bodyPr rot="-54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fr-FR"/>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fr-FR"/>
          </a:p>
        </c:txPr>
        <c:crossAx val="750433903"/>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accent1"/>
      </a:solidFill>
    </a:ln>
    <a:effectLst/>
  </c:spPr>
  <c:txPr>
    <a:bodyPr/>
    <a:lstStyle/>
    <a:p>
      <a:pPr>
        <a:defRPr>
          <a:solidFill>
            <a:sysClr val="windowText" lastClr="000000"/>
          </a:solidFill>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788CE2-CA6F-40B6-99DB-924A0242F8B3}" type="datetimeFigureOut">
              <a:rPr lang="fr-FR" smtClean="0"/>
              <a:t>07/06/2026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3CEFF2-E7A6-4285-B000-301EB8B9231E}" type="slidenum">
              <a:rPr lang="fr-FR" smtClean="0"/>
              <a:t>‹N°›</a:t>
            </a:fld>
            <a:endParaRPr lang="fr-FR"/>
          </a:p>
        </p:txBody>
      </p:sp>
    </p:spTree>
    <p:extLst>
      <p:ext uri="{BB962C8B-B14F-4D97-AF65-F5344CB8AC3E}">
        <p14:creationId xmlns:p14="http://schemas.microsoft.com/office/powerpoint/2010/main" val="3820691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83CEFF2-E7A6-4285-B000-301EB8B9231E}" type="slidenum">
              <a:rPr lang="fr-FR" smtClean="0"/>
              <a:t>1</a:t>
            </a:fld>
            <a:endParaRPr lang="fr-FR"/>
          </a:p>
        </p:txBody>
      </p:sp>
    </p:spTree>
    <p:extLst>
      <p:ext uri="{BB962C8B-B14F-4D97-AF65-F5344CB8AC3E}">
        <p14:creationId xmlns:p14="http://schemas.microsoft.com/office/powerpoint/2010/main" val="20815595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83CEFF2-E7A6-4285-B000-301EB8B9231E}" type="slidenum">
              <a:rPr lang="fr-FR" smtClean="0"/>
              <a:t>6</a:t>
            </a:fld>
            <a:endParaRPr lang="fr-FR"/>
          </a:p>
        </p:txBody>
      </p:sp>
    </p:spTree>
    <p:extLst>
      <p:ext uri="{BB962C8B-B14F-4D97-AF65-F5344CB8AC3E}">
        <p14:creationId xmlns:p14="http://schemas.microsoft.com/office/powerpoint/2010/main" val="24320961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b="1" dirty="0"/>
          </a:p>
        </p:txBody>
      </p:sp>
      <p:sp>
        <p:nvSpPr>
          <p:cNvPr id="4" name="Espace réservé du numéro de diapositive 3"/>
          <p:cNvSpPr>
            <a:spLocks noGrp="1"/>
          </p:cNvSpPr>
          <p:nvPr>
            <p:ph type="sldNum" sz="quarter" idx="5"/>
          </p:nvPr>
        </p:nvSpPr>
        <p:spPr/>
        <p:txBody>
          <a:bodyPr/>
          <a:lstStyle/>
          <a:p>
            <a:fld id="{E83CEFF2-E7A6-4285-B000-301EB8B9231E}" type="slidenum">
              <a:rPr lang="fr-FR" smtClean="0"/>
              <a:t>7</a:t>
            </a:fld>
            <a:endParaRPr lang="fr-FR"/>
          </a:p>
        </p:txBody>
      </p:sp>
    </p:spTree>
    <p:extLst>
      <p:ext uri="{BB962C8B-B14F-4D97-AF65-F5344CB8AC3E}">
        <p14:creationId xmlns:p14="http://schemas.microsoft.com/office/powerpoint/2010/main" val="19270944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Diapo très importante</a:t>
            </a:r>
            <a:br>
              <a:rPr lang="fr-FR" b="1" dirty="0"/>
            </a:br>
            <a:r>
              <a:rPr lang="fr-FR" b="1" dirty="0"/>
              <a:t>Avoir toute sa séquence bien en lien avec ce Thème c’est TOP</a:t>
            </a:r>
          </a:p>
        </p:txBody>
      </p:sp>
      <p:sp>
        <p:nvSpPr>
          <p:cNvPr id="4" name="Espace réservé du numéro de diapositive 3"/>
          <p:cNvSpPr>
            <a:spLocks noGrp="1"/>
          </p:cNvSpPr>
          <p:nvPr>
            <p:ph type="sldNum" sz="quarter" idx="5"/>
          </p:nvPr>
        </p:nvSpPr>
        <p:spPr/>
        <p:txBody>
          <a:bodyPr/>
          <a:lstStyle/>
          <a:p>
            <a:fld id="{E83CEFF2-E7A6-4285-B000-301EB8B9231E}" type="slidenum">
              <a:rPr lang="fr-FR" smtClean="0"/>
              <a:t>8</a:t>
            </a:fld>
            <a:endParaRPr lang="fr-FR"/>
          </a:p>
        </p:txBody>
      </p:sp>
    </p:spTree>
    <p:extLst>
      <p:ext uri="{BB962C8B-B14F-4D97-AF65-F5344CB8AC3E}">
        <p14:creationId xmlns:p14="http://schemas.microsoft.com/office/powerpoint/2010/main" val="33618709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83CEFF2-E7A6-4285-B000-301EB8B9231E}" type="slidenum">
              <a:rPr lang="fr-FR" smtClean="0"/>
              <a:t>9</a:t>
            </a:fld>
            <a:endParaRPr lang="fr-FR"/>
          </a:p>
        </p:txBody>
      </p:sp>
    </p:spTree>
    <p:extLst>
      <p:ext uri="{BB962C8B-B14F-4D97-AF65-F5344CB8AC3E}">
        <p14:creationId xmlns:p14="http://schemas.microsoft.com/office/powerpoint/2010/main" val="27559376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CB6FA-DA4D-3645-9F57-83930BF9D99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C618E19-61B5-808B-BD7C-086009849DE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76A45AE-19F4-DAB5-7BE3-5E1F6E3676B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16A80F8-81A7-3ECF-EBFD-4FC5A12A422A}"/>
              </a:ext>
            </a:extLst>
          </p:cNvPr>
          <p:cNvSpPr>
            <a:spLocks noGrp="1"/>
          </p:cNvSpPr>
          <p:nvPr>
            <p:ph type="sldNum" sz="quarter" idx="5"/>
          </p:nvPr>
        </p:nvSpPr>
        <p:spPr/>
        <p:txBody>
          <a:bodyPr/>
          <a:lstStyle/>
          <a:p>
            <a:fld id="{E83CEFF2-E7A6-4285-B000-301EB8B9231E}" type="slidenum">
              <a:rPr lang="fr-FR" smtClean="0"/>
              <a:t>10</a:t>
            </a:fld>
            <a:endParaRPr lang="fr-FR"/>
          </a:p>
        </p:txBody>
      </p:sp>
    </p:spTree>
    <p:extLst>
      <p:ext uri="{BB962C8B-B14F-4D97-AF65-F5344CB8AC3E}">
        <p14:creationId xmlns:p14="http://schemas.microsoft.com/office/powerpoint/2010/main" val="8682138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Rappeler les systèmes utilisés, faire bien un lien avec le fils rouge</a:t>
            </a:r>
          </a:p>
        </p:txBody>
      </p:sp>
      <p:sp>
        <p:nvSpPr>
          <p:cNvPr id="4" name="Espace réservé du numéro de diapositive 3"/>
          <p:cNvSpPr>
            <a:spLocks noGrp="1"/>
          </p:cNvSpPr>
          <p:nvPr>
            <p:ph type="sldNum" sz="quarter" idx="5"/>
          </p:nvPr>
        </p:nvSpPr>
        <p:spPr/>
        <p:txBody>
          <a:bodyPr/>
          <a:lstStyle/>
          <a:p>
            <a:fld id="{E83CEFF2-E7A6-4285-B000-301EB8B9231E}" type="slidenum">
              <a:rPr lang="fr-FR" smtClean="0"/>
              <a:t>11</a:t>
            </a:fld>
            <a:endParaRPr lang="fr-FR"/>
          </a:p>
        </p:txBody>
      </p:sp>
    </p:spTree>
    <p:extLst>
      <p:ext uri="{BB962C8B-B14F-4D97-AF65-F5344CB8AC3E}">
        <p14:creationId xmlns:p14="http://schemas.microsoft.com/office/powerpoint/2010/main" val="1544012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72525-1D47-259A-E854-6C45B67215E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D96D40D-B1F7-DC63-E60C-C7D783CB7BF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88E899F-309C-2FB4-8051-56B71B1B0EE5}"/>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2658E03-E45E-1B88-56C0-CEBF4893F291}"/>
              </a:ext>
            </a:extLst>
          </p:cNvPr>
          <p:cNvSpPr>
            <a:spLocks noGrp="1"/>
          </p:cNvSpPr>
          <p:nvPr>
            <p:ph type="sldNum" sz="quarter" idx="5"/>
          </p:nvPr>
        </p:nvSpPr>
        <p:spPr/>
        <p:txBody>
          <a:bodyPr/>
          <a:lstStyle/>
          <a:p>
            <a:fld id="{E83CEFF2-E7A6-4285-B000-301EB8B9231E}" type="slidenum">
              <a:rPr lang="fr-FR" smtClean="0"/>
              <a:t>12</a:t>
            </a:fld>
            <a:endParaRPr lang="fr-FR"/>
          </a:p>
        </p:txBody>
      </p:sp>
    </p:spTree>
    <p:extLst>
      <p:ext uri="{BB962C8B-B14F-4D97-AF65-F5344CB8AC3E}">
        <p14:creationId xmlns:p14="http://schemas.microsoft.com/office/powerpoint/2010/main" val="6773955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7B3DC-6AB1-2412-8F3B-1556AA75839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C1770D5-560F-07C2-15AC-172DFD9EFEC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CAEB78B-8929-57A9-015E-C89EC4E9E6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Rappeler les systèmes utilisés, faire bien un lien avec le fils rouge</a:t>
            </a:r>
          </a:p>
          <a:p>
            <a:endParaRPr lang="fr-FR" dirty="0"/>
          </a:p>
        </p:txBody>
      </p:sp>
      <p:sp>
        <p:nvSpPr>
          <p:cNvPr id="4" name="Espace réservé du numéro de diapositive 3">
            <a:extLst>
              <a:ext uri="{FF2B5EF4-FFF2-40B4-BE49-F238E27FC236}">
                <a16:creationId xmlns:a16="http://schemas.microsoft.com/office/drawing/2014/main" id="{9B016F60-F11E-54D9-B160-501FF53584FB}"/>
              </a:ext>
            </a:extLst>
          </p:cNvPr>
          <p:cNvSpPr>
            <a:spLocks noGrp="1"/>
          </p:cNvSpPr>
          <p:nvPr>
            <p:ph type="sldNum" sz="quarter" idx="5"/>
          </p:nvPr>
        </p:nvSpPr>
        <p:spPr/>
        <p:txBody>
          <a:bodyPr/>
          <a:lstStyle/>
          <a:p>
            <a:fld id="{E83CEFF2-E7A6-4285-B000-301EB8B9231E}" type="slidenum">
              <a:rPr lang="fr-FR" smtClean="0"/>
              <a:t>13</a:t>
            </a:fld>
            <a:endParaRPr lang="fr-FR"/>
          </a:p>
        </p:txBody>
      </p:sp>
    </p:spTree>
    <p:extLst>
      <p:ext uri="{BB962C8B-B14F-4D97-AF65-F5344CB8AC3E}">
        <p14:creationId xmlns:p14="http://schemas.microsoft.com/office/powerpoint/2010/main" val="22768488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B48F9-638D-E8C8-9451-6B0D3D40455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9232F59-B3D5-DCD0-3913-7AC51061141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594420D-3195-0EBB-2CBE-DF790E5FAF5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DED45DA-D526-4C82-5F2C-ABF2D2A8AB5A}"/>
              </a:ext>
            </a:extLst>
          </p:cNvPr>
          <p:cNvSpPr>
            <a:spLocks noGrp="1"/>
          </p:cNvSpPr>
          <p:nvPr>
            <p:ph type="sldNum" sz="quarter" idx="5"/>
          </p:nvPr>
        </p:nvSpPr>
        <p:spPr/>
        <p:txBody>
          <a:bodyPr/>
          <a:lstStyle/>
          <a:p>
            <a:fld id="{E83CEFF2-E7A6-4285-B000-301EB8B9231E}" type="slidenum">
              <a:rPr lang="fr-FR" smtClean="0"/>
              <a:t>14</a:t>
            </a:fld>
            <a:endParaRPr lang="fr-FR"/>
          </a:p>
        </p:txBody>
      </p:sp>
    </p:spTree>
    <p:extLst>
      <p:ext uri="{BB962C8B-B14F-4D97-AF65-F5344CB8AC3E}">
        <p14:creationId xmlns:p14="http://schemas.microsoft.com/office/powerpoint/2010/main" val="19584910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6A858-8BA2-1D81-9EBB-C05BA510292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F9AA55A-A0A1-E9F2-63B0-F0BEBA4F9A1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00593F8-DBA3-183A-1266-45666AC3E74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Rappeler les systèmes utilisés, faire bien un lien avec le fils rouge</a:t>
            </a:r>
          </a:p>
          <a:p>
            <a:endParaRPr lang="fr-FR" dirty="0"/>
          </a:p>
        </p:txBody>
      </p:sp>
      <p:sp>
        <p:nvSpPr>
          <p:cNvPr id="4" name="Espace réservé du numéro de diapositive 3">
            <a:extLst>
              <a:ext uri="{FF2B5EF4-FFF2-40B4-BE49-F238E27FC236}">
                <a16:creationId xmlns:a16="http://schemas.microsoft.com/office/drawing/2014/main" id="{68EB705E-1105-9F3D-79DF-85614C09CBB8}"/>
              </a:ext>
            </a:extLst>
          </p:cNvPr>
          <p:cNvSpPr>
            <a:spLocks noGrp="1"/>
          </p:cNvSpPr>
          <p:nvPr>
            <p:ph type="sldNum" sz="quarter" idx="5"/>
          </p:nvPr>
        </p:nvSpPr>
        <p:spPr/>
        <p:txBody>
          <a:bodyPr/>
          <a:lstStyle/>
          <a:p>
            <a:fld id="{E83CEFF2-E7A6-4285-B000-301EB8B9231E}" type="slidenum">
              <a:rPr lang="fr-FR" smtClean="0"/>
              <a:t>15</a:t>
            </a:fld>
            <a:endParaRPr lang="fr-FR"/>
          </a:p>
        </p:txBody>
      </p:sp>
    </p:spTree>
    <p:extLst>
      <p:ext uri="{BB962C8B-B14F-4D97-AF65-F5344CB8AC3E}">
        <p14:creationId xmlns:p14="http://schemas.microsoft.com/office/powerpoint/2010/main" val="6539247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83CEFF2-E7A6-4285-B000-301EB8B9231E}" type="slidenum">
              <a:rPr lang="fr-FR" smtClean="0"/>
              <a:t>17</a:t>
            </a:fld>
            <a:endParaRPr lang="fr-FR"/>
          </a:p>
        </p:txBody>
      </p:sp>
    </p:spTree>
    <p:extLst>
      <p:ext uri="{BB962C8B-B14F-4D97-AF65-F5344CB8AC3E}">
        <p14:creationId xmlns:p14="http://schemas.microsoft.com/office/powerpoint/2010/main" val="16110550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Rajouter une diapo avec des exemples de relevés expérimentaux trouvés en ligne, qui ne sont pas en lien avec ma séquence détaillée</a:t>
            </a:r>
            <a:br>
              <a:rPr lang="fr-FR" dirty="0"/>
            </a:br>
            <a:r>
              <a:rPr lang="fr-FR" dirty="0"/>
              <a:t>Synthétiser un peu le tableau si possible</a:t>
            </a:r>
          </a:p>
        </p:txBody>
      </p:sp>
      <p:sp>
        <p:nvSpPr>
          <p:cNvPr id="4" name="Espace réservé du numéro de diapositive 3"/>
          <p:cNvSpPr>
            <a:spLocks noGrp="1"/>
          </p:cNvSpPr>
          <p:nvPr>
            <p:ph type="sldNum" sz="quarter" idx="5"/>
          </p:nvPr>
        </p:nvSpPr>
        <p:spPr/>
        <p:txBody>
          <a:bodyPr/>
          <a:lstStyle/>
          <a:p>
            <a:fld id="{E83CEFF2-E7A6-4285-B000-301EB8B9231E}" type="slidenum">
              <a:rPr lang="fr-FR" smtClean="0"/>
              <a:t>18</a:t>
            </a:fld>
            <a:endParaRPr lang="fr-FR"/>
          </a:p>
        </p:txBody>
      </p:sp>
    </p:spTree>
    <p:extLst>
      <p:ext uri="{BB962C8B-B14F-4D97-AF65-F5344CB8AC3E}">
        <p14:creationId xmlns:p14="http://schemas.microsoft.com/office/powerpoint/2010/main" val="27929723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83CEFF2-E7A6-4285-B000-301EB8B9231E}" type="slidenum">
              <a:rPr lang="fr-FR" smtClean="0"/>
              <a:t>20</a:t>
            </a:fld>
            <a:endParaRPr lang="fr-FR"/>
          </a:p>
        </p:txBody>
      </p:sp>
    </p:spTree>
    <p:extLst>
      <p:ext uri="{BB962C8B-B14F-4D97-AF65-F5344CB8AC3E}">
        <p14:creationId xmlns:p14="http://schemas.microsoft.com/office/powerpoint/2010/main" val="30313684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F7707-317D-91FC-18FB-7D72D519AA3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DCA0689-D694-0D59-BEC4-EE2881E8A9E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86D73B6-2A8F-8AAB-6C2B-7117FEBDF6E0}"/>
              </a:ext>
            </a:extLst>
          </p:cNvPr>
          <p:cNvSpPr>
            <a:spLocks noGrp="1"/>
          </p:cNvSpPr>
          <p:nvPr>
            <p:ph type="body" idx="1"/>
          </p:nvPr>
        </p:nvSpPr>
        <p:spPr/>
        <p:txBody>
          <a:bodyPr/>
          <a:lstStyle/>
          <a:p>
            <a:r>
              <a:rPr lang="fr-FR" dirty="0"/>
              <a:t>Monter plus haut en fréquence pour trancher, passage assez délicat</a:t>
            </a:r>
          </a:p>
        </p:txBody>
      </p:sp>
      <p:sp>
        <p:nvSpPr>
          <p:cNvPr id="4" name="Espace réservé du numéro de diapositive 3">
            <a:extLst>
              <a:ext uri="{FF2B5EF4-FFF2-40B4-BE49-F238E27FC236}">
                <a16:creationId xmlns:a16="http://schemas.microsoft.com/office/drawing/2014/main" id="{4C55BFC0-081B-6C0E-8CD4-8AE289097A5D}"/>
              </a:ext>
            </a:extLst>
          </p:cNvPr>
          <p:cNvSpPr>
            <a:spLocks noGrp="1"/>
          </p:cNvSpPr>
          <p:nvPr>
            <p:ph type="sldNum" sz="quarter" idx="5"/>
          </p:nvPr>
        </p:nvSpPr>
        <p:spPr/>
        <p:txBody>
          <a:bodyPr/>
          <a:lstStyle/>
          <a:p>
            <a:fld id="{E83CEFF2-E7A6-4285-B000-301EB8B9231E}" type="slidenum">
              <a:rPr lang="fr-FR" smtClean="0"/>
              <a:t>21</a:t>
            </a:fld>
            <a:endParaRPr lang="fr-FR"/>
          </a:p>
        </p:txBody>
      </p:sp>
    </p:spTree>
    <p:extLst>
      <p:ext uri="{BB962C8B-B14F-4D97-AF65-F5344CB8AC3E}">
        <p14:creationId xmlns:p14="http://schemas.microsoft.com/office/powerpoint/2010/main" val="11085142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Résultats trop décorrélés de la théorie =&gt; refaire la manip plus soigneusement ou bien ne pas utiliser cette maquette dans </a:t>
            </a:r>
            <a:r>
              <a:rPr lang="fr-FR"/>
              <a:t>ce contexte</a:t>
            </a:r>
            <a:endParaRPr lang="fr-FR" dirty="0"/>
          </a:p>
        </p:txBody>
      </p:sp>
      <p:sp>
        <p:nvSpPr>
          <p:cNvPr id="4" name="Espace réservé du numéro de diapositive 3"/>
          <p:cNvSpPr>
            <a:spLocks noGrp="1"/>
          </p:cNvSpPr>
          <p:nvPr>
            <p:ph type="sldNum" sz="quarter" idx="5"/>
          </p:nvPr>
        </p:nvSpPr>
        <p:spPr/>
        <p:txBody>
          <a:bodyPr/>
          <a:lstStyle/>
          <a:p>
            <a:fld id="{E83CEFF2-E7A6-4285-B000-301EB8B9231E}" type="slidenum">
              <a:rPr lang="fr-FR" smtClean="0"/>
              <a:t>22</a:t>
            </a:fld>
            <a:endParaRPr lang="fr-FR"/>
          </a:p>
        </p:txBody>
      </p:sp>
    </p:spTree>
    <p:extLst>
      <p:ext uri="{BB962C8B-B14F-4D97-AF65-F5344CB8AC3E}">
        <p14:creationId xmlns:p14="http://schemas.microsoft.com/office/powerpoint/2010/main" val="31956829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br>
              <a:rPr lang="fr-FR" dirty="0"/>
            </a:br>
            <a:br>
              <a:rPr lang="fr-FR" dirty="0"/>
            </a:br>
            <a:endParaRPr lang="fr-FR" dirty="0"/>
          </a:p>
        </p:txBody>
      </p:sp>
      <p:sp>
        <p:nvSpPr>
          <p:cNvPr id="4" name="Espace réservé du numéro de diapositive 3"/>
          <p:cNvSpPr>
            <a:spLocks noGrp="1"/>
          </p:cNvSpPr>
          <p:nvPr>
            <p:ph type="sldNum" sz="quarter" idx="5"/>
          </p:nvPr>
        </p:nvSpPr>
        <p:spPr/>
        <p:txBody>
          <a:bodyPr/>
          <a:lstStyle/>
          <a:p>
            <a:fld id="{E83CEFF2-E7A6-4285-B000-301EB8B9231E}" type="slidenum">
              <a:rPr lang="fr-FR" smtClean="0"/>
              <a:t>24</a:t>
            </a:fld>
            <a:endParaRPr lang="fr-FR"/>
          </a:p>
        </p:txBody>
      </p:sp>
    </p:spTree>
    <p:extLst>
      <p:ext uri="{BB962C8B-B14F-4D97-AF65-F5344CB8AC3E}">
        <p14:creationId xmlns:p14="http://schemas.microsoft.com/office/powerpoint/2010/main" val="3775196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1DA9CD-9A39-C2B1-8B45-C4493F5100CC}"/>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3F717425-9DBA-7546-D55B-3343489517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48534487-24C0-CBFC-54AE-581D19D96B4F}"/>
              </a:ext>
            </a:extLst>
          </p:cNvPr>
          <p:cNvSpPr>
            <a:spLocks noGrp="1"/>
          </p:cNvSpPr>
          <p:nvPr>
            <p:ph type="dt" sz="half" idx="10"/>
          </p:nvPr>
        </p:nvSpPr>
        <p:spPr/>
        <p:txBody>
          <a:bodyPr/>
          <a:lstStyle/>
          <a:p>
            <a:r>
              <a:rPr lang="fr-FR"/>
              <a:t>10/03/2026</a:t>
            </a:r>
          </a:p>
        </p:txBody>
      </p:sp>
      <p:sp>
        <p:nvSpPr>
          <p:cNvPr id="5" name="Espace réservé du pied de page 4">
            <a:extLst>
              <a:ext uri="{FF2B5EF4-FFF2-40B4-BE49-F238E27FC236}">
                <a16:creationId xmlns:a16="http://schemas.microsoft.com/office/drawing/2014/main" id="{3F609FA3-2178-CF40-0F0C-D4C852B509B8}"/>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6" name="Espace réservé du numéro de diapositive 5">
            <a:extLst>
              <a:ext uri="{FF2B5EF4-FFF2-40B4-BE49-F238E27FC236}">
                <a16:creationId xmlns:a16="http://schemas.microsoft.com/office/drawing/2014/main" id="{0F21E448-5234-C16D-BC66-05F395197568}"/>
              </a:ext>
            </a:extLst>
          </p:cNvPr>
          <p:cNvSpPr>
            <a:spLocks noGrp="1"/>
          </p:cNvSpPr>
          <p:nvPr>
            <p:ph type="sldNum" sz="quarter" idx="12"/>
          </p:nvPr>
        </p:nvSpPr>
        <p:spPr/>
        <p:txBody>
          <a:bodyPr/>
          <a:lstStyle/>
          <a:p>
            <a:fld id="{3CA76ACC-A68C-4A5C-9615-B59A999884DC}" type="slidenum">
              <a:rPr lang="fr-FR" smtClean="0"/>
              <a:t>‹N°›</a:t>
            </a:fld>
            <a:endParaRPr lang="fr-FR"/>
          </a:p>
        </p:txBody>
      </p:sp>
    </p:spTree>
    <p:extLst>
      <p:ext uri="{BB962C8B-B14F-4D97-AF65-F5344CB8AC3E}">
        <p14:creationId xmlns:p14="http://schemas.microsoft.com/office/powerpoint/2010/main" val="246616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0/03/2026">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DE46AC-15F5-C97B-2903-4EB18C627CA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483F5E9-5165-F4C2-EB83-7E8764C84F51}"/>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B7EC108-CEB7-E840-81B4-91CEFD02691F}"/>
              </a:ext>
            </a:extLst>
          </p:cNvPr>
          <p:cNvSpPr>
            <a:spLocks noGrp="1"/>
          </p:cNvSpPr>
          <p:nvPr>
            <p:ph type="dt" sz="half" idx="10"/>
          </p:nvPr>
        </p:nvSpPr>
        <p:spPr/>
        <p:txBody>
          <a:bodyPr/>
          <a:lstStyle/>
          <a:p>
            <a:r>
              <a:rPr lang="fr-FR"/>
              <a:t>10/03/2026</a:t>
            </a:r>
            <a:endParaRPr lang="fr-FR" dirty="0"/>
          </a:p>
        </p:txBody>
      </p:sp>
      <p:sp>
        <p:nvSpPr>
          <p:cNvPr id="5" name="Espace réservé du pied de page 4">
            <a:extLst>
              <a:ext uri="{FF2B5EF4-FFF2-40B4-BE49-F238E27FC236}">
                <a16:creationId xmlns:a16="http://schemas.microsoft.com/office/drawing/2014/main" id="{CD2A99D1-EEC7-5CD7-47C3-D3FC06DABBCA}"/>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6" name="Espace réservé du numéro de diapositive 5">
            <a:extLst>
              <a:ext uri="{FF2B5EF4-FFF2-40B4-BE49-F238E27FC236}">
                <a16:creationId xmlns:a16="http://schemas.microsoft.com/office/drawing/2014/main" id="{F02183D3-7C7B-C589-9411-690F8ADCE80C}"/>
              </a:ext>
            </a:extLst>
          </p:cNvPr>
          <p:cNvSpPr>
            <a:spLocks noGrp="1"/>
          </p:cNvSpPr>
          <p:nvPr>
            <p:ph type="sldNum" sz="quarter" idx="12"/>
          </p:nvPr>
        </p:nvSpPr>
        <p:spPr/>
        <p:txBody>
          <a:bodyPr/>
          <a:lstStyle/>
          <a:p>
            <a:fld id="{3CA76ACC-A68C-4A5C-9615-B59A999884DC}" type="slidenum">
              <a:rPr lang="fr-FR" smtClean="0"/>
              <a:t>‹N°›</a:t>
            </a:fld>
            <a:endParaRPr lang="fr-FR"/>
          </a:p>
        </p:txBody>
      </p:sp>
    </p:spTree>
    <p:extLst>
      <p:ext uri="{BB962C8B-B14F-4D97-AF65-F5344CB8AC3E}">
        <p14:creationId xmlns:p14="http://schemas.microsoft.com/office/powerpoint/2010/main" val="645455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460708-4BE0-7880-BF07-982A2D94BFC5}"/>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4D94CED7-70A0-FA9E-F375-42D631BAEEF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C14DD303-63AD-010E-EEE9-A9947270FA0A}"/>
              </a:ext>
            </a:extLst>
          </p:cNvPr>
          <p:cNvSpPr>
            <a:spLocks noGrp="1"/>
          </p:cNvSpPr>
          <p:nvPr>
            <p:ph type="dt" sz="half" idx="10"/>
          </p:nvPr>
        </p:nvSpPr>
        <p:spPr/>
        <p:txBody>
          <a:bodyPr/>
          <a:lstStyle/>
          <a:p>
            <a:r>
              <a:rPr lang="fr-FR"/>
              <a:t>10/03/2026</a:t>
            </a:r>
          </a:p>
        </p:txBody>
      </p:sp>
      <p:sp>
        <p:nvSpPr>
          <p:cNvPr id="5" name="Espace réservé du pied de page 4">
            <a:extLst>
              <a:ext uri="{FF2B5EF4-FFF2-40B4-BE49-F238E27FC236}">
                <a16:creationId xmlns:a16="http://schemas.microsoft.com/office/drawing/2014/main" id="{3423E847-26B6-28F5-5CD8-824A61CC7F28}"/>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6" name="Espace réservé du numéro de diapositive 5">
            <a:extLst>
              <a:ext uri="{FF2B5EF4-FFF2-40B4-BE49-F238E27FC236}">
                <a16:creationId xmlns:a16="http://schemas.microsoft.com/office/drawing/2014/main" id="{B7E6ACDA-538C-E624-2364-F2686DD06329}"/>
              </a:ext>
            </a:extLst>
          </p:cNvPr>
          <p:cNvSpPr>
            <a:spLocks noGrp="1"/>
          </p:cNvSpPr>
          <p:nvPr>
            <p:ph type="sldNum" sz="quarter" idx="12"/>
          </p:nvPr>
        </p:nvSpPr>
        <p:spPr/>
        <p:txBody>
          <a:bodyPr/>
          <a:lstStyle/>
          <a:p>
            <a:fld id="{3CA76ACC-A68C-4A5C-9615-B59A999884DC}" type="slidenum">
              <a:rPr lang="fr-FR" smtClean="0"/>
              <a:t>‹N°›</a:t>
            </a:fld>
            <a:endParaRPr lang="fr-FR"/>
          </a:p>
        </p:txBody>
      </p:sp>
    </p:spTree>
    <p:extLst>
      <p:ext uri="{BB962C8B-B14F-4D97-AF65-F5344CB8AC3E}">
        <p14:creationId xmlns:p14="http://schemas.microsoft.com/office/powerpoint/2010/main" val="459189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82A872-0EBC-4F57-0E94-98584BE80FB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925EF7D-F4F1-722A-1B8B-DB4EF6B1D378}"/>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C5118FA2-95D7-2903-A93E-83624958363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E1C3833F-04F3-FC78-66F5-E46FC1C4C64E}"/>
              </a:ext>
            </a:extLst>
          </p:cNvPr>
          <p:cNvSpPr>
            <a:spLocks noGrp="1"/>
          </p:cNvSpPr>
          <p:nvPr>
            <p:ph type="dt" sz="half" idx="10"/>
          </p:nvPr>
        </p:nvSpPr>
        <p:spPr/>
        <p:txBody>
          <a:bodyPr/>
          <a:lstStyle/>
          <a:p>
            <a:r>
              <a:rPr lang="fr-FR"/>
              <a:t>10/03/2026</a:t>
            </a:r>
          </a:p>
        </p:txBody>
      </p:sp>
      <p:sp>
        <p:nvSpPr>
          <p:cNvPr id="6" name="Espace réservé du pied de page 5">
            <a:extLst>
              <a:ext uri="{FF2B5EF4-FFF2-40B4-BE49-F238E27FC236}">
                <a16:creationId xmlns:a16="http://schemas.microsoft.com/office/drawing/2014/main" id="{23B1D448-5188-C8F3-3B57-83968AE320B5}"/>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7" name="Espace réservé du numéro de diapositive 6">
            <a:extLst>
              <a:ext uri="{FF2B5EF4-FFF2-40B4-BE49-F238E27FC236}">
                <a16:creationId xmlns:a16="http://schemas.microsoft.com/office/drawing/2014/main" id="{F63DAD45-024C-E43F-28A3-C2CC6569EABB}"/>
              </a:ext>
            </a:extLst>
          </p:cNvPr>
          <p:cNvSpPr>
            <a:spLocks noGrp="1"/>
          </p:cNvSpPr>
          <p:nvPr>
            <p:ph type="sldNum" sz="quarter" idx="12"/>
          </p:nvPr>
        </p:nvSpPr>
        <p:spPr/>
        <p:txBody>
          <a:bodyPr/>
          <a:lstStyle/>
          <a:p>
            <a:fld id="{3CA76ACC-A68C-4A5C-9615-B59A999884DC}" type="slidenum">
              <a:rPr lang="fr-FR" smtClean="0"/>
              <a:t>‹N°›</a:t>
            </a:fld>
            <a:endParaRPr lang="fr-FR"/>
          </a:p>
        </p:txBody>
      </p:sp>
    </p:spTree>
    <p:extLst>
      <p:ext uri="{BB962C8B-B14F-4D97-AF65-F5344CB8AC3E}">
        <p14:creationId xmlns:p14="http://schemas.microsoft.com/office/powerpoint/2010/main" val="2093628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85A7BD-F965-DC00-E66B-F6A6E7B94436}"/>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5055495F-CDD0-3A3E-9A4D-A71C98EF57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7BC756F-BFB8-2D0F-9E77-C95D3CD80F5F}"/>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9B82A8D-F9A8-F886-0491-84E576CFE6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9E032C1E-049E-4CD0-DD99-6387630F3A96}"/>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7B649A9-4DC6-DBE9-9DC5-1719DFE1E50D}"/>
              </a:ext>
            </a:extLst>
          </p:cNvPr>
          <p:cNvSpPr>
            <a:spLocks noGrp="1"/>
          </p:cNvSpPr>
          <p:nvPr>
            <p:ph type="dt" sz="half" idx="10"/>
          </p:nvPr>
        </p:nvSpPr>
        <p:spPr/>
        <p:txBody>
          <a:bodyPr/>
          <a:lstStyle/>
          <a:p>
            <a:r>
              <a:rPr lang="fr-FR"/>
              <a:t>10/03/2026</a:t>
            </a:r>
          </a:p>
        </p:txBody>
      </p:sp>
      <p:sp>
        <p:nvSpPr>
          <p:cNvPr id="8" name="Espace réservé du pied de page 7">
            <a:extLst>
              <a:ext uri="{FF2B5EF4-FFF2-40B4-BE49-F238E27FC236}">
                <a16:creationId xmlns:a16="http://schemas.microsoft.com/office/drawing/2014/main" id="{D5A3B995-B00E-5E50-E6C2-F13B05664005}"/>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9" name="Espace réservé du numéro de diapositive 8">
            <a:extLst>
              <a:ext uri="{FF2B5EF4-FFF2-40B4-BE49-F238E27FC236}">
                <a16:creationId xmlns:a16="http://schemas.microsoft.com/office/drawing/2014/main" id="{AB66615D-B01F-76A2-FB59-EC7B2066A6C5}"/>
              </a:ext>
            </a:extLst>
          </p:cNvPr>
          <p:cNvSpPr>
            <a:spLocks noGrp="1"/>
          </p:cNvSpPr>
          <p:nvPr>
            <p:ph type="sldNum" sz="quarter" idx="12"/>
          </p:nvPr>
        </p:nvSpPr>
        <p:spPr/>
        <p:txBody>
          <a:bodyPr/>
          <a:lstStyle/>
          <a:p>
            <a:fld id="{3CA76ACC-A68C-4A5C-9615-B59A999884DC}" type="slidenum">
              <a:rPr lang="fr-FR" smtClean="0"/>
              <a:t>‹N°›</a:t>
            </a:fld>
            <a:endParaRPr lang="fr-FR"/>
          </a:p>
        </p:txBody>
      </p:sp>
    </p:spTree>
    <p:extLst>
      <p:ext uri="{BB962C8B-B14F-4D97-AF65-F5344CB8AC3E}">
        <p14:creationId xmlns:p14="http://schemas.microsoft.com/office/powerpoint/2010/main" val="1149803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9AFC94-93D1-1153-447B-0110479BC989}"/>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C43E019D-30B6-32CE-AA5E-2E4E3B8060F3}"/>
              </a:ext>
            </a:extLst>
          </p:cNvPr>
          <p:cNvSpPr>
            <a:spLocks noGrp="1"/>
          </p:cNvSpPr>
          <p:nvPr>
            <p:ph type="dt" sz="half" idx="10"/>
          </p:nvPr>
        </p:nvSpPr>
        <p:spPr/>
        <p:txBody>
          <a:bodyPr/>
          <a:lstStyle/>
          <a:p>
            <a:r>
              <a:rPr lang="fr-FR"/>
              <a:t>10/03/2026</a:t>
            </a:r>
          </a:p>
        </p:txBody>
      </p:sp>
      <p:sp>
        <p:nvSpPr>
          <p:cNvPr id="4" name="Espace réservé du pied de page 3">
            <a:extLst>
              <a:ext uri="{FF2B5EF4-FFF2-40B4-BE49-F238E27FC236}">
                <a16:creationId xmlns:a16="http://schemas.microsoft.com/office/drawing/2014/main" id="{1ADE194A-7E1F-D312-21AD-3DA2057ED08E}"/>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5" name="Espace réservé du numéro de diapositive 4">
            <a:extLst>
              <a:ext uri="{FF2B5EF4-FFF2-40B4-BE49-F238E27FC236}">
                <a16:creationId xmlns:a16="http://schemas.microsoft.com/office/drawing/2014/main" id="{B504951F-410A-7F8D-046A-CB87812308D2}"/>
              </a:ext>
            </a:extLst>
          </p:cNvPr>
          <p:cNvSpPr>
            <a:spLocks noGrp="1"/>
          </p:cNvSpPr>
          <p:nvPr>
            <p:ph type="sldNum" sz="quarter" idx="12"/>
          </p:nvPr>
        </p:nvSpPr>
        <p:spPr/>
        <p:txBody>
          <a:bodyPr/>
          <a:lstStyle/>
          <a:p>
            <a:fld id="{3CA76ACC-A68C-4A5C-9615-B59A999884DC}" type="slidenum">
              <a:rPr lang="fr-FR" smtClean="0"/>
              <a:t>‹N°›</a:t>
            </a:fld>
            <a:endParaRPr lang="fr-FR"/>
          </a:p>
        </p:txBody>
      </p:sp>
    </p:spTree>
    <p:extLst>
      <p:ext uri="{BB962C8B-B14F-4D97-AF65-F5344CB8AC3E}">
        <p14:creationId xmlns:p14="http://schemas.microsoft.com/office/powerpoint/2010/main" val="3240543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8AB6F2A-50DB-4FD9-9144-06772632AF0A}"/>
              </a:ext>
            </a:extLst>
          </p:cNvPr>
          <p:cNvSpPr>
            <a:spLocks noGrp="1"/>
          </p:cNvSpPr>
          <p:nvPr>
            <p:ph type="dt" sz="half" idx="10"/>
          </p:nvPr>
        </p:nvSpPr>
        <p:spPr/>
        <p:txBody>
          <a:bodyPr/>
          <a:lstStyle/>
          <a:p>
            <a:r>
              <a:rPr lang="fr-FR"/>
              <a:t>10/03/2026</a:t>
            </a:r>
          </a:p>
        </p:txBody>
      </p:sp>
      <p:sp>
        <p:nvSpPr>
          <p:cNvPr id="3" name="Espace réservé du pied de page 2">
            <a:extLst>
              <a:ext uri="{FF2B5EF4-FFF2-40B4-BE49-F238E27FC236}">
                <a16:creationId xmlns:a16="http://schemas.microsoft.com/office/drawing/2014/main" id="{47C64ACC-D6C2-0F0D-C7FE-559EB7AADDEB}"/>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4" name="Espace réservé du numéro de diapositive 3">
            <a:extLst>
              <a:ext uri="{FF2B5EF4-FFF2-40B4-BE49-F238E27FC236}">
                <a16:creationId xmlns:a16="http://schemas.microsoft.com/office/drawing/2014/main" id="{8C2054BE-5602-4050-5869-08915794914D}"/>
              </a:ext>
            </a:extLst>
          </p:cNvPr>
          <p:cNvSpPr>
            <a:spLocks noGrp="1"/>
          </p:cNvSpPr>
          <p:nvPr>
            <p:ph type="sldNum" sz="quarter" idx="12"/>
          </p:nvPr>
        </p:nvSpPr>
        <p:spPr/>
        <p:txBody>
          <a:bodyPr/>
          <a:lstStyle/>
          <a:p>
            <a:fld id="{3CA76ACC-A68C-4A5C-9615-B59A999884DC}" type="slidenum">
              <a:rPr lang="fr-FR" smtClean="0"/>
              <a:t>‹N°›</a:t>
            </a:fld>
            <a:endParaRPr lang="fr-FR"/>
          </a:p>
        </p:txBody>
      </p:sp>
    </p:spTree>
    <p:extLst>
      <p:ext uri="{BB962C8B-B14F-4D97-AF65-F5344CB8AC3E}">
        <p14:creationId xmlns:p14="http://schemas.microsoft.com/office/powerpoint/2010/main" val="2219964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088389-6020-A86E-034C-87917A96B49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234CD591-F7B5-6C78-F60F-BF44D456F3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29A03D01-731A-7771-4679-CE29EA9D19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1B8C3FA-CDAC-3174-B13D-B24DEAEF33A0}"/>
              </a:ext>
            </a:extLst>
          </p:cNvPr>
          <p:cNvSpPr>
            <a:spLocks noGrp="1"/>
          </p:cNvSpPr>
          <p:nvPr>
            <p:ph type="dt" sz="half" idx="10"/>
          </p:nvPr>
        </p:nvSpPr>
        <p:spPr/>
        <p:txBody>
          <a:bodyPr/>
          <a:lstStyle/>
          <a:p>
            <a:r>
              <a:rPr lang="fr-FR"/>
              <a:t>10/03/2026</a:t>
            </a:r>
          </a:p>
        </p:txBody>
      </p:sp>
      <p:sp>
        <p:nvSpPr>
          <p:cNvPr id="6" name="Espace réservé du pied de page 5">
            <a:extLst>
              <a:ext uri="{FF2B5EF4-FFF2-40B4-BE49-F238E27FC236}">
                <a16:creationId xmlns:a16="http://schemas.microsoft.com/office/drawing/2014/main" id="{5CBE83FF-F846-FDC3-7B81-CD392836C18D}"/>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7" name="Espace réservé du numéro de diapositive 6">
            <a:extLst>
              <a:ext uri="{FF2B5EF4-FFF2-40B4-BE49-F238E27FC236}">
                <a16:creationId xmlns:a16="http://schemas.microsoft.com/office/drawing/2014/main" id="{AF2633E8-787E-6F7C-897D-951217BAB726}"/>
              </a:ext>
            </a:extLst>
          </p:cNvPr>
          <p:cNvSpPr>
            <a:spLocks noGrp="1"/>
          </p:cNvSpPr>
          <p:nvPr>
            <p:ph type="sldNum" sz="quarter" idx="12"/>
          </p:nvPr>
        </p:nvSpPr>
        <p:spPr/>
        <p:txBody>
          <a:bodyPr/>
          <a:lstStyle/>
          <a:p>
            <a:fld id="{3CA76ACC-A68C-4A5C-9615-B59A999884DC}" type="slidenum">
              <a:rPr lang="fr-FR" smtClean="0"/>
              <a:t>‹N°›</a:t>
            </a:fld>
            <a:endParaRPr lang="fr-FR"/>
          </a:p>
        </p:txBody>
      </p:sp>
    </p:spTree>
    <p:extLst>
      <p:ext uri="{BB962C8B-B14F-4D97-AF65-F5344CB8AC3E}">
        <p14:creationId xmlns:p14="http://schemas.microsoft.com/office/powerpoint/2010/main" val="34205984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4632E8-D7F0-4E31-1F9E-CBB58413095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23C44959-8B13-2AA5-2700-4DC39E943A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8442C1B1-D82B-C382-2402-875DCA863B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3D14CEB-4CA0-DCAC-57CC-233C4FCFC94F}"/>
              </a:ext>
            </a:extLst>
          </p:cNvPr>
          <p:cNvSpPr>
            <a:spLocks noGrp="1"/>
          </p:cNvSpPr>
          <p:nvPr>
            <p:ph type="dt" sz="half" idx="10"/>
          </p:nvPr>
        </p:nvSpPr>
        <p:spPr/>
        <p:txBody>
          <a:bodyPr/>
          <a:lstStyle/>
          <a:p>
            <a:r>
              <a:rPr lang="fr-FR"/>
              <a:t>10/03/2026</a:t>
            </a:r>
          </a:p>
        </p:txBody>
      </p:sp>
      <p:sp>
        <p:nvSpPr>
          <p:cNvPr id="6" name="Espace réservé du pied de page 5">
            <a:extLst>
              <a:ext uri="{FF2B5EF4-FFF2-40B4-BE49-F238E27FC236}">
                <a16:creationId xmlns:a16="http://schemas.microsoft.com/office/drawing/2014/main" id="{069EAE8D-2BB1-4957-E503-2A9D3A9F6726}"/>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7" name="Espace réservé du numéro de diapositive 6">
            <a:extLst>
              <a:ext uri="{FF2B5EF4-FFF2-40B4-BE49-F238E27FC236}">
                <a16:creationId xmlns:a16="http://schemas.microsoft.com/office/drawing/2014/main" id="{2CA93F6E-8F0E-E004-AAF0-8A17E80227D8}"/>
              </a:ext>
            </a:extLst>
          </p:cNvPr>
          <p:cNvSpPr>
            <a:spLocks noGrp="1"/>
          </p:cNvSpPr>
          <p:nvPr>
            <p:ph type="sldNum" sz="quarter" idx="12"/>
          </p:nvPr>
        </p:nvSpPr>
        <p:spPr/>
        <p:txBody>
          <a:bodyPr/>
          <a:lstStyle/>
          <a:p>
            <a:fld id="{3CA76ACC-A68C-4A5C-9615-B59A999884DC}" type="slidenum">
              <a:rPr lang="fr-FR" smtClean="0"/>
              <a:t>‹N°›</a:t>
            </a:fld>
            <a:endParaRPr lang="fr-FR"/>
          </a:p>
        </p:txBody>
      </p:sp>
    </p:spTree>
    <p:extLst>
      <p:ext uri="{BB962C8B-B14F-4D97-AF65-F5344CB8AC3E}">
        <p14:creationId xmlns:p14="http://schemas.microsoft.com/office/powerpoint/2010/main" val="2856114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A143A6-1F96-A7DD-7C9A-C74454EF1CA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CF57722E-86E7-2CE5-54EF-A89A1960086D}"/>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9F15D9A-28A0-534F-8753-DBAB73D89087}"/>
              </a:ext>
            </a:extLst>
          </p:cNvPr>
          <p:cNvSpPr>
            <a:spLocks noGrp="1"/>
          </p:cNvSpPr>
          <p:nvPr>
            <p:ph type="dt" sz="half" idx="10"/>
          </p:nvPr>
        </p:nvSpPr>
        <p:spPr/>
        <p:txBody>
          <a:bodyPr/>
          <a:lstStyle/>
          <a:p>
            <a:r>
              <a:rPr lang="fr-FR"/>
              <a:t>10/03/2026</a:t>
            </a:r>
          </a:p>
        </p:txBody>
      </p:sp>
      <p:sp>
        <p:nvSpPr>
          <p:cNvPr id="5" name="Espace réservé du pied de page 4">
            <a:extLst>
              <a:ext uri="{FF2B5EF4-FFF2-40B4-BE49-F238E27FC236}">
                <a16:creationId xmlns:a16="http://schemas.microsoft.com/office/drawing/2014/main" id="{E4C1D630-C306-3427-A900-7679D3A568A5}"/>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6" name="Espace réservé du numéro de diapositive 5">
            <a:extLst>
              <a:ext uri="{FF2B5EF4-FFF2-40B4-BE49-F238E27FC236}">
                <a16:creationId xmlns:a16="http://schemas.microsoft.com/office/drawing/2014/main" id="{1E2D2619-A0ED-6B65-D145-B276DC362750}"/>
              </a:ext>
            </a:extLst>
          </p:cNvPr>
          <p:cNvSpPr>
            <a:spLocks noGrp="1"/>
          </p:cNvSpPr>
          <p:nvPr>
            <p:ph type="sldNum" sz="quarter" idx="12"/>
          </p:nvPr>
        </p:nvSpPr>
        <p:spPr/>
        <p:txBody>
          <a:bodyPr/>
          <a:lstStyle/>
          <a:p>
            <a:fld id="{3CA76ACC-A68C-4A5C-9615-B59A999884DC}" type="slidenum">
              <a:rPr lang="fr-FR" smtClean="0"/>
              <a:t>‹N°›</a:t>
            </a:fld>
            <a:endParaRPr lang="fr-FR"/>
          </a:p>
        </p:txBody>
      </p:sp>
    </p:spTree>
    <p:extLst>
      <p:ext uri="{BB962C8B-B14F-4D97-AF65-F5344CB8AC3E}">
        <p14:creationId xmlns:p14="http://schemas.microsoft.com/office/powerpoint/2010/main" val="3778056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18677E6-B02B-79B6-DF58-37B0386C3703}"/>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59BB778E-920D-5F84-EFD4-568F061580FF}"/>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4328E0D-E70D-5922-B674-D8222DAAC9C8}"/>
              </a:ext>
            </a:extLst>
          </p:cNvPr>
          <p:cNvSpPr>
            <a:spLocks noGrp="1"/>
          </p:cNvSpPr>
          <p:nvPr>
            <p:ph type="dt" sz="half" idx="10"/>
          </p:nvPr>
        </p:nvSpPr>
        <p:spPr/>
        <p:txBody>
          <a:bodyPr/>
          <a:lstStyle/>
          <a:p>
            <a:r>
              <a:rPr lang="fr-FR"/>
              <a:t>10/03/2026</a:t>
            </a:r>
          </a:p>
        </p:txBody>
      </p:sp>
      <p:sp>
        <p:nvSpPr>
          <p:cNvPr id="5" name="Espace réservé du pied de page 4">
            <a:extLst>
              <a:ext uri="{FF2B5EF4-FFF2-40B4-BE49-F238E27FC236}">
                <a16:creationId xmlns:a16="http://schemas.microsoft.com/office/drawing/2014/main" id="{B842947D-2559-349A-6EFD-461C79B0DC7C}"/>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6" name="Espace réservé du numéro de diapositive 5">
            <a:extLst>
              <a:ext uri="{FF2B5EF4-FFF2-40B4-BE49-F238E27FC236}">
                <a16:creationId xmlns:a16="http://schemas.microsoft.com/office/drawing/2014/main" id="{EEB4B5B1-6201-2F68-5A6A-6C40F4BF3C94}"/>
              </a:ext>
            </a:extLst>
          </p:cNvPr>
          <p:cNvSpPr>
            <a:spLocks noGrp="1"/>
          </p:cNvSpPr>
          <p:nvPr>
            <p:ph type="sldNum" sz="quarter" idx="12"/>
          </p:nvPr>
        </p:nvSpPr>
        <p:spPr/>
        <p:txBody>
          <a:bodyPr/>
          <a:lstStyle/>
          <a:p>
            <a:fld id="{3CA76ACC-A68C-4A5C-9615-B59A999884DC}" type="slidenum">
              <a:rPr lang="fr-FR" smtClean="0"/>
              <a:t>‹N°›</a:t>
            </a:fld>
            <a:endParaRPr lang="fr-FR"/>
          </a:p>
        </p:txBody>
      </p:sp>
    </p:spTree>
    <p:extLst>
      <p:ext uri="{BB962C8B-B14F-4D97-AF65-F5344CB8AC3E}">
        <p14:creationId xmlns:p14="http://schemas.microsoft.com/office/powerpoint/2010/main" val="762401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D54481A-0DEE-1F73-D555-02D028737E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6C42F30C-CD82-6E39-BF0F-6B46CE09A5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8D82F1E-218A-95B3-D04A-E4A3A3EA2B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fr-FR"/>
              <a:t>10/03/2026</a:t>
            </a:r>
          </a:p>
        </p:txBody>
      </p:sp>
      <p:sp>
        <p:nvSpPr>
          <p:cNvPr id="5" name="Espace réservé du pied de page 4">
            <a:extLst>
              <a:ext uri="{FF2B5EF4-FFF2-40B4-BE49-F238E27FC236}">
                <a16:creationId xmlns:a16="http://schemas.microsoft.com/office/drawing/2014/main" id="{645CB476-46EB-9B95-021D-96554AAE76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fr-FR"/>
              <a:t>Epreuve d’exploitation pédagogique d’une activité pratique relative à l’approche globale d’un système pluritechnique</a:t>
            </a:r>
          </a:p>
        </p:txBody>
      </p:sp>
      <p:sp>
        <p:nvSpPr>
          <p:cNvPr id="6" name="Espace réservé du numéro de diapositive 5">
            <a:extLst>
              <a:ext uri="{FF2B5EF4-FFF2-40B4-BE49-F238E27FC236}">
                <a16:creationId xmlns:a16="http://schemas.microsoft.com/office/drawing/2014/main" id="{97607920-0D1F-5231-40B7-B04AECEA39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A76ACC-A68C-4A5C-9615-B59A999884DC}" type="slidenum">
              <a:rPr lang="fr-FR" smtClean="0"/>
              <a:t>‹N°›</a:t>
            </a:fld>
            <a:endParaRPr lang="fr-FR"/>
          </a:p>
        </p:txBody>
      </p:sp>
    </p:spTree>
    <p:extLst>
      <p:ext uri="{BB962C8B-B14F-4D97-AF65-F5344CB8AC3E}">
        <p14:creationId xmlns:p14="http://schemas.microsoft.com/office/powerpoint/2010/main" val="2687883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15.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2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8FC3B6BF-45B2-66B7-434D-000BBF9E119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101337" y="3250576"/>
            <a:ext cx="2771864" cy="2835900"/>
          </a:xfrm>
          <a:prstGeom prst="rect">
            <a:avLst/>
          </a:prstGeom>
        </p:spPr>
      </p:pic>
      <p:sp>
        <p:nvSpPr>
          <p:cNvPr id="2" name="Titre 1">
            <a:extLst>
              <a:ext uri="{FF2B5EF4-FFF2-40B4-BE49-F238E27FC236}">
                <a16:creationId xmlns:a16="http://schemas.microsoft.com/office/drawing/2014/main" id="{C97D808F-E9A3-0F64-D98F-7274E1512AF5}"/>
              </a:ext>
            </a:extLst>
          </p:cNvPr>
          <p:cNvSpPr>
            <a:spLocks noGrp="1"/>
          </p:cNvSpPr>
          <p:nvPr>
            <p:ph type="ctrTitle"/>
          </p:nvPr>
        </p:nvSpPr>
        <p:spPr>
          <a:xfrm>
            <a:off x="475488" y="1122363"/>
            <a:ext cx="10954512" cy="2387600"/>
          </a:xfrm>
        </p:spPr>
        <p:txBody>
          <a:bodyPr>
            <a:noAutofit/>
          </a:bodyPr>
          <a:lstStyle/>
          <a:p>
            <a:r>
              <a:rPr lang="fr-FR" sz="3600" dirty="0"/>
              <a:t>Epreuve d’exploitation pédagogique d’une activité pratique relative à l’approche globale d’un système pluri technique</a:t>
            </a:r>
            <a:br>
              <a:rPr lang="fr-FR" sz="3600" dirty="0"/>
            </a:br>
            <a:r>
              <a:rPr lang="fr-FR" sz="3600" dirty="0"/>
              <a:t>	</a:t>
            </a:r>
          </a:p>
        </p:txBody>
      </p:sp>
      <p:sp>
        <p:nvSpPr>
          <p:cNvPr id="3" name="Sous-titre 2">
            <a:extLst>
              <a:ext uri="{FF2B5EF4-FFF2-40B4-BE49-F238E27FC236}">
                <a16:creationId xmlns:a16="http://schemas.microsoft.com/office/drawing/2014/main" id="{D844B6C4-59E4-AF93-97B5-5B71BE3A05F9}"/>
              </a:ext>
            </a:extLst>
          </p:cNvPr>
          <p:cNvSpPr>
            <a:spLocks noGrp="1"/>
          </p:cNvSpPr>
          <p:nvPr>
            <p:ph type="subTitle" idx="1"/>
          </p:nvPr>
        </p:nvSpPr>
        <p:spPr>
          <a:xfrm>
            <a:off x="1086612" y="3739198"/>
            <a:ext cx="10018776" cy="1655762"/>
          </a:xfrm>
        </p:spPr>
        <p:txBody>
          <a:bodyPr/>
          <a:lstStyle/>
          <a:p>
            <a:r>
              <a:rPr lang="fr-FR" dirty="0"/>
              <a:t>PTSI-PT | La Cheville NAO</a:t>
            </a:r>
          </a:p>
        </p:txBody>
      </p:sp>
      <p:sp>
        <p:nvSpPr>
          <p:cNvPr id="4" name="Espace réservé du pied de page 3">
            <a:extLst>
              <a:ext uri="{FF2B5EF4-FFF2-40B4-BE49-F238E27FC236}">
                <a16:creationId xmlns:a16="http://schemas.microsoft.com/office/drawing/2014/main" id="{63D40113-54D2-58CB-A5DF-C5A2D5440F3F}"/>
              </a:ext>
            </a:extLst>
          </p:cNvPr>
          <p:cNvSpPr>
            <a:spLocks noGrp="1"/>
          </p:cNvSpPr>
          <p:nvPr>
            <p:ph type="ftr" sz="quarter" idx="11"/>
          </p:nvPr>
        </p:nvSpPr>
        <p:spPr/>
        <p:txBody>
          <a:bodyPr/>
          <a:lstStyle/>
          <a:p>
            <a:r>
              <a:rPr lang="fr-FR" sz="1600" dirty="0">
                <a:solidFill>
                  <a:schemeClr val="tx1"/>
                </a:solidFill>
              </a:rPr>
              <a:t>Brice HUGUES | Candidat n° 02540450966</a:t>
            </a:r>
          </a:p>
        </p:txBody>
      </p:sp>
      <p:sp>
        <p:nvSpPr>
          <p:cNvPr id="5" name="Espace réservé du numéro de diapositive 4">
            <a:extLst>
              <a:ext uri="{FF2B5EF4-FFF2-40B4-BE49-F238E27FC236}">
                <a16:creationId xmlns:a16="http://schemas.microsoft.com/office/drawing/2014/main" id="{3282F958-590C-F479-71D0-DEF0563D5790}"/>
              </a:ext>
            </a:extLst>
          </p:cNvPr>
          <p:cNvSpPr>
            <a:spLocks noGrp="1"/>
          </p:cNvSpPr>
          <p:nvPr>
            <p:ph type="sldNum" sz="quarter" idx="12"/>
          </p:nvPr>
        </p:nvSpPr>
        <p:spPr/>
        <p:txBody>
          <a:bodyPr/>
          <a:lstStyle/>
          <a:p>
            <a:fld id="{3CA76ACC-A68C-4A5C-9615-B59A999884DC}" type="slidenum">
              <a:rPr lang="fr-FR" smtClean="0"/>
              <a:t>1</a:t>
            </a:fld>
            <a:endParaRPr lang="fr-FR"/>
          </a:p>
        </p:txBody>
      </p:sp>
      <p:sp>
        <p:nvSpPr>
          <p:cNvPr id="6" name="Espace réservé de la date 5">
            <a:extLst>
              <a:ext uri="{FF2B5EF4-FFF2-40B4-BE49-F238E27FC236}">
                <a16:creationId xmlns:a16="http://schemas.microsoft.com/office/drawing/2014/main" id="{FE05FF36-F10E-59DC-AD7E-7F197399742F}"/>
              </a:ext>
            </a:extLst>
          </p:cNvPr>
          <p:cNvSpPr>
            <a:spLocks noGrp="1"/>
          </p:cNvSpPr>
          <p:nvPr>
            <p:ph type="dt" sz="half" idx="10"/>
          </p:nvPr>
        </p:nvSpPr>
        <p:spPr/>
        <p:txBody>
          <a:bodyPr/>
          <a:lstStyle/>
          <a:p>
            <a:r>
              <a:rPr lang="fr-FR"/>
              <a:t>10/03/2026</a:t>
            </a:r>
          </a:p>
        </p:txBody>
      </p:sp>
    </p:spTree>
    <p:extLst>
      <p:ext uri="{BB962C8B-B14F-4D97-AF65-F5344CB8AC3E}">
        <p14:creationId xmlns:p14="http://schemas.microsoft.com/office/powerpoint/2010/main" val="1941126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A2AFDF-93A3-C297-50F6-FD524168F564}"/>
              </a:ext>
            </a:extLst>
          </p:cNvPr>
          <p:cNvSpPr>
            <a:spLocks noGrp="1"/>
          </p:cNvSpPr>
          <p:nvPr>
            <p:ph type="title"/>
          </p:nvPr>
        </p:nvSpPr>
        <p:spPr/>
        <p:txBody>
          <a:bodyPr/>
          <a:lstStyle/>
          <a:p>
            <a:r>
              <a:rPr lang="fr-FR" dirty="0"/>
              <a:t>La filière PTSI-PT</a:t>
            </a:r>
          </a:p>
        </p:txBody>
      </p:sp>
      <p:pic>
        <p:nvPicPr>
          <p:cNvPr id="10" name="Espace réservé du contenu 9">
            <a:extLst>
              <a:ext uri="{FF2B5EF4-FFF2-40B4-BE49-F238E27FC236}">
                <a16:creationId xmlns:a16="http://schemas.microsoft.com/office/drawing/2014/main" id="{4858824A-6A5C-6297-6764-6ABDBA6D497A}"/>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2561536" y="1405513"/>
            <a:ext cx="7216624" cy="3708543"/>
          </a:xfrm>
          <a:prstGeom prst="rect">
            <a:avLst/>
          </a:prstGeom>
        </p:spPr>
      </p:pic>
      <p:sp>
        <p:nvSpPr>
          <p:cNvPr id="4" name="Espace réservé de la date 3">
            <a:extLst>
              <a:ext uri="{FF2B5EF4-FFF2-40B4-BE49-F238E27FC236}">
                <a16:creationId xmlns:a16="http://schemas.microsoft.com/office/drawing/2014/main" id="{04335DE6-7791-F88E-C175-0898815A05B7}"/>
              </a:ext>
            </a:extLst>
          </p:cNvPr>
          <p:cNvSpPr>
            <a:spLocks noGrp="1"/>
          </p:cNvSpPr>
          <p:nvPr>
            <p:ph type="dt" sz="half" idx="10"/>
          </p:nvPr>
        </p:nvSpPr>
        <p:spPr/>
        <p:txBody>
          <a:bodyPr/>
          <a:lstStyle/>
          <a:p>
            <a:r>
              <a:rPr lang="fr-FR"/>
              <a:t>10/03/2026</a:t>
            </a:r>
            <a:endParaRPr lang="fr-FR" dirty="0"/>
          </a:p>
        </p:txBody>
      </p:sp>
      <p:sp>
        <p:nvSpPr>
          <p:cNvPr id="5" name="Espace réservé du pied de page 4">
            <a:extLst>
              <a:ext uri="{FF2B5EF4-FFF2-40B4-BE49-F238E27FC236}">
                <a16:creationId xmlns:a16="http://schemas.microsoft.com/office/drawing/2014/main" id="{F935C5A1-A839-B1C4-EBF0-D28D19575E80}"/>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6" name="Espace réservé du numéro de diapositive 5">
            <a:extLst>
              <a:ext uri="{FF2B5EF4-FFF2-40B4-BE49-F238E27FC236}">
                <a16:creationId xmlns:a16="http://schemas.microsoft.com/office/drawing/2014/main" id="{7CE4C430-EE06-7D81-0AA0-E5A47F071D2D}"/>
              </a:ext>
            </a:extLst>
          </p:cNvPr>
          <p:cNvSpPr>
            <a:spLocks noGrp="1"/>
          </p:cNvSpPr>
          <p:nvPr>
            <p:ph type="sldNum" sz="quarter" idx="12"/>
          </p:nvPr>
        </p:nvSpPr>
        <p:spPr/>
        <p:txBody>
          <a:bodyPr/>
          <a:lstStyle/>
          <a:p>
            <a:fld id="{3CA76ACC-A68C-4A5C-9615-B59A999884DC}" type="slidenum">
              <a:rPr lang="fr-FR" smtClean="0"/>
              <a:t>2</a:t>
            </a:fld>
            <a:endParaRPr lang="fr-FR"/>
          </a:p>
        </p:txBody>
      </p:sp>
      <p:sp>
        <p:nvSpPr>
          <p:cNvPr id="11" name="Bulle narrative : rectangle à coins arrondis 10">
            <a:extLst>
              <a:ext uri="{FF2B5EF4-FFF2-40B4-BE49-F238E27FC236}">
                <a16:creationId xmlns:a16="http://schemas.microsoft.com/office/drawing/2014/main" id="{523CBDB5-3FFC-CAAA-902C-12F21ECF4420}"/>
              </a:ext>
            </a:extLst>
          </p:cNvPr>
          <p:cNvSpPr/>
          <p:nvPr/>
        </p:nvSpPr>
        <p:spPr>
          <a:xfrm>
            <a:off x="9040430" y="1049052"/>
            <a:ext cx="2578608" cy="1194371"/>
          </a:xfrm>
          <a:prstGeom prst="wedgeRound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 Résoudre de façon innovante des problèmes inédits »</a:t>
            </a:r>
          </a:p>
        </p:txBody>
      </p:sp>
      <p:sp>
        <p:nvSpPr>
          <p:cNvPr id="12" name="Bulle narrative : rectangle à coins arrondis 11">
            <a:extLst>
              <a:ext uri="{FF2B5EF4-FFF2-40B4-BE49-F238E27FC236}">
                <a16:creationId xmlns:a16="http://schemas.microsoft.com/office/drawing/2014/main" id="{D92538B7-0C8F-E4D3-7802-C719355722C3}"/>
              </a:ext>
            </a:extLst>
          </p:cNvPr>
          <p:cNvSpPr/>
          <p:nvPr/>
        </p:nvSpPr>
        <p:spPr>
          <a:xfrm>
            <a:off x="466053" y="2306137"/>
            <a:ext cx="2578608" cy="1194371"/>
          </a:xfrm>
          <a:prstGeom prst="wedgeRound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 Des méthodes et des outils pour s’adapter à l’évolution des sciences »</a:t>
            </a:r>
          </a:p>
        </p:txBody>
      </p:sp>
      <p:sp>
        <p:nvSpPr>
          <p:cNvPr id="13" name="Bulle narrative : rectangle à coins arrondis 12">
            <a:extLst>
              <a:ext uri="{FF2B5EF4-FFF2-40B4-BE49-F238E27FC236}">
                <a16:creationId xmlns:a16="http://schemas.microsoft.com/office/drawing/2014/main" id="{8DE5D0C1-6B02-D4FE-328A-45112B411C18}"/>
              </a:ext>
            </a:extLst>
          </p:cNvPr>
          <p:cNvSpPr/>
          <p:nvPr/>
        </p:nvSpPr>
        <p:spPr>
          <a:xfrm>
            <a:off x="9282064" y="3204199"/>
            <a:ext cx="2578608" cy="1194371"/>
          </a:xfrm>
          <a:prstGeom prst="wedgeRound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 Capacité d’innovation face aux défis actuels majeurs »</a:t>
            </a:r>
          </a:p>
        </p:txBody>
      </p:sp>
      <p:sp>
        <p:nvSpPr>
          <p:cNvPr id="8" name="Rectangle : coins arrondis 7">
            <a:extLst>
              <a:ext uri="{FF2B5EF4-FFF2-40B4-BE49-F238E27FC236}">
                <a16:creationId xmlns:a16="http://schemas.microsoft.com/office/drawing/2014/main" id="{BC0B774F-D1F9-1975-4E94-8CA0236BAB0A}"/>
              </a:ext>
            </a:extLst>
          </p:cNvPr>
          <p:cNvSpPr/>
          <p:nvPr/>
        </p:nvSpPr>
        <p:spPr>
          <a:xfrm>
            <a:off x="8153400" y="5246919"/>
            <a:ext cx="2817910" cy="84370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fr-FR" dirty="0"/>
              <a:t>Le système réel (protocole expérimental)</a:t>
            </a:r>
          </a:p>
        </p:txBody>
      </p:sp>
      <p:sp>
        <p:nvSpPr>
          <p:cNvPr id="9" name="Rectangle : coins arrondis 8">
            <a:extLst>
              <a:ext uri="{FF2B5EF4-FFF2-40B4-BE49-F238E27FC236}">
                <a16:creationId xmlns:a16="http://schemas.microsoft.com/office/drawing/2014/main" id="{DBDB80FB-300D-4140-B5A7-F6E396885583}"/>
              </a:ext>
            </a:extLst>
          </p:cNvPr>
          <p:cNvSpPr/>
          <p:nvPr/>
        </p:nvSpPr>
        <p:spPr>
          <a:xfrm>
            <a:off x="4687045" y="5246919"/>
            <a:ext cx="2817910" cy="84370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fr-FR" dirty="0"/>
              <a:t>Le modèle numérique (simulation)</a:t>
            </a:r>
          </a:p>
        </p:txBody>
      </p:sp>
      <p:sp>
        <p:nvSpPr>
          <p:cNvPr id="15" name="Rectangle : coins arrondis 14">
            <a:extLst>
              <a:ext uri="{FF2B5EF4-FFF2-40B4-BE49-F238E27FC236}">
                <a16:creationId xmlns:a16="http://schemas.microsoft.com/office/drawing/2014/main" id="{B6E4D95A-B86F-F576-6AB8-2A4D6804330A}"/>
              </a:ext>
            </a:extLst>
          </p:cNvPr>
          <p:cNvSpPr/>
          <p:nvPr/>
        </p:nvSpPr>
        <p:spPr>
          <a:xfrm>
            <a:off x="1306555" y="5246919"/>
            <a:ext cx="2817910" cy="84370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fr-FR" dirty="0"/>
              <a:t>Le besoin (cahier des charges)</a:t>
            </a:r>
          </a:p>
        </p:txBody>
      </p:sp>
    </p:spTree>
    <p:extLst>
      <p:ext uri="{BB962C8B-B14F-4D97-AF65-F5344CB8AC3E}">
        <p14:creationId xmlns:p14="http://schemas.microsoft.com/office/powerpoint/2010/main" val="344714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A148D-C238-8529-0D22-5389F580A7C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290734D-4276-C9CF-D1DC-424B7404042B}"/>
              </a:ext>
            </a:extLst>
          </p:cNvPr>
          <p:cNvSpPr>
            <a:spLocks noGrp="1"/>
          </p:cNvSpPr>
          <p:nvPr>
            <p:ph type="title"/>
          </p:nvPr>
        </p:nvSpPr>
        <p:spPr/>
        <p:txBody>
          <a:bodyPr/>
          <a:lstStyle/>
          <a:p>
            <a:r>
              <a:rPr lang="fr-FR" dirty="0"/>
              <a:t>La filière PTSI-PT</a:t>
            </a:r>
          </a:p>
        </p:txBody>
      </p:sp>
      <p:sp>
        <p:nvSpPr>
          <p:cNvPr id="4" name="Espace réservé de la date 3">
            <a:extLst>
              <a:ext uri="{FF2B5EF4-FFF2-40B4-BE49-F238E27FC236}">
                <a16:creationId xmlns:a16="http://schemas.microsoft.com/office/drawing/2014/main" id="{C51EB927-F59D-E72D-B32A-CDF4FE484975}"/>
              </a:ext>
            </a:extLst>
          </p:cNvPr>
          <p:cNvSpPr>
            <a:spLocks noGrp="1"/>
          </p:cNvSpPr>
          <p:nvPr>
            <p:ph type="dt" sz="half" idx="10"/>
          </p:nvPr>
        </p:nvSpPr>
        <p:spPr/>
        <p:txBody>
          <a:bodyPr/>
          <a:lstStyle/>
          <a:p>
            <a:r>
              <a:rPr lang="fr-FR"/>
              <a:t>10/03/2026</a:t>
            </a:r>
            <a:endParaRPr lang="fr-FR" dirty="0"/>
          </a:p>
        </p:txBody>
      </p:sp>
      <p:sp>
        <p:nvSpPr>
          <p:cNvPr id="5" name="Espace réservé du pied de page 4">
            <a:extLst>
              <a:ext uri="{FF2B5EF4-FFF2-40B4-BE49-F238E27FC236}">
                <a16:creationId xmlns:a16="http://schemas.microsoft.com/office/drawing/2014/main" id="{6E496C72-64E8-D476-E0BD-CE550018BC50}"/>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6" name="Espace réservé du numéro de diapositive 5">
            <a:extLst>
              <a:ext uri="{FF2B5EF4-FFF2-40B4-BE49-F238E27FC236}">
                <a16:creationId xmlns:a16="http://schemas.microsoft.com/office/drawing/2014/main" id="{12AB0118-4AA2-A708-7137-CAD78840FC6F}"/>
              </a:ext>
            </a:extLst>
          </p:cNvPr>
          <p:cNvSpPr>
            <a:spLocks noGrp="1"/>
          </p:cNvSpPr>
          <p:nvPr>
            <p:ph type="sldNum" sz="quarter" idx="12"/>
          </p:nvPr>
        </p:nvSpPr>
        <p:spPr/>
        <p:txBody>
          <a:bodyPr/>
          <a:lstStyle/>
          <a:p>
            <a:fld id="{3CA76ACC-A68C-4A5C-9615-B59A999884DC}" type="slidenum">
              <a:rPr lang="fr-FR" smtClean="0"/>
              <a:t>3</a:t>
            </a:fld>
            <a:endParaRPr lang="fr-FR"/>
          </a:p>
        </p:txBody>
      </p:sp>
      <p:sp>
        <p:nvSpPr>
          <p:cNvPr id="11" name="Bulle narrative : rectangle à coins arrondis 10">
            <a:extLst>
              <a:ext uri="{FF2B5EF4-FFF2-40B4-BE49-F238E27FC236}">
                <a16:creationId xmlns:a16="http://schemas.microsoft.com/office/drawing/2014/main" id="{94A5BD2E-46EC-A4A3-F588-C5C0CE7232D9}"/>
              </a:ext>
            </a:extLst>
          </p:cNvPr>
          <p:cNvSpPr/>
          <p:nvPr/>
        </p:nvSpPr>
        <p:spPr>
          <a:xfrm>
            <a:off x="8417859" y="4416526"/>
            <a:ext cx="2578608" cy="1194371"/>
          </a:xfrm>
          <a:prstGeom prst="wedgeRound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 Résoudre de façon innovante des problèmes inédits »</a:t>
            </a:r>
          </a:p>
        </p:txBody>
      </p:sp>
      <p:sp>
        <p:nvSpPr>
          <p:cNvPr id="12" name="Bulle narrative : rectangle à coins arrondis 11">
            <a:extLst>
              <a:ext uri="{FF2B5EF4-FFF2-40B4-BE49-F238E27FC236}">
                <a16:creationId xmlns:a16="http://schemas.microsoft.com/office/drawing/2014/main" id="{697A948D-9FE7-CD6D-C877-FF915EA3F394}"/>
              </a:ext>
            </a:extLst>
          </p:cNvPr>
          <p:cNvSpPr/>
          <p:nvPr/>
        </p:nvSpPr>
        <p:spPr>
          <a:xfrm>
            <a:off x="1187371" y="1486509"/>
            <a:ext cx="2578608" cy="1194371"/>
          </a:xfrm>
          <a:prstGeom prst="wedgeRound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 Des méthodes et des outils pour s’adapter à l’évolution des sciences »</a:t>
            </a:r>
          </a:p>
        </p:txBody>
      </p:sp>
      <p:pic>
        <p:nvPicPr>
          <p:cNvPr id="3" name="Image 2" descr="Enseignements technologiques en CPGE - éduscol STI">
            <a:extLst>
              <a:ext uri="{FF2B5EF4-FFF2-40B4-BE49-F238E27FC236}">
                <a16:creationId xmlns:a16="http://schemas.microsoft.com/office/drawing/2014/main" id="{C0DB3433-9A96-6D1D-490A-9C97711509A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286317" y="509402"/>
            <a:ext cx="6651807" cy="3305948"/>
          </a:xfrm>
          <a:prstGeom prst="rect">
            <a:avLst/>
          </a:prstGeom>
        </p:spPr>
      </p:pic>
      <p:pic>
        <p:nvPicPr>
          <p:cNvPr id="10" name="Espace réservé du contenu 9">
            <a:extLst>
              <a:ext uri="{FF2B5EF4-FFF2-40B4-BE49-F238E27FC236}">
                <a16:creationId xmlns:a16="http://schemas.microsoft.com/office/drawing/2014/main" id="{A97D7E02-28EB-EAD9-5237-F5E8706E90A9}"/>
              </a:ext>
            </a:extLst>
          </p:cNvPr>
          <p:cNvPicPr>
            <a:picLocks noGrp="1" noChangeAspect="1"/>
          </p:cNvPicPr>
          <p:nvPr>
            <p:ph idx="1"/>
          </p:nvPr>
        </p:nvPicPr>
        <p:blipFill>
          <a:blip r:embed="rId3" cstate="email">
            <a:extLst>
              <a:ext uri="{28A0092B-C50C-407E-A947-70E740481C1C}">
                <a14:useLocalDpi xmlns:a14="http://schemas.microsoft.com/office/drawing/2010/main"/>
              </a:ext>
            </a:extLst>
          </a:blip>
          <a:srcRect/>
          <a:stretch>
            <a:fillRect/>
          </a:stretch>
        </p:blipFill>
        <p:spPr>
          <a:xfrm>
            <a:off x="-5530" y="3181751"/>
            <a:ext cx="6878063" cy="3012567"/>
          </a:xfrm>
          <a:prstGeom prst="rect">
            <a:avLst/>
          </a:prstGeom>
        </p:spPr>
      </p:pic>
      <p:sp>
        <p:nvSpPr>
          <p:cNvPr id="7" name="Rectangle : coins arrondis 6">
            <a:extLst>
              <a:ext uri="{FF2B5EF4-FFF2-40B4-BE49-F238E27FC236}">
                <a16:creationId xmlns:a16="http://schemas.microsoft.com/office/drawing/2014/main" id="{2145C009-8136-6E4E-99C5-D30063F2B015}"/>
              </a:ext>
            </a:extLst>
          </p:cNvPr>
          <p:cNvSpPr/>
          <p:nvPr/>
        </p:nvSpPr>
        <p:spPr>
          <a:xfrm>
            <a:off x="2538556" y="4209137"/>
            <a:ext cx="1789889" cy="866985"/>
          </a:xfrm>
          <a:prstGeom prst="roundRect">
            <a:avLst/>
          </a:prstGeom>
          <a:solidFill>
            <a:schemeClr val="bg2"/>
          </a:solidFill>
          <a:ln w="28575">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fr-FR" sz="1600" dirty="0">
                <a:solidFill>
                  <a:schemeClr val="tx1">
                    <a:lumMod val="65000"/>
                    <a:lumOff val="35000"/>
                  </a:schemeClr>
                </a:solidFill>
              </a:rPr>
              <a:t>Compétences TSI</a:t>
            </a:r>
          </a:p>
        </p:txBody>
      </p:sp>
    </p:spTree>
    <p:extLst>
      <p:ext uri="{BB962C8B-B14F-4D97-AF65-F5344CB8AC3E}">
        <p14:creationId xmlns:p14="http://schemas.microsoft.com/office/powerpoint/2010/main" val="3414184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4591BE-B8F9-6603-C2E9-5F8B1AB37CF5}"/>
              </a:ext>
            </a:extLst>
          </p:cNvPr>
          <p:cNvSpPr>
            <a:spLocks noGrp="1"/>
          </p:cNvSpPr>
          <p:nvPr>
            <p:ph type="title"/>
          </p:nvPr>
        </p:nvSpPr>
        <p:spPr/>
        <p:txBody>
          <a:bodyPr/>
          <a:lstStyle/>
          <a:p>
            <a:r>
              <a:rPr lang="fr-FR" dirty="0"/>
              <a:t>Le cycle Terminale STI2D</a:t>
            </a:r>
          </a:p>
        </p:txBody>
      </p:sp>
      <p:pic>
        <p:nvPicPr>
          <p:cNvPr id="7" name="Espace réservé du contenu 6" descr="Le Bac STI2D - Lycée Pierre Caraminot">
            <a:extLst>
              <a:ext uri="{FF2B5EF4-FFF2-40B4-BE49-F238E27FC236}">
                <a16:creationId xmlns:a16="http://schemas.microsoft.com/office/drawing/2014/main" id="{EA43F9E5-A42F-283B-584F-4D1AD672D331}"/>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5074596" y="1636174"/>
            <a:ext cx="6837816" cy="4351338"/>
          </a:xfrm>
          <a:prstGeom prst="rect">
            <a:avLst/>
          </a:prstGeom>
        </p:spPr>
      </p:pic>
      <p:sp>
        <p:nvSpPr>
          <p:cNvPr id="4" name="Espace réservé de la date 3">
            <a:extLst>
              <a:ext uri="{FF2B5EF4-FFF2-40B4-BE49-F238E27FC236}">
                <a16:creationId xmlns:a16="http://schemas.microsoft.com/office/drawing/2014/main" id="{376B056D-8DE7-F06A-82E8-78A76909A9F0}"/>
              </a:ext>
            </a:extLst>
          </p:cNvPr>
          <p:cNvSpPr>
            <a:spLocks noGrp="1"/>
          </p:cNvSpPr>
          <p:nvPr>
            <p:ph type="dt" sz="half" idx="10"/>
          </p:nvPr>
        </p:nvSpPr>
        <p:spPr/>
        <p:txBody>
          <a:bodyPr/>
          <a:lstStyle/>
          <a:p>
            <a:r>
              <a:rPr lang="fr-FR"/>
              <a:t>10/03/2026</a:t>
            </a:r>
            <a:endParaRPr lang="fr-FR" dirty="0"/>
          </a:p>
        </p:txBody>
      </p:sp>
      <p:sp>
        <p:nvSpPr>
          <p:cNvPr id="5" name="Espace réservé du pied de page 4">
            <a:extLst>
              <a:ext uri="{FF2B5EF4-FFF2-40B4-BE49-F238E27FC236}">
                <a16:creationId xmlns:a16="http://schemas.microsoft.com/office/drawing/2014/main" id="{91004931-FF4A-2AA2-4A81-C14D2E3BBC8E}"/>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6" name="Espace réservé du numéro de diapositive 5">
            <a:extLst>
              <a:ext uri="{FF2B5EF4-FFF2-40B4-BE49-F238E27FC236}">
                <a16:creationId xmlns:a16="http://schemas.microsoft.com/office/drawing/2014/main" id="{1DB0C50E-08FC-AD3F-23EF-39C8C688E964}"/>
              </a:ext>
            </a:extLst>
          </p:cNvPr>
          <p:cNvSpPr>
            <a:spLocks noGrp="1"/>
          </p:cNvSpPr>
          <p:nvPr>
            <p:ph type="sldNum" sz="quarter" idx="12"/>
          </p:nvPr>
        </p:nvSpPr>
        <p:spPr/>
        <p:txBody>
          <a:bodyPr/>
          <a:lstStyle/>
          <a:p>
            <a:fld id="{3CA76ACC-A68C-4A5C-9615-B59A999884DC}" type="slidenum">
              <a:rPr lang="fr-FR" smtClean="0"/>
              <a:t>4</a:t>
            </a:fld>
            <a:endParaRPr lang="fr-FR"/>
          </a:p>
        </p:txBody>
      </p:sp>
      <p:sp>
        <p:nvSpPr>
          <p:cNvPr id="9" name="ZoneTexte 8">
            <a:extLst>
              <a:ext uri="{FF2B5EF4-FFF2-40B4-BE49-F238E27FC236}">
                <a16:creationId xmlns:a16="http://schemas.microsoft.com/office/drawing/2014/main" id="{5443BEA2-7223-7983-BCF6-33E3A21250DA}"/>
              </a:ext>
            </a:extLst>
          </p:cNvPr>
          <p:cNvSpPr txBox="1"/>
          <p:nvPr/>
        </p:nvSpPr>
        <p:spPr>
          <a:xfrm>
            <a:off x="111604" y="2026899"/>
            <a:ext cx="5022979" cy="3569888"/>
          </a:xfrm>
          <a:prstGeom prst="rect">
            <a:avLst/>
          </a:prstGeom>
          <a:noFill/>
        </p:spPr>
        <p:txBody>
          <a:bodyPr wrap="square">
            <a:spAutoFit/>
          </a:bodyPr>
          <a:lstStyle/>
          <a:p>
            <a:pPr>
              <a:lnSpc>
                <a:spcPct val="115000"/>
              </a:lnSpc>
              <a:spcAft>
                <a:spcPts val="800"/>
              </a:spcAft>
            </a:pPr>
            <a:r>
              <a:rPr lang="fr-FR" kern="100" dirty="0">
                <a:effectLst/>
                <a:latin typeface="Aptos" panose="020B0004020202020204" pitchFamily="34" charset="0"/>
                <a:ea typeface="PMingLiU" panose="02020500000000000000" pitchFamily="18" charset="-120"/>
                <a:cs typeface="Arial" panose="020B0604020202020204" pitchFamily="34" charset="0"/>
              </a:rPr>
              <a:t>Les 3 dimensions :</a:t>
            </a:r>
          </a:p>
          <a:p>
            <a:pPr marL="742950" lvl="1" indent="-285750" rtl="0">
              <a:lnSpc>
                <a:spcPct val="115000"/>
              </a:lnSpc>
              <a:spcAft>
                <a:spcPts val="800"/>
              </a:spcAft>
              <a:buFont typeface="Courier New" panose="02070309020205020404" pitchFamily="49" charset="0"/>
              <a:buChar char="o"/>
            </a:pPr>
            <a:r>
              <a:rPr lang="fr-FR" sz="1800" kern="100" dirty="0">
                <a:effectLst/>
                <a:latin typeface="Aptos" panose="020B0004020202020204" pitchFamily="34" charset="0"/>
                <a:ea typeface="PMingLiU" panose="02020500000000000000" pitchFamily="18" charset="-120"/>
                <a:cs typeface="Arial" panose="020B0604020202020204" pitchFamily="34" charset="0"/>
              </a:rPr>
              <a:t>Socio-culturelle : </a:t>
            </a:r>
            <a:r>
              <a:rPr lang="fr-FR" sz="1800" u="sng" kern="100" dirty="0">
                <a:effectLst/>
                <a:latin typeface="Aptos" panose="020B0004020202020204" pitchFamily="34" charset="0"/>
                <a:ea typeface="PMingLiU" panose="02020500000000000000" pitchFamily="18" charset="-120"/>
                <a:cs typeface="Arial" panose="020B0604020202020204" pitchFamily="34" charset="0"/>
              </a:rPr>
              <a:t>technologie génétique</a:t>
            </a:r>
            <a:r>
              <a:rPr lang="fr-FR" sz="1800" kern="100" dirty="0">
                <a:effectLst/>
                <a:latin typeface="Aptos" panose="020B0004020202020204" pitchFamily="34" charset="0"/>
                <a:ea typeface="PMingLiU" panose="02020500000000000000" pitchFamily="18" charset="-120"/>
                <a:cs typeface="Arial" panose="020B0604020202020204" pitchFamily="34" charset="0"/>
              </a:rPr>
              <a:t> (passé), </a:t>
            </a:r>
            <a:r>
              <a:rPr lang="fr-FR" sz="1800" u="sng" kern="100" dirty="0">
                <a:effectLst/>
                <a:latin typeface="Aptos" panose="020B0004020202020204" pitchFamily="34" charset="0"/>
                <a:ea typeface="PMingLiU" panose="02020500000000000000" pitchFamily="18" charset="-120"/>
                <a:cs typeface="Arial" panose="020B0604020202020204" pitchFamily="34" charset="0"/>
              </a:rPr>
              <a:t>générale</a:t>
            </a:r>
            <a:r>
              <a:rPr lang="fr-FR" sz="1800" kern="100" dirty="0">
                <a:effectLst/>
                <a:latin typeface="Aptos" panose="020B0004020202020204" pitchFamily="34" charset="0"/>
                <a:ea typeface="PMingLiU" panose="02020500000000000000" pitchFamily="18" charset="-120"/>
                <a:cs typeface="Arial" panose="020B0604020202020204" pitchFamily="34" charset="0"/>
              </a:rPr>
              <a:t> impact futur)</a:t>
            </a:r>
          </a:p>
          <a:p>
            <a:pPr marL="742950" lvl="1" indent="-285750">
              <a:lnSpc>
                <a:spcPct val="115000"/>
              </a:lnSpc>
              <a:spcAft>
                <a:spcPts val="800"/>
              </a:spcAft>
              <a:buFont typeface="Courier New" panose="02070309020205020404" pitchFamily="49" charset="0"/>
              <a:buChar char="o"/>
            </a:pPr>
            <a:r>
              <a:rPr lang="fr-FR" sz="1800" kern="100" dirty="0">
                <a:effectLst/>
                <a:latin typeface="Aptos" panose="020B0004020202020204" pitchFamily="34" charset="0"/>
                <a:ea typeface="PMingLiU" panose="02020500000000000000" pitchFamily="18" charset="-120"/>
                <a:cs typeface="Arial" panose="020B0604020202020204" pitchFamily="34" charset="0"/>
              </a:rPr>
              <a:t> Scientifique et technique : analyser, expérimenter, simuler, investigation pratique, </a:t>
            </a:r>
            <a:r>
              <a:rPr lang="fr-FR" sz="1800" u="sng" kern="100" dirty="0">
                <a:effectLst/>
                <a:latin typeface="Aptos" panose="020B0004020202020204" pitchFamily="34" charset="0"/>
                <a:ea typeface="PMingLiU" panose="02020500000000000000" pitchFamily="18" charset="-120"/>
                <a:cs typeface="Arial" panose="020B0604020202020204" pitchFamily="34" charset="0"/>
              </a:rPr>
              <a:t>technologie structurale </a:t>
            </a:r>
            <a:r>
              <a:rPr lang="fr-FR" sz="1800" kern="100" dirty="0">
                <a:effectLst/>
                <a:latin typeface="Aptos" panose="020B0004020202020204" pitchFamily="34" charset="0"/>
                <a:ea typeface="PMingLiU" panose="02020500000000000000" pitchFamily="18" charset="-120"/>
                <a:cs typeface="Arial" panose="020B0604020202020204" pitchFamily="34" charset="0"/>
              </a:rPr>
              <a:t>(assemblage de fonctions -&gt; usage)</a:t>
            </a:r>
          </a:p>
          <a:p>
            <a:pPr marL="742950" lvl="1" indent="-285750">
              <a:lnSpc>
                <a:spcPct val="115000"/>
              </a:lnSpc>
              <a:spcAft>
                <a:spcPts val="800"/>
              </a:spcAft>
              <a:buFont typeface="Courier New" panose="02070309020205020404" pitchFamily="49" charset="0"/>
              <a:buChar char="o"/>
            </a:pPr>
            <a:r>
              <a:rPr lang="fr-FR" sz="1800" kern="100" dirty="0">
                <a:effectLst/>
                <a:latin typeface="Aptos" panose="020B0004020202020204" pitchFamily="34" charset="0"/>
                <a:ea typeface="PMingLiU" panose="02020500000000000000" pitchFamily="18" charset="-120"/>
                <a:cs typeface="Arial" panose="020B0604020202020204" pitchFamily="34" charset="0"/>
              </a:rPr>
              <a:t>Ingénierie-design : imaginer, créer, concevoir (projet et prototype), </a:t>
            </a:r>
            <a:r>
              <a:rPr lang="fr-FR" sz="1800" u="sng" kern="100" dirty="0">
                <a:effectLst/>
                <a:latin typeface="Aptos" panose="020B0004020202020204" pitchFamily="34" charset="0"/>
                <a:ea typeface="PMingLiU" panose="02020500000000000000" pitchFamily="18" charset="-120"/>
                <a:cs typeface="Arial" panose="020B0604020202020204" pitchFamily="34" charset="0"/>
              </a:rPr>
              <a:t>technologie générique</a:t>
            </a:r>
            <a:endParaRPr lang="fr-FR" sz="1800" kern="100" dirty="0">
              <a:effectLst/>
              <a:latin typeface="Aptos" panose="020B000402020202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3679292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6BF1A-758D-1ACF-B3D5-CEA4B60429C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D3E002B-B128-98FA-4EB5-C848EB4947AB}"/>
              </a:ext>
            </a:extLst>
          </p:cNvPr>
          <p:cNvSpPr>
            <a:spLocks noGrp="1"/>
          </p:cNvSpPr>
          <p:nvPr>
            <p:ph type="ctrTitle"/>
          </p:nvPr>
        </p:nvSpPr>
        <p:spPr>
          <a:xfrm>
            <a:off x="618744" y="484631"/>
            <a:ext cx="10954512" cy="1516571"/>
          </a:xfrm>
        </p:spPr>
        <p:txBody>
          <a:bodyPr>
            <a:noAutofit/>
          </a:bodyPr>
          <a:lstStyle/>
          <a:p>
            <a:r>
              <a:rPr lang="fr-FR" sz="3600" dirty="0"/>
              <a:t>Expérimenter et résoudre numériquement pour déterminer les performances globales d’un système complexe pluritechnologique (Écarts CDCF/Modèle/Réel) 	</a:t>
            </a:r>
          </a:p>
        </p:txBody>
      </p:sp>
      <p:sp>
        <p:nvSpPr>
          <p:cNvPr id="4" name="Espace réservé du pied de page 3">
            <a:extLst>
              <a:ext uri="{FF2B5EF4-FFF2-40B4-BE49-F238E27FC236}">
                <a16:creationId xmlns:a16="http://schemas.microsoft.com/office/drawing/2014/main" id="{83F9AF8D-D764-063E-7A05-4C9C0A8C44EC}"/>
              </a:ext>
            </a:extLst>
          </p:cNvPr>
          <p:cNvSpPr>
            <a:spLocks noGrp="1"/>
          </p:cNvSpPr>
          <p:nvPr>
            <p:ph type="ftr" sz="quarter" idx="11"/>
          </p:nvPr>
        </p:nvSpPr>
        <p:spPr/>
        <p:txBody>
          <a:bodyPr/>
          <a:lstStyle/>
          <a:p>
            <a:r>
              <a:rPr lang="fr-FR" dirty="0"/>
              <a:t>Epreuve d’exploitation pédagogique d’une activité pratique relative à l’approche globale d’un système pluritechnique</a:t>
            </a:r>
          </a:p>
        </p:txBody>
      </p:sp>
      <p:sp>
        <p:nvSpPr>
          <p:cNvPr id="5" name="Espace réservé du numéro de diapositive 4">
            <a:extLst>
              <a:ext uri="{FF2B5EF4-FFF2-40B4-BE49-F238E27FC236}">
                <a16:creationId xmlns:a16="http://schemas.microsoft.com/office/drawing/2014/main" id="{E5F8E1A1-9BF6-C97F-BB15-010A13D6BBF4}"/>
              </a:ext>
            </a:extLst>
          </p:cNvPr>
          <p:cNvSpPr>
            <a:spLocks noGrp="1"/>
          </p:cNvSpPr>
          <p:nvPr>
            <p:ph type="sldNum" sz="quarter" idx="12"/>
          </p:nvPr>
        </p:nvSpPr>
        <p:spPr/>
        <p:txBody>
          <a:bodyPr/>
          <a:lstStyle/>
          <a:p>
            <a:fld id="{3CA76ACC-A68C-4A5C-9615-B59A999884DC}" type="slidenum">
              <a:rPr lang="fr-FR" smtClean="0"/>
              <a:t>5</a:t>
            </a:fld>
            <a:endParaRPr lang="fr-FR"/>
          </a:p>
        </p:txBody>
      </p:sp>
      <p:sp>
        <p:nvSpPr>
          <p:cNvPr id="6" name="Espace réservé de la date 5">
            <a:extLst>
              <a:ext uri="{FF2B5EF4-FFF2-40B4-BE49-F238E27FC236}">
                <a16:creationId xmlns:a16="http://schemas.microsoft.com/office/drawing/2014/main" id="{4964804D-1090-8E94-9FEF-37F42895A2F0}"/>
              </a:ext>
            </a:extLst>
          </p:cNvPr>
          <p:cNvSpPr>
            <a:spLocks noGrp="1"/>
          </p:cNvSpPr>
          <p:nvPr>
            <p:ph type="dt" sz="half" idx="10"/>
          </p:nvPr>
        </p:nvSpPr>
        <p:spPr/>
        <p:txBody>
          <a:bodyPr/>
          <a:lstStyle/>
          <a:p>
            <a:r>
              <a:rPr lang="fr-FR"/>
              <a:t>10/03/2026</a:t>
            </a:r>
          </a:p>
        </p:txBody>
      </p:sp>
      <p:grpSp>
        <p:nvGrpSpPr>
          <p:cNvPr id="19" name="Groupe 18">
            <a:extLst>
              <a:ext uri="{FF2B5EF4-FFF2-40B4-BE49-F238E27FC236}">
                <a16:creationId xmlns:a16="http://schemas.microsoft.com/office/drawing/2014/main" id="{3879DBC9-1954-1858-B7FD-3F5FA62B0F19}"/>
              </a:ext>
            </a:extLst>
          </p:cNvPr>
          <p:cNvGrpSpPr/>
          <p:nvPr/>
        </p:nvGrpSpPr>
        <p:grpSpPr>
          <a:xfrm>
            <a:off x="-265827" y="3368644"/>
            <a:ext cx="11967480" cy="2642694"/>
            <a:chOff x="-146955" y="2907714"/>
            <a:chExt cx="11967480" cy="2642694"/>
          </a:xfrm>
        </p:grpSpPr>
        <p:pic>
          <p:nvPicPr>
            <p:cNvPr id="1026" name="Picture 2" descr="Control'X – DMS éducation">
              <a:extLst>
                <a:ext uri="{FF2B5EF4-FFF2-40B4-BE49-F238E27FC236}">
                  <a16:creationId xmlns:a16="http://schemas.microsoft.com/office/drawing/2014/main" id="{D1A9F85A-51CD-B53F-49CF-DFA313C388CB}"/>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46955" y="3505994"/>
              <a:ext cx="3341909" cy="187982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TSI/PT Dorian Système">
              <a:extLst>
                <a:ext uri="{FF2B5EF4-FFF2-40B4-BE49-F238E27FC236}">
                  <a16:creationId xmlns:a16="http://schemas.microsoft.com/office/drawing/2014/main" id="{98D6EBD4-B73D-4AB9-B794-3B3FAE1B75ED}"/>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194954" y="3359589"/>
              <a:ext cx="2052257" cy="153255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TSI/PT Dorian Système">
              <a:extLst>
                <a:ext uri="{FF2B5EF4-FFF2-40B4-BE49-F238E27FC236}">
                  <a16:creationId xmlns:a16="http://schemas.microsoft.com/office/drawing/2014/main" id="{DE5B2FD8-1F04-0A9E-E743-1B86BA8BF163}"/>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7511633" y="3063525"/>
              <a:ext cx="2197934" cy="170405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ERM Automatismes Industriels">
              <a:extLst>
                <a:ext uri="{FF2B5EF4-FFF2-40B4-BE49-F238E27FC236}">
                  <a16:creationId xmlns:a16="http://schemas.microsoft.com/office/drawing/2014/main" id="{BC9EB2EB-EC04-DF24-4409-B7E6DDCDD32F}"/>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9982200" y="2953529"/>
              <a:ext cx="1838325" cy="192405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NAO, un robot bien chevillé">
              <a:extLst>
                <a:ext uri="{FF2B5EF4-FFF2-40B4-BE49-F238E27FC236}">
                  <a16:creationId xmlns:a16="http://schemas.microsoft.com/office/drawing/2014/main" id="{9AAB3B5B-85D0-EB3D-4512-4186DCF8C0A0}"/>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5453327" y="2907714"/>
              <a:ext cx="1811561" cy="2015680"/>
            </a:xfrm>
            <a:prstGeom prst="rect">
              <a:avLst/>
            </a:prstGeom>
            <a:noFill/>
            <a:extLst>
              <a:ext uri="{909E8E84-426E-40DD-AFC4-6F175D3DCCD1}">
                <a14:hiddenFill xmlns:a14="http://schemas.microsoft.com/office/drawing/2010/main">
                  <a:solidFill>
                    <a:srgbClr val="FFFFFF"/>
                  </a:solidFill>
                </a14:hiddenFill>
              </a:ext>
            </a:extLst>
          </p:spPr>
        </p:pic>
        <p:sp>
          <p:nvSpPr>
            <p:cNvPr id="9" name="ZoneTexte 8">
              <a:extLst>
                <a:ext uri="{FF2B5EF4-FFF2-40B4-BE49-F238E27FC236}">
                  <a16:creationId xmlns:a16="http://schemas.microsoft.com/office/drawing/2014/main" id="{65F607D2-ADC3-327A-213F-C04E0E732501}"/>
                </a:ext>
              </a:extLst>
            </p:cNvPr>
            <p:cNvSpPr txBox="1"/>
            <p:nvPr/>
          </p:nvSpPr>
          <p:spPr>
            <a:xfrm>
              <a:off x="979387" y="5039892"/>
              <a:ext cx="1124090" cy="369332"/>
            </a:xfrm>
            <a:prstGeom prst="rect">
              <a:avLst/>
            </a:prstGeom>
            <a:noFill/>
          </p:spPr>
          <p:txBody>
            <a:bodyPr wrap="none" rtlCol="0">
              <a:spAutoFit/>
            </a:bodyPr>
            <a:lstStyle/>
            <a:p>
              <a:r>
                <a:rPr lang="fr-FR" dirty="0" err="1"/>
                <a:t>Control’X</a:t>
              </a:r>
              <a:endParaRPr lang="fr-FR" dirty="0"/>
            </a:p>
          </p:txBody>
        </p:sp>
        <p:sp>
          <p:nvSpPr>
            <p:cNvPr id="10" name="ZoneTexte 9">
              <a:extLst>
                <a:ext uri="{FF2B5EF4-FFF2-40B4-BE49-F238E27FC236}">
                  <a16:creationId xmlns:a16="http://schemas.microsoft.com/office/drawing/2014/main" id="{370881CB-DAFE-FA32-C081-F7C3E39A3FFE}"/>
                </a:ext>
              </a:extLst>
            </p:cNvPr>
            <p:cNvSpPr txBox="1"/>
            <p:nvPr/>
          </p:nvSpPr>
          <p:spPr>
            <a:xfrm>
              <a:off x="3563437" y="5039892"/>
              <a:ext cx="1107996" cy="369332"/>
            </a:xfrm>
            <a:prstGeom prst="rect">
              <a:avLst/>
            </a:prstGeom>
            <a:noFill/>
          </p:spPr>
          <p:txBody>
            <a:bodyPr wrap="none" rtlCol="0">
              <a:spAutoFit/>
            </a:bodyPr>
            <a:lstStyle/>
            <a:p>
              <a:r>
                <a:rPr lang="fr-FR" dirty="0" err="1"/>
                <a:t>MaxPID</a:t>
              </a:r>
              <a:r>
                <a:rPr lang="fr-FR" dirty="0"/>
                <a:t> 	</a:t>
              </a:r>
            </a:p>
          </p:txBody>
        </p:sp>
        <p:sp>
          <p:nvSpPr>
            <p:cNvPr id="12" name="ZoneTexte 11">
              <a:extLst>
                <a:ext uri="{FF2B5EF4-FFF2-40B4-BE49-F238E27FC236}">
                  <a16:creationId xmlns:a16="http://schemas.microsoft.com/office/drawing/2014/main" id="{1378F6A5-32A9-ADDC-04EB-16FF34C96FE7}"/>
                </a:ext>
              </a:extLst>
            </p:cNvPr>
            <p:cNvSpPr txBox="1"/>
            <p:nvPr/>
          </p:nvSpPr>
          <p:spPr>
            <a:xfrm>
              <a:off x="5615694" y="5039892"/>
              <a:ext cx="1744218" cy="369332"/>
            </a:xfrm>
            <a:prstGeom prst="rect">
              <a:avLst/>
            </a:prstGeom>
            <a:noFill/>
          </p:spPr>
          <p:txBody>
            <a:bodyPr wrap="square">
              <a:spAutoFit/>
            </a:bodyPr>
            <a:lstStyle/>
            <a:p>
              <a:r>
                <a:rPr lang="fr-FR" sz="1800" b="0" i="0" u="none" strike="noStrike" baseline="0" dirty="0">
                  <a:solidFill>
                    <a:srgbClr val="000000"/>
                  </a:solidFill>
                  <a:latin typeface="Arial" panose="020B0604020202020204" pitchFamily="34" charset="0"/>
                </a:rPr>
                <a:t>Cheville NAO</a:t>
              </a:r>
            </a:p>
          </p:txBody>
        </p:sp>
        <p:sp>
          <p:nvSpPr>
            <p:cNvPr id="13" name="ZoneTexte 12">
              <a:extLst>
                <a:ext uri="{FF2B5EF4-FFF2-40B4-BE49-F238E27FC236}">
                  <a16:creationId xmlns:a16="http://schemas.microsoft.com/office/drawing/2014/main" id="{50554871-8FAF-BEC4-69E2-E57067C5F1C3}"/>
                </a:ext>
              </a:extLst>
            </p:cNvPr>
            <p:cNvSpPr txBox="1"/>
            <p:nvPr/>
          </p:nvSpPr>
          <p:spPr>
            <a:xfrm>
              <a:off x="7650410" y="5039892"/>
              <a:ext cx="2239972" cy="369332"/>
            </a:xfrm>
            <a:prstGeom prst="rect">
              <a:avLst/>
            </a:prstGeom>
            <a:noFill/>
          </p:spPr>
          <p:txBody>
            <a:bodyPr wrap="none" rtlCol="0">
              <a:spAutoFit/>
            </a:bodyPr>
            <a:lstStyle/>
            <a:p>
              <a:r>
                <a:rPr lang="fr-FR" dirty="0"/>
                <a:t>Plateforme sismique</a:t>
              </a:r>
            </a:p>
          </p:txBody>
        </p:sp>
        <p:sp>
          <p:nvSpPr>
            <p:cNvPr id="15" name="ZoneTexte 14">
              <a:extLst>
                <a:ext uri="{FF2B5EF4-FFF2-40B4-BE49-F238E27FC236}">
                  <a16:creationId xmlns:a16="http://schemas.microsoft.com/office/drawing/2014/main" id="{4AFD4877-4C1C-D21B-CEBC-5744365CE56E}"/>
                </a:ext>
              </a:extLst>
            </p:cNvPr>
            <p:cNvSpPr txBox="1"/>
            <p:nvPr/>
          </p:nvSpPr>
          <p:spPr>
            <a:xfrm>
              <a:off x="10275904" y="5039892"/>
              <a:ext cx="1180727" cy="369332"/>
            </a:xfrm>
            <a:prstGeom prst="rect">
              <a:avLst/>
            </a:prstGeom>
            <a:noFill/>
          </p:spPr>
          <p:txBody>
            <a:bodyPr wrap="square">
              <a:spAutoFit/>
            </a:bodyPr>
            <a:lstStyle/>
            <a:p>
              <a:r>
                <a:rPr lang="fr-FR" dirty="0" err="1"/>
                <a:t>Comax</a:t>
              </a:r>
              <a:endParaRPr lang="fr-FR" dirty="0"/>
            </a:p>
          </p:txBody>
        </p:sp>
        <p:sp>
          <p:nvSpPr>
            <p:cNvPr id="16" name="Rectangle : coins arrondis 15">
              <a:extLst>
                <a:ext uri="{FF2B5EF4-FFF2-40B4-BE49-F238E27FC236}">
                  <a16:creationId xmlns:a16="http://schemas.microsoft.com/office/drawing/2014/main" id="{2F05B1CB-695B-0639-602E-55A8626A6DFE}"/>
                </a:ext>
              </a:extLst>
            </p:cNvPr>
            <p:cNvSpPr/>
            <p:nvPr/>
          </p:nvSpPr>
          <p:spPr>
            <a:xfrm>
              <a:off x="5550408" y="2907714"/>
              <a:ext cx="1744218" cy="2642694"/>
            </a:xfrm>
            <a:prstGeom prst="roundRect">
              <a:avLst/>
            </a:prstGeom>
            <a:noFill/>
            <a:ln>
              <a:solidFill>
                <a:srgbClr val="FF0000"/>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grpSp>
      <p:sp>
        <p:nvSpPr>
          <p:cNvPr id="20" name="ZoneTexte 19">
            <a:extLst>
              <a:ext uri="{FF2B5EF4-FFF2-40B4-BE49-F238E27FC236}">
                <a16:creationId xmlns:a16="http://schemas.microsoft.com/office/drawing/2014/main" id="{D401F127-D0D0-8317-9299-E13E4E2F2712}"/>
              </a:ext>
            </a:extLst>
          </p:cNvPr>
          <p:cNvSpPr txBox="1"/>
          <p:nvPr/>
        </p:nvSpPr>
        <p:spPr>
          <a:xfrm>
            <a:off x="860515" y="2551452"/>
            <a:ext cx="9413731" cy="369332"/>
          </a:xfrm>
          <a:prstGeom prst="rect">
            <a:avLst/>
          </a:prstGeom>
          <a:noFill/>
        </p:spPr>
        <p:txBody>
          <a:bodyPr wrap="none" rtlCol="0">
            <a:spAutoFit/>
          </a:bodyPr>
          <a:lstStyle/>
          <a:p>
            <a:r>
              <a:rPr lang="fr-FR" dirty="0"/>
              <a:t>- Modèle canonique de comportement		- Réponse temporelle et fréquentielle</a:t>
            </a:r>
          </a:p>
        </p:txBody>
      </p:sp>
      <p:sp>
        <p:nvSpPr>
          <p:cNvPr id="21" name="Espace réservé du contenu 2">
            <a:extLst>
              <a:ext uri="{FF2B5EF4-FFF2-40B4-BE49-F238E27FC236}">
                <a16:creationId xmlns:a16="http://schemas.microsoft.com/office/drawing/2014/main" id="{9B64EEAD-BC13-6858-5BA9-79FD5F0DEE87}"/>
              </a:ext>
            </a:extLst>
          </p:cNvPr>
          <p:cNvSpPr txBox="1">
            <a:spLocks/>
          </p:cNvSpPr>
          <p:nvPr/>
        </p:nvSpPr>
        <p:spPr>
          <a:xfrm>
            <a:off x="1075563" y="2037355"/>
            <a:ext cx="7958709" cy="58967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dirty="0"/>
              <a:t>Séquence n° 4 du 1</a:t>
            </a:r>
            <a:r>
              <a:rPr lang="fr-FR" baseline="30000" dirty="0"/>
              <a:t>er</a:t>
            </a:r>
            <a:r>
              <a:rPr lang="fr-FR" dirty="0"/>
              <a:t> semestre | 3 semaines | 45 élèves</a:t>
            </a:r>
          </a:p>
        </p:txBody>
      </p:sp>
    </p:spTree>
    <p:extLst>
      <p:ext uri="{BB962C8B-B14F-4D97-AF65-F5344CB8AC3E}">
        <p14:creationId xmlns:p14="http://schemas.microsoft.com/office/powerpoint/2010/main" val="46352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5142ED-AA2F-C869-7545-32650436C98A}"/>
              </a:ext>
            </a:extLst>
          </p:cNvPr>
          <p:cNvSpPr>
            <a:spLocks noGrp="1"/>
          </p:cNvSpPr>
          <p:nvPr>
            <p:ph type="title"/>
          </p:nvPr>
        </p:nvSpPr>
        <p:spPr/>
        <p:txBody>
          <a:bodyPr/>
          <a:lstStyle/>
          <a:p>
            <a:r>
              <a:rPr lang="fr-FR" dirty="0"/>
              <a:t>Contextualisation de séquence et prérequis</a:t>
            </a:r>
          </a:p>
        </p:txBody>
      </p:sp>
      <p:sp>
        <p:nvSpPr>
          <p:cNvPr id="4" name="Espace réservé du pied de page 3">
            <a:extLst>
              <a:ext uri="{FF2B5EF4-FFF2-40B4-BE49-F238E27FC236}">
                <a16:creationId xmlns:a16="http://schemas.microsoft.com/office/drawing/2014/main" id="{92AE3EC5-9131-FD7E-70E6-DB15E7C1F905}"/>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5" name="Espace réservé du numéro de diapositive 4">
            <a:extLst>
              <a:ext uri="{FF2B5EF4-FFF2-40B4-BE49-F238E27FC236}">
                <a16:creationId xmlns:a16="http://schemas.microsoft.com/office/drawing/2014/main" id="{0005AF47-4827-2CD2-ED57-0FCCDDC006CA}"/>
              </a:ext>
            </a:extLst>
          </p:cNvPr>
          <p:cNvSpPr>
            <a:spLocks noGrp="1"/>
          </p:cNvSpPr>
          <p:nvPr>
            <p:ph type="sldNum" sz="quarter" idx="12"/>
          </p:nvPr>
        </p:nvSpPr>
        <p:spPr/>
        <p:txBody>
          <a:bodyPr/>
          <a:lstStyle/>
          <a:p>
            <a:fld id="{3CA76ACC-A68C-4A5C-9615-B59A999884DC}" type="slidenum">
              <a:rPr lang="fr-FR" smtClean="0"/>
              <a:t>6</a:t>
            </a:fld>
            <a:endParaRPr lang="fr-FR"/>
          </a:p>
        </p:txBody>
      </p:sp>
      <p:pic>
        <p:nvPicPr>
          <p:cNvPr id="9" name="Image 8">
            <a:extLst>
              <a:ext uri="{FF2B5EF4-FFF2-40B4-BE49-F238E27FC236}">
                <a16:creationId xmlns:a16="http://schemas.microsoft.com/office/drawing/2014/main" id="{2D969C7D-B234-8B6A-4B51-AD617D35C21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65221" y="3772564"/>
            <a:ext cx="5430779" cy="2206721"/>
          </a:xfrm>
          <a:prstGeom prst="rect">
            <a:avLst/>
          </a:prstGeom>
        </p:spPr>
      </p:pic>
      <p:sp>
        <p:nvSpPr>
          <p:cNvPr id="6" name="Espace réservé de la date 5">
            <a:extLst>
              <a:ext uri="{FF2B5EF4-FFF2-40B4-BE49-F238E27FC236}">
                <a16:creationId xmlns:a16="http://schemas.microsoft.com/office/drawing/2014/main" id="{B2053413-EBD1-098F-6BAA-815CBFD41993}"/>
              </a:ext>
            </a:extLst>
          </p:cNvPr>
          <p:cNvSpPr>
            <a:spLocks noGrp="1"/>
          </p:cNvSpPr>
          <p:nvPr>
            <p:ph type="dt" sz="half" idx="10"/>
          </p:nvPr>
        </p:nvSpPr>
        <p:spPr/>
        <p:txBody>
          <a:bodyPr/>
          <a:lstStyle/>
          <a:p>
            <a:r>
              <a:rPr lang="fr-FR"/>
              <a:t>10/03/2026</a:t>
            </a:r>
            <a:endParaRPr lang="fr-FR" dirty="0"/>
          </a:p>
        </p:txBody>
      </p:sp>
      <p:pic>
        <p:nvPicPr>
          <p:cNvPr id="10" name="Image 9">
            <a:extLst>
              <a:ext uri="{FF2B5EF4-FFF2-40B4-BE49-F238E27FC236}">
                <a16:creationId xmlns:a16="http://schemas.microsoft.com/office/drawing/2014/main" id="{DE80CB84-76BA-911C-BE84-CB942B45013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812280" y="1413510"/>
            <a:ext cx="4852416" cy="4565775"/>
          </a:xfrm>
          <a:prstGeom prst="rect">
            <a:avLst/>
          </a:prstGeom>
        </p:spPr>
      </p:pic>
      <p:pic>
        <p:nvPicPr>
          <p:cNvPr id="12" name="Image 11">
            <a:extLst>
              <a:ext uri="{FF2B5EF4-FFF2-40B4-BE49-F238E27FC236}">
                <a16:creationId xmlns:a16="http://schemas.microsoft.com/office/drawing/2014/main" id="{388BDCF2-57FC-5457-D55E-9C9585A77E64}"/>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527305" y="1615589"/>
            <a:ext cx="6059904" cy="1137329"/>
          </a:xfrm>
          <a:prstGeom prst="rect">
            <a:avLst/>
          </a:prstGeom>
        </p:spPr>
      </p:pic>
      <p:sp>
        <p:nvSpPr>
          <p:cNvPr id="14" name="Espace réservé du contenu 13">
            <a:extLst>
              <a:ext uri="{FF2B5EF4-FFF2-40B4-BE49-F238E27FC236}">
                <a16:creationId xmlns:a16="http://schemas.microsoft.com/office/drawing/2014/main" id="{8B0FA794-595A-B651-EFCC-24FF8245FDDC}"/>
              </a:ext>
            </a:extLst>
          </p:cNvPr>
          <p:cNvSpPr>
            <a:spLocks noGrp="1"/>
          </p:cNvSpPr>
          <p:nvPr>
            <p:ph idx="1"/>
          </p:nvPr>
        </p:nvSpPr>
        <p:spPr>
          <a:xfrm>
            <a:off x="1932664" y="2785990"/>
            <a:ext cx="4136136" cy="649701"/>
          </a:xfrm>
        </p:spPr>
        <p:txBody>
          <a:bodyPr>
            <a:normAutofit/>
          </a:bodyPr>
          <a:lstStyle/>
          <a:p>
            <a:pPr marL="0" indent="0">
              <a:buNone/>
            </a:pPr>
            <a:r>
              <a:rPr lang="fr-FR" sz="1600" dirty="0"/>
              <a:t>Séquence précédente de PTSI</a:t>
            </a:r>
          </a:p>
        </p:txBody>
      </p:sp>
    </p:spTree>
    <p:extLst>
      <p:ext uri="{BB962C8B-B14F-4D97-AF65-F5344CB8AC3E}">
        <p14:creationId xmlns:p14="http://schemas.microsoft.com/office/powerpoint/2010/main" val="3277777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3A5259-016B-6B81-BD68-71AEF7567A8B}"/>
              </a:ext>
            </a:extLst>
          </p:cNvPr>
          <p:cNvSpPr>
            <a:spLocks noGrp="1"/>
          </p:cNvSpPr>
          <p:nvPr>
            <p:ph type="title"/>
          </p:nvPr>
        </p:nvSpPr>
        <p:spPr/>
        <p:txBody>
          <a:bodyPr/>
          <a:lstStyle/>
          <a:p>
            <a:r>
              <a:rPr lang="fr-FR" dirty="0"/>
              <a:t>Compétences et connaissances</a:t>
            </a:r>
          </a:p>
        </p:txBody>
      </p:sp>
      <p:sp>
        <p:nvSpPr>
          <p:cNvPr id="3" name="Espace réservé du contenu 2">
            <a:extLst>
              <a:ext uri="{FF2B5EF4-FFF2-40B4-BE49-F238E27FC236}">
                <a16:creationId xmlns:a16="http://schemas.microsoft.com/office/drawing/2014/main" id="{6DB70FF6-9F61-4D5F-6A7F-C863F6C02DCA}"/>
              </a:ext>
            </a:extLst>
          </p:cNvPr>
          <p:cNvSpPr>
            <a:spLocks noGrp="1"/>
          </p:cNvSpPr>
          <p:nvPr>
            <p:ph idx="1"/>
          </p:nvPr>
        </p:nvSpPr>
        <p:spPr>
          <a:xfrm>
            <a:off x="838200" y="1825625"/>
            <a:ext cx="6357434" cy="4351338"/>
          </a:xfrm>
        </p:spPr>
        <p:txBody>
          <a:bodyPr>
            <a:normAutofit/>
          </a:bodyPr>
          <a:lstStyle/>
          <a:p>
            <a:r>
              <a:rPr lang="fr-FR" sz="2400" dirty="0"/>
              <a:t>Identifier le comportement d’un système pour l’assimiler à un modèle canonique, à partir d’une réponse temporelle ou fréquentielle</a:t>
            </a:r>
          </a:p>
          <a:p>
            <a:endParaRPr lang="fr-FR" sz="2400" dirty="0"/>
          </a:p>
          <a:p>
            <a:endParaRPr lang="fr-FR" sz="2400" dirty="0"/>
          </a:p>
          <a:p>
            <a:r>
              <a:rPr lang="fr-FR" sz="2400" dirty="0"/>
              <a:t>Établir un modèle de comportement à partir de relevés expérimentaux.</a:t>
            </a:r>
          </a:p>
          <a:p>
            <a:endParaRPr lang="fr-FR" sz="2400" dirty="0"/>
          </a:p>
          <a:p>
            <a:endParaRPr lang="fr-FR" sz="2400" dirty="0"/>
          </a:p>
        </p:txBody>
      </p:sp>
      <p:sp>
        <p:nvSpPr>
          <p:cNvPr id="4" name="Espace réservé du pied de page 3">
            <a:extLst>
              <a:ext uri="{FF2B5EF4-FFF2-40B4-BE49-F238E27FC236}">
                <a16:creationId xmlns:a16="http://schemas.microsoft.com/office/drawing/2014/main" id="{111FA642-26D5-5267-A66F-B8642E3E602B}"/>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5" name="Espace réservé du numéro de diapositive 4">
            <a:extLst>
              <a:ext uri="{FF2B5EF4-FFF2-40B4-BE49-F238E27FC236}">
                <a16:creationId xmlns:a16="http://schemas.microsoft.com/office/drawing/2014/main" id="{3D57FF21-967E-231E-138F-470FF497F6AE}"/>
              </a:ext>
            </a:extLst>
          </p:cNvPr>
          <p:cNvSpPr>
            <a:spLocks noGrp="1"/>
          </p:cNvSpPr>
          <p:nvPr>
            <p:ph type="sldNum" sz="quarter" idx="12"/>
          </p:nvPr>
        </p:nvSpPr>
        <p:spPr/>
        <p:txBody>
          <a:bodyPr/>
          <a:lstStyle/>
          <a:p>
            <a:fld id="{3CA76ACC-A68C-4A5C-9615-B59A999884DC}" type="slidenum">
              <a:rPr lang="fr-FR" smtClean="0"/>
              <a:t>7</a:t>
            </a:fld>
            <a:endParaRPr lang="fr-FR"/>
          </a:p>
        </p:txBody>
      </p:sp>
      <p:pic>
        <p:nvPicPr>
          <p:cNvPr id="8" name="Image 7">
            <a:extLst>
              <a:ext uri="{FF2B5EF4-FFF2-40B4-BE49-F238E27FC236}">
                <a16:creationId xmlns:a16="http://schemas.microsoft.com/office/drawing/2014/main" id="{9FED9914-B8D1-9657-F88E-A2924DA4A5F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157878" y="1535239"/>
            <a:ext cx="4816281" cy="1475851"/>
          </a:xfrm>
          <a:prstGeom prst="rect">
            <a:avLst/>
          </a:prstGeom>
        </p:spPr>
      </p:pic>
      <p:pic>
        <p:nvPicPr>
          <p:cNvPr id="10" name="Image 9">
            <a:extLst>
              <a:ext uri="{FF2B5EF4-FFF2-40B4-BE49-F238E27FC236}">
                <a16:creationId xmlns:a16="http://schemas.microsoft.com/office/drawing/2014/main" id="{13694B29-8881-25F9-3B26-88F2C804FFA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195634" y="4030919"/>
            <a:ext cx="4816282" cy="1055624"/>
          </a:xfrm>
          <a:prstGeom prst="rect">
            <a:avLst/>
          </a:prstGeom>
        </p:spPr>
      </p:pic>
      <p:sp>
        <p:nvSpPr>
          <p:cNvPr id="6" name="Espace réservé de la date 5">
            <a:extLst>
              <a:ext uri="{FF2B5EF4-FFF2-40B4-BE49-F238E27FC236}">
                <a16:creationId xmlns:a16="http://schemas.microsoft.com/office/drawing/2014/main" id="{57452EE1-E5EA-6DB3-880C-65C737E88063}"/>
              </a:ext>
            </a:extLst>
          </p:cNvPr>
          <p:cNvSpPr>
            <a:spLocks noGrp="1"/>
          </p:cNvSpPr>
          <p:nvPr>
            <p:ph type="dt" sz="half" idx="10"/>
          </p:nvPr>
        </p:nvSpPr>
        <p:spPr/>
        <p:txBody>
          <a:bodyPr/>
          <a:lstStyle/>
          <a:p>
            <a:r>
              <a:rPr lang="fr-FR"/>
              <a:t>10/03/2026</a:t>
            </a:r>
            <a:endParaRPr lang="fr-FR" dirty="0"/>
          </a:p>
        </p:txBody>
      </p:sp>
    </p:spTree>
    <p:extLst>
      <p:ext uri="{BB962C8B-B14F-4D97-AF65-F5344CB8AC3E}">
        <p14:creationId xmlns:p14="http://schemas.microsoft.com/office/powerpoint/2010/main" val="2479835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97EED9-2FD2-77EB-6946-204DF95258F9}"/>
              </a:ext>
            </a:extLst>
          </p:cNvPr>
          <p:cNvSpPr>
            <a:spLocks noGrp="1"/>
          </p:cNvSpPr>
          <p:nvPr>
            <p:ph type="title"/>
          </p:nvPr>
        </p:nvSpPr>
        <p:spPr/>
        <p:txBody>
          <a:bodyPr/>
          <a:lstStyle/>
          <a:p>
            <a:r>
              <a:rPr lang="fr-FR" dirty="0"/>
              <a:t>Mise en contexte de la séquence</a:t>
            </a:r>
          </a:p>
        </p:txBody>
      </p:sp>
      <p:sp>
        <p:nvSpPr>
          <p:cNvPr id="3" name="Espace réservé du contenu 2">
            <a:extLst>
              <a:ext uri="{FF2B5EF4-FFF2-40B4-BE49-F238E27FC236}">
                <a16:creationId xmlns:a16="http://schemas.microsoft.com/office/drawing/2014/main" id="{3E921BD3-F2BF-4CA1-98EF-74BB2EA27881}"/>
              </a:ext>
            </a:extLst>
          </p:cNvPr>
          <p:cNvSpPr>
            <a:spLocks noGrp="1"/>
          </p:cNvSpPr>
          <p:nvPr>
            <p:ph idx="1"/>
          </p:nvPr>
        </p:nvSpPr>
        <p:spPr>
          <a:xfrm>
            <a:off x="838200" y="1397000"/>
            <a:ext cx="10515600" cy="4779963"/>
          </a:xfrm>
        </p:spPr>
        <p:txBody>
          <a:bodyPr>
            <a:normAutofit fontScale="92500" lnSpcReduction="10000"/>
          </a:bodyPr>
          <a:lstStyle/>
          <a:p>
            <a:pPr>
              <a:buNone/>
            </a:pPr>
            <a:r>
              <a:rPr lang="fr-FR" dirty="0"/>
              <a:t>Vous êtes une </a:t>
            </a:r>
            <a:r>
              <a:rPr lang="fr-FR" b="1" dirty="0"/>
              <a:t>équipe d’ingénieurs</a:t>
            </a:r>
            <a:r>
              <a:rPr lang="fr-FR" dirty="0"/>
              <a:t> chargée d’analyser une </a:t>
            </a:r>
            <a:r>
              <a:rPr lang="fr-FR" b="1" dirty="0"/>
              <a:t>machine mystérieuse récupérée dans un laboratoire d’une entreprise concurrentielle, en vue d’être plus compétitif</a:t>
            </a:r>
            <a:r>
              <a:rPr lang="fr-FR" dirty="0"/>
              <a:t>.</a:t>
            </a:r>
          </a:p>
          <a:p>
            <a:pPr>
              <a:buNone/>
            </a:pPr>
            <a:r>
              <a:rPr lang="fr-FR" dirty="0"/>
              <a:t>Son fonctionnement interne est inconnu.. Votre objectif : </a:t>
            </a:r>
            <a:r>
              <a:rPr lang="fr-FR" b="1" dirty="0"/>
              <a:t>comprendre son comportement et caractériser ses performances</a:t>
            </a:r>
            <a:r>
              <a:rPr lang="fr-FR" dirty="0"/>
              <a:t>.</a:t>
            </a:r>
          </a:p>
          <a:p>
            <a:pPr>
              <a:buNone/>
            </a:pPr>
            <a:r>
              <a:rPr lang="fr-FR" dirty="0"/>
              <a:t>Deux grandes questions vont guider l’étude :</a:t>
            </a:r>
          </a:p>
          <a:p>
            <a:pPr>
              <a:buFont typeface="Arial" panose="020B0604020202020204" pitchFamily="34" charset="0"/>
              <a:buChar char="•"/>
            </a:pPr>
            <a:r>
              <a:rPr lang="fr-FR" b="1" dirty="0"/>
              <a:t>Quels outils utiliser pour analyser les performances globales du système ?</a:t>
            </a:r>
            <a:endParaRPr lang="fr-FR" dirty="0"/>
          </a:p>
          <a:p>
            <a:pPr>
              <a:buFont typeface="Arial" panose="020B0604020202020204" pitchFamily="34" charset="0"/>
              <a:buChar char="•"/>
            </a:pPr>
            <a:r>
              <a:rPr lang="fr-FR" b="1" dirty="0"/>
              <a:t>Quelle démarche expérimentale mettre en place pour caractériser son comportement indiciel et fréquentiel ?</a:t>
            </a:r>
            <a:endParaRPr lang="fr-FR" dirty="0"/>
          </a:p>
          <a:p>
            <a:pPr>
              <a:buNone/>
            </a:pPr>
            <a:r>
              <a:rPr lang="fr-FR" dirty="0"/>
              <a:t>Au fil de la séquence, nous allons </a:t>
            </a:r>
            <a:r>
              <a:rPr lang="fr-FR" b="1" dirty="0"/>
              <a:t>expérimenter, modéliser et identifier </a:t>
            </a:r>
            <a:r>
              <a:rPr lang="fr-FR" dirty="0"/>
              <a:t>les paramètres qui décrivent ce système.</a:t>
            </a:r>
          </a:p>
        </p:txBody>
      </p:sp>
      <p:sp>
        <p:nvSpPr>
          <p:cNvPr id="4" name="Espace réservé de la date 3">
            <a:extLst>
              <a:ext uri="{FF2B5EF4-FFF2-40B4-BE49-F238E27FC236}">
                <a16:creationId xmlns:a16="http://schemas.microsoft.com/office/drawing/2014/main" id="{8743707A-1590-094F-3E18-63326B31E182}"/>
              </a:ext>
            </a:extLst>
          </p:cNvPr>
          <p:cNvSpPr>
            <a:spLocks noGrp="1"/>
          </p:cNvSpPr>
          <p:nvPr>
            <p:ph type="dt" sz="half" idx="10"/>
          </p:nvPr>
        </p:nvSpPr>
        <p:spPr/>
        <p:txBody>
          <a:bodyPr/>
          <a:lstStyle/>
          <a:p>
            <a:r>
              <a:rPr lang="fr-FR"/>
              <a:t>10/03/2026</a:t>
            </a:r>
            <a:endParaRPr lang="fr-FR" dirty="0"/>
          </a:p>
        </p:txBody>
      </p:sp>
      <p:sp>
        <p:nvSpPr>
          <p:cNvPr id="5" name="Espace réservé du pied de page 4">
            <a:extLst>
              <a:ext uri="{FF2B5EF4-FFF2-40B4-BE49-F238E27FC236}">
                <a16:creationId xmlns:a16="http://schemas.microsoft.com/office/drawing/2014/main" id="{991B6FB5-31A2-8CBC-7A1C-505B23A483E7}"/>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6" name="Espace réservé du numéro de diapositive 5">
            <a:extLst>
              <a:ext uri="{FF2B5EF4-FFF2-40B4-BE49-F238E27FC236}">
                <a16:creationId xmlns:a16="http://schemas.microsoft.com/office/drawing/2014/main" id="{B699FDE0-AB70-012C-50F5-A716CFFCFB8F}"/>
              </a:ext>
            </a:extLst>
          </p:cNvPr>
          <p:cNvSpPr>
            <a:spLocks noGrp="1"/>
          </p:cNvSpPr>
          <p:nvPr>
            <p:ph type="sldNum" sz="quarter" idx="12"/>
          </p:nvPr>
        </p:nvSpPr>
        <p:spPr/>
        <p:txBody>
          <a:bodyPr/>
          <a:lstStyle/>
          <a:p>
            <a:fld id="{3CA76ACC-A68C-4A5C-9615-B59A999884DC}" type="slidenum">
              <a:rPr lang="fr-FR" smtClean="0"/>
              <a:t>8</a:t>
            </a:fld>
            <a:endParaRPr lang="fr-FR"/>
          </a:p>
        </p:txBody>
      </p:sp>
    </p:spTree>
    <p:extLst>
      <p:ext uri="{BB962C8B-B14F-4D97-AF65-F5344CB8AC3E}">
        <p14:creationId xmlns:p14="http://schemas.microsoft.com/office/powerpoint/2010/main" val="1799033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27C9D-8B16-F0D5-6333-67CEB25753C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30E3469-4730-4FF6-9839-0EC9E7655D4D}"/>
              </a:ext>
            </a:extLst>
          </p:cNvPr>
          <p:cNvSpPr>
            <a:spLocks noGrp="1"/>
          </p:cNvSpPr>
          <p:nvPr>
            <p:ph type="title"/>
          </p:nvPr>
        </p:nvSpPr>
        <p:spPr/>
        <p:txBody>
          <a:bodyPr/>
          <a:lstStyle/>
          <a:p>
            <a:r>
              <a:rPr lang="fr-FR" dirty="0"/>
              <a:t>Modalités pédagogiques et didactiques</a:t>
            </a:r>
          </a:p>
        </p:txBody>
      </p:sp>
      <p:sp>
        <p:nvSpPr>
          <p:cNvPr id="3" name="Espace réservé du contenu 2">
            <a:extLst>
              <a:ext uri="{FF2B5EF4-FFF2-40B4-BE49-F238E27FC236}">
                <a16:creationId xmlns:a16="http://schemas.microsoft.com/office/drawing/2014/main" id="{232359DA-74C5-8AA4-477D-F9DCEE8F8086}"/>
              </a:ext>
            </a:extLst>
          </p:cNvPr>
          <p:cNvSpPr>
            <a:spLocks noGrp="1"/>
          </p:cNvSpPr>
          <p:nvPr>
            <p:ph idx="1"/>
          </p:nvPr>
        </p:nvSpPr>
        <p:spPr>
          <a:xfrm>
            <a:off x="774192" y="1650170"/>
            <a:ext cx="10515600" cy="630939"/>
          </a:xfrm>
        </p:spPr>
        <p:txBody>
          <a:bodyPr>
            <a:normAutofit/>
          </a:bodyPr>
          <a:lstStyle/>
          <a:p>
            <a:r>
              <a:rPr lang="fr-FR" dirty="0"/>
              <a:t>Semaine type (10h30):</a:t>
            </a:r>
          </a:p>
          <a:p>
            <a:endParaRPr lang="fr-FR" dirty="0"/>
          </a:p>
        </p:txBody>
      </p:sp>
      <p:sp>
        <p:nvSpPr>
          <p:cNvPr id="4" name="Espace réservé du pied de page 3">
            <a:extLst>
              <a:ext uri="{FF2B5EF4-FFF2-40B4-BE49-F238E27FC236}">
                <a16:creationId xmlns:a16="http://schemas.microsoft.com/office/drawing/2014/main" id="{B42B762E-97A0-B087-1EAB-D29308FEDF04}"/>
              </a:ext>
            </a:extLst>
          </p:cNvPr>
          <p:cNvSpPr>
            <a:spLocks noGrp="1"/>
          </p:cNvSpPr>
          <p:nvPr>
            <p:ph type="ftr" sz="quarter" idx="11"/>
          </p:nvPr>
        </p:nvSpPr>
        <p:spPr/>
        <p:txBody>
          <a:bodyPr/>
          <a:lstStyle/>
          <a:p>
            <a:r>
              <a:rPr lang="fr-FR" dirty="0"/>
              <a:t>Epreuve d’exploitation pédagogique d’une activité pratique relative à l’approche globale d’un système </a:t>
            </a:r>
            <a:r>
              <a:rPr lang="fr-FR" dirty="0" err="1"/>
              <a:t>pluritechnique</a:t>
            </a:r>
            <a:endParaRPr lang="fr-FR" dirty="0"/>
          </a:p>
        </p:txBody>
      </p:sp>
      <p:sp>
        <p:nvSpPr>
          <p:cNvPr id="5" name="Espace réservé du numéro de diapositive 4">
            <a:extLst>
              <a:ext uri="{FF2B5EF4-FFF2-40B4-BE49-F238E27FC236}">
                <a16:creationId xmlns:a16="http://schemas.microsoft.com/office/drawing/2014/main" id="{B3D9B5A3-7A3B-1088-38FA-EAC3EBAC68A0}"/>
              </a:ext>
            </a:extLst>
          </p:cNvPr>
          <p:cNvSpPr>
            <a:spLocks noGrp="1"/>
          </p:cNvSpPr>
          <p:nvPr>
            <p:ph type="sldNum" sz="quarter" idx="12"/>
          </p:nvPr>
        </p:nvSpPr>
        <p:spPr/>
        <p:txBody>
          <a:bodyPr/>
          <a:lstStyle/>
          <a:p>
            <a:fld id="{3CA76ACC-A68C-4A5C-9615-B59A999884DC}" type="slidenum">
              <a:rPr lang="fr-FR" smtClean="0"/>
              <a:t>9</a:t>
            </a:fld>
            <a:endParaRPr lang="fr-FR"/>
          </a:p>
        </p:txBody>
      </p:sp>
      <p:grpSp>
        <p:nvGrpSpPr>
          <p:cNvPr id="14" name="Groupe 13">
            <a:extLst>
              <a:ext uri="{FF2B5EF4-FFF2-40B4-BE49-F238E27FC236}">
                <a16:creationId xmlns:a16="http://schemas.microsoft.com/office/drawing/2014/main" id="{0B730EC5-7364-A4A7-8FA7-3446DF1B0206}"/>
              </a:ext>
            </a:extLst>
          </p:cNvPr>
          <p:cNvGrpSpPr/>
          <p:nvPr/>
        </p:nvGrpSpPr>
        <p:grpSpPr>
          <a:xfrm>
            <a:off x="774192" y="2441605"/>
            <a:ext cx="9951720" cy="1581914"/>
            <a:chOff x="469392" y="2285997"/>
            <a:chExt cx="9951720" cy="1581914"/>
          </a:xfrm>
        </p:grpSpPr>
        <p:sp>
          <p:nvSpPr>
            <p:cNvPr id="6" name="Flèche : pentagone 5">
              <a:extLst>
                <a:ext uri="{FF2B5EF4-FFF2-40B4-BE49-F238E27FC236}">
                  <a16:creationId xmlns:a16="http://schemas.microsoft.com/office/drawing/2014/main" id="{0156F9B3-0606-677D-D3C1-02C97AD2582B}"/>
                </a:ext>
              </a:extLst>
            </p:cNvPr>
            <p:cNvSpPr/>
            <p:nvPr/>
          </p:nvSpPr>
          <p:spPr>
            <a:xfrm>
              <a:off x="469392" y="2285997"/>
              <a:ext cx="1874520" cy="1581912"/>
            </a:xfrm>
            <a:prstGeom prst="homePlate">
              <a:avLst>
                <a:gd name="adj" fmla="val 2225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2h30 TP découverte</a:t>
              </a:r>
            </a:p>
            <a:p>
              <a:pPr algn="ctr"/>
              <a:r>
                <a:rPr lang="fr-FR" b="1" u="sng" dirty="0"/>
                <a:t>Demi-groupe</a:t>
              </a:r>
            </a:p>
          </p:txBody>
        </p:sp>
        <p:sp>
          <p:nvSpPr>
            <p:cNvPr id="8" name="Flèche : chevron 7">
              <a:extLst>
                <a:ext uri="{FF2B5EF4-FFF2-40B4-BE49-F238E27FC236}">
                  <a16:creationId xmlns:a16="http://schemas.microsoft.com/office/drawing/2014/main" id="{E306B534-D845-8F24-6C1A-C6A35AB23045}"/>
                </a:ext>
              </a:extLst>
            </p:cNvPr>
            <p:cNvSpPr/>
            <p:nvPr/>
          </p:nvSpPr>
          <p:spPr>
            <a:xfrm>
              <a:off x="2185416" y="2285999"/>
              <a:ext cx="1773936" cy="1581912"/>
            </a:xfrm>
            <a:prstGeom prst="chevron">
              <a:avLst>
                <a:gd name="adj" fmla="val 20625"/>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fr-FR" dirty="0">
                  <a:solidFill>
                    <a:schemeClr val="bg1"/>
                  </a:solidFill>
                </a:rPr>
                <a:t>1h Cours</a:t>
              </a:r>
            </a:p>
            <a:p>
              <a:pPr algn="ctr"/>
              <a:r>
                <a:rPr lang="fr-FR" b="1" u="sng" dirty="0">
                  <a:solidFill>
                    <a:schemeClr val="bg1"/>
                  </a:solidFill>
                </a:rPr>
                <a:t>Classe entière</a:t>
              </a:r>
            </a:p>
          </p:txBody>
        </p:sp>
        <p:sp>
          <p:nvSpPr>
            <p:cNvPr id="9" name="Flèche : chevron 8">
              <a:extLst>
                <a:ext uri="{FF2B5EF4-FFF2-40B4-BE49-F238E27FC236}">
                  <a16:creationId xmlns:a16="http://schemas.microsoft.com/office/drawing/2014/main" id="{33F8C477-623F-833E-531C-861B821E4018}"/>
                </a:ext>
              </a:extLst>
            </p:cNvPr>
            <p:cNvSpPr/>
            <p:nvPr/>
          </p:nvSpPr>
          <p:spPr>
            <a:xfrm>
              <a:off x="3800856" y="2285999"/>
              <a:ext cx="1773936" cy="1581912"/>
            </a:xfrm>
            <a:prstGeom prst="chevron">
              <a:avLst>
                <a:gd name="adj" fmla="val 2062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fr-FR" dirty="0">
                  <a:solidFill>
                    <a:schemeClr val="bg1"/>
                  </a:solidFill>
                </a:rPr>
                <a:t>2h TD</a:t>
              </a:r>
            </a:p>
            <a:p>
              <a:pPr algn="ctr"/>
              <a:r>
                <a:rPr lang="fr-FR" b="1" u="sng" dirty="0">
                  <a:solidFill>
                    <a:schemeClr val="bg1"/>
                  </a:solidFill>
                </a:rPr>
                <a:t>Demi-groupe</a:t>
              </a:r>
            </a:p>
          </p:txBody>
        </p:sp>
        <p:sp>
          <p:nvSpPr>
            <p:cNvPr id="10" name="Flèche : chevron 9">
              <a:extLst>
                <a:ext uri="{FF2B5EF4-FFF2-40B4-BE49-F238E27FC236}">
                  <a16:creationId xmlns:a16="http://schemas.microsoft.com/office/drawing/2014/main" id="{4EA2148E-4F1B-FFA4-B869-70B1BFB9B3A2}"/>
                </a:ext>
              </a:extLst>
            </p:cNvPr>
            <p:cNvSpPr/>
            <p:nvPr/>
          </p:nvSpPr>
          <p:spPr>
            <a:xfrm>
              <a:off x="5416296" y="2285998"/>
              <a:ext cx="1773936" cy="1581912"/>
            </a:xfrm>
            <a:prstGeom prst="chevron">
              <a:avLst>
                <a:gd name="adj" fmla="val 20625"/>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fr-FR" dirty="0">
                  <a:solidFill>
                    <a:schemeClr val="bg1"/>
                  </a:solidFill>
                </a:rPr>
                <a:t>1h Cours</a:t>
              </a:r>
            </a:p>
            <a:p>
              <a:pPr algn="ctr"/>
              <a:r>
                <a:rPr lang="fr-FR" b="1" u="sng" dirty="0">
                  <a:solidFill>
                    <a:schemeClr val="bg1"/>
                  </a:solidFill>
                </a:rPr>
                <a:t>Demi-groupe</a:t>
              </a:r>
            </a:p>
          </p:txBody>
        </p:sp>
        <p:sp>
          <p:nvSpPr>
            <p:cNvPr id="12" name="Flèche : chevron 11">
              <a:extLst>
                <a:ext uri="{FF2B5EF4-FFF2-40B4-BE49-F238E27FC236}">
                  <a16:creationId xmlns:a16="http://schemas.microsoft.com/office/drawing/2014/main" id="{5FF3711B-59BE-A38E-D0E6-720F4814BED1}"/>
                </a:ext>
              </a:extLst>
            </p:cNvPr>
            <p:cNvSpPr/>
            <p:nvPr/>
          </p:nvSpPr>
          <p:spPr>
            <a:xfrm>
              <a:off x="7031736" y="2285997"/>
              <a:ext cx="1773936" cy="1581912"/>
            </a:xfrm>
            <a:prstGeom prst="chevron">
              <a:avLst>
                <a:gd name="adj" fmla="val 2062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fr-FR" dirty="0">
                  <a:solidFill>
                    <a:schemeClr val="bg1"/>
                  </a:solidFill>
                </a:rPr>
                <a:t>2h TD</a:t>
              </a:r>
            </a:p>
            <a:p>
              <a:pPr algn="ctr"/>
              <a:r>
                <a:rPr lang="fr-FR" b="1" u="sng" dirty="0">
                  <a:solidFill>
                    <a:schemeClr val="bg1"/>
                  </a:solidFill>
                </a:rPr>
                <a:t>Classe entière</a:t>
              </a:r>
            </a:p>
          </p:txBody>
        </p:sp>
        <p:sp>
          <p:nvSpPr>
            <p:cNvPr id="13" name="Flèche : chevron 12">
              <a:extLst>
                <a:ext uri="{FF2B5EF4-FFF2-40B4-BE49-F238E27FC236}">
                  <a16:creationId xmlns:a16="http://schemas.microsoft.com/office/drawing/2014/main" id="{C7D65913-362E-3AD3-2AE6-FC90AE301962}"/>
                </a:ext>
              </a:extLst>
            </p:cNvPr>
            <p:cNvSpPr/>
            <p:nvPr/>
          </p:nvSpPr>
          <p:spPr>
            <a:xfrm>
              <a:off x="8647176" y="2285997"/>
              <a:ext cx="1773936" cy="1581912"/>
            </a:xfrm>
            <a:prstGeom prst="chevron">
              <a:avLst>
                <a:gd name="adj" fmla="val 20625"/>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fr-FR" dirty="0">
                  <a:solidFill>
                    <a:schemeClr val="bg1"/>
                  </a:solidFill>
                </a:rPr>
                <a:t>2h TD soutient</a:t>
              </a:r>
            </a:p>
            <a:p>
              <a:pPr algn="ctr"/>
              <a:r>
                <a:rPr lang="fr-FR" b="1" u="sng" dirty="0">
                  <a:solidFill>
                    <a:schemeClr val="bg1"/>
                  </a:solidFill>
                </a:rPr>
                <a:t>Petit effectif</a:t>
              </a:r>
            </a:p>
          </p:txBody>
        </p:sp>
      </p:grpSp>
      <p:sp>
        <p:nvSpPr>
          <p:cNvPr id="15" name="Espace réservé de la date 14">
            <a:extLst>
              <a:ext uri="{FF2B5EF4-FFF2-40B4-BE49-F238E27FC236}">
                <a16:creationId xmlns:a16="http://schemas.microsoft.com/office/drawing/2014/main" id="{9AC8316F-908E-F2AC-5358-446E92565EDB}"/>
              </a:ext>
            </a:extLst>
          </p:cNvPr>
          <p:cNvSpPr>
            <a:spLocks noGrp="1"/>
          </p:cNvSpPr>
          <p:nvPr>
            <p:ph type="dt" sz="half" idx="10"/>
          </p:nvPr>
        </p:nvSpPr>
        <p:spPr/>
        <p:txBody>
          <a:bodyPr/>
          <a:lstStyle/>
          <a:p>
            <a:r>
              <a:rPr lang="fr-FR"/>
              <a:t>10/03/2026</a:t>
            </a:r>
            <a:endParaRPr lang="fr-FR" dirty="0"/>
          </a:p>
        </p:txBody>
      </p:sp>
      <p:sp>
        <p:nvSpPr>
          <p:cNvPr id="7" name="Rectangle : coins arrondis 6">
            <a:extLst>
              <a:ext uri="{FF2B5EF4-FFF2-40B4-BE49-F238E27FC236}">
                <a16:creationId xmlns:a16="http://schemas.microsoft.com/office/drawing/2014/main" id="{957DA21D-47F7-E189-662E-8242757E3A34}"/>
              </a:ext>
            </a:extLst>
          </p:cNvPr>
          <p:cNvSpPr/>
          <p:nvPr/>
        </p:nvSpPr>
        <p:spPr>
          <a:xfrm>
            <a:off x="4082797" y="3828936"/>
            <a:ext cx="1275587" cy="365125"/>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dirty="0"/>
              <a:t>22 élèves</a:t>
            </a:r>
          </a:p>
        </p:txBody>
      </p:sp>
      <p:sp>
        <p:nvSpPr>
          <p:cNvPr id="11" name="Rectangle : coins arrondis 10">
            <a:extLst>
              <a:ext uri="{FF2B5EF4-FFF2-40B4-BE49-F238E27FC236}">
                <a16:creationId xmlns:a16="http://schemas.microsoft.com/office/drawing/2014/main" id="{67B5F477-1842-609D-1F77-04715F460B79}"/>
              </a:ext>
            </a:extLst>
          </p:cNvPr>
          <p:cNvSpPr/>
          <p:nvPr/>
        </p:nvSpPr>
        <p:spPr>
          <a:xfrm>
            <a:off x="5856733" y="3840954"/>
            <a:ext cx="1275587" cy="365125"/>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dirty="0"/>
              <a:t>22 élèves</a:t>
            </a:r>
          </a:p>
        </p:txBody>
      </p:sp>
      <p:sp>
        <p:nvSpPr>
          <p:cNvPr id="19" name="Rectangle : coins arrondis 18">
            <a:extLst>
              <a:ext uri="{FF2B5EF4-FFF2-40B4-BE49-F238E27FC236}">
                <a16:creationId xmlns:a16="http://schemas.microsoft.com/office/drawing/2014/main" id="{775D9B36-69EA-7F05-89BC-E474D559A840}"/>
              </a:ext>
            </a:extLst>
          </p:cNvPr>
          <p:cNvSpPr/>
          <p:nvPr/>
        </p:nvSpPr>
        <p:spPr>
          <a:xfrm>
            <a:off x="7472173" y="3806264"/>
            <a:ext cx="1275587" cy="365125"/>
          </a:xfrm>
          <a:prstGeom prst="roundRect">
            <a:avLst/>
          </a:prstGeom>
          <a:solidFill>
            <a:srgbClr val="7030A0"/>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dirty="0"/>
              <a:t>45 élèves</a:t>
            </a:r>
          </a:p>
        </p:txBody>
      </p:sp>
      <p:sp>
        <p:nvSpPr>
          <p:cNvPr id="20" name="Rectangle : coins arrondis 19">
            <a:extLst>
              <a:ext uri="{FF2B5EF4-FFF2-40B4-BE49-F238E27FC236}">
                <a16:creationId xmlns:a16="http://schemas.microsoft.com/office/drawing/2014/main" id="{DFE6054D-51F2-F354-CB94-C895109244BA}"/>
              </a:ext>
            </a:extLst>
          </p:cNvPr>
          <p:cNvSpPr/>
          <p:nvPr/>
        </p:nvSpPr>
        <p:spPr>
          <a:xfrm>
            <a:off x="2558035" y="3852977"/>
            <a:ext cx="1275587" cy="365125"/>
          </a:xfrm>
          <a:prstGeom prst="roundRect">
            <a:avLst/>
          </a:prstGeom>
          <a:solidFill>
            <a:srgbClr val="7030A0"/>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dirty="0"/>
              <a:t>45 élèves</a:t>
            </a:r>
          </a:p>
        </p:txBody>
      </p:sp>
      <p:sp>
        <p:nvSpPr>
          <p:cNvPr id="21" name="Rectangle : coins arrondis 20">
            <a:extLst>
              <a:ext uri="{FF2B5EF4-FFF2-40B4-BE49-F238E27FC236}">
                <a16:creationId xmlns:a16="http://schemas.microsoft.com/office/drawing/2014/main" id="{9A1E7828-A2A6-E3F1-6534-0BDC57A42700}"/>
              </a:ext>
            </a:extLst>
          </p:cNvPr>
          <p:cNvSpPr/>
          <p:nvPr/>
        </p:nvSpPr>
        <p:spPr>
          <a:xfrm>
            <a:off x="8932927" y="3875649"/>
            <a:ext cx="1792985" cy="365125"/>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dirty="0"/>
              <a:t>Env. 22 élèves</a:t>
            </a:r>
          </a:p>
        </p:txBody>
      </p:sp>
      <p:sp>
        <p:nvSpPr>
          <p:cNvPr id="22" name="Rectangle : coins arrondis 21">
            <a:extLst>
              <a:ext uri="{FF2B5EF4-FFF2-40B4-BE49-F238E27FC236}">
                <a16:creationId xmlns:a16="http://schemas.microsoft.com/office/drawing/2014/main" id="{DC487458-6D68-7626-26C8-CBC3E8040FF3}"/>
              </a:ext>
            </a:extLst>
          </p:cNvPr>
          <p:cNvSpPr/>
          <p:nvPr/>
        </p:nvSpPr>
        <p:spPr>
          <a:xfrm>
            <a:off x="312039" y="3848956"/>
            <a:ext cx="2070355" cy="738292"/>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dirty="0"/>
              <a:t>22 élèves:</a:t>
            </a:r>
            <a:br>
              <a:rPr lang="fr-FR" dirty="0"/>
            </a:br>
            <a:r>
              <a:rPr lang="fr-FR" dirty="0"/>
              <a:t>5 groupes de 4/5</a:t>
            </a:r>
          </a:p>
        </p:txBody>
      </p:sp>
      <p:sp>
        <p:nvSpPr>
          <p:cNvPr id="23" name="ZoneTexte 22">
            <a:extLst>
              <a:ext uri="{FF2B5EF4-FFF2-40B4-BE49-F238E27FC236}">
                <a16:creationId xmlns:a16="http://schemas.microsoft.com/office/drawing/2014/main" id="{80756EFF-3362-1DB5-6A01-F936E03565CF}"/>
              </a:ext>
            </a:extLst>
          </p:cNvPr>
          <p:cNvSpPr txBox="1"/>
          <p:nvPr/>
        </p:nvSpPr>
        <p:spPr>
          <a:xfrm>
            <a:off x="312038" y="4840437"/>
            <a:ext cx="12083162" cy="2308324"/>
          </a:xfrm>
          <a:prstGeom prst="rect">
            <a:avLst/>
          </a:prstGeom>
          <a:noFill/>
        </p:spPr>
        <p:txBody>
          <a:bodyPr wrap="square" rtlCol="0">
            <a:spAutoFit/>
          </a:bodyPr>
          <a:lstStyle/>
          <a:p>
            <a:r>
              <a:rPr lang="fr-FR" b="1" u="sng" dirty="0"/>
              <a:t>Khôls :</a:t>
            </a:r>
            <a:r>
              <a:rPr lang="fr-FR" dirty="0"/>
              <a:t> reprise des points de cours + consolidation/approfondissement des TD</a:t>
            </a:r>
          </a:p>
          <a:p>
            <a:endParaRPr lang="fr-FR" dirty="0"/>
          </a:p>
          <a:p>
            <a:r>
              <a:rPr lang="fr-FR" b="1" u="sng" dirty="0"/>
              <a:t>Gestion des TP:</a:t>
            </a:r>
            <a:r>
              <a:rPr lang="fr-FR" dirty="0"/>
              <a:t> 4/5 élèves en ilot, avec des rôles différents (1,2 expérimentateurs, 1 simulateur, 1 chef de projet, 1 modélisateur analytique)</a:t>
            </a:r>
          </a:p>
          <a:p>
            <a:r>
              <a:rPr lang="fr-FR" dirty="0"/>
              <a:t>Le chef de projet doit bien interagir car il portera seul la présentation et l’issue de la note (situation typique du milieu industriel)</a:t>
            </a:r>
          </a:p>
          <a:p>
            <a:endParaRPr lang="fr-FR" b="1" u="sng" dirty="0"/>
          </a:p>
          <a:p>
            <a:endParaRPr lang="fr-FR" dirty="0"/>
          </a:p>
        </p:txBody>
      </p:sp>
    </p:spTree>
    <p:extLst>
      <p:ext uri="{BB962C8B-B14F-4D97-AF65-F5344CB8AC3E}">
        <p14:creationId xmlns:p14="http://schemas.microsoft.com/office/powerpoint/2010/main" val="1021101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E40BF-47D6-7AAC-FA8D-B305FEB9FC41}"/>
            </a:ext>
          </a:extLst>
        </p:cNvPr>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82569C3F-80CF-6CD8-6017-8136A92B6C6B}"/>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5" name="Espace réservé du numéro de diapositive 4">
            <a:extLst>
              <a:ext uri="{FF2B5EF4-FFF2-40B4-BE49-F238E27FC236}">
                <a16:creationId xmlns:a16="http://schemas.microsoft.com/office/drawing/2014/main" id="{62E72C3F-6792-7D09-0039-7DB70799CAEA}"/>
              </a:ext>
            </a:extLst>
          </p:cNvPr>
          <p:cNvSpPr>
            <a:spLocks noGrp="1"/>
          </p:cNvSpPr>
          <p:nvPr>
            <p:ph type="sldNum" sz="quarter" idx="12"/>
          </p:nvPr>
        </p:nvSpPr>
        <p:spPr/>
        <p:txBody>
          <a:bodyPr/>
          <a:lstStyle/>
          <a:p>
            <a:fld id="{3CA76ACC-A68C-4A5C-9615-B59A999884DC}" type="slidenum">
              <a:rPr lang="fr-FR" smtClean="0"/>
              <a:t>10</a:t>
            </a:fld>
            <a:endParaRPr lang="fr-FR"/>
          </a:p>
        </p:txBody>
      </p:sp>
      <p:sp>
        <p:nvSpPr>
          <p:cNvPr id="22" name="Espace réservé de la date 21">
            <a:extLst>
              <a:ext uri="{FF2B5EF4-FFF2-40B4-BE49-F238E27FC236}">
                <a16:creationId xmlns:a16="http://schemas.microsoft.com/office/drawing/2014/main" id="{271EB000-3097-436C-36F4-648E9CF756E0}"/>
              </a:ext>
            </a:extLst>
          </p:cNvPr>
          <p:cNvSpPr>
            <a:spLocks noGrp="1"/>
          </p:cNvSpPr>
          <p:nvPr>
            <p:ph type="dt" sz="half" idx="10"/>
          </p:nvPr>
        </p:nvSpPr>
        <p:spPr/>
        <p:txBody>
          <a:bodyPr/>
          <a:lstStyle/>
          <a:p>
            <a:r>
              <a:rPr lang="fr-FR"/>
              <a:t>10/03/2026</a:t>
            </a:r>
            <a:endParaRPr lang="fr-FR" dirty="0"/>
          </a:p>
        </p:txBody>
      </p:sp>
      <p:pic>
        <p:nvPicPr>
          <p:cNvPr id="30" name="Image 29">
            <a:extLst>
              <a:ext uri="{FF2B5EF4-FFF2-40B4-BE49-F238E27FC236}">
                <a16:creationId xmlns:a16="http://schemas.microsoft.com/office/drawing/2014/main" id="{05676314-D39B-6810-FA9C-BC582CD704F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929935" y="1130975"/>
            <a:ext cx="2868366" cy="1945051"/>
          </a:xfrm>
          <a:prstGeom prst="rect">
            <a:avLst/>
          </a:prstGeom>
        </p:spPr>
      </p:pic>
      <p:sp>
        <p:nvSpPr>
          <p:cNvPr id="31" name="ZoneTexte 30">
            <a:extLst>
              <a:ext uri="{FF2B5EF4-FFF2-40B4-BE49-F238E27FC236}">
                <a16:creationId xmlns:a16="http://schemas.microsoft.com/office/drawing/2014/main" id="{300E92FA-0BC7-4C34-8335-76D63358F2FC}"/>
              </a:ext>
            </a:extLst>
          </p:cNvPr>
          <p:cNvSpPr txBox="1"/>
          <p:nvPr/>
        </p:nvSpPr>
        <p:spPr>
          <a:xfrm>
            <a:off x="393701" y="443624"/>
            <a:ext cx="8536234" cy="5509200"/>
          </a:xfrm>
          <a:prstGeom prst="rect">
            <a:avLst/>
          </a:prstGeom>
          <a:noFill/>
        </p:spPr>
        <p:txBody>
          <a:bodyPr wrap="square" rtlCol="0">
            <a:spAutoFit/>
          </a:bodyPr>
          <a:lstStyle/>
          <a:p>
            <a:r>
              <a:rPr lang="fr-FR" sz="3200" dirty="0"/>
              <a:t>Semaine 1 – mise en contexte </a:t>
            </a:r>
          </a:p>
          <a:p>
            <a:r>
              <a:rPr lang="fr-FR" sz="3200" dirty="0"/>
              <a:t>Découverte du domaine de Laplace</a:t>
            </a:r>
          </a:p>
          <a:p>
            <a:pPr>
              <a:buNone/>
            </a:pPr>
            <a:endParaRPr lang="fr-FR" dirty="0"/>
          </a:p>
          <a:p>
            <a:pPr>
              <a:buNone/>
            </a:pPr>
            <a:r>
              <a:rPr lang="fr-FR" dirty="0"/>
              <a:t>Vous devez analyser une machine dont </a:t>
            </a:r>
            <a:r>
              <a:rPr lang="fr-FR" b="1" dirty="0"/>
              <a:t>vous ne connaissez pas le fonctionnement interne</a:t>
            </a:r>
            <a:br>
              <a:rPr lang="fr-FR" dirty="0"/>
            </a:br>
            <a:r>
              <a:rPr lang="fr-FR" dirty="0"/>
              <a:t>Au départ, une seule méthode est possible :</a:t>
            </a:r>
          </a:p>
          <a:p>
            <a:pPr>
              <a:buFont typeface="Arial" panose="020B0604020202020204" pitchFamily="34" charset="0"/>
              <a:buChar char="•"/>
            </a:pPr>
            <a:r>
              <a:rPr lang="fr-FR" dirty="0"/>
              <a:t> envoyer des </a:t>
            </a:r>
            <a:r>
              <a:rPr lang="fr-FR" b="1" dirty="0"/>
              <a:t>signaux à l’entrée</a:t>
            </a:r>
            <a:endParaRPr lang="fr-FR" dirty="0"/>
          </a:p>
          <a:p>
            <a:pPr>
              <a:buFont typeface="Arial" panose="020B0604020202020204" pitchFamily="34" charset="0"/>
              <a:buChar char="•"/>
            </a:pPr>
            <a:r>
              <a:rPr lang="fr-FR" b="1" dirty="0"/>
              <a:t> observer la réponse</a:t>
            </a:r>
            <a:r>
              <a:rPr lang="fr-FR" dirty="0"/>
              <a:t> du système</a:t>
            </a:r>
          </a:p>
          <a:p>
            <a:pPr>
              <a:buNone/>
            </a:pPr>
            <a:r>
              <a:rPr lang="fr-FR" dirty="0"/>
              <a:t> </a:t>
            </a:r>
          </a:p>
          <a:p>
            <a:pPr>
              <a:buNone/>
            </a:pPr>
            <a:r>
              <a:rPr lang="fr-FR" dirty="0"/>
              <a:t>Mais rapidement, un problème apparaît : dans le </a:t>
            </a:r>
            <a:r>
              <a:rPr lang="fr-FR" b="1" dirty="0"/>
              <a:t>domaine temporel</a:t>
            </a:r>
            <a:r>
              <a:rPr lang="fr-FR" dirty="0"/>
              <a:t>, les équations deviennent complexes :</a:t>
            </a:r>
            <a:br>
              <a:rPr lang="fr-FR" dirty="0"/>
            </a:br>
            <a:r>
              <a:rPr lang="fr-FR" dirty="0"/>
              <a:t>dérivées, intégrales, couplages entre variables…</a:t>
            </a:r>
          </a:p>
          <a:p>
            <a:pPr>
              <a:buNone/>
            </a:pPr>
            <a:endParaRPr lang="fr-FR" dirty="0"/>
          </a:p>
          <a:p>
            <a:pPr>
              <a:buNone/>
            </a:pPr>
            <a:r>
              <a:rPr lang="fr-FR" dirty="0"/>
              <a:t>C’est comme essayer de </a:t>
            </a:r>
            <a:r>
              <a:rPr lang="fr-FR" b="1" dirty="0"/>
              <a:t>comprendre une horloge en regardant toutes les roues tourner en même temps</a:t>
            </a:r>
            <a:r>
              <a:rPr lang="fr-FR" dirty="0"/>
              <a:t>.</a:t>
            </a:r>
          </a:p>
          <a:p>
            <a:pPr>
              <a:buNone/>
            </a:pPr>
            <a:endParaRPr lang="fr-FR" dirty="0"/>
          </a:p>
          <a:p>
            <a:pPr>
              <a:buNone/>
            </a:pPr>
            <a:r>
              <a:rPr lang="fr-FR" dirty="0"/>
              <a:t>Un ingénieur propose alors : « Et si nous observions la machine dans </a:t>
            </a:r>
            <a:r>
              <a:rPr lang="fr-FR" b="1" dirty="0"/>
              <a:t>un autre univers mathématique</a:t>
            </a:r>
            <a:r>
              <a:rPr lang="fr-FR" dirty="0"/>
              <a:t> ? » -&gt; domaine de Laplace</a:t>
            </a:r>
          </a:p>
        </p:txBody>
      </p:sp>
    </p:spTree>
    <p:extLst>
      <p:ext uri="{BB962C8B-B14F-4D97-AF65-F5344CB8AC3E}">
        <p14:creationId xmlns:p14="http://schemas.microsoft.com/office/powerpoint/2010/main" val="2712656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43E9B72C-97BC-F672-7C5B-670D219F1F36}"/>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5" name="Espace réservé du numéro de diapositive 4">
            <a:extLst>
              <a:ext uri="{FF2B5EF4-FFF2-40B4-BE49-F238E27FC236}">
                <a16:creationId xmlns:a16="http://schemas.microsoft.com/office/drawing/2014/main" id="{90456CF5-2A3E-75F6-3E1D-84CBEABE33D2}"/>
              </a:ext>
            </a:extLst>
          </p:cNvPr>
          <p:cNvSpPr>
            <a:spLocks noGrp="1"/>
          </p:cNvSpPr>
          <p:nvPr>
            <p:ph type="sldNum" sz="quarter" idx="12"/>
          </p:nvPr>
        </p:nvSpPr>
        <p:spPr/>
        <p:txBody>
          <a:bodyPr/>
          <a:lstStyle/>
          <a:p>
            <a:fld id="{3CA76ACC-A68C-4A5C-9615-B59A999884DC}" type="slidenum">
              <a:rPr lang="fr-FR" smtClean="0"/>
              <a:t>11</a:t>
            </a:fld>
            <a:endParaRPr lang="fr-FR"/>
          </a:p>
        </p:txBody>
      </p:sp>
      <p:sp>
        <p:nvSpPr>
          <p:cNvPr id="22" name="Espace réservé de la date 21">
            <a:extLst>
              <a:ext uri="{FF2B5EF4-FFF2-40B4-BE49-F238E27FC236}">
                <a16:creationId xmlns:a16="http://schemas.microsoft.com/office/drawing/2014/main" id="{B32DBD8B-C0B8-75E4-A383-B7E706854598}"/>
              </a:ext>
            </a:extLst>
          </p:cNvPr>
          <p:cNvSpPr>
            <a:spLocks noGrp="1"/>
          </p:cNvSpPr>
          <p:nvPr>
            <p:ph type="dt" sz="half" idx="10"/>
          </p:nvPr>
        </p:nvSpPr>
        <p:spPr/>
        <p:txBody>
          <a:bodyPr/>
          <a:lstStyle/>
          <a:p>
            <a:r>
              <a:rPr lang="fr-FR"/>
              <a:t>10/03/2026</a:t>
            </a:r>
            <a:endParaRPr lang="fr-FR" dirty="0"/>
          </a:p>
        </p:txBody>
      </p:sp>
      <p:sp>
        <p:nvSpPr>
          <p:cNvPr id="18" name="ZoneTexte 17">
            <a:extLst>
              <a:ext uri="{FF2B5EF4-FFF2-40B4-BE49-F238E27FC236}">
                <a16:creationId xmlns:a16="http://schemas.microsoft.com/office/drawing/2014/main" id="{8A38C710-D25D-94D0-98A8-B43E743F9866}"/>
              </a:ext>
            </a:extLst>
          </p:cNvPr>
          <p:cNvSpPr txBox="1"/>
          <p:nvPr/>
        </p:nvSpPr>
        <p:spPr>
          <a:xfrm>
            <a:off x="393700" y="1278037"/>
            <a:ext cx="8398797" cy="5909310"/>
          </a:xfrm>
          <a:prstGeom prst="rect">
            <a:avLst/>
          </a:prstGeom>
          <a:noFill/>
        </p:spPr>
        <p:txBody>
          <a:bodyPr wrap="square" rtlCol="0">
            <a:spAutoFit/>
          </a:bodyPr>
          <a:lstStyle/>
          <a:p>
            <a:r>
              <a:rPr lang="fr-FR" b="1" u="sng" dirty="0"/>
              <a:t>TP sur le système et sur Matlab:</a:t>
            </a:r>
            <a:r>
              <a:rPr lang="fr-FR" dirty="0"/>
              <a:t> </a:t>
            </a:r>
            <a:r>
              <a:rPr lang="fr-FR" dirty="0">
                <a:highlight>
                  <a:srgbClr val="FFFF00"/>
                </a:highlight>
              </a:rPr>
              <a:t>[causalité ] </a:t>
            </a:r>
            <a:r>
              <a:rPr lang="fr-FR" dirty="0"/>
              <a:t>, </a:t>
            </a:r>
            <a:r>
              <a:rPr lang="fr-FR" dirty="0">
                <a:highlight>
                  <a:srgbClr val="FFFF00"/>
                </a:highlight>
              </a:rPr>
              <a:t>[transformée de Laplace] </a:t>
            </a:r>
          </a:p>
          <a:p>
            <a:r>
              <a:rPr lang="fr-FR" dirty="0"/>
              <a:t>1) Faire la chaine d’énergie et d’information en format numérique, en prenant en photo  les composants du système</a:t>
            </a:r>
          </a:p>
          <a:p>
            <a:r>
              <a:rPr lang="fr-FR" dirty="0"/>
              <a:t>2) Envoyer une commande d’entrée et observer la réponse du système + compléter les diagrammes des exigences et des cas d’utilisation</a:t>
            </a:r>
            <a:br>
              <a:rPr lang="fr-FR" dirty="0"/>
            </a:br>
            <a:r>
              <a:rPr lang="fr-FR" dirty="0"/>
              <a:t>2) Sur la maquette, repérer l’emplacement de chaque composant, en faisant le lien avec les blocs acausaux du modèle Matlab + les flux</a:t>
            </a:r>
          </a:p>
          <a:p>
            <a:r>
              <a:rPr lang="fr-FR" dirty="0"/>
              <a:t>3) Faire le lien ensuite entre le modèle </a:t>
            </a:r>
            <a:r>
              <a:rPr lang="fr-FR" b="1" dirty="0"/>
              <a:t>acausal précédemment étudié </a:t>
            </a:r>
            <a:r>
              <a:rPr lang="fr-FR" dirty="0"/>
              <a:t>(plus accessible), et </a:t>
            </a:r>
            <a:r>
              <a:rPr lang="fr-FR" b="1" dirty="0"/>
              <a:t>le modèle causal proposé </a:t>
            </a:r>
            <a:r>
              <a:rPr lang="fr-FR" dirty="0"/>
              <a:t>(moins accessible, avec les équations de en Laplace): identifier les points communs et les différences entre temporel et Laplace</a:t>
            </a:r>
          </a:p>
          <a:p>
            <a:endParaRPr lang="fr-FR" dirty="0"/>
          </a:p>
          <a:p>
            <a:endParaRPr lang="fr-FR" b="1" u="sng" dirty="0"/>
          </a:p>
          <a:p>
            <a:r>
              <a:rPr lang="fr-FR" b="1" u="sng" dirty="0"/>
              <a:t>Cours et TD:</a:t>
            </a:r>
            <a:r>
              <a:rPr lang="fr-FR" dirty="0"/>
              <a:t> </a:t>
            </a:r>
            <a:r>
              <a:rPr lang="fr-FR" dirty="0">
                <a:highlight>
                  <a:srgbClr val="FFFF00"/>
                </a:highlight>
              </a:rPr>
              <a:t>[transformée de Laplace]</a:t>
            </a:r>
            <a:r>
              <a:rPr lang="fr-FR" dirty="0"/>
              <a:t> , </a:t>
            </a:r>
            <a:r>
              <a:rPr lang="fr-FR" dirty="0">
                <a:highlight>
                  <a:srgbClr val="FFFF00"/>
                </a:highlight>
              </a:rPr>
              <a:t>[modélisation par des équations différentielles]</a:t>
            </a:r>
            <a:r>
              <a:rPr lang="fr-FR" dirty="0"/>
              <a:t> , </a:t>
            </a:r>
            <a:r>
              <a:rPr lang="fr-FR" dirty="0">
                <a:highlight>
                  <a:srgbClr val="FFFF00"/>
                </a:highlight>
              </a:rPr>
              <a:t>[fonction de transfert]</a:t>
            </a:r>
          </a:p>
          <a:p>
            <a:r>
              <a:rPr lang="fr-FR" dirty="0"/>
              <a:t>passage des équations temporelles vers Laplace et vice-versa, calculs de la FTBO et FTBF suivant plusieurs techniques, rappel sur la superposition appliquée aux schémas blocs</a:t>
            </a:r>
            <a:br>
              <a:rPr lang="fr-FR" dirty="0"/>
            </a:br>
            <a:br>
              <a:rPr lang="fr-FR" dirty="0"/>
            </a:br>
            <a:endParaRPr lang="fr-FR" dirty="0"/>
          </a:p>
          <a:p>
            <a:endParaRPr lang="fr-FR" dirty="0"/>
          </a:p>
        </p:txBody>
      </p:sp>
      <p:pic>
        <p:nvPicPr>
          <p:cNvPr id="30" name="Image 29">
            <a:extLst>
              <a:ext uri="{FF2B5EF4-FFF2-40B4-BE49-F238E27FC236}">
                <a16:creationId xmlns:a16="http://schemas.microsoft.com/office/drawing/2014/main" id="{D595DAF4-D37B-F9BB-AF43-2B64B43FDEA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081370" y="1326284"/>
            <a:ext cx="2868366" cy="1945051"/>
          </a:xfrm>
          <a:prstGeom prst="rect">
            <a:avLst/>
          </a:prstGeom>
        </p:spPr>
      </p:pic>
      <p:sp>
        <p:nvSpPr>
          <p:cNvPr id="31" name="ZoneTexte 30">
            <a:extLst>
              <a:ext uri="{FF2B5EF4-FFF2-40B4-BE49-F238E27FC236}">
                <a16:creationId xmlns:a16="http://schemas.microsoft.com/office/drawing/2014/main" id="{64745042-04F0-2348-2893-2864ECB65E86}"/>
              </a:ext>
            </a:extLst>
          </p:cNvPr>
          <p:cNvSpPr txBox="1"/>
          <p:nvPr/>
        </p:nvSpPr>
        <p:spPr>
          <a:xfrm>
            <a:off x="393700" y="424531"/>
            <a:ext cx="12179299" cy="584775"/>
          </a:xfrm>
          <a:prstGeom prst="rect">
            <a:avLst/>
          </a:prstGeom>
          <a:noFill/>
        </p:spPr>
        <p:txBody>
          <a:bodyPr wrap="square" rtlCol="0">
            <a:spAutoFit/>
          </a:bodyPr>
          <a:lstStyle/>
          <a:p>
            <a:r>
              <a:rPr lang="fr-FR" sz="3200" dirty="0"/>
              <a:t>Semaine 1 – Découverte du domaine de Laplace</a:t>
            </a:r>
          </a:p>
        </p:txBody>
      </p:sp>
    </p:spTree>
    <p:extLst>
      <p:ext uri="{BB962C8B-B14F-4D97-AF65-F5344CB8AC3E}">
        <p14:creationId xmlns:p14="http://schemas.microsoft.com/office/powerpoint/2010/main" val="289800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E90BF-59B7-87E6-C885-A72AE685B37E}"/>
            </a:ext>
          </a:extLst>
        </p:cNvPr>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CA8320BB-6FB9-215E-373D-A7B69E886A4E}"/>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5" name="Espace réservé du numéro de diapositive 4">
            <a:extLst>
              <a:ext uri="{FF2B5EF4-FFF2-40B4-BE49-F238E27FC236}">
                <a16:creationId xmlns:a16="http://schemas.microsoft.com/office/drawing/2014/main" id="{3FCE8403-A0F8-CD60-278A-B30C6E2C500D}"/>
              </a:ext>
            </a:extLst>
          </p:cNvPr>
          <p:cNvSpPr>
            <a:spLocks noGrp="1"/>
          </p:cNvSpPr>
          <p:nvPr>
            <p:ph type="sldNum" sz="quarter" idx="12"/>
          </p:nvPr>
        </p:nvSpPr>
        <p:spPr/>
        <p:txBody>
          <a:bodyPr/>
          <a:lstStyle/>
          <a:p>
            <a:fld id="{3CA76ACC-A68C-4A5C-9615-B59A999884DC}" type="slidenum">
              <a:rPr lang="fr-FR" smtClean="0"/>
              <a:t>12</a:t>
            </a:fld>
            <a:endParaRPr lang="fr-FR"/>
          </a:p>
        </p:txBody>
      </p:sp>
      <p:sp>
        <p:nvSpPr>
          <p:cNvPr id="22" name="Espace réservé de la date 21">
            <a:extLst>
              <a:ext uri="{FF2B5EF4-FFF2-40B4-BE49-F238E27FC236}">
                <a16:creationId xmlns:a16="http://schemas.microsoft.com/office/drawing/2014/main" id="{B1791B58-884D-5CAE-1449-F0C91DACED47}"/>
              </a:ext>
            </a:extLst>
          </p:cNvPr>
          <p:cNvSpPr>
            <a:spLocks noGrp="1"/>
          </p:cNvSpPr>
          <p:nvPr>
            <p:ph type="dt" sz="half" idx="10"/>
          </p:nvPr>
        </p:nvSpPr>
        <p:spPr/>
        <p:txBody>
          <a:bodyPr/>
          <a:lstStyle/>
          <a:p>
            <a:r>
              <a:rPr lang="fr-FR"/>
              <a:t>10/03/2026</a:t>
            </a:r>
            <a:endParaRPr lang="fr-FR" dirty="0"/>
          </a:p>
        </p:txBody>
      </p:sp>
      <p:sp>
        <p:nvSpPr>
          <p:cNvPr id="31" name="ZoneTexte 30">
            <a:extLst>
              <a:ext uri="{FF2B5EF4-FFF2-40B4-BE49-F238E27FC236}">
                <a16:creationId xmlns:a16="http://schemas.microsoft.com/office/drawing/2014/main" id="{C0278252-A286-82D3-F374-0393ABAB82BC}"/>
              </a:ext>
            </a:extLst>
          </p:cNvPr>
          <p:cNvSpPr txBox="1"/>
          <p:nvPr/>
        </p:nvSpPr>
        <p:spPr>
          <a:xfrm>
            <a:off x="393701" y="443624"/>
            <a:ext cx="9118600" cy="5170646"/>
          </a:xfrm>
          <a:prstGeom prst="rect">
            <a:avLst/>
          </a:prstGeom>
          <a:noFill/>
        </p:spPr>
        <p:txBody>
          <a:bodyPr wrap="square" rtlCol="0">
            <a:spAutoFit/>
          </a:bodyPr>
          <a:lstStyle/>
          <a:p>
            <a:r>
              <a:rPr lang="fr-FR" sz="3200" dirty="0"/>
              <a:t>Semaine 2 – mise en contexte </a:t>
            </a:r>
          </a:p>
          <a:p>
            <a:r>
              <a:rPr lang="fr-FR" sz="3200" dirty="0"/>
              <a:t>phase 2 du retro engineering : caractériser les performances du système</a:t>
            </a:r>
            <a:endParaRPr lang="fr-FR" dirty="0"/>
          </a:p>
          <a:p>
            <a:pPr>
              <a:buNone/>
            </a:pPr>
            <a:endParaRPr lang="fr-FR" dirty="0"/>
          </a:p>
          <a:p>
            <a:pPr>
              <a:buNone/>
            </a:pPr>
            <a:r>
              <a:rPr lang="fr-FR" dirty="0"/>
              <a:t>Après avoir découvert le </a:t>
            </a:r>
            <a:r>
              <a:rPr lang="fr-FR" b="1" dirty="0"/>
              <a:t>domaine de Laplace</a:t>
            </a:r>
            <a:r>
              <a:rPr lang="fr-FR" dirty="0"/>
              <a:t>, nous sommes maintenant capables de décrire le système par une </a:t>
            </a:r>
            <a:r>
              <a:rPr lang="fr-FR" b="1" dirty="0"/>
              <a:t>fonction de transfert</a:t>
            </a:r>
            <a:r>
              <a:rPr lang="fr-FR" dirty="0"/>
              <a:t>.</a:t>
            </a:r>
          </a:p>
          <a:p>
            <a:pPr>
              <a:buNone/>
            </a:pPr>
            <a:endParaRPr lang="fr-FR" dirty="0"/>
          </a:p>
          <a:p>
            <a:pPr>
              <a:buNone/>
            </a:pPr>
            <a:r>
              <a:rPr lang="fr-FR" dirty="0"/>
              <a:t>Mais pour un ingénieur, comprendre un système ne suffit pas :</a:t>
            </a:r>
            <a:br>
              <a:rPr lang="fr-FR" dirty="0"/>
            </a:br>
            <a:r>
              <a:rPr lang="fr-FR" dirty="0"/>
              <a:t>il faut aussi vérifier </a:t>
            </a:r>
            <a:r>
              <a:rPr lang="fr-FR" b="1" dirty="0"/>
              <a:t>s’il répond au besoin</a:t>
            </a:r>
            <a:r>
              <a:rPr lang="fr-FR" dirty="0"/>
              <a:t>.</a:t>
            </a:r>
          </a:p>
          <a:p>
            <a:pPr>
              <a:buNone/>
            </a:pPr>
            <a:endParaRPr lang="fr-FR" dirty="0"/>
          </a:p>
          <a:p>
            <a:pPr>
              <a:buNone/>
            </a:pPr>
            <a:r>
              <a:rPr lang="fr-FR" dirty="0"/>
              <a:t>On introduit donc un </a:t>
            </a:r>
            <a:r>
              <a:rPr lang="fr-FR" b="1" dirty="0"/>
              <a:t>cahier des charges</a:t>
            </a:r>
            <a:r>
              <a:rPr lang="fr-FR" dirty="0"/>
              <a:t> :</a:t>
            </a:r>
            <a:br>
              <a:rPr lang="fr-FR" dirty="0"/>
            </a:br>
            <a:r>
              <a:rPr lang="fr-FR" dirty="0"/>
              <a:t>le système doit répondre à une consigne </a:t>
            </a:r>
            <a:r>
              <a:rPr lang="fr-FR" b="1" dirty="0"/>
              <a:t>avec certaines performances</a:t>
            </a:r>
            <a:r>
              <a:rPr lang="fr-FR" dirty="0"/>
              <a:t> (rapidité, précision, stabilité…).</a:t>
            </a:r>
          </a:p>
          <a:p>
            <a:pPr>
              <a:buNone/>
            </a:pPr>
            <a:endParaRPr lang="fr-FR" dirty="0"/>
          </a:p>
          <a:p>
            <a:pPr>
              <a:buNone/>
            </a:pPr>
            <a:r>
              <a:rPr lang="fr-FR" dirty="0"/>
              <a:t>Pour cela, on étudie </a:t>
            </a:r>
            <a:r>
              <a:rPr lang="fr-FR" b="1" dirty="0"/>
              <a:t>la réponse indicielle</a:t>
            </a:r>
            <a:r>
              <a:rPr lang="fr-FR" dirty="0"/>
              <a:t>, qui permet de caractériser le comportement dynamique du système.</a:t>
            </a:r>
          </a:p>
        </p:txBody>
      </p:sp>
      <p:pic>
        <p:nvPicPr>
          <p:cNvPr id="2" name="Image 1">
            <a:extLst>
              <a:ext uri="{FF2B5EF4-FFF2-40B4-BE49-F238E27FC236}">
                <a16:creationId xmlns:a16="http://schemas.microsoft.com/office/drawing/2014/main" id="{EE44060B-820A-B182-C20B-8B701CF04BE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207845" y="1881704"/>
            <a:ext cx="2743199" cy="1866275"/>
          </a:xfrm>
          <a:prstGeom prst="rect">
            <a:avLst/>
          </a:prstGeom>
        </p:spPr>
      </p:pic>
      <p:pic>
        <p:nvPicPr>
          <p:cNvPr id="3" name="Image 2">
            <a:extLst>
              <a:ext uri="{FF2B5EF4-FFF2-40B4-BE49-F238E27FC236}">
                <a16:creationId xmlns:a16="http://schemas.microsoft.com/office/drawing/2014/main" id="{09E05691-E6AB-DC23-4126-EE0A8780F27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207846" y="3831817"/>
            <a:ext cx="2743200" cy="1373849"/>
          </a:xfrm>
          <a:prstGeom prst="rect">
            <a:avLst/>
          </a:prstGeom>
        </p:spPr>
      </p:pic>
    </p:spTree>
    <p:extLst>
      <p:ext uri="{BB962C8B-B14F-4D97-AF65-F5344CB8AC3E}">
        <p14:creationId xmlns:p14="http://schemas.microsoft.com/office/powerpoint/2010/main" val="1752889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1211F-3998-1979-D55E-9957458D4D9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EBAAD73-FE9B-AD05-98BF-B3049B760318}"/>
              </a:ext>
            </a:extLst>
          </p:cNvPr>
          <p:cNvSpPr>
            <a:spLocks noGrp="1"/>
          </p:cNvSpPr>
          <p:nvPr>
            <p:ph type="title"/>
          </p:nvPr>
        </p:nvSpPr>
        <p:spPr>
          <a:xfrm>
            <a:off x="535328" y="136525"/>
            <a:ext cx="10515600" cy="1325563"/>
          </a:xfrm>
        </p:spPr>
        <p:txBody>
          <a:bodyPr>
            <a:normAutofit/>
          </a:bodyPr>
          <a:lstStyle/>
          <a:p>
            <a:r>
              <a:rPr lang="fr-FR" sz="3200" dirty="0"/>
              <a:t>Semaine 2 : caractériser les performances du système</a:t>
            </a:r>
          </a:p>
        </p:txBody>
      </p:sp>
      <p:sp>
        <p:nvSpPr>
          <p:cNvPr id="4" name="Espace réservé du pied de page 3">
            <a:extLst>
              <a:ext uri="{FF2B5EF4-FFF2-40B4-BE49-F238E27FC236}">
                <a16:creationId xmlns:a16="http://schemas.microsoft.com/office/drawing/2014/main" id="{3FD5CBB9-E590-FE8E-3AD8-DC3514D5F57C}"/>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5" name="Espace réservé du numéro de diapositive 4">
            <a:extLst>
              <a:ext uri="{FF2B5EF4-FFF2-40B4-BE49-F238E27FC236}">
                <a16:creationId xmlns:a16="http://schemas.microsoft.com/office/drawing/2014/main" id="{C1CD3F44-8BEE-A280-D4FA-4090D5E5730B}"/>
              </a:ext>
            </a:extLst>
          </p:cNvPr>
          <p:cNvSpPr>
            <a:spLocks noGrp="1"/>
          </p:cNvSpPr>
          <p:nvPr>
            <p:ph type="sldNum" sz="quarter" idx="12"/>
          </p:nvPr>
        </p:nvSpPr>
        <p:spPr/>
        <p:txBody>
          <a:bodyPr/>
          <a:lstStyle/>
          <a:p>
            <a:fld id="{3CA76ACC-A68C-4A5C-9615-B59A999884DC}" type="slidenum">
              <a:rPr lang="fr-FR" smtClean="0"/>
              <a:t>13</a:t>
            </a:fld>
            <a:endParaRPr lang="fr-FR"/>
          </a:p>
        </p:txBody>
      </p:sp>
      <p:sp>
        <p:nvSpPr>
          <p:cNvPr id="22" name="Espace réservé de la date 21">
            <a:extLst>
              <a:ext uri="{FF2B5EF4-FFF2-40B4-BE49-F238E27FC236}">
                <a16:creationId xmlns:a16="http://schemas.microsoft.com/office/drawing/2014/main" id="{31692B87-049C-714A-B7EF-5B66345A009D}"/>
              </a:ext>
            </a:extLst>
          </p:cNvPr>
          <p:cNvSpPr>
            <a:spLocks noGrp="1"/>
          </p:cNvSpPr>
          <p:nvPr>
            <p:ph type="dt" sz="half" idx="10"/>
          </p:nvPr>
        </p:nvSpPr>
        <p:spPr/>
        <p:txBody>
          <a:bodyPr/>
          <a:lstStyle/>
          <a:p>
            <a:r>
              <a:rPr lang="fr-FR"/>
              <a:t>10/03/2026</a:t>
            </a:r>
            <a:endParaRPr lang="fr-FR" dirty="0"/>
          </a:p>
        </p:txBody>
      </p:sp>
      <p:sp>
        <p:nvSpPr>
          <p:cNvPr id="18" name="ZoneTexte 17">
            <a:extLst>
              <a:ext uri="{FF2B5EF4-FFF2-40B4-BE49-F238E27FC236}">
                <a16:creationId xmlns:a16="http://schemas.microsoft.com/office/drawing/2014/main" id="{E36F1772-E31E-9BCD-8BC6-35317A070E80}"/>
              </a:ext>
            </a:extLst>
          </p:cNvPr>
          <p:cNvSpPr txBox="1"/>
          <p:nvPr/>
        </p:nvSpPr>
        <p:spPr>
          <a:xfrm>
            <a:off x="535328" y="1735961"/>
            <a:ext cx="8164172" cy="4247317"/>
          </a:xfrm>
          <a:prstGeom prst="rect">
            <a:avLst/>
          </a:prstGeom>
          <a:noFill/>
        </p:spPr>
        <p:txBody>
          <a:bodyPr wrap="square" rtlCol="0">
            <a:spAutoFit/>
          </a:bodyPr>
          <a:lstStyle/>
          <a:p>
            <a:r>
              <a:rPr lang="fr-FR" b="1" u="sng" dirty="0"/>
              <a:t>TP :</a:t>
            </a:r>
            <a:r>
              <a:rPr lang="fr-FR" dirty="0"/>
              <a:t> </a:t>
            </a:r>
            <a:r>
              <a:rPr lang="fr-FR" dirty="0">
                <a:highlight>
                  <a:srgbClr val="FFFF00"/>
                </a:highlight>
              </a:rPr>
              <a:t>[Allures des réponses indicielles]</a:t>
            </a:r>
            <a:r>
              <a:rPr lang="fr-FR" dirty="0"/>
              <a:t>, </a:t>
            </a:r>
            <a:r>
              <a:rPr lang="fr-FR" dirty="0">
                <a:highlight>
                  <a:srgbClr val="FFFF00"/>
                </a:highlight>
              </a:rPr>
              <a:t>[Paramètres caractéristiques] </a:t>
            </a:r>
            <a:r>
              <a:rPr lang="fr-FR" dirty="0"/>
              <a:t>,</a:t>
            </a:r>
            <a:r>
              <a:rPr lang="fr-FR" dirty="0">
                <a:highlight>
                  <a:srgbClr val="FFFF00"/>
                </a:highlight>
              </a:rPr>
              <a:t> [Premier ordre, deuxième ordre]</a:t>
            </a:r>
          </a:p>
          <a:p>
            <a:r>
              <a:rPr lang="fr-FR" dirty="0"/>
              <a:t>1) Sur la maquette didactique, mesurer la forme de la réponse indicielle en fonction de l’orientation de la plateforme, en déduire l’ordre et les paramètres caractéristiques (à l’aide des définitions fournies, car nouvelle notion)</a:t>
            </a:r>
          </a:p>
          <a:p>
            <a:r>
              <a:rPr lang="fr-FR" dirty="0"/>
              <a:t>2) Proposer un modèle mécanique pour expliquer les différences observées</a:t>
            </a:r>
          </a:p>
          <a:p>
            <a:r>
              <a:rPr lang="fr-FR" dirty="0"/>
              <a:t>3) Expliquer les différences entre le cahier des charges et les erreurs mesurées</a:t>
            </a:r>
          </a:p>
          <a:p>
            <a:endParaRPr lang="fr-FR" dirty="0"/>
          </a:p>
          <a:p>
            <a:r>
              <a:rPr lang="fr-FR" b="1" u="sng" dirty="0"/>
              <a:t>Cours et TD:</a:t>
            </a:r>
            <a:r>
              <a:rPr lang="fr-FR" dirty="0"/>
              <a:t> </a:t>
            </a:r>
            <a:r>
              <a:rPr lang="fr-FR" dirty="0">
                <a:highlight>
                  <a:srgbClr val="FFFF00"/>
                </a:highlight>
              </a:rPr>
              <a:t>[forme canonique] </a:t>
            </a:r>
            <a:r>
              <a:rPr lang="fr-FR" dirty="0"/>
              <a:t>,</a:t>
            </a:r>
            <a:r>
              <a:rPr lang="fr-FR" dirty="0">
                <a:highlight>
                  <a:srgbClr val="FFFF00"/>
                </a:highlight>
              </a:rPr>
              <a:t> [gain, ordre, classe, pôles et zéros.]</a:t>
            </a:r>
            <a:r>
              <a:rPr lang="fr-FR" dirty="0"/>
              <a:t> </a:t>
            </a:r>
            <a:endParaRPr lang="fr-FR" dirty="0">
              <a:highlight>
                <a:srgbClr val="FFFF00"/>
              </a:highlight>
            </a:endParaRPr>
          </a:p>
          <a:p>
            <a:r>
              <a:rPr lang="fr-FR" dirty="0"/>
              <a:t>Identifications de paramètres caractéristiques pour retrouver l’expression de la forme canonique, savoir calculer le gain, la classe, les pôles et l’ordre d’un fonction de transfert, faire une décomposition en éléments simples </a:t>
            </a:r>
            <a:br>
              <a:rPr lang="fr-FR" dirty="0"/>
            </a:br>
            <a:br>
              <a:rPr lang="fr-FR" dirty="0"/>
            </a:br>
            <a:endParaRPr lang="fr-FR" dirty="0"/>
          </a:p>
          <a:p>
            <a:endParaRPr lang="fr-FR" dirty="0"/>
          </a:p>
        </p:txBody>
      </p:sp>
      <p:pic>
        <p:nvPicPr>
          <p:cNvPr id="6" name="Image 5">
            <a:extLst>
              <a:ext uri="{FF2B5EF4-FFF2-40B4-BE49-F238E27FC236}">
                <a16:creationId xmlns:a16="http://schemas.microsoft.com/office/drawing/2014/main" id="{F3C51ADC-83E8-CC91-7E8B-815AD7000F1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937876" y="1163986"/>
            <a:ext cx="2984154" cy="2030203"/>
          </a:xfrm>
          <a:prstGeom prst="rect">
            <a:avLst/>
          </a:prstGeom>
        </p:spPr>
      </p:pic>
      <p:pic>
        <p:nvPicPr>
          <p:cNvPr id="16" name="Image 15">
            <a:extLst>
              <a:ext uri="{FF2B5EF4-FFF2-40B4-BE49-F238E27FC236}">
                <a16:creationId xmlns:a16="http://schemas.microsoft.com/office/drawing/2014/main" id="{3B721867-2E93-F39F-4134-9C4CE05D528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937876" y="3260521"/>
            <a:ext cx="2945557" cy="1475193"/>
          </a:xfrm>
          <a:prstGeom prst="rect">
            <a:avLst/>
          </a:prstGeom>
        </p:spPr>
      </p:pic>
    </p:spTree>
    <p:extLst>
      <p:ext uri="{BB962C8B-B14F-4D97-AF65-F5344CB8AC3E}">
        <p14:creationId xmlns:p14="http://schemas.microsoft.com/office/powerpoint/2010/main" val="2405222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05E06-505B-8CBB-D4E8-4328E0CC4B52}"/>
            </a:ext>
          </a:extLst>
        </p:cNvPr>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7A976648-7292-15A1-D72F-CE80870964CF}"/>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5" name="Espace réservé du numéro de diapositive 4">
            <a:extLst>
              <a:ext uri="{FF2B5EF4-FFF2-40B4-BE49-F238E27FC236}">
                <a16:creationId xmlns:a16="http://schemas.microsoft.com/office/drawing/2014/main" id="{6AF4B56A-D60D-6E3E-8152-A85464F8037B}"/>
              </a:ext>
            </a:extLst>
          </p:cNvPr>
          <p:cNvSpPr>
            <a:spLocks noGrp="1"/>
          </p:cNvSpPr>
          <p:nvPr>
            <p:ph type="sldNum" sz="quarter" idx="12"/>
          </p:nvPr>
        </p:nvSpPr>
        <p:spPr/>
        <p:txBody>
          <a:bodyPr/>
          <a:lstStyle/>
          <a:p>
            <a:fld id="{3CA76ACC-A68C-4A5C-9615-B59A999884DC}" type="slidenum">
              <a:rPr lang="fr-FR" smtClean="0"/>
              <a:t>14</a:t>
            </a:fld>
            <a:endParaRPr lang="fr-FR"/>
          </a:p>
        </p:txBody>
      </p:sp>
      <p:sp>
        <p:nvSpPr>
          <p:cNvPr id="22" name="Espace réservé de la date 21">
            <a:extLst>
              <a:ext uri="{FF2B5EF4-FFF2-40B4-BE49-F238E27FC236}">
                <a16:creationId xmlns:a16="http://schemas.microsoft.com/office/drawing/2014/main" id="{29DA6025-52FC-BDF9-2B4B-E24332B10F41}"/>
              </a:ext>
            </a:extLst>
          </p:cNvPr>
          <p:cNvSpPr>
            <a:spLocks noGrp="1"/>
          </p:cNvSpPr>
          <p:nvPr>
            <p:ph type="dt" sz="half" idx="10"/>
          </p:nvPr>
        </p:nvSpPr>
        <p:spPr/>
        <p:txBody>
          <a:bodyPr/>
          <a:lstStyle/>
          <a:p>
            <a:r>
              <a:rPr lang="fr-FR"/>
              <a:t>10/03/2026</a:t>
            </a:r>
            <a:endParaRPr lang="fr-FR" dirty="0"/>
          </a:p>
        </p:txBody>
      </p:sp>
      <p:sp>
        <p:nvSpPr>
          <p:cNvPr id="31" name="ZoneTexte 30">
            <a:extLst>
              <a:ext uri="{FF2B5EF4-FFF2-40B4-BE49-F238E27FC236}">
                <a16:creationId xmlns:a16="http://schemas.microsoft.com/office/drawing/2014/main" id="{E9B8A6CF-6193-5E9C-9D30-B336F663C2C6}"/>
              </a:ext>
            </a:extLst>
          </p:cNvPr>
          <p:cNvSpPr txBox="1"/>
          <p:nvPr/>
        </p:nvSpPr>
        <p:spPr>
          <a:xfrm>
            <a:off x="393700" y="443624"/>
            <a:ext cx="11557000" cy="6278642"/>
          </a:xfrm>
          <a:prstGeom prst="rect">
            <a:avLst/>
          </a:prstGeom>
          <a:noFill/>
        </p:spPr>
        <p:txBody>
          <a:bodyPr wrap="square" rtlCol="0">
            <a:spAutoFit/>
          </a:bodyPr>
          <a:lstStyle/>
          <a:p>
            <a:r>
              <a:rPr lang="fr-FR" sz="3200" dirty="0"/>
              <a:t>Semaine 3 – mise en contexte </a:t>
            </a:r>
          </a:p>
          <a:p>
            <a:r>
              <a:rPr lang="fr-FR" sz="3200" dirty="0"/>
              <a:t>phase 3 du rétro-engineering </a:t>
            </a:r>
          </a:p>
          <a:p>
            <a:r>
              <a:rPr lang="fr-FR" sz="3200" dirty="0"/>
              <a:t>analyser le comportement fréquentiel du système</a:t>
            </a:r>
            <a:endParaRPr lang="fr-FR" dirty="0"/>
          </a:p>
          <a:p>
            <a:pPr>
              <a:buNone/>
            </a:pPr>
            <a:endParaRPr lang="fr-FR" dirty="0"/>
          </a:p>
          <a:p>
            <a:pPr>
              <a:buNone/>
            </a:pPr>
            <a:r>
              <a:rPr lang="fr-FR" dirty="0"/>
              <a:t>Jusqu’à présent, nous avons caractérisé le système à partir de sa </a:t>
            </a:r>
            <a:r>
              <a:rPr lang="fr-FR" b="1" dirty="0"/>
              <a:t>réponse indicielle</a:t>
            </a:r>
            <a:r>
              <a:rPr lang="fr-FR" dirty="0"/>
              <a:t>, ce qui permet d’identifier son ordre et certains paramètres dynamiques.</a:t>
            </a:r>
          </a:p>
          <a:p>
            <a:pPr>
              <a:buNone/>
            </a:pPr>
            <a:endParaRPr lang="fr-FR" dirty="0"/>
          </a:p>
          <a:p>
            <a:pPr>
              <a:buNone/>
            </a:pPr>
            <a:r>
              <a:rPr lang="fr-FR" dirty="0"/>
              <a:t>Mais dans de nombreux systèmes industriels, il est aussi essentiel de comprendre </a:t>
            </a:r>
            <a:r>
              <a:rPr lang="fr-FR" b="1" dirty="0"/>
              <a:t>comment le système réagit selon la fréquence des sollicitations</a:t>
            </a:r>
            <a:r>
              <a:rPr lang="fr-FR" dirty="0"/>
              <a:t> (vibrations, signaux périodiques, perturbations).</a:t>
            </a:r>
          </a:p>
          <a:p>
            <a:pPr>
              <a:buNone/>
            </a:pPr>
            <a:r>
              <a:rPr lang="fr-FR" dirty="0"/>
              <a:t>On adopte alors une </a:t>
            </a:r>
            <a:r>
              <a:rPr lang="fr-FR" b="1" dirty="0"/>
              <a:t>approche fréquentielle</a:t>
            </a:r>
            <a:r>
              <a:rPr lang="fr-FR" dirty="0"/>
              <a:t> : on injecte des </a:t>
            </a:r>
            <a:r>
              <a:rPr lang="fr-FR" b="1" dirty="0"/>
              <a:t>signaux sinusoïdaux de différentes fréquences</a:t>
            </a:r>
            <a:r>
              <a:rPr lang="fr-FR" dirty="0"/>
              <a:t> et on observe :</a:t>
            </a:r>
          </a:p>
          <a:p>
            <a:pPr>
              <a:buFont typeface="Arial" panose="020B0604020202020204" pitchFamily="34" charset="0"/>
              <a:buChar char="•"/>
            </a:pPr>
            <a:r>
              <a:rPr lang="fr-FR" dirty="0"/>
              <a:t>l’évolution du </a:t>
            </a:r>
            <a:r>
              <a:rPr lang="fr-FR" b="1" dirty="0"/>
              <a:t>gain</a:t>
            </a:r>
            <a:endParaRPr lang="fr-FR" dirty="0"/>
          </a:p>
          <a:p>
            <a:pPr>
              <a:buFont typeface="Arial" panose="020B0604020202020204" pitchFamily="34" charset="0"/>
              <a:buChar char="•"/>
            </a:pPr>
            <a:r>
              <a:rPr lang="fr-FR" dirty="0"/>
              <a:t>le </a:t>
            </a:r>
            <a:r>
              <a:rPr lang="fr-FR" b="1" dirty="0"/>
              <a:t>déphasage</a:t>
            </a:r>
            <a:r>
              <a:rPr lang="fr-FR" dirty="0"/>
              <a:t> entre l’entrée et la sortie.</a:t>
            </a:r>
          </a:p>
          <a:p>
            <a:pPr>
              <a:buNone/>
            </a:pPr>
            <a:endParaRPr lang="fr-FR" dirty="0"/>
          </a:p>
          <a:p>
            <a:pPr>
              <a:buNone/>
            </a:pPr>
            <a:r>
              <a:rPr lang="fr-FR" dirty="0"/>
              <a:t>Ces mesures permettent de construire les </a:t>
            </a:r>
            <a:r>
              <a:rPr lang="fr-FR" b="1" dirty="0"/>
              <a:t>diagrammes de Bode</a:t>
            </a:r>
            <a:r>
              <a:rPr lang="fr-FR" dirty="0"/>
              <a:t>, qui donnent une vision globale du comportement dynamique du système.</a:t>
            </a:r>
          </a:p>
          <a:p>
            <a:pPr>
              <a:buNone/>
            </a:pPr>
            <a:endParaRPr lang="fr-FR" dirty="0"/>
          </a:p>
          <a:p>
            <a:pPr>
              <a:buNone/>
            </a:pPr>
            <a:r>
              <a:rPr lang="fr-FR" dirty="0"/>
              <a:t>À partir de ces diagrammes, on peut </a:t>
            </a:r>
            <a:r>
              <a:rPr lang="fr-FR" b="1" dirty="0"/>
              <a:t>identifier les paramètres caractéristiques</a:t>
            </a:r>
            <a:r>
              <a:rPr lang="fr-FR" dirty="0"/>
              <a:t> et </a:t>
            </a:r>
            <a:r>
              <a:rPr lang="fr-FR" b="1" dirty="0"/>
              <a:t>retrouver l’expression de la fonction de transfert</a:t>
            </a:r>
            <a:r>
              <a:rPr lang="fr-FR" dirty="0"/>
              <a:t> du système.</a:t>
            </a:r>
          </a:p>
          <a:p>
            <a:pPr>
              <a:buNone/>
            </a:pPr>
            <a:endParaRPr lang="fr-FR" dirty="0"/>
          </a:p>
        </p:txBody>
      </p:sp>
      <p:pic>
        <p:nvPicPr>
          <p:cNvPr id="2" name="Image 1">
            <a:extLst>
              <a:ext uri="{FF2B5EF4-FFF2-40B4-BE49-F238E27FC236}">
                <a16:creationId xmlns:a16="http://schemas.microsoft.com/office/drawing/2014/main" id="{0096FFA9-1AF1-7324-77E1-BD6496606CD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093200" y="135735"/>
            <a:ext cx="2857500" cy="1408406"/>
          </a:xfrm>
          <a:prstGeom prst="rect">
            <a:avLst/>
          </a:prstGeom>
        </p:spPr>
      </p:pic>
      <p:pic>
        <p:nvPicPr>
          <p:cNvPr id="3" name="Image 2">
            <a:extLst>
              <a:ext uri="{FF2B5EF4-FFF2-40B4-BE49-F238E27FC236}">
                <a16:creationId xmlns:a16="http://schemas.microsoft.com/office/drawing/2014/main" id="{9A586996-D73A-F9B1-8EFE-708AAD20ED7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805297" y="3986516"/>
            <a:ext cx="2993003" cy="722111"/>
          </a:xfrm>
          <a:prstGeom prst="rect">
            <a:avLst/>
          </a:prstGeom>
        </p:spPr>
      </p:pic>
    </p:spTree>
    <p:extLst>
      <p:ext uri="{BB962C8B-B14F-4D97-AF65-F5344CB8AC3E}">
        <p14:creationId xmlns:p14="http://schemas.microsoft.com/office/powerpoint/2010/main" val="19287633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C0742-B07C-7A05-CFA6-587AA319FF0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7E43BEE-4731-C4A8-1B82-7787082D5F02}"/>
              </a:ext>
            </a:extLst>
          </p:cNvPr>
          <p:cNvSpPr>
            <a:spLocks noGrp="1"/>
          </p:cNvSpPr>
          <p:nvPr>
            <p:ph type="title"/>
          </p:nvPr>
        </p:nvSpPr>
        <p:spPr>
          <a:xfrm>
            <a:off x="838200" y="314325"/>
            <a:ext cx="10515600" cy="1325563"/>
          </a:xfrm>
        </p:spPr>
        <p:txBody>
          <a:bodyPr>
            <a:normAutofit/>
          </a:bodyPr>
          <a:lstStyle/>
          <a:p>
            <a:r>
              <a:rPr lang="fr-FR" sz="3200" dirty="0"/>
              <a:t>Semaine 3 : analyser le comportement fréquentiel du système</a:t>
            </a:r>
          </a:p>
        </p:txBody>
      </p:sp>
      <p:sp>
        <p:nvSpPr>
          <p:cNvPr id="4" name="Espace réservé du pied de page 3">
            <a:extLst>
              <a:ext uri="{FF2B5EF4-FFF2-40B4-BE49-F238E27FC236}">
                <a16:creationId xmlns:a16="http://schemas.microsoft.com/office/drawing/2014/main" id="{A343B64E-D6C2-F24B-04CB-83E858B296DF}"/>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5" name="Espace réservé du numéro de diapositive 4">
            <a:extLst>
              <a:ext uri="{FF2B5EF4-FFF2-40B4-BE49-F238E27FC236}">
                <a16:creationId xmlns:a16="http://schemas.microsoft.com/office/drawing/2014/main" id="{7DEEE183-73CA-88D8-2C08-C9DD00F65EB0}"/>
              </a:ext>
            </a:extLst>
          </p:cNvPr>
          <p:cNvSpPr>
            <a:spLocks noGrp="1"/>
          </p:cNvSpPr>
          <p:nvPr>
            <p:ph type="sldNum" sz="quarter" idx="12"/>
          </p:nvPr>
        </p:nvSpPr>
        <p:spPr/>
        <p:txBody>
          <a:bodyPr/>
          <a:lstStyle/>
          <a:p>
            <a:fld id="{3CA76ACC-A68C-4A5C-9615-B59A999884DC}" type="slidenum">
              <a:rPr lang="fr-FR" smtClean="0"/>
              <a:t>15</a:t>
            </a:fld>
            <a:endParaRPr lang="fr-FR"/>
          </a:p>
        </p:txBody>
      </p:sp>
      <p:sp>
        <p:nvSpPr>
          <p:cNvPr id="22" name="Espace réservé de la date 21">
            <a:extLst>
              <a:ext uri="{FF2B5EF4-FFF2-40B4-BE49-F238E27FC236}">
                <a16:creationId xmlns:a16="http://schemas.microsoft.com/office/drawing/2014/main" id="{9B19A2C7-4D90-3051-8125-882BA7DDFE9E}"/>
              </a:ext>
            </a:extLst>
          </p:cNvPr>
          <p:cNvSpPr>
            <a:spLocks noGrp="1"/>
          </p:cNvSpPr>
          <p:nvPr>
            <p:ph type="dt" sz="half" idx="10"/>
          </p:nvPr>
        </p:nvSpPr>
        <p:spPr/>
        <p:txBody>
          <a:bodyPr/>
          <a:lstStyle/>
          <a:p>
            <a:r>
              <a:rPr lang="fr-FR"/>
              <a:t>10/03/2026</a:t>
            </a:r>
            <a:endParaRPr lang="fr-FR" dirty="0"/>
          </a:p>
        </p:txBody>
      </p:sp>
      <p:sp>
        <p:nvSpPr>
          <p:cNvPr id="18" name="ZoneTexte 17">
            <a:extLst>
              <a:ext uri="{FF2B5EF4-FFF2-40B4-BE49-F238E27FC236}">
                <a16:creationId xmlns:a16="http://schemas.microsoft.com/office/drawing/2014/main" id="{5B0A1256-2C79-9C6E-2077-401D03823B42}"/>
              </a:ext>
            </a:extLst>
          </p:cNvPr>
          <p:cNvSpPr txBox="1"/>
          <p:nvPr/>
        </p:nvSpPr>
        <p:spPr>
          <a:xfrm>
            <a:off x="573428" y="1639888"/>
            <a:ext cx="8382342" cy="4524315"/>
          </a:xfrm>
          <a:prstGeom prst="rect">
            <a:avLst/>
          </a:prstGeom>
          <a:noFill/>
        </p:spPr>
        <p:txBody>
          <a:bodyPr wrap="square" rtlCol="0">
            <a:spAutoFit/>
          </a:bodyPr>
          <a:lstStyle/>
          <a:p>
            <a:r>
              <a:rPr lang="fr-FR" b="1" u="sng" dirty="0"/>
              <a:t>TP :</a:t>
            </a:r>
            <a:r>
              <a:rPr lang="fr-FR" dirty="0"/>
              <a:t> </a:t>
            </a:r>
            <a:r>
              <a:rPr lang="fr-FR" dirty="0">
                <a:highlight>
                  <a:srgbClr val="FFFF00"/>
                </a:highlight>
              </a:rPr>
              <a:t>[Allures des diagrammes réel et asymptotique de Bode]</a:t>
            </a:r>
            <a:r>
              <a:rPr lang="fr-FR" dirty="0"/>
              <a:t>, </a:t>
            </a:r>
            <a:r>
              <a:rPr lang="fr-FR" dirty="0">
                <a:highlight>
                  <a:srgbClr val="FFFF00"/>
                </a:highlight>
              </a:rPr>
              <a:t>[Diagramme de Bode] </a:t>
            </a:r>
          </a:p>
          <a:p>
            <a:r>
              <a:rPr lang="fr-FR" b="1" dirty="0"/>
              <a:t>(démarche détaillée plus loin)</a:t>
            </a:r>
          </a:p>
          <a:p>
            <a:r>
              <a:rPr lang="fr-FR" dirty="0"/>
              <a:t>- Réaliser expérimentalement le diagramme de Bode en gain et en phase du système</a:t>
            </a:r>
          </a:p>
          <a:p>
            <a:r>
              <a:rPr lang="fr-FR" dirty="0"/>
              <a:t>-Identifier les paramètres caractéristiques sur les diagrammes de Bode pour revenir à l’expression de la fonction de transfert</a:t>
            </a:r>
          </a:p>
          <a:p>
            <a:endParaRPr lang="fr-FR" dirty="0"/>
          </a:p>
          <a:p>
            <a:endParaRPr lang="fr-FR" b="1" u="sng" dirty="0"/>
          </a:p>
          <a:p>
            <a:r>
              <a:rPr lang="fr-FR" b="1" u="sng" dirty="0"/>
              <a:t>Cours et TD:</a:t>
            </a:r>
            <a:r>
              <a:rPr lang="fr-FR" dirty="0"/>
              <a:t> </a:t>
            </a:r>
            <a:r>
              <a:rPr lang="fr-FR" dirty="0">
                <a:highlight>
                  <a:srgbClr val="FFFF00"/>
                </a:highlight>
              </a:rPr>
              <a:t>[Allures des diagrammes réel et asymptotique de Bode], [Diagramme de Bode] </a:t>
            </a:r>
          </a:p>
          <a:p>
            <a:r>
              <a:rPr lang="fr-FR" dirty="0"/>
              <a:t>Caractériser (ordre, le gain etc…) un système à partir de son diagramme de Bode, Retrouver les comportements asymptotiques, identifier les asymptotes pour en déduire le comportement dérivateur ou intégrateur</a:t>
            </a:r>
            <a:br>
              <a:rPr lang="fr-FR" dirty="0"/>
            </a:br>
            <a:br>
              <a:rPr lang="fr-FR" dirty="0"/>
            </a:br>
            <a:endParaRPr lang="fr-FR" dirty="0"/>
          </a:p>
          <a:p>
            <a:endParaRPr lang="fr-FR" dirty="0"/>
          </a:p>
        </p:txBody>
      </p:sp>
      <p:pic>
        <p:nvPicPr>
          <p:cNvPr id="14" name="Image 13">
            <a:extLst>
              <a:ext uri="{FF2B5EF4-FFF2-40B4-BE49-F238E27FC236}">
                <a16:creationId xmlns:a16="http://schemas.microsoft.com/office/drawing/2014/main" id="{BB690814-7294-1B7E-CAF5-000B19BE4C1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019271" y="2109033"/>
            <a:ext cx="2993003" cy="1475193"/>
          </a:xfrm>
          <a:prstGeom prst="rect">
            <a:avLst/>
          </a:prstGeom>
        </p:spPr>
      </p:pic>
      <p:pic>
        <p:nvPicPr>
          <p:cNvPr id="17" name="Image 16">
            <a:extLst>
              <a:ext uri="{FF2B5EF4-FFF2-40B4-BE49-F238E27FC236}">
                <a16:creationId xmlns:a16="http://schemas.microsoft.com/office/drawing/2014/main" id="{5165E93B-36DF-847E-73AA-9103F7F3BD7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019270" y="3805728"/>
            <a:ext cx="2993003" cy="722111"/>
          </a:xfrm>
          <a:prstGeom prst="rect">
            <a:avLst/>
          </a:prstGeom>
        </p:spPr>
      </p:pic>
    </p:spTree>
    <p:extLst>
      <p:ext uri="{BB962C8B-B14F-4D97-AF65-F5344CB8AC3E}">
        <p14:creationId xmlns:p14="http://schemas.microsoft.com/office/powerpoint/2010/main" val="11494267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4CB29-E75A-FC92-4E7B-068895F1A4B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9489E07-8B7A-0B2C-30E5-E32A35410752}"/>
              </a:ext>
            </a:extLst>
          </p:cNvPr>
          <p:cNvSpPr>
            <a:spLocks noGrp="1"/>
          </p:cNvSpPr>
          <p:nvPr>
            <p:ph type="title"/>
          </p:nvPr>
        </p:nvSpPr>
        <p:spPr/>
        <p:txBody>
          <a:bodyPr/>
          <a:lstStyle/>
          <a:p>
            <a:r>
              <a:rPr lang="fr-FR" dirty="0"/>
              <a:t>Semaine 4: évaluations et séquence suivante</a:t>
            </a:r>
          </a:p>
        </p:txBody>
      </p:sp>
      <p:sp>
        <p:nvSpPr>
          <p:cNvPr id="4" name="Espace réservé du pied de page 3">
            <a:extLst>
              <a:ext uri="{FF2B5EF4-FFF2-40B4-BE49-F238E27FC236}">
                <a16:creationId xmlns:a16="http://schemas.microsoft.com/office/drawing/2014/main" id="{AB43981A-87E3-348C-FAFD-41AFF2720973}"/>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5" name="Espace réservé du numéro de diapositive 4">
            <a:extLst>
              <a:ext uri="{FF2B5EF4-FFF2-40B4-BE49-F238E27FC236}">
                <a16:creationId xmlns:a16="http://schemas.microsoft.com/office/drawing/2014/main" id="{F325D1F1-4DEA-A414-1442-1198BA273787}"/>
              </a:ext>
            </a:extLst>
          </p:cNvPr>
          <p:cNvSpPr>
            <a:spLocks noGrp="1"/>
          </p:cNvSpPr>
          <p:nvPr>
            <p:ph type="sldNum" sz="quarter" idx="12"/>
          </p:nvPr>
        </p:nvSpPr>
        <p:spPr/>
        <p:txBody>
          <a:bodyPr/>
          <a:lstStyle/>
          <a:p>
            <a:fld id="{3CA76ACC-A68C-4A5C-9615-B59A999884DC}" type="slidenum">
              <a:rPr lang="fr-FR" smtClean="0"/>
              <a:t>16</a:t>
            </a:fld>
            <a:endParaRPr lang="fr-FR"/>
          </a:p>
        </p:txBody>
      </p:sp>
      <p:grpSp>
        <p:nvGrpSpPr>
          <p:cNvPr id="18" name="Groupe 17">
            <a:extLst>
              <a:ext uri="{FF2B5EF4-FFF2-40B4-BE49-F238E27FC236}">
                <a16:creationId xmlns:a16="http://schemas.microsoft.com/office/drawing/2014/main" id="{CBD17236-7108-A219-5ED5-DBCD04C8EB6C}"/>
              </a:ext>
            </a:extLst>
          </p:cNvPr>
          <p:cNvGrpSpPr/>
          <p:nvPr/>
        </p:nvGrpSpPr>
        <p:grpSpPr>
          <a:xfrm>
            <a:off x="637040" y="1541295"/>
            <a:ext cx="8911308" cy="2012953"/>
            <a:chOff x="316722" y="2431032"/>
            <a:chExt cx="8911308" cy="2012953"/>
          </a:xfrm>
        </p:grpSpPr>
        <p:grpSp>
          <p:nvGrpSpPr>
            <p:cNvPr id="7" name="Groupe 6">
              <a:extLst>
                <a:ext uri="{FF2B5EF4-FFF2-40B4-BE49-F238E27FC236}">
                  <a16:creationId xmlns:a16="http://schemas.microsoft.com/office/drawing/2014/main" id="{3198E4B2-45A7-0C4C-7147-6511CCA2992D}"/>
                </a:ext>
              </a:extLst>
            </p:cNvPr>
            <p:cNvGrpSpPr/>
            <p:nvPr/>
          </p:nvGrpSpPr>
          <p:grpSpPr>
            <a:xfrm>
              <a:off x="774192" y="2431032"/>
              <a:ext cx="8453838" cy="1592485"/>
              <a:chOff x="469392" y="2275424"/>
              <a:chExt cx="8453838" cy="1592485"/>
            </a:xfrm>
          </p:grpSpPr>
          <p:sp>
            <p:nvSpPr>
              <p:cNvPr id="8" name="Flèche : pentagone 7">
                <a:extLst>
                  <a:ext uri="{FF2B5EF4-FFF2-40B4-BE49-F238E27FC236}">
                    <a16:creationId xmlns:a16="http://schemas.microsoft.com/office/drawing/2014/main" id="{06523E00-601B-976D-140D-DBCA8273B4FA}"/>
                  </a:ext>
                </a:extLst>
              </p:cNvPr>
              <p:cNvSpPr/>
              <p:nvPr/>
            </p:nvSpPr>
            <p:spPr>
              <a:xfrm>
                <a:off x="469392" y="2285997"/>
                <a:ext cx="1874520" cy="1581912"/>
              </a:xfrm>
              <a:prstGeom prst="homePlate">
                <a:avLst>
                  <a:gd name="adj" fmla="val 2225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2h30 TP découverte</a:t>
                </a:r>
              </a:p>
              <a:p>
                <a:pPr algn="ctr"/>
                <a:r>
                  <a:rPr lang="fr-FR" b="1" u="sng" dirty="0"/>
                  <a:t>Demi-groupe</a:t>
                </a:r>
              </a:p>
            </p:txBody>
          </p:sp>
          <p:sp>
            <p:nvSpPr>
              <p:cNvPr id="9" name="Flèche : chevron 8">
                <a:extLst>
                  <a:ext uri="{FF2B5EF4-FFF2-40B4-BE49-F238E27FC236}">
                    <a16:creationId xmlns:a16="http://schemas.microsoft.com/office/drawing/2014/main" id="{3D43EF6C-B3A0-6BBC-E485-E4CB807BC86D}"/>
                  </a:ext>
                </a:extLst>
              </p:cNvPr>
              <p:cNvSpPr/>
              <p:nvPr/>
            </p:nvSpPr>
            <p:spPr>
              <a:xfrm>
                <a:off x="3800855" y="2275424"/>
                <a:ext cx="1773936" cy="1581912"/>
              </a:xfrm>
              <a:prstGeom prst="chevron">
                <a:avLst>
                  <a:gd name="adj" fmla="val 20625"/>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fr-FR" dirty="0">
                    <a:solidFill>
                      <a:schemeClr val="bg1"/>
                    </a:solidFill>
                  </a:rPr>
                  <a:t>2h Cours</a:t>
                </a:r>
              </a:p>
              <a:p>
                <a:pPr algn="ctr"/>
                <a:r>
                  <a:rPr lang="fr-FR" b="1" u="sng" dirty="0">
                    <a:solidFill>
                      <a:schemeClr val="bg1"/>
                    </a:solidFill>
                  </a:rPr>
                  <a:t>Classe entière</a:t>
                </a:r>
              </a:p>
            </p:txBody>
          </p:sp>
          <p:sp>
            <p:nvSpPr>
              <p:cNvPr id="10" name="Flèche : chevron 9">
                <a:extLst>
                  <a:ext uri="{FF2B5EF4-FFF2-40B4-BE49-F238E27FC236}">
                    <a16:creationId xmlns:a16="http://schemas.microsoft.com/office/drawing/2014/main" id="{4445D840-7107-F44A-1FB9-DDE39B0A21DE}"/>
                  </a:ext>
                </a:extLst>
              </p:cNvPr>
              <p:cNvSpPr/>
              <p:nvPr/>
            </p:nvSpPr>
            <p:spPr>
              <a:xfrm>
                <a:off x="2170938" y="2275424"/>
                <a:ext cx="1773936" cy="1581912"/>
              </a:xfrm>
              <a:prstGeom prst="chevron">
                <a:avLst>
                  <a:gd name="adj" fmla="val 2062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fr-FR" dirty="0">
                    <a:solidFill>
                      <a:schemeClr val="bg1"/>
                    </a:solidFill>
                  </a:rPr>
                  <a:t>2h TD</a:t>
                </a:r>
              </a:p>
              <a:p>
                <a:pPr algn="ctr"/>
                <a:r>
                  <a:rPr lang="fr-FR" b="1" u="sng" dirty="0">
                    <a:solidFill>
                      <a:schemeClr val="bg1"/>
                    </a:solidFill>
                  </a:rPr>
                  <a:t>Demi-groupe</a:t>
                </a:r>
              </a:p>
            </p:txBody>
          </p:sp>
          <p:sp>
            <p:nvSpPr>
              <p:cNvPr id="12" name="Flèche : chevron 11">
                <a:extLst>
                  <a:ext uri="{FF2B5EF4-FFF2-40B4-BE49-F238E27FC236}">
                    <a16:creationId xmlns:a16="http://schemas.microsoft.com/office/drawing/2014/main" id="{B1F05D11-6AD6-3F49-7447-882ED0330E32}"/>
                  </a:ext>
                </a:extLst>
              </p:cNvPr>
              <p:cNvSpPr/>
              <p:nvPr/>
            </p:nvSpPr>
            <p:spPr>
              <a:xfrm>
                <a:off x="5469424" y="2275424"/>
                <a:ext cx="1773936" cy="1581912"/>
              </a:xfrm>
              <a:prstGeom prst="chevron">
                <a:avLst>
                  <a:gd name="adj" fmla="val 2062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fr-FR" dirty="0">
                    <a:solidFill>
                      <a:schemeClr val="bg1"/>
                    </a:solidFill>
                  </a:rPr>
                  <a:t>2h TD</a:t>
                </a:r>
              </a:p>
              <a:p>
                <a:pPr algn="ctr"/>
                <a:r>
                  <a:rPr lang="fr-FR" b="1" u="sng" dirty="0">
                    <a:solidFill>
                      <a:schemeClr val="bg1"/>
                    </a:solidFill>
                  </a:rPr>
                  <a:t>Classe entière</a:t>
                </a:r>
              </a:p>
            </p:txBody>
          </p:sp>
          <p:sp>
            <p:nvSpPr>
              <p:cNvPr id="13" name="Flèche : chevron 12">
                <a:extLst>
                  <a:ext uri="{FF2B5EF4-FFF2-40B4-BE49-F238E27FC236}">
                    <a16:creationId xmlns:a16="http://schemas.microsoft.com/office/drawing/2014/main" id="{39397362-85D5-642B-CDA3-B2232723FBA0}"/>
                  </a:ext>
                </a:extLst>
              </p:cNvPr>
              <p:cNvSpPr/>
              <p:nvPr/>
            </p:nvSpPr>
            <p:spPr>
              <a:xfrm>
                <a:off x="7149294" y="2275424"/>
                <a:ext cx="1773936" cy="1581912"/>
              </a:xfrm>
              <a:prstGeom prst="chevron">
                <a:avLst>
                  <a:gd name="adj" fmla="val 20625"/>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fr-FR" dirty="0">
                    <a:solidFill>
                      <a:schemeClr val="bg1"/>
                    </a:solidFill>
                  </a:rPr>
                  <a:t>2h TD soutient</a:t>
                </a:r>
              </a:p>
              <a:p>
                <a:pPr algn="ctr"/>
                <a:r>
                  <a:rPr lang="fr-FR" b="1" u="sng" dirty="0">
                    <a:solidFill>
                      <a:schemeClr val="bg1"/>
                    </a:solidFill>
                  </a:rPr>
                  <a:t>Petit effectif</a:t>
                </a:r>
              </a:p>
            </p:txBody>
          </p:sp>
        </p:grpSp>
        <p:sp>
          <p:nvSpPr>
            <p:cNvPr id="14" name="Rectangle : coins arrondis 13">
              <a:extLst>
                <a:ext uri="{FF2B5EF4-FFF2-40B4-BE49-F238E27FC236}">
                  <a16:creationId xmlns:a16="http://schemas.microsoft.com/office/drawing/2014/main" id="{C2B25BB0-BAD1-7E32-31B4-CD07166A9FD7}"/>
                </a:ext>
              </a:extLst>
            </p:cNvPr>
            <p:cNvSpPr/>
            <p:nvPr/>
          </p:nvSpPr>
          <p:spPr>
            <a:xfrm>
              <a:off x="2535517" y="3904392"/>
              <a:ext cx="1477518" cy="430717"/>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dirty="0"/>
                <a:t>TD révision</a:t>
              </a:r>
            </a:p>
          </p:txBody>
        </p:sp>
        <p:sp>
          <p:nvSpPr>
            <p:cNvPr id="15" name="Rectangle : coins arrondis 14">
              <a:extLst>
                <a:ext uri="{FF2B5EF4-FFF2-40B4-BE49-F238E27FC236}">
                  <a16:creationId xmlns:a16="http://schemas.microsoft.com/office/drawing/2014/main" id="{5B4E8964-80FD-AC4F-C1B1-B884C475EE70}"/>
                </a:ext>
              </a:extLst>
            </p:cNvPr>
            <p:cNvSpPr/>
            <p:nvPr/>
          </p:nvSpPr>
          <p:spPr>
            <a:xfrm>
              <a:off x="316722" y="3795518"/>
              <a:ext cx="2083305" cy="648467"/>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dirty="0"/>
                <a:t>TP de la séquence suivante</a:t>
              </a:r>
            </a:p>
          </p:txBody>
        </p:sp>
        <p:sp>
          <p:nvSpPr>
            <p:cNvPr id="16" name="Rectangle : coins arrondis 15">
              <a:extLst>
                <a:ext uri="{FF2B5EF4-FFF2-40B4-BE49-F238E27FC236}">
                  <a16:creationId xmlns:a16="http://schemas.microsoft.com/office/drawing/2014/main" id="{BA1CC80D-DA5C-5BDF-0D87-6D4EFF59A279}"/>
                </a:ext>
              </a:extLst>
            </p:cNvPr>
            <p:cNvSpPr/>
            <p:nvPr/>
          </p:nvSpPr>
          <p:spPr>
            <a:xfrm>
              <a:off x="4193116" y="3892095"/>
              <a:ext cx="1356360" cy="365125"/>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dirty="0"/>
                <a:t>Evaluation</a:t>
              </a:r>
            </a:p>
          </p:txBody>
        </p:sp>
        <p:sp>
          <p:nvSpPr>
            <p:cNvPr id="17" name="Rectangle : coins arrondis 16">
              <a:extLst>
                <a:ext uri="{FF2B5EF4-FFF2-40B4-BE49-F238E27FC236}">
                  <a16:creationId xmlns:a16="http://schemas.microsoft.com/office/drawing/2014/main" id="{F9F2AB10-2B60-50B9-D56D-265D9BC526FB}"/>
                </a:ext>
              </a:extLst>
            </p:cNvPr>
            <p:cNvSpPr/>
            <p:nvPr/>
          </p:nvSpPr>
          <p:spPr>
            <a:xfrm>
              <a:off x="5686254" y="3849623"/>
              <a:ext cx="1823254" cy="55759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dirty="0"/>
                <a:t>Remédiation</a:t>
              </a:r>
              <a:br>
                <a:rPr lang="fr-FR" dirty="0"/>
              </a:br>
              <a:r>
                <a:rPr lang="fr-FR" dirty="0"/>
                <a:t>de l’évaluation</a:t>
              </a:r>
            </a:p>
          </p:txBody>
        </p:sp>
      </p:grpSp>
      <p:sp>
        <p:nvSpPr>
          <p:cNvPr id="19" name="Espace réservé de la date 18">
            <a:extLst>
              <a:ext uri="{FF2B5EF4-FFF2-40B4-BE49-F238E27FC236}">
                <a16:creationId xmlns:a16="http://schemas.microsoft.com/office/drawing/2014/main" id="{A57100F8-16B6-63B2-070D-F1A8DB08BAA3}"/>
              </a:ext>
            </a:extLst>
          </p:cNvPr>
          <p:cNvSpPr>
            <a:spLocks noGrp="1"/>
          </p:cNvSpPr>
          <p:nvPr>
            <p:ph type="dt" sz="half" idx="10"/>
          </p:nvPr>
        </p:nvSpPr>
        <p:spPr/>
        <p:txBody>
          <a:bodyPr/>
          <a:lstStyle/>
          <a:p>
            <a:r>
              <a:rPr lang="fr-FR"/>
              <a:t>10/03/2026</a:t>
            </a:r>
            <a:endParaRPr lang="fr-FR" dirty="0"/>
          </a:p>
        </p:txBody>
      </p:sp>
      <p:sp>
        <p:nvSpPr>
          <p:cNvPr id="20" name="ZoneTexte 19">
            <a:extLst>
              <a:ext uri="{FF2B5EF4-FFF2-40B4-BE49-F238E27FC236}">
                <a16:creationId xmlns:a16="http://schemas.microsoft.com/office/drawing/2014/main" id="{D6E682F5-7FB8-F5E9-F080-B13F8D391EAD}"/>
              </a:ext>
            </a:extLst>
          </p:cNvPr>
          <p:cNvSpPr txBox="1"/>
          <p:nvPr/>
        </p:nvSpPr>
        <p:spPr>
          <a:xfrm>
            <a:off x="785734" y="5419640"/>
            <a:ext cx="11189999" cy="646331"/>
          </a:xfrm>
          <a:prstGeom prst="rect">
            <a:avLst/>
          </a:prstGeom>
          <a:noFill/>
        </p:spPr>
        <p:txBody>
          <a:bodyPr wrap="square" rtlCol="0">
            <a:spAutoFit/>
          </a:bodyPr>
          <a:lstStyle/>
          <a:p>
            <a:r>
              <a:rPr lang="fr-FR" b="1" u="sng" dirty="0"/>
              <a:t>Séquence suivante : </a:t>
            </a:r>
            <a:r>
              <a:rPr lang="fr-FR" dirty="0"/>
              <a:t>Modéliser pour caractériser les performances dynamiques des systèmes de solides de la chaîne d'énergie d'un système (fonctions  «Convertir », « Transmettre » et « Agir ») </a:t>
            </a:r>
          </a:p>
        </p:txBody>
      </p:sp>
      <p:sp>
        <p:nvSpPr>
          <p:cNvPr id="3" name="ZoneTexte 2">
            <a:extLst>
              <a:ext uri="{FF2B5EF4-FFF2-40B4-BE49-F238E27FC236}">
                <a16:creationId xmlns:a16="http://schemas.microsoft.com/office/drawing/2014/main" id="{716C8FA2-560D-1E1E-DD45-594BB5879C4C}"/>
              </a:ext>
            </a:extLst>
          </p:cNvPr>
          <p:cNvSpPr txBox="1"/>
          <p:nvPr/>
        </p:nvSpPr>
        <p:spPr>
          <a:xfrm>
            <a:off x="812799" y="3844627"/>
            <a:ext cx="11189999" cy="1477328"/>
          </a:xfrm>
          <a:prstGeom prst="rect">
            <a:avLst/>
          </a:prstGeom>
          <a:noFill/>
        </p:spPr>
        <p:txBody>
          <a:bodyPr wrap="square" rtlCol="0">
            <a:spAutoFit/>
          </a:bodyPr>
          <a:lstStyle/>
          <a:p>
            <a:r>
              <a:rPr lang="fr-FR" b="1" u="sng" dirty="0"/>
              <a:t>Gestion des évaluations:</a:t>
            </a:r>
            <a:r>
              <a:rPr lang="fr-FR" dirty="0"/>
              <a:t> les groupes de TP sont évalués chaque semaine, et à noter que les rôles de chacun dans le groupe tournent d’une semaine à l’autre</a:t>
            </a:r>
            <a:br>
              <a:rPr lang="fr-FR" dirty="0"/>
            </a:br>
            <a:r>
              <a:rPr lang="fr-FR" dirty="0"/>
              <a:t>Evaluation finale: extrait allégé d’un sujet de concours, avec plusieurs parties par ordre croisant de difficulté afin que chaque élève puisse exprimer le maximum de ses capacités</a:t>
            </a:r>
            <a:br>
              <a:rPr lang="fr-FR" dirty="0"/>
            </a:br>
            <a:r>
              <a:rPr lang="fr-FR" dirty="0"/>
              <a:t>Pour les élèves avancés: question bonus de l’évaluation qui introduit la séquence suivante</a:t>
            </a:r>
          </a:p>
        </p:txBody>
      </p:sp>
    </p:spTree>
    <p:extLst>
      <p:ext uri="{BB962C8B-B14F-4D97-AF65-F5344CB8AC3E}">
        <p14:creationId xmlns:p14="http://schemas.microsoft.com/office/powerpoint/2010/main" val="42185719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027641-53B9-3B99-0578-3B56D2339594}"/>
              </a:ext>
            </a:extLst>
          </p:cNvPr>
          <p:cNvSpPr>
            <a:spLocks noGrp="1"/>
          </p:cNvSpPr>
          <p:nvPr>
            <p:ph type="title"/>
          </p:nvPr>
        </p:nvSpPr>
        <p:spPr/>
        <p:txBody>
          <a:bodyPr/>
          <a:lstStyle/>
          <a:p>
            <a:r>
              <a:rPr lang="fr-FR" dirty="0"/>
              <a:t>Présentation du support didactisé</a:t>
            </a:r>
          </a:p>
        </p:txBody>
      </p:sp>
      <p:sp>
        <p:nvSpPr>
          <p:cNvPr id="4" name="Espace réservé du pied de page 3">
            <a:extLst>
              <a:ext uri="{FF2B5EF4-FFF2-40B4-BE49-F238E27FC236}">
                <a16:creationId xmlns:a16="http://schemas.microsoft.com/office/drawing/2014/main" id="{795592AF-FC78-DE3B-51A7-00B2B89ADAA3}"/>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5" name="Espace réservé du numéro de diapositive 4">
            <a:extLst>
              <a:ext uri="{FF2B5EF4-FFF2-40B4-BE49-F238E27FC236}">
                <a16:creationId xmlns:a16="http://schemas.microsoft.com/office/drawing/2014/main" id="{5DC97665-59B5-A958-F0BE-6522A983FF1C}"/>
              </a:ext>
            </a:extLst>
          </p:cNvPr>
          <p:cNvSpPr>
            <a:spLocks noGrp="1"/>
          </p:cNvSpPr>
          <p:nvPr>
            <p:ph type="sldNum" sz="quarter" idx="12"/>
          </p:nvPr>
        </p:nvSpPr>
        <p:spPr/>
        <p:txBody>
          <a:bodyPr/>
          <a:lstStyle/>
          <a:p>
            <a:fld id="{3CA76ACC-A68C-4A5C-9615-B59A999884DC}" type="slidenum">
              <a:rPr lang="fr-FR" smtClean="0"/>
              <a:t>17</a:t>
            </a:fld>
            <a:endParaRPr lang="fr-FR"/>
          </a:p>
        </p:txBody>
      </p:sp>
      <p:pic>
        <p:nvPicPr>
          <p:cNvPr id="1026" name="Picture 2">
            <a:extLst>
              <a:ext uri="{FF2B5EF4-FFF2-40B4-BE49-F238E27FC236}">
                <a16:creationId xmlns:a16="http://schemas.microsoft.com/office/drawing/2014/main" id="{46613560-26F4-1505-091A-C817B9056FA3}"/>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a:fillRect/>
          </a:stretch>
        </p:blipFill>
        <p:spPr bwMode="auto">
          <a:xfrm>
            <a:off x="6161392" y="3477420"/>
            <a:ext cx="2582512" cy="2240830"/>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 10">
            <a:extLst>
              <a:ext uri="{FF2B5EF4-FFF2-40B4-BE49-F238E27FC236}">
                <a16:creationId xmlns:a16="http://schemas.microsoft.com/office/drawing/2014/main" id="{8283CDED-5C1B-C630-3910-759A1AF709B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161392" y="1453613"/>
            <a:ext cx="5699535" cy="1926968"/>
          </a:xfrm>
          <a:prstGeom prst="rect">
            <a:avLst/>
          </a:prstGeom>
        </p:spPr>
      </p:pic>
      <p:sp>
        <p:nvSpPr>
          <p:cNvPr id="12" name="ZoneTexte 11">
            <a:extLst>
              <a:ext uri="{FF2B5EF4-FFF2-40B4-BE49-F238E27FC236}">
                <a16:creationId xmlns:a16="http://schemas.microsoft.com/office/drawing/2014/main" id="{C70AABED-DCE4-AA92-7B16-138CA4EFF245}"/>
              </a:ext>
            </a:extLst>
          </p:cNvPr>
          <p:cNvSpPr txBox="1"/>
          <p:nvPr/>
        </p:nvSpPr>
        <p:spPr>
          <a:xfrm>
            <a:off x="7387256" y="5767529"/>
            <a:ext cx="2730684" cy="369332"/>
          </a:xfrm>
          <a:prstGeom prst="rect">
            <a:avLst/>
          </a:prstGeom>
          <a:noFill/>
        </p:spPr>
        <p:txBody>
          <a:bodyPr wrap="none" rtlCol="0">
            <a:spAutoFit/>
          </a:bodyPr>
          <a:lstStyle/>
          <a:p>
            <a:r>
              <a:rPr lang="fr-FR" dirty="0"/>
              <a:t>Maquette didactisée ERM</a:t>
            </a:r>
          </a:p>
        </p:txBody>
      </p:sp>
      <p:sp>
        <p:nvSpPr>
          <p:cNvPr id="14" name="Espace réservé de la date 13">
            <a:extLst>
              <a:ext uri="{FF2B5EF4-FFF2-40B4-BE49-F238E27FC236}">
                <a16:creationId xmlns:a16="http://schemas.microsoft.com/office/drawing/2014/main" id="{4E3D8751-E7C6-79E5-94B3-7BEAEBCE4865}"/>
              </a:ext>
            </a:extLst>
          </p:cNvPr>
          <p:cNvSpPr>
            <a:spLocks noGrp="1"/>
          </p:cNvSpPr>
          <p:nvPr>
            <p:ph type="dt" sz="half" idx="10"/>
          </p:nvPr>
        </p:nvSpPr>
        <p:spPr/>
        <p:txBody>
          <a:bodyPr/>
          <a:lstStyle/>
          <a:p>
            <a:r>
              <a:rPr lang="fr-FR"/>
              <a:t>10/03/2026</a:t>
            </a:r>
            <a:endParaRPr lang="fr-FR" dirty="0"/>
          </a:p>
        </p:txBody>
      </p:sp>
      <p:pic>
        <p:nvPicPr>
          <p:cNvPr id="6" name="Image 5">
            <a:extLst>
              <a:ext uri="{FF2B5EF4-FFF2-40B4-BE49-F238E27FC236}">
                <a16:creationId xmlns:a16="http://schemas.microsoft.com/office/drawing/2014/main" id="{2FCCA261-88C1-FA1C-64F8-8ABF911A6E0C}"/>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8610600" y="3839680"/>
            <a:ext cx="3275702" cy="1855101"/>
          </a:xfrm>
          <a:prstGeom prst="rect">
            <a:avLst/>
          </a:prstGeom>
        </p:spPr>
      </p:pic>
      <p:pic>
        <p:nvPicPr>
          <p:cNvPr id="7" name="Image 6">
            <a:extLst>
              <a:ext uri="{FF2B5EF4-FFF2-40B4-BE49-F238E27FC236}">
                <a16:creationId xmlns:a16="http://schemas.microsoft.com/office/drawing/2014/main" id="{605B6B9C-44BD-4F77-466A-3539056DAE16}"/>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217792" y="1690688"/>
            <a:ext cx="5943600" cy="3792526"/>
          </a:xfrm>
          <a:prstGeom prst="rect">
            <a:avLst/>
          </a:prstGeom>
        </p:spPr>
      </p:pic>
    </p:spTree>
    <p:extLst>
      <p:ext uri="{BB962C8B-B14F-4D97-AF65-F5344CB8AC3E}">
        <p14:creationId xmlns:p14="http://schemas.microsoft.com/office/powerpoint/2010/main" val="8760480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933E51-5B09-095D-DE81-1D9CDA0FD777}"/>
              </a:ext>
            </a:extLst>
          </p:cNvPr>
          <p:cNvSpPr>
            <a:spLocks noGrp="1"/>
          </p:cNvSpPr>
          <p:nvPr>
            <p:ph type="title"/>
          </p:nvPr>
        </p:nvSpPr>
        <p:spPr/>
        <p:txBody>
          <a:bodyPr/>
          <a:lstStyle/>
          <a:p>
            <a:r>
              <a:rPr lang="fr-FR" dirty="0"/>
              <a:t>Potentialités didactiques de la cheville NAO</a:t>
            </a:r>
          </a:p>
        </p:txBody>
      </p:sp>
      <p:sp>
        <p:nvSpPr>
          <p:cNvPr id="4" name="Espace réservé de la date 3">
            <a:extLst>
              <a:ext uri="{FF2B5EF4-FFF2-40B4-BE49-F238E27FC236}">
                <a16:creationId xmlns:a16="http://schemas.microsoft.com/office/drawing/2014/main" id="{7DA348C3-31FC-D142-78CC-4DEF87A3A0FA}"/>
              </a:ext>
            </a:extLst>
          </p:cNvPr>
          <p:cNvSpPr>
            <a:spLocks noGrp="1"/>
          </p:cNvSpPr>
          <p:nvPr>
            <p:ph type="dt" sz="half" idx="10"/>
          </p:nvPr>
        </p:nvSpPr>
        <p:spPr/>
        <p:txBody>
          <a:bodyPr/>
          <a:lstStyle/>
          <a:p>
            <a:r>
              <a:rPr lang="fr-FR"/>
              <a:t>10/03/2026</a:t>
            </a:r>
            <a:endParaRPr lang="fr-FR" dirty="0"/>
          </a:p>
        </p:txBody>
      </p:sp>
      <p:sp>
        <p:nvSpPr>
          <p:cNvPr id="5" name="Espace réservé du pied de page 4">
            <a:extLst>
              <a:ext uri="{FF2B5EF4-FFF2-40B4-BE49-F238E27FC236}">
                <a16:creationId xmlns:a16="http://schemas.microsoft.com/office/drawing/2014/main" id="{3CB031EA-6B2F-6397-6CCC-49DA460210EE}"/>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6" name="Espace réservé du numéro de diapositive 5">
            <a:extLst>
              <a:ext uri="{FF2B5EF4-FFF2-40B4-BE49-F238E27FC236}">
                <a16:creationId xmlns:a16="http://schemas.microsoft.com/office/drawing/2014/main" id="{E737C0EF-D197-73AB-A37A-6B04948EA597}"/>
              </a:ext>
            </a:extLst>
          </p:cNvPr>
          <p:cNvSpPr>
            <a:spLocks noGrp="1"/>
          </p:cNvSpPr>
          <p:nvPr>
            <p:ph type="sldNum" sz="quarter" idx="12"/>
          </p:nvPr>
        </p:nvSpPr>
        <p:spPr/>
        <p:txBody>
          <a:bodyPr/>
          <a:lstStyle/>
          <a:p>
            <a:fld id="{3CA76ACC-A68C-4A5C-9615-B59A999884DC}" type="slidenum">
              <a:rPr lang="fr-FR" smtClean="0"/>
              <a:t>18</a:t>
            </a:fld>
            <a:endParaRPr lang="fr-FR"/>
          </a:p>
        </p:txBody>
      </p:sp>
      <p:graphicFrame>
        <p:nvGraphicFramePr>
          <p:cNvPr id="8" name="Tableau 7">
            <a:extLst>
              <a:ext uri="{FF2B5EF4-FFF2-40B4-BE49-F238E27FC236}">
                <a16:creationId xmlns:a16="http://schemas.microsoft.com/office/drawing/2014/main" id="{14E91D11-8D3E-E491-CCE5-A76CA79D5403}"/>
              </a:ext>
            </a:extLst>
          </p:cNvPr>
          <p:cNvGraphicFramePr>
            <a:graphicFrameLocks noGrp="1"/>
          </p:cNvGraphicFramePr>
          <p:nvPr>
            <p:extLst>
              <p:ext uri="{D42A27DB-BD31-4B8C-83A1-F6EECF244321}">
                <p14:modId xmlns:p14="http://schemas.microsoft.com/office/powerpoint/2010/main" val="1031877837"/>
              </p:ext>
            </p:extLst>
          </p:nvPr>
        </p:nvGraphicFramePr>
        <p:xfrm>
          <a:off x="1028699" y="1365918"/>
          <a:ext cx="10163175" cy="4853910"/>
        </p:xfrm>
        <a:graphic>
          <a:graphicData uri="http://schemas.openxmlformats.org/drawingml/2006/table">
            <a:tbl>
              <a:tblPr>
                <a:tableStyleId>{B301B821-A1FF-4177-AEE7-76D212191A09}</a:tableStyleId>
              </a:tblPr>
              <a:tblGrid>
                <a:gridCol w="2063639">
                  <a:extLst>
                    <a:ext uri="{9D8B030D-6E8A-4147-A177-3AD203B41FA5}">
                      <a16:colId xmlns:a16="http://schemas.microsoft.com/office/drawing/2014/main" val="2971597811"/>
                    </a:ext>
                  </a:extLst>
                </a:gridCol>
                <a:gridCol w="2451176">
                  <a:extLst>
                    <a:ext uri="{9D8B030D-6E8A-4147-A177-3AD203B41FA5}">
                      <a16:colId xmlns:a16="http://schemas.microsoft.com/office/drawing/2014/main" val="195056041"/>
                    </a:ext>
                  </a:extLst>
                </a:gridCol>
                <a:gridCol w="2732141">
                  <a:extLst>
                    <a:ext uri="{9D8B030D-6E8A-4147-A177-3AD203B41FA5}">
                      <a16:colId xmlns:a16="http://schemas.microsoft.com/office/drawing/2014/main" val="3485259091"/>
                    </a:ext>
                  </a:extLst>
                </a:gridCol>
                <a:gridCol w="2916219">
                  <a:extLst>
                    <a:ext uri="{9D8B030D-6E8A-4147-A177-3AD203B41FA5}">
                      <a16:colId xmlns:a16="http://schemas.microsoft.com/office/drawing/2014/main" val="924261897"/>
                    </a:ext>
                  </a:extLst>
                </a:gridCol>
              </a:tblGrid>
              <a:tr h="331851">
                <a:tc>
                  <a:txBody>
                    <a:bodyPr/>
                    <a:lstStyle/>
                    <a:p>
                      <a:pPr>
                        <a:buNone/>
                      </a:pPr>
                      <a:r>
                        <a:rPr lang="fr-FR" sz="1100" b="1"/>
                        <a:t>Sous-système étudié</a:t>
                      </a:r>
                      <a:endParaRPr lang="fr-FR" sz="1100"/>
                    </a:p>
                  </a:txBody>
                  <a:tcPr marL="36261" marR="36261" marT="18131" marB="18131" anchor="ctr"/>
                </a:tc>
                <a:tc>
                  <a:txBody>
                    <a:bodyPr/>
                    <a:lstStyle/>
                    <a:p>
                      <a:pPr>
                        <a:buNone/>
                      </a:pPr>
                      <a:r>
                        <a:rPr lang="fr-FR" sz="1100" b="1"/>
                        <a:t>Support sur la cheville NAO</a:t>
                      </a:r>
                      <a:endParaRPr lang="fr-FR" sz="1100"/>
                    </a:p>
                  </a:txBody>
                  <a:tcPr marL="36261" marR="36261" marT="18131" marB="18131" anchor="ctr"/>
                </a:tc>
                <a:tc>
                  <a:txBody>
                    <a:bodyPr/>
                    <a:lstStyle/>
                    <a:p>
                      <a:pPr>
                        <a:buNone/>
                      </a:pPr>
                      <a:r>
                        <a:rPr lang="fr-FR" sz="1100" b="1"/>
                        <a:t>Notions PTSI mobilisées</a:t>
                      </a:r>
                      <a:endParaRPr lang="fr-FR" sz="1100"/>
                    </a:p>
                  </a:txBody>
                  <a:tcPr marL="36261" marR="36261" marT="18131" marB="18131" anchor="ctr"/>
                </a:tc>
                <a:tc>
                  <a:txBody>
                    <a:bodyPr/>
                    <a:lstStyle/>
                    <a:p>
                      <a:pPr>
                        <a:buNone/>
                      </a:pPr>
                      <a:r>
                        <a:rPr lang="fr-FR" sz="1100" b="1"/>
                        <a:t>Activités pédagogiques possibles</a:t>
                      </a:r>
                      <a:endParaRPr lang="fr-FR" sz="1100"/>
                    </a:p>
                  </a:txBody>
                  <a:tcPr marL="36261" marR="36261" marT="18131" marB="18131" anchor="ctr"/>
                </a:tc>
                <a:extLst>
                  <a:ext uri="{0D108BD9-81ED-4DB2-BD59-A6C34878D82A}">
                    <a16:rowId xmlns:a16="http://schemas.microsoft.com/office/drawing/2014/main" val="3094357477"/>
                  </a:ext>
                </a:extLst>
              </a:tr>
              <a:tr h="781046">
                <a:tc>
                  <a:txBody>
                    <a:bodyPr/>
                    <a:lstStyle/>
                    <a:p>
                      <a:pPr>
                        <a:buNone/>
                      </a:pPr>
                      <a:r>
                        <a:rPr lang="fr-FR" sz="1100" b="1"/>
                        <a:t>Pré-actionneurs</a:t>
                      </a:r>
                      <a:endParaRPr lang="fr-FR" sz="1100"/>
                    </a:p>
                  </a:txBody>
                  <a:tcPr marL="36261" marR="36261" marT="18131" marB="18131" anchor="ctr"/>
                </a:tc>
                <a:tc>
                  <a:txBody>
                    <a:bodyPr/>
                    <a:lstStyle/>
                    <a:p>
                      <a:pPr>
                        <a:buNone/>
                      </a:pPr>
                      <a:r>
                        <a:rPr lang="fr-FR" sz="1100"/>
                        <a:t>Hacheurs pilotant les moteurs</a:t>
                      </a:r>
                    </a:p>
                  </a:txBody>
                  <a:tcPr marL="36261" marR="36261" marT="18131" marB="18131" anchor="ctr"/>
                </a:tc>
                <a:tc>
                  <a:txBody>
                    <a:bodyPr/>
                    <a:lstStyle/>
                    <a:p>
                      <a:pPr>
                        <a:buNone/>
                      </a:pPr>
                      <a:r>
                        <a:rPr lang="fr-FR" sz="1100"/>
                        <a:t>Conversion d’énergie électrique, modulation de puissance, PWM</a:t>
                      </a:r>
                    </a:p>
                  </a:txBody>
                  <a:tcPr marL="36261" marR="36261" marT="18131" marB="18131" anchor="ctr"/>
                </a:tc>
                <a:tc>
                  <a:txBody>
                    <a:bodyPr/>
                    <a:lstStyle/>
                    <a:p>
                      <a:pPr>
                        <a:buNone/>
                      </a:pPr>
                      <a:r>
                        <a:rPr lang="fr-FR" sz="1100"/>
                        <a:t>Analyse du principe du hacheur, observation des signaux de commande, lien entre rapport cyclique et tension moteur</a:t>
                      </a:r>
                    </a:p>
                  </a:txBody>
                  <a:tcPr marL="36261" marR="36261" marT="18131" marB="18131" anchor="ctr"/>
                </a:tc>
                <a:extLst>
                  <a:ext uri="{0D108BD9-81ED-4DB2-BD59-A6C34878D82A}">
                    <a16:rowId xmlns:a16="http://schemas.microsoft.com/office/drawing/2014/main" val="3505415821"/>
                  </a:ext>
                </a:extLst>
              </a:tr>
              <a:tr h="481583">
                <a:tc>
                  <a:txBody>
                    <a:bodyPr/>
                    <a:lstStyle/>
                    <a:p>
                      <a:pPr>
                        <a:buNone/>
                      </a:pPr>
                      <a:r>
                        <a:rPr lang="fr-FR" sz="1100" b="1"/>
                        <a:t>Actionneurs</a:t>
                      </a:r>
                      <a:endParaRPr lang="fr-FR" sz="1100"/>
                    </a:p>
                  </a:txBody>
                  <a:tcPr marL="36261" marR="36261" marT="18131" marB="18131" anchor="ctr"/>
                </a:tc>
                <a:tc>
                  <a:txBody>
                    <a:bodyPr/>
                    <a:lstStyle/>
                    <a:p>
                      <a:pPr>
                        <a:buNone/>
                      </a:pPr>
                      <a:r>
                        <a:rPr lang="fr-FR" sz="1100"/>
                        <a:t>Moteurs électriques de la cheville</a:t>
                      </a:r>
                    </a:p>
                  </a:txBody>
                  <a:tcPr marL="36261" marR="36261" marT="18131" marB="18131" anchor="ctr"/>
                </a:tc>
                <a:tc>
                  <a:txBody>
                    <a:bodyPr/>
                    <a:lstStyle/>
                    <a:p>
                      <a:pPr>
                        <a:buNone/>
                      </a:pPr>
                      <a:r>
                        <a:rPr lang="fr-FR" sz="1100"/>
                        <a:t>Conversion électromécanique, modèle moteur, constante de temps</a:t>
                      </a:r>
                    </a:p>
                  </a:txBody>
                  <a:tcPr marL="36261" marR="36261" marT="18131" marB="18131" anchor="ctr"/>
                </a:tc>
                <a:tc>
                  <a:txBody>
                    <a:bodyPr/>
                    <a:lstStyle/>
                    <a:p>
                      <a:pPr>
                        <a:buNone/>
                      </a:pPr>
                      <a:r>
                        <a:rPr lang="fr-FR" sz="1100"/>
                        <a:t>Identification dynamique, influence de la charge, lien tension / vitesse / couple</a:t>
                      </a:r>
                    </a:p>
                  </a:txBody>
                  <a:tcPr marL="36261" marR="36261" marT="18131" marB="18131" anchor="ctr"/>
                </a:tc>
                <a:extLst>
                  <a:ext uri="{0D108BD9-81ED-4DB2-BD59-A6C34878D82A}">
                    <a16:rowId xmlns:a16="http://schemas.microsoft.com/office/drawing/2014/main" val="4155952507"/>
                  </a:ext>
                </a:extLst>
              </a:tr>
              <a:tr h="631314">
                <a:tc>
                  <a:txBody>
                    <a:bodyPr/>
                    <a:lstStyle/>
                    <a:p>
                      <a:pPr>
                        <a:buNone/>
                      </a:pPr>
                      <a:r>
                        <a:rPr lang="fr-FR" sz="1100" b="1"/>
                        <a:t>Transmission de puissance</a:t>
                      </a:r>
                      <a:endParaRPr lang="fr-FR" sz="1100"/>
                    </a:p>
                  </a:txBody>
                  <a:tcPr marL="36261" marR="36261" marT="18131" marB="18131" anchor="ctr"/>
                </a:tc>
                <a:tc>
                  <a:txBody>
                    <a:bodyPr/>
                    <a:lstStyle/>
                    <a:p>
                      <a:pPr>
                        <a:buNone/>
                      </a:pPr>
                      <a:r>
                        <a:rPr lang="fr-FR" sz="1100"/>
                        <a:t>Réducteurs de vitesse</a:t>
                      </a:r>
                    </a:p>
                  </a:txBody>
                  <a:tcPr marL="36261" marR="36261" marT="18131" marB="18131" anchor="ctr"/>
                </a:tc>
                <a:tc>
                  <a:txBody>
                    <a:bodyPr/>
                    <a:lstStyle/>
                    <a:p>
                      <a:pPr>
                        <a:buNone/>
                      </a:pPr>
                      <a:r>
                        <a:rPr lang="fr-FR" sz="1100"/>
                        <a:t>Adaptation couple / vitesse, rendement, chaîne d’énergie</a:t>
                      </a:r>
                    </a:p>
                  </a:txBody>
                  <a:tcPr marL="36261" marR="36261" marT="18131" marB="18131" anchor="ctr"/>
                </a:tc>
                <a:tc>
                  <a:txBody>
                    <a:bodyPr/>
                    <a:lstStyle/>
                    <a:p>
                      <a:pPr>
                        <a:buNone/>
                      </a:pPr>
                      <a:r>
                        <a:rPr lang="fr-FR" sz="1100"/>
                        <a:t>Calcul du rapport de réduction, influence sur le couple transmis et la dynamique</a:t>
                      </a:r>
                    </a:p>
                  </a:txBody>
                  <a:tcPr marL="36261" marR="36261" marT="18131" marB="18131" anchor="ctr"/>
                </a:tc>
                <a:extLst>
                  <a:ext uri="{0D108BD9-81ED-4DB2-BD59-A6C34878D82A}">
                    <a16:rowId xmlns:a16="http://schemas.microsoft.com/office/drawing/2014/main" val="563894352"/>
                  </a:ext>
                </a:extLst>
              </a:tr>
              <a:tr h="631314">
                <a:tc>
                  <a:txBody>
                    <a:bodyPr/>
                    <a:lstStyle/>
                    <a:p>
                      <a:pPr>
                        <a:buNone/>
                      </a:pPr>
                      <a:r>
                        <a:rPr lang="fr-FR" sz="1100" b="1"/>
                        <a:t>Unité de commande</a:t>
                      </a:r>
                      <a:endParaRPr lang="fr-FR" sz="1100"/>
                    </a:p>
                  </a:txBody>
                  <a:tcPr marL="36261" marR="36261" marT="18131" marB="18131" anchor="ctr"/>
                </a:tc>
                <a:tc>
                  <a:txBody>
                    <a:bodyPr/>
                    <a:lstStyle/>
                    <a:p>
                      <a:pPr>
                        <a:buNone/>
                      </a:pPr>
                      <a:r>
                        <a:rPr lang="fr-FR" sz="1100"/>
                        <a:t>Microcontrôleur </a:t>
                      </a:r>
                      <a:r>
                        <a:rPr lang="fr-FR" sz="1100" b="1"/>
                        <a:t>dsPIC</a:t>
                      </a:r>
                      <a:r>
                        <a:rPr lang="fr-FR" sz="1100"/>
                        <a:t> embarqué</a:t>
                      </a:r>
                    </a:p>
                  </a:txBody>
                  <a:tcPr marL="36261" marR="36261" marT="18131" marB="18131" anchor="ctr"/>
                </a:tc>
                <a:tc>
                  <a:txBody>
                    <a:bodyPr/>
                    <a:lstStyle/>
                    <a:p>
                      <a:pPr>
                        <a:buNone/>
                      </a:pPr>
                      <a:r>
                        <a:rPr lang="fr-FR" sz="1100"/>
                        <a:t>Chaîne d’information, traitement numérique, asservissement</a:t>
                      </a:r>
                    </a:p>
                  </a:txBody>
                  <a:tcPr marL="36261" marR="36261" marT="18131" marB="18131" anchor="ctr"/>
                </a:tc>
                <a:tc>
                  <a:txBody>
                    <a:bodyPr/>
                    <a:lstStyle/>
                    <a:p>
                      <a:pPr>
                        <a:buNone/>
                      </a:pPr>
                      <a:r>
                        <a:rPr lang="fr-FR" sz="1100"/>
                        <a:t>Comprendre le rôle du calculateur dans la génération des consignes et la boucle de commande</a:t>
                      </a:r>
                    </a:p>
                  </a:txBody>
                  <a:tcPr marL="36261" marR="36261" marT="18131" marB="18131" anchor="ctr"/>
                </a:tc>
                <a:extLst>
                  <a:ext uri="{0D108BD9-81ED-4DB2-BD59-A6C34878D82A}">
                    <a16:rowId xmlns:a16="http://schemas.microsoft.com/office/drawing/2014/main" val="182189144"/>
                  </a:ext>
                </a:extLst>
              </a:tr>
              <a:tr h="516818">
                <a:tc>
                  <a:txBody>
                    <a:bodyPr/>
                    <a:lstStyle/>
                    <a:p>
                      <a:pPr>
                        <a:buNone/>
                      </a:pPr>
                      <a:r>
                        <a:rPr lang="fr-FR" sz="1100" b="1"/>
                        <a:t>Cinématique du mécanisme</a:t>
                      </a:r>
                      <a:endParaRPr lang="fr-FR" sz="1100"/>
                    </a:p>
                  </a:txBody>
                  <a:tcPr marL="36261" marR="36261" marT="18131" marB="18131" anchor="ctr"/>
                </a:tc>
                <a:tc>
                  <a:txBody>
                    <a:bodyPr/>
                    <a:lstStyle/>
                    <a:p>
                      <a:pPr>
                        <a:buNone/>
                      </a:pPr>
                      <a:r>
                        <a:rPr lang="fr-FR" sz="1100"/>
                        <a:t>Architecture mécanique de la cheville</a:t>
                      </a:r>
                    </a:p>
                  </a:txBody>
                  <a:tcPr marL="36261" marR="36261" marT="18131" marB="18131" anchor="ctr"/>
                </a:tc>
                <a:tc>
                  <a:txBody>
                    <a:bodyPr/>
                    <a:lstStyle/>
                    <a:p>
                      <a:pPr>
                        <a:buNone/>
                      </a:pPr>
                      <a:r>
                        <a:rPr lang="fr-FR" sz="1100"/>
                        <a:t>Classes d’équivalence, liaisons mécaniques, mobilité d’un mécanisme</a:t>
                      </a:r>
                    </a:p>
                  </a:txBody>
                  <a:tcPr marL="36261" marR="36261" marT="18131" marB="18131" anchor="ctr"/>
                </a:tc>
                <a:tc>
                  <a:txBody>
                    <a:bodyPr/>
                    <a:lstStyle/>
                    <a:p>
                      <a:pPr>
                        <a:buNone/>
                      </a:pPr>
                      <a:r>
                        <a:rPr lang="fr-FR" sz="1100"/>
                        <a:t>Détermination de la mobilité, modélisation en chaîne cinématique ouverte</a:t>
                      </a:r>
                    </a:p>
                  </a:txBody>
                  <a:tcPr marL="36261" marR="36261" marT="18131" marB="18131" anchor="ctr"/>
                </a:tc>
                <a:extLst>
                  <a:ext uri="{0D108BD9-81ED-4DB2-BD59-A6C34878D82A}">
                    <a16:rowId xmlns:a16="http://schemas.microsoft.com/office/drawing/2014/main" val="1294320039"/>
                  </a:ext>
                </a:extLst>
              </a:tr>
              <a:tr h="481583">
                <a:tc>
                  <a:txBody>
                    <a:bodyPr/>
                    <a:lstStyle/>
                    <a:p>
                      <a:pPr>
                        <a:buNone/>
                      </a:pPr>
                      <a:r>
                        <a:rPr lang="fr-FR" sz="1100" b="1"/>
                        <a:t>Capteurs</a:t>
                      </a:r>
                      <a:endParaRPr lang="fr-FR" sz="1100"/>
                    </a:p>
                  </a:txBody>
                  <a:tcPr marL="36261" marR="36261" marT="18131" marB="18131" anchor="ctr"/>
                </a:tc>
                <a:tc>
                  <a:txBody>
                    <a:bodyPr/>
                    <a:lstStyle/>
                    <a:p>
                      <a:pPr>
                        <a:buNone/>
                      </a:pPr>
                      <a:r>
                        <a:rPr lang="fr-FR" sz="1100"/>
                        <a:t>Codeurs à effet Hall, capteurs d’effort </a:t>
                      </a:r>
                      <a:r>
                        <a:rPr lang="fr-FR" sz="1100" b="1"/>
                        <a:t>FSR</a:t>
                      </a:r>
                      <a:endParaRPr lang="fr-FR" sz="1100"/>
                    </a:p>
                  </a:txBody>
                  <a:tcPr marL="36261" marR="36261" marT="18131" marB="18131" anchor="ctr"/>
                </a:tc>
                <a:tc>
                  <a:txBody>
                    <a:bodyPr/>
                    <a:lstStyle/>
                    <a:p>
                      <a:pPr>
                        <a:buNone/>
                      </a:pPr>
                      <a:r>
                        <a:rPr lang="fr-FR" sz="1100"/>
                        <a:t>Acquisition d’information, conversion physique → signal</a:t>
                      </a:r>
                    </a:p>
                  </a:txBody>
                  <a:tcPr marL="36261" marR="36261" marT="18131" marB="18131" anchor="ctr"/>
                </a:tc>
                <a:tc>
                  <a:txBody>
                    <a:bodyPr/>
                    <a:lstStyle/>
                    <a:p>
                      <a:pPr>
                        <a:buNone/>
                      </a:pPr>
                      <a:r>
                        <a:rPr lang="fr-FR" sz="1100"/>
                        <a:t>Identification de la position, mesure d’effort, étude de la chaîne de mesure</a:t>
                      </a:r>
                    </a:p>
                  </a:txBody>
                  <a:tcPr marL="36261" marR="36261" marT="18131" marB="18131" anchor="ctr"/>
                </a:tc>
                <a:extLst>
                  <a:ext uri="{0D108BD9-81ED-4DB2-BD59-A6C34878D82A}">
                    <a16:rowId xmlns:a16="http://schemas.microsoft.com/office/drawing/2014/main" val="2992559641"/>
                  </a:ext>
                </a:extLst>
              </a:tr>
              <a:tr h="516818">
                <a:tc>
                  <a:txBody>
                    <a:bodyPr/>
                    <a:lstStyle/>
                    <a:p>
                      <a:pPr>
                        <a:buNone/>
                      </a:pPr>
                      <a:r>
                        <a:rPr lang="fr-FR" sz="1100" b="1"/>
                        <a:t>Comportement dynamique</a:t>
                      </a:r>
                      <a:endParaRPr lang="fr-FR" sz="1100"/>
                    </a:p>
                  </a:txBody>
                  <a:tcPr marL="36261" marR="36261" marT="18131" marB="18131" anchor="ctr"/>
                </a:tc>
                <a:tc>
                  <a:txBody>
                    <a:bodyPr/>
                    <a:lstStyle/>
                    <a:p>
                      <a:pPr>
                        <a:buNone/>
                      </a:pPr>
                      <a:r>
                        <a:rPr lang="fr-FR" sz="1100"/>
                        <a:t>Mouvement de la cheville</a:t>
                      </a:r>
                    </a:p>
                  </a:txBody>
                  <a:tcPr marL="36261" marR="36261" marT="18131" marB="18131" anchor="ctr"/>
                </a:tc>
                <a:tc>
                  <a:txBody>
                    <a:bodyPr/>
                    <a:lstStyle/>
                    <a:p>
                      <a:pPr>
                        <a:buNone/>
                      </a:pPr>
                      <a:r>
                        <a:rPr lang="fr-FR" sz="1100"/>
                        <a:t>Réponse indicielle, réponse fréquentielle, diagrammes de Bode</a:t>
                      </a:r>
                    </a:p>
                  </a:txBody>
                  <a:tcPr marL="36261" marR="36261" marT="18131" marB="18131" anchor="ctr"/>
                </a:tc>
                <a:tc>
                  <a:txBody>
                    <a:bodyPr/>
                    <a:lstStyle/>
                    <a:p>
                      <a:pPr>
                        <a:buNone/>
                      </a:pPr>
                      <a:r>
                        <a:rPr lang="fr-FR" sz="1100"/>
                        <a:t>Identification d’ordre du système, détermination de paramètres caractéristiques</a:t>
                      </a:r>
                    </a:p>
                  </a:txBody>
                  <a:tcPr marL="36261" marR="36261" marT="18131" marB="18131" anchor="ctr"/>
                </a:tc>
                <a:extLst>
                  <a:ext uri="{0D108BD9-81ED-4DB2-BD59-A6C34878D82A}">
                    <a16:rowId xmlns:a16="http://schemas.microsoft.com/office/drawing/2014/main" val="2863949941"/>
                  </a:ext>
                </a:extLst>
              </a:tr>
              <a:tr h="481583">
                <a:tc>
                  <a:txBody>
                    <a:bodyPr/>
                    <a:lstStyle/>
                    <a:p>
                      <a:pPr>
                        <a:buNone/>
                      </a:pPr>
                      <a:r>
                        <a:rPr lang="fr-FR" sz="1100" b="1"/>
                        <a:t>Modélisation du système</a:t>
                      </a:r>
                      <a:endParaRPr lang="fr-FR" sz="1100"/>
                    </a:p>
                  </a:txBody>
                  <a:tcPr marL="36261" marR="36261" marT="18131" marB="18131" anchor="ctr"/>
                </a:tc>
                <a:tc>
                  <a:txBody>
                    <a:bodyPr/>
                    <a:lstStyle/>
                    <a:p>
                      <a:pPr>
                        <a:buNone/>
                      </a:pPr>
                      <a:r>
                        <a:rPr lang="fr-FR" sz="1100"/>
                        <a:t>Ensemble cheville + motorisation</a:t>
                      </a:r>
                    </a:p>
                  </a:txBody>
                  <a:tcPr marL="36261" marR="36261" marT="18131" marB="18131" anchor="ctr"/>
                </a:tc>
                <a:tc>
                  <a:txBody>
                    <a:bodyPr/>
                    <a:lstStyle/>
                    <a:p>
                      <a:pPr>
                        <a:buNone/>
                      </a:pPr>
                      <a:r>
                        <a:rPr lang="fr-FR" sz="1100"/>
                        <a:t>Fonction de transfert, forme canonique, pôles</a:t>
                      </a:r>
                    </a:p>
                  </a:txBody>
                  <a:tcPr marL="36261" marR="36261" marT="18131" marB="18131" anchor="ctr"/>
                </a:tc>
                <a:tc>
                  <a:txBody>
                    <a:bodyPr/>
                    <a:lstStyle/>
                    <a:p>
                      <a:pPr>
                        <a:buNone/>
                      </a:pPr>
                      <a:r>
                        <a:rPr lang="fr-FR" sz="1100" dirty="0"/>
                        <a:t>Identification expérimentale et comparaison modèle / système réel</a:t>
                      </a:r>
                    </a:p>
                  </a:txBody>
                  <a:tcPr marL="36261" marR="36261" marT="18131" marB="18131" anchor="ctr"/>
                </a:tc>
                <a:extLst>
                  <a:ext uri="{0D108BD9-81ED-4DB2-BD59-A6C34878D82A}">
                    <a16:rowId xmlns:a16="http://schemas.microsoft.com/office/drawing/2014/main" val="874096015"/>
                  </a:ext>
                </a:extLst>
              </a:tr>
            </a:tbl>
          </a:graphicData>
        </a:graphic>
      </p:graphicFrame>
    </p:spTree>
    <p:extLst>
      <p:ext uri="{BB962C8B-B14F-4D97-AF65-F5344CB8AC3E}">
        <p14:creationId xmlns:p14="http://schemas.microsoft.com/office/powerpoint/2010/main" val="11037018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E5A6B-34FD-3A12-D669-54161CAAE25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0C3301C-D049-23D8-F8DC-9D1DAF5CF445}"/>
              </a:ext>
            </a:extLst>
          </p:cNvPr>
          <p:cNvSpPr>
            <a:spLocks noGrp="1"/>
          </p:cNvSpPr>
          <p:nvPr>
            <p:ph type="title"/>
          </p:nvPr>
        </p:nvSpPr>
        <p:spPr/>
        <p:txBody>
          <a:bodyPr/>
          <a:lstStyle/>
          <a:p>
            <a:r>
              <a:rPr lang="fr-FR" dirty="0"/>
              <a:t>Démarche dans la séance expérimentale</a:t>
            </a:r>
            <a:br>
              <a:rPr lang="fr-FR" dirty="0"/>
            </a:br>
            <a:r>
              <a:rPr lang="fr-FR" sz="3200" dirty="0"/>
              <a:t>Mise en contexte</a:t>
            </a:r>
            <a:endParaRPr lang="fr-FR" dirty="0"/>
          </a:p>
        </p:txBody>
      </p:sp>
      <p:sp>
        <p:nvSpPr>
          <p:cNvPr id="3" name="Espace réservé du contenu 2">
            <a:extLst>
              <a:ext uri="{FF2B5EF4-FFF2-40B4-BE49-F238E27FC236}">
                <a16:creationId xmlns:a16="http://schemas.microsoft.com/office/drawing/2014/main" id="{77B6E638-5F4B-A431-D5F1-F2282441C344}"/>
              </a:ext>
            </a:extLst>
          </p:cNvPr>
          <p:cNvSpPr>
            <a:spLocks noGrp="1"/>
          </p:cNvSpPr>
          <p:nvPr>
            <p:ph idx="1"/>
          </p:nvPr>
        </p:nvSpPr>
        <p:spPr>
          <a:xfrm>
            <a:off x="838199" y="1825625"/>
            <a:ext cx="5679369" cy="4351338"/>
          </a:xfrm>
        </p:spPr>
        <p:txBody>
          <a:bodyPr>
            <a:normAutofit fontScale="77500" lnSpcReduction="20000"/>
          </a:bodyPr>
          <a:lstStyle/>
          <a:p>
            <a:pPr>
              <a:buNone/>
            </a:pPr>
            <a:r>
              <a:rPr lang="fr-FR" dirty="0"/>
              <a:t>La machine réagit correctement aux consignes, mais </a:t>
            </a:r>
            <a:r>
              <a:rPr lang="fr-FR" b="1" dirty="0"/>
              <a:t>son comportement dynamique reste encore mal identifié</a:t>
            </a:r>
            <a:r>
              <a:rPr lang="fr-FR" dirty="0"/>
              <a:t>.</a:t>
            </a:r>
          </a:p>
          <a:p>
            <a:pPr>
              <a:buNone/>
            </a:pPr>
            <a:r>
              <a:rPr lang="fr-FR" dirty="0"/>
              <a:t>Votre mission est de déterminer </a:t>
            </a:r>
            <a:r>
              <a:rPr lang="fr-FR" b="1" dirty="0"/>
              <a:t>comment le système réagit lorsque la fréquence de la consigne varie</a:t>
            </a:r>
            <a:r>
              <a:rPr lang="fr-FR" dirty="0"/>
              <a:t>.</a:t>
            </a:r>
          </a:p>
          <a:p>
            <a:pPr>
              <a:buNone/>
            </a:pPr>
            <a:r>
              <a:rPr lang="fr-FR" dirty="0"/>
              <a:t>Pour cela, vous appliquerez à la cheville du robot une </a:t>
            </a:r>
            <a:r>
              <a:rPr lang="fr-FR" b="1" dirty="0"/>
              <a:t>consigne sinusoïdale pour différentes pulsations</a:t>
            </a:r>
            <a:r>
              <a:rPr lang="fr-FR" dirty="0"/>
              <a:t> et mesurerez :</a:t>
            </a:r>
          </a:p>
          <a:p>
            <a:pPr>
              <a:buFont typeface="Arial" panose="020B0604020202020204" pitchFamily="34" charset="0"/>
              <a:buChar char="•"/>
            </a:pPr>
            <a:r>
              <a:rPr lang="fr-FR" dirty="0"/>
              <a:t>l’</a:t>
            </a:r>
            <a:r>
              <a:rPr lang="fr-FR" b="1" dirty="0"/>
              <a:t>amplitude de la réponse</a:t>
            </a:r>
            <a:endParaRPr lang="fr-FR" dirty="0"/>
          </a:p>
          <a:p>
            <a:pPr>
              <a:buFont typeface="Arial" panose="020B0604020202020204" pitchFamily="34" charset="0"/>
              <a:buChar char="•"/>
            </a:pPr>
            <a:r>
              <a:rPr lang="fr-FR" dirty="0"/>
              <a:t>le </a:t>
            </a:r>
            <a:r>
              <a:rPr lang="fr-FR" b="1" dirty="0"/>
              <a:t>déphasage</a:t>
            </a:r>
            <a:r>
              <a:rPr lang="fr-FR" dirty="0"/>
              <a:t> entre entrée et sortie.</a:t>
            </a:r>
          </a:p>
          <a:p>
            <a:pPr>
              <a:buNone/>
            </a:pPr>
            <a:r>
              <a:rPr lang="fr-FR" dirty="0"/>
              <a:t>Ces mesures permettront d’établir le </a:t>
            </a:r>
            <a:r>
              <a:rPr lang="fr-FR" b="1" dirty="0"/>
              <a:t>diagramme de Bode</a:t>
            </a:r>
            <a:r>
              <a:rPr lang="fr-FR" dirty="0"/>
              <a:t> du système et d’en déduire </a:t>
            </a:r>
            <a:r>
              <a:rPr lang="fr-FR" b="1" dirty="0"/>
              <a:t>son comportement dynamique</a:t>
            </a:r>
            <a:r>
              <a:rPr lang="fr-FR" dirty="0"/>
              <a:t> (intégrateur, dérivateur, ordre du système).</a:t>
            </a:r>
          </a:p>
        </p:txBody>
      </p:sp>
      <p:sp>
        <p:nvSpPr>
          <p:cNvPr id="4" name="Espace réservé du pied de page 3">
            <a:extLst>
              <a:ext uri="{FF2B5EF4-FFF2-40B4-BE49-F238E27FC236}">
                <a16:creationId xmlns:a16="http://schemas.microsoft.com/office/drawing/2014/main" id="{DA5E49D3-CAB4-9587-FD7B-4324BDFCFC3C}"/>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5" name="Espace réservé du numéro de diapositive 4">
            <a:extLst>
              <a:ext uri="{FF2B5EF4-FFF2-40B4-BE49-F238E27FC236}">
                <a16:creationId xmlns:a16="http://schemas.microsoft.com/office/drawing/2014/main" id="{D45EC007-6191-E2A1-D187-3853C975E2C0}"/>
              </a:ext>
            </a:extLst>
          </p:cNvPr>
          <p:cNvSpPr>
            <a:spLocks noGrp="1"/>
          </p:cNvSpPr>
          <p:nvPr>
            <p:ph type="sldNum" sz="quarter" idx="12"/>
          </p:nvPr>
        </p:nvSpPr>
        <p:spPr/>
        <p:txBody>
          <a:bodyPr/>
          <a:lstStyle/>
          <a:p>
            <a:fld id="{3CA76ACC-A68C-4A5C-9615-B59A999884DC}" type="slidenum">
              <a:rPr lang="fr-FR" smtClean="0"/>
              <a:t>19</a:t>
            </a:fld>
            <a:endParaRPr lang="fr-FR"/>
          </a:p>
        </p:txBody>
      </p:sp>
      <p:pic>
        <p:nvPicPr>
          <p:cNvPr id="6" name="Image 5">
            <a:extLst>
              <a:ext uri="{FF2B5EF4-FFF2-40B4-BE49-F238E27FC236}">
                <a16:creationId xmlns:a16="http://schemas.microsoft.com/office/drawing/2014/main" id="{23DB27D2-3E78-1F02-21EC-0980BE8534F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958216" y="1464777"/>
            <a:ext cx="4904179" cy="1074889"/>
          </a:xfrm>
          <a:prstGeom prst="rect">
            <a:avLst/>
          </a:prstGeom>
          <a:ln>
            <a:noFill/>
          </a:ln>
          <a:effectLst>
            <a:outerShdw blurRad="292100" dist="139700" dir="2700000" algn="tl" rotWithShape="0">
              <a:srgbClr val="333333">
                <a:alpha val="65000"/>
              </a:srgbClr>
            </a:outerShdw>
          </a:effectLst>
        </p:spPr>
      </p:pic>
      <p:grpSp>
        <p:nvGrpSpPr>
          <p:cNvPr id="13" name="Groupe 12">
            <a:extLst>
              <a:ext uri="{FF2B5EF4-FFF2-40B4-BE49-F238E27FC236}">
                <a16:creationId xmlns:a16="http://schemas.microsoft.com/office/drawing/2014/main" id="{3D04B942-46C8-8C39-2086-0ED7F85BFE5C}"/>
              </a:ext>
            </a:extLst>
          </p:cNvPr>
          <p:cNvGrpSpPr/>
          <p:nvPr/>
        </p:nvGrpSpPr>
        <p:grpSpPr>
          <a:xfrm>
            <a:off x="6584993" y="3050122"/>
            <a:ext cx="4328160" cy="3306228"/>
            <a:chOff x="734584" y="2538088"/>
            <a:chExt cx="5028041" cy="3638874"/>
          </a:xfrm>
        </p:grpSpPr>
        <p:grpSp>
          <p:nvGrpSpPr>
            <p:cNvPr id="11" name="Groupe 10">
              <a:extLst>
                <a:ext uri="{FF2B5EF4-FFF2-40B4-BE49-F238E27FC236}">
                  <a16:creationId xmlns:a16="http://schemas.microsoft.com/office/drawing/2014/main" id="{CD402099-732C-89AD-09AE-76B299D32F75}"/>
                </a:ext>
              </a:extLst>
            </p:cNvPr>
            <p:cNvGrpSpPr/>
            <p:nvPr/>
          </p:nvGrpSpPr>
          <p:grpSpPr>
            <a:xfrm>
              <a:off x="1458819" y="2589115"/>
              <a:ext cx="4303806" cy="3587847"/>
              <a:chOff x="609600" y="1690688"/>
              <a:chExt cx="5169408" cy="4485465"/>
            </a:xfrm>
          </p:grpSpPr>
          <p:pic>
            <p:nvPicPr>
              <p:cNvPr id="8" name="Picture 2">
                <a:extLst>
                  <a:ext uri="{FF2B5EF4-FFF2-40B4-BE49-F238E27FC236}">
                    <a16:creationId xmlns:a16="http://schemas.microsoft.com/office/drawing/2014/main" id="{DB8CA627-9B12-0B4E-C68C-866CF883213B}"/>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a:fillRect/>
              </a:stretch>
            </p:blipFill>
            <p:spPr bwMode="auto">
              <a:xfrm>
                <a:off x="609600" y="1690688"/>
                <a:ext cx="5169408" cy="448546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CE0E3D59-248A-86E5-1A59-172559CC5CED}"/>
                  </a:ext>
                </a:extLst>
              </p:cNvPr>
              <p:cNvPicPr>
                <a:picLocks noChangeAspect="1" noChangeArrowheads="1"/>
              </p:cNvPicPr>
              <p:nvPr/>
            </p:nvPicPr>
            <p:blipFill rotWithShape="1">
              <a:blip r:embed="rId4" cstate="email">
                <a:alphaModFix amt="52000"/>
                <a:extLst>
                  <a:ext uri="{BEBA8EAE-BF5A-486C-A8C5-ECC9F3942E4B}">
                    <a14:imgProps xmlns:a14="http://schemas.microsoft.com/office/drawing/2010/main">
                      <a14:imgLayer r:embed="rId5">
                        <a14:imgEffect>
                          <a14:backgroundRemoval t="3646" b="98438" l="9574" r="95213">
                            <a14:foregroundMark x1="55319" y1="12760" x2="55319" y2="12760"/>
                            <a14:foregroundMark x1="55319" y1="3646" x2="55319" y2="3646"/>
                            <a14:foregroundMark x1="28191" y1="95313" x2="28191" y2="95313"/>
                            <a14:foregroundMark x1="89362" y1="65885" x2="89362" y2="65885"/>
                            <a14:foregroundMark x1="96809" y1="63021" x2="96809" y2="63021"/>
                            <a14:foregroundMark x1="18617" y1="98438" x2="18617" y2="98438"/>
                            <a14:foregroundMark x1="13830" y1="98698" x2="13830" y2="98698"/>
                            <a14:backgroundMark x1="62234" y1="88281" x2="62234" y2="88281"/>
                          </a14:backgroundRemoval>
                        </a14:imgEffect>
                      </a14:imgLayer>
                    </a14:imgProps>
                  </a:ext>
                  <a:ext uri="{28A0092B-C50C-407E-A947-70E740481C1C}">
                    <a14:useLocalDpi xmlns:a14="http://schemas.microsoft.com/office/drawing/2010/main"/>
                  </a:ext>
                </a:extLst>
              </a:blip>
              <a:srcRect/>
              <a:stretch>
                <a:fillRect/>
              </a:stretch>
            </p:blipFill>
            <p:spPr bwMode="auto">
              <a:xfrm rot="1228018">
                <a:off x="1273989" y="2104143"/>
                <a:ext cx="1786128" cy="3658552"/>
              </a:xfrm>
              <a:prstGeom prst="rect">
                <a:avLst/>
              </a:prstGeom>
              <a:noFill/>
              <a:extLst>
                <a:ext uri="{909E8E84-426E-40DD-AFC4-6F175D3DCCD1}">
                  <a14:hiddenFill xmlns:a14="http://schemas.microsoft.com/office/drawing/2010/main">
                    <a:solidFill>
                      <a:srgbClr val="FFFFFF"/>
                    </a:solidFill>
                  </a14:hiddenFill>
                </a:ext>
              </a:extLst>
            </p:spPr>
          </p:pic>
        </p:grpSp>
        <p:pic>
          <p:nvPicPr>
            <p:cNvPr id="12" name="Picture 2">
              <a:extLst>
                <a:ext uri="{FF2B5EF4-FFF2-40B4-BE49-F238E27FC236}">
                  <a16:creationId xmlns:a16="http://schemas.microsoft.com/office/drawing/2014/main" id="{3E444B71-5D29-B3D9-868C-66E4436C5E9E}"/>
                </a:ext>
              </a:extLst>
            </p:cNvPr>
            <p:cNvPicPr>
              <a:picLocks noChangeAspect="1" noChangeArrowheads="1"/>
            </p:cNvPicPr>
            <p:nvPr/>
          </p:nvPicPr>
          <p:blipFill rotWithShape="1">
            <a:blip r:embed="rId4" cstate="email">
              <a:alphaModFix amt="52000"/>
              <a:extLst>
                <a:ext uri="{BEBA8EAE-BF5A-486C-A8C5-ECC9F3942E4B}">
                  <a14:imgProps xmlns:a14="http://schemas.microsoft.com/office/drawing/2010/main">
                    <a14:imgLayer r:embed="rId5">
                      <a14:imgEffect>
                        <a14:backgroundRemoval t="3646" b="98438" l="9574" r="95213">
                          <a14:foregroundMark x1="55319" y1="12760" x2="55319" y2="12760"/>
                          <a14:foregroundMark x1="55319" y1="3646" x2="55319" y2="3646"/>
                          <a14:foregroundMark x1="28191" y1="95313" x2="28191" y2="95313"/>
                          <a14:foregroundMark x1="89362" y1="65885" x2="89362" y2="65885"/>
                          <a14:foregroundMark x1="96809" y1="63021" x2="96809" y2="63021"/>
                          <a14:foregroundMark x1="18617" y1="98438" x2="18617" y2="98438"/>
                          <a14:foregroundMark x1="13830" y1="98698" x2="13830" y2="98698"/>
                          <a14:backgroundMark x1="62234" y1="88281" x2="62234" y2="88281"/>
                        </a14:backgroundRemoval>
                      </a14:imgEffect>
                    </a14:imgLayer>
                  </a14:imgProps>
                </a:ext>
                <a:ext uri="{28A0092B-C50C-407E-A947-70E740481C1C}">
                  <a14:useLocalDpi xmlns:a14="http://schemas.microsoft.com/office/drawing/2010/main"/>
                </a:ext>
              </a:extLst>
            </a:blip>
            <a:srcRect/>
            <a:stretch>
              <a:fillRect/>
            </a:stretch>
          </p:blipFill>
          <p:spPr bwMode="auto">
            <a:xfrm rot="19950843">
              <a:off x="734584" y="2538088"/>
              <a:ext cx="1487046" cy="2926413"/>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Espace réservé de la date 8">
            <a:extLst>
              <a:ext uri="{FF2B5EF4-FFF2-40B4-BE49-F238E27FC236}">
                <a16:creationId xmlns:a16="http://schemas.microsoft.com/office/drawing/2014/main" id="{81934005-8A14-15B4-9CC7-DC1BEF67BFFC}"/>
              </a:ext>
            </a:extLst>
          </p:cNvPr>
          <p:cNvSpPr>
            <a:spLocks noGrp="1"/>
          </p:cNvSpPr>
          <p:nvPr>
            <p:ph type="dt" sz="half" idx="10"/>
          </p:nvPr>
        </p:nvSpPr>
        <p:spPr/>
        <p:txBody>
          <a:bodyPr/>
          <a:lstStyle/>
          <a:p>
            <a:r>
              <a:rPr lang="fr-FR"/>
              <a:t>10/03/2026</a:t>
            </a:r>
            <a:endParaRPr lang="fr-FR" dirty="0"/>
          </a:p>
        </p:txBody>
      </p:sp>
    </p:spTree>
    <p:extLst>
      <p:ext uri="{BB962C8B-B14F-4D97-AF65-F5344CB8AC3E}">
        <p14:creationId xmlns:p14="http://schemas.microsoft.com/office/powerpoint/2010/main" val="42452821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BB16AA-A9F7-8DA7-65BF-460AF7E86A18}"/>
              </a:ext>
            </a:extLst>
          </p:cNvPr>
          <p:cNvSpPr>
            <a:spLocks noGrp="1"/>
          </p:cNvSpPr>
          <p:nvPr>
            <p:ph type="title"/>
          </p:nvPr>
        </p:nvSpPr>
        <p:spPr/>
        <p:txBody>
          <a:bodyPr/>
          <a:lstStyle/>
          <a:p>
            <a:r>
              <a:rPr lang="fr-FR" dirty="0"/>
              <a:t>Activité expérimentale à mener par l’élève</a:t>
            </a:r>
          </a:p>
        </p:txBody>
      </p:sp>
      <p:sp>
        <p:nvSpPr>
          <p:cNvPr id="4" name="Espace réservé du pied de page 3">
            <a:extLst>
              <a:ext uri="{FF2B5EF4-FFF2-40B4-BE49-F238E27FC236}">
                <a16:creationId xmlns:a16="http://schemas.microsoft.com/office/drawing/2014/main" id="{AA8E3E99-5674-AD89-3C92-7A1B3890463A}"/>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5" name="Espace réservé du numéro de diapositive 4">
            <a:extLst>
              <a:ext uri="{FF2B5EF4-FFF2-40B4-BE49-F238E27FC236}">
                <a16:creationId xmlns:a16="http://schemas.microsoft.com/office/drawing/2014/main" id="{69E9396B-41D3-6C9B-0D32-25E186113182}"/>
              </a:ext>
            </a:extLst>
          </p:cNvPr>
          <p:cNvSpPr>
            <a:spLocks noGrp="1"/>
          </p:cNvSpPr>
          <p:nvPr>
            <p:ph type="sldNum" sz="quarter" idx="12"/>
          </p:nvPr>
        </p:nvSpPr>
        <p:spPr/>
        <p:txBody>
          <a:bodyPr/>
          <a:lstStyle/>
          <a:p>
            <a:fld id="{3CA76ACC-A68C-4A5C-9615-B59A999884DC}" type="slidenum">
              <a:rPr lang="fr-FR" smtClean="0"/>
              <a:t>20</a:t>
            </a:fld>
            <a:endParaRPr lang="fr-FR"/>
          </a:p>
        </p:txBody>
      </p:sp>
      <p:pic>
        <p:nvPicPr>
          <p:cNvPr id="6" name="Image 5">
            <a:extLst>
              <a:ext uri="{FF2B5EF4-FFF2-40B4-BE49-F238E27FC236}">
                <a16:creationId xmlns:a16="http://schemas.microsoft.com/office/drawing/2014/main" id="{29AA20F3-30EB-0EB7-7CF3-F3924DF9E339}"/>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a:fillRect/>
          </a:stretch>
        </p:blipFill>
        <p:spPr bwMode="auto">
          <a:xfrm>
            <a:off x="4038600" y="4150788"/>
            <a:ext cx="2978150" cy="1759585"/>
          </a:xfrm>
          <a:prstGeom prst="rect">
            <a:avLst/>
          </a:prstGeom>
          <a:noFill/>
          <a:ln>
            <a:noFill/>
          </a:ln>
          <a:extLst>
            <a:ext uri="{53640926-AAD7-44D8-BBD7-CCE9431645EC}">
              <a14:shadowObscured xmlns:a14="http://schemas.microsoft.com/office/drawing/2010/main"/>
            </a:ext>
          </a:extLst>
        </p:spPr>
      </p:pic>
      <p:pic>
        <p:nvPicPr>
          <p:cNvPr id="7" name="Image 6">
            <a:extLst>
              <a:ext uri="{FF2B5EF4-FFF2-40B4-BE49-F238E27FC236}">
                <a16:creationId xmlns:a16="http://schemas.microsoft.com/office/drawing/2014/main" id="{42FEC030-6895-0FE3-E6A9-797F6A9DF88B}"/>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a:fillRect/>
          </a:stretch>
        </p:blipFill>
        <p:spPr bwMode="auto">
          <a:xfrm>
            <a:off x="509904" y="4124008"/>
            <a:ext cx="3166745" cy="1889125"/>
          </a:xfrm>
          <a:prstGeom prst="rect">
            <a:avLst/>
          </a:prstGeom>
          <a:noFill/>
          <a:ln>
            <a:noFill/>
          </a:ln>
          <a:extLst>
            <a:ext uri="{53640926-AAD7-44D8-BBD7-CCE9431645EC}">
              <a14:shadowObscured xmlns:a14="http://schemas.microsoft.com/office/drawing/2010/main"/>
            </a:ext>
          </a:extLst>
        </p:spPr>
      </p:pic>
      <p:pic>
        <p:nvPicPr>
          <p:cNvPr id="8" name="Image 7">
            <a:extLst>
              <a:ext uri="{FF2B5EF4-FFF2-40B4-BE49-F238E27FC236}">
                <a16:creationId xmlns:a16="http://schemas.microsoft.com/office/drawing/2014/main" id="{20DB119A-9886-7EAE-1035-32E24E483FDC}"/>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a:fillRect/>
          </a:stretch>
        </p:blipFill>
        <p:spPr bwMode="auto">
          <a:xfrm>
            <a:off x="530225" y="1653096"/>
            <a:ext cx="3146425" cy="1828800"/>
          </a:xfrm>
          <a:prstGeom prst="rect">
            <a:avLst/>
          </a:prstGeom>
          <a:noFill/>
          <a:ln>
            <a:noFill/>
          </a:ln>
          <a:extLst>
            <a:ext uri="{53640926-AAD7-44D8-BBD7-CCE9431645EC}">
              <a14:shadowObscured xmlns:a14="http://schemas.microsoft.com/office/drawing/2010/main"/>
            </a:ext>
          </a:extLst>
        </p:spPr>
      </p:pic>
      <p:pic>
        <p:nvPicPr>
          <p:cNvPr id="9" name="Image 8">
            <a:extLst>
              <a:ext uri="{FF2B5EF4-FFF2-40B4-BE49-F238E27FC236}">
                <a16:creationId xmlns:a16="http://schemas.microsoft.com/office/drawing/2014/main" id="{C7271243-0D02-65D7-E7C0-B7F60E60E498}"/>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a:fillRect/>
          </a:stretch>
        </p:blipFill>
        <p:spPr bwMode="auto">
          <a:xfrm>
            <a:off x="4038600" y="1653096"/>
            <a:ext cx="3166745" cy="1889125"/>
          </a:xfrm>
          <a:prstGeom prst="rect">
            <a:avLst/>
          </a:prstGeom>
          <a:noFill/>
          <a:ln>
            <a:noFill/>
          </a:ln>
          <a:extLst>
            <a:ext uri="{53640926-AAD7-44D8-BBD7-CCE9431645EC}">
              <a14:shadowObscured xmlns:a14="http://schemas.microsoft.com/office/drawing/2010/main"/>
            </a:ext>
          </a:extLst>
        </p:spPr>
      </p:pic>
      <p:pic>
        <p:nvPicPr>
          <p:cNvPr id="10" name="Image 9">
            <a:extLst>
              <a:ext uri="{FF2B5EF4-FFF2-40B4-BE49-F238E27FC236}">
                <a16:creationId xmlns:a16="http://schemas.microsoft.com/office/drawing/2014/main" id="{EFB2DCE3-FEB8-C188-4917-4ACC608E42FF}"/>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a:stretch>
            <a:fillRect/>
          </a:stretch>
        </p:blipFill>
        <p:spPr bwMode="auto">
          <a:xfrm>
            <a:off x="7664312" y="4084098"/>
            <a:ext cx="3070860" cy="1730375"/>
          </a:xfrm>
          <a:prstGeom prst="rect">
            <a:avLst/>
          </a:prstGeom>
          <a:noFill/>
          <a:ln>
            <a:noFill/>
          </a:ln>
          <a:extLst>
            <a:ext uri="{53640926-AAD7-44D8-BBD7-CCE9431645EC}">
              <a14:shadowObscured xmlns:a14="http://schemas.microsoft.com/office/drawing/2010/main"/>
            </a:ext>
          </a:extLst>
        </p:spPr>
      </p:pic>
      <p:sp>
        <p:nvSpPr>
          <p:cNvPr id="11" name="ZoneTexte 10">
            <a:extLst>
              <a:ext uri="{FF2B5EF4-FFF2-40B4-BE49-F238E27FC236}">
                <a16:creationId xmlns:a16="http://schemas.microsoft.com/office/drawing/2014/main" id="{AB18B0A8-E1DC-06E6-601D-66591A78CE25}"/>
              </a:ext>
            </a:extLst>
          </p:cNvPr>
          <p:cNvSpPr txBox="1"/>
          <p:nvPr/>
        </p:nvSpPr>
        <p:spPr>
          <a:xfrm>
            <a:off x="1172382" y="3398821"/>
            <a:ext cx="1564916" cy="369332"/>
          </a:xfrm>
          <a:prstGeom prst="rect">
            <a:avLst/>
          </a:prstGeom>
          <a:noFill/>
        </p:spPr>
        <p:txBody>
          <a:bodyPr wrap="none" rtlCol="0">
            <a:spAutoFit/>
          </a:bodyPr>
          <a:lstStyle/>
          <a:p>
            <a:r>
              <a:rPr lang="fr-FR" dirty="0"/>
              <a:t>Mesure T=10s</a:t>
            </a:r>
          </a:p>
        </p:txBody>
      </p:sp>
      <p:sp>
        <p:nvSpPr>
          <p:cNvPr id="12" name="ZoneTexte 11">
            <a:extLst>
              <a:ext uri="{FF2B5EF4-FFF2-40B4-BE49-F238E27FC236}">
                <a16:creationId xmlns:a16="http://schemas.microsoft.com/office/drawing/2014/main" id="{C5A94EDF-71CE-1246-F187-7FCEE7D18711}"/>
              </a:ext>
            </a:extLst>
          </p:cNvPr>
          <p:cNvSpPr txBox="1"/>
          <p:nvPr/>
        </p:nvSpPr>
        <p:spPr>
          <a:xfrm>
            <a:off x="4671486" y="3481896"/>
            <a:ext cx="1441485" cy="369332"/>
          </a:xfrm>
          <a:prstGeom prst="rect">
            <a:avLst/>
          </a:prstGeom>
          <a:noFill/>
        </p:spPr>
        <p:txBody>
          <a:bodyPr wrap="none" rtlCol="0">
            <a:spAutoFit/>
          </a:bodyPr>
          <a:lstStyle/>
          <a:p>
            <a:r>
              <a:rPr lang="fr-FR" dirty="0"/>
              <a:t>Mesure T=5s</a:t>
            </a:r>
          </a:p>
        </p:txBody>
      </p:sp>
      <p:sp>
        <p:nvSpPr>
          <p:cNvPr id="13" name="ZoneTexte 12">
            <a:extLst>
              <a:ext uri="{FF2B5EF4-FFF2-40B4-BE49-F238E27FC236}">
                <a16:creationId xmlns:a16="http://schemas.microsoft.com/office/drawing/2014/main" id="{AA9B58C7-CB45-0836-6809-9F1A9347847C}"/>
              </a:ext>
            </a:extLst>
          </p:cNvPr>
          <p:cNvSpPr txBox="1"/>
          <p:nvPr/>
        </p:nvSpPr>
        <p:spPr>
          <a:xfrm>
            <a:off x="1172382" y="5910373"/>
            <a:ext cx="1441485" cy="369332"/>
          </a:xfrm>
          <a:prstGeom prst="rect">
            <a:avLst/>
          </a:prstGeom>
          <a:noFill/>
        </p:spPr>
        <p:txBody>
          <a:bodyPr wrap="none" rtlCol="0">
            <a:spAutoFit/>
          </a:bodyPr>
          <a:lstStyle/>
          <a:p>
            <a:r>
              <a:rPr lang="fr-FR" dirty="0"/>
              <a:t>Mesure T=1s</a:t>
            </a:r>
          </a:p>
        </p:txBody>
      </p:sp>
      <p:sp>
        <p:nvSpPr>
          <p:cNvPr id="14" name="ZoneTexte 13">
            <a:extLst>
              <a:ext uri="{FF2B5EF4-FFF2-40B4-BE49-F238E27FC236}">
                <a16:creationId xmlns:a16="http://schemas.microsoft.com/office/drawing/2014/main" id="{D3262B05-1757-C796-8F18-6A1D2DCF50BD}"/>
              </a:ext>
            </a:extLst>
          </p:cNvPr>
          <p:cNvSpPr txBox="1"/>
          <p:nvPr/>
        </p:nvSpPr>
        <p:spPr>
          <a:xfrm>
            <a:off x="4745217" y="5910373"/>
            <a:ext cx="1630639" cy="369332"/>
          </a:xfrm>
          <a:prstGeom prst="rect">
            <a:avLst/>
          </a:prstGeom>
          <a:noFill/>
        </p:spPr>
        <p:txBody>
          <a:bodyPr wrap="none" rtlCol="0">
            <a:spAutoFit/>
          </a:bodyPr>
          <a:lstStyle/>
          <a:p>
            <a:r>
              <a:rPr lang="fr-FR" dirty="0"/>
              <a:t>Mesure T=0,5s</a:t>
            </a:r>
          </a:p>
        </p:txBody>
      </p:sp>
      <p:sp>
        <p:nvSpPr>
          <p:cNvPr id="15" name="ZoneTexte 14">
            <a:extLst>
              <a:ext uri="{FF2B5EF4-FFF2-40B4-BE49-F238E27FC236}">
                <a16:creationId xmlns:a16="http://schemas.microsoft.com/office/drawing/2014/main" id="{C78C4733-0407-77FA-371E-A207816EA59D}"/>
              </a:ext>
            </a:extLst>
          </p:cNvPr>
          <p:cNvSpPr txBox="1"/>
          <p:nvPr/>
        </p:nvSpPr>
        <p:spPr>
          <a:xfrm>
            <a:off x="8417284" y="5828467"/>
            <a:ext cx="1630639" cy="369332"/>
          </a:xfrm>
          <a:prstGeom prst="rect">
            <a:avLst/>
          </a:prstGeom>
          <a:noFill/>
        </p:spPr>
        <p:txBody>
          <a:bodyPr wrap="none" rtlCol="0">
            <a:spAutoFit/>
          </a:bodyPr>
          <a:lstStyle/>
          <a:p>
            <a:r>
              <a:rPr lang="fr-FR" dirty="0"/>
              <a:t>Mesure T=0,1s</a:t>
            </a:r>
          </a:p>
        </p:txBody>
      </p:sp>
      <p:graphicFrame>
        <p:nvGraphicFramePr>
          <p:cNvPr id="16" name="Tableau 15">
            <a:extLst>
              <a:ext uri="{FF2B5EF4-FFF2-40B4-BE49-F238E27FC236}">
                <a16:creationId xmlns:a16="http://schemas.microsoft.com/office/drawing/2014/main" id="{6C3D1255-0CB2-1135-7580-6BECF089B6FF}"/>
              </a:ext>
            </a:extLst>
          </p:cNvPr>
          <p:cNvGraphicFramePr>
            <a:graphicFrameLocks noGrp="1"/>
          </p:cNvGraphicFramePr>
          <p:nvPr>
            <p:extLst>
              <p:ext uri="{D42A27DB-BD31-4B8C-83A1-F6EECF244321}">
                <p14:modId xmlns:p14="http://schemas.microsoft.com/office/powerpoint/2010/main" val="500126237"/>
              </p:ext>
            </p:extLst>
          </p:nvPr>
        </p:nvGraphicFramePr>
        <p:xfrm>
          <a:off x="7481432" y="1933365"/>
          <a:ext cx="4340236" cy="1241436"/>
        </p:xfrm>
        <a:graphic>
          <a:graphicData uri="http://schemas.openxmlformats.org/drawingml/2006/table">
            <a:tbl>
              <a:tblPr>
                <a:tableStyleId>{5C22544A-7EE6-4342-B048-85BDC9FD1C3A}</a:tableStyleId>
              </a:tblPr>
              <a:tblGrid>
                <a:gridCol w="711514">
                  <a:extLst>
                    <a:ext uri="{9D8B030D-6E8A-4147-A177-3AD203B41FA5}">
                      <a16:colId xmlns:a16="http://schemas.microsoft.com/office/drawing/2014/main" val="901810906"/>
                    </a:ext>
                  </a:extLst>
                </a:gridCol>
                <a:gridCol w="1055413">
                  <a:extLst>
                    <a:ext uri="{9D8B030D-6E8A-4147-A177-3AD203B41FA5}">
                      <a16:colId xmlns:a16="http://schemas.microsoft.com/office/drawing/2014/main" val="2934284710"/>
                    </a:ext>
                  </a:extLst>
                </a:gridCol>
                <a:gridCol w="711514">
                  <a:extLst>
                    <a:ext uri="{9D8B030D-6E8A-4147-A177-3AD203B41FA5}">
                      <a16:colId xmlns:a16="http://schemas.microsoft.com/office/drawing/2014/main" val="2511754274"/>
                    </a:ext>
                  </a:extLst>
                </a:gridCol>
                <a:gridCol w="711514">
                  <a:extLst>
                    <a:ext uri="{9D8B030D-6E8A-4147-A177-3AD203B41FA5}">
                      <a16:colId xmlns:a16="http://schemas.microsoft.com/office/drawing/2014/main" val="3728534680"/>
                    </a:ext>
                  </a:extLst>
                </a:gridCol>
                <a:gridCol w="1150281">
                  <a:extLst>
                    <a:ext uri="{9D8B030D-6E8A-4147-A177-3AD203B41FA5}">
                      <a16:colId xmlns:a16="http://schemas.microsoft.com/office/drawing/2014/main" val="4043333193"/>
                    </a:ext>
                  </a:extLst>
                </a:gridCol>
              </a:tblGrid>
              <a:tr h="206906">
                <a:tc>
                  <a:txBody>
                    <a:bodyPr/>
                    <a:lstStyle/>
                    <a:p>
                      <a:pPr algn="l" fontAlgn="b">
                        <a:buNone/>
                      </a:pPr>
                      <a:r>
                        <a:rPr lang="fr-FR" sz="1100" u="none" strike="noStrike">
                          <a:effectLst/>
                        </a:rPr>
                        <a:t>Période (s)</a:t>
                      </a:r>
                      <a:endParaRPr lang="fr-FR"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fr-FR" sz="1100" u="none" strike="noStrike">
                          <a:effectLst/>
                        </a:rPr>
                        <a:t>Pulsation (rad/s)</a:t>
                      </a:r>
                      <a:endParaRPr lang="fr-FR"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fr-FR" sz="1100" u="none" strike="noStrike">
                          <a:effectLst/>
                        </a:rPr>
                        <a:t>Gain db</a:t>
                      </a:r>
                      <a:endParaRPr lang="fr-FR"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fr-FR" sz="1100" u="none" strike="noStrike">
                          <a:effectLst/>
                        </a:rPr>
                        <a:t>Retard (s)</a:t>
                      </a:r>
                      <a:endParaRPr lang="fr-FR"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fr-FR" sz="1100" u="none" strike="noStrike">
                          <a:effectLst/>
                        </a:rPr>
                        <a:t>Déphasage (deg)</a:t>
                      </a:r>
                      <a:endParaRPr lang="fr-FR"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016119803"/>
                  </a:ext>
                </a:extLst>
              </a:tr>
              <a:tr h="206906">
                <a:tc>
                  <a:txBody>
                    <a:bodyPr/>
                    <a:lstStyle/>
                    <a:p>
                      <a:pPr algn="r" fontAlgn="b">
                        <a:buNone/>
                      </a:pPr>
                      <a:r>
                        <a:rPr lang="fr-FR" sz="1100" u="none" strike="noStrike">
                          <a:effectLst/>
                        </a:rPr>
                        <a:t>10</a:t>
                      </a:r>
                      <a:endParaRPr lang="fr-FR"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fr-FR" sz="1100" u="none" strike="noStrike">
                          <a:effectLst/>
                        </a:rPr>
                        <a:t>0,63</a:t>
                      </a:r>
                      <a:endParaRPr lang="fr-FR"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fr-FR" sz="1100" u="none" strike="noStrike">
                          <a:effectLst/>
                        </a:rPr>
                        <a:t>-0,9</a:t>
                      </a:r>
                      <a:endParaRPr lang="fr-FR"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fr-FR" sz="1100" u="none" strike="noStrike">
                          <a:effectLst/>
                        </a:rPr>
                        <a:t>0,5</a:t>
                      </a:r>
                      <a:endParaRPr lang="fr-FR"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fr-FR" sz="1100" u="none" strike="noStrike">
                          <a:effectLst/>
                        </a:rPr>
                        <a:t>-18</a:t>
                      </a:r>
                      <a:endParaRPr lang="fr-FR"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114906640"/>
                  </a:ext>
                </a:extLst>
              </a:tr>
              <a:tr h="206906">
                <a:tc>
                  <a:txBody>
                    <a:bodyPr/>
                    <a:lstStyle/>
                    <a:p>
                      <a:pPr algn="r" fontAlgn="b">
                        <a:buNone/>
                      </a:pPr>
                      <a:r>
                        <a:rPr lang="fr-FR" sz="1100" u="none" strike="noStrike">
                          <a:effectLst/>
                        </a:rPr>
                        <a:t>5</a:t>
                      </a:r>
                      <a:endParaRPr lang="fr-FR"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fr-FR" sz="1100" u="none" strike="noStrike">
                          <a:effectLst/>
                        </a:rPr>
                        <a:t>1,3</a:t>
                      </a:r>
                      <a:endParaRPr lang="fr-FR"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fr-FR" sz="1100" u="none" strike="noStrike">
                          <a:effectLst/>
                        </a:rPr>
                        <a:t>-0,9</a:t>
                      </a:r>
                      <a:endParaRPr lang="fr-FR"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fr-FR" sz="1100" u="none" strike="noStrike">
                          <a:effectLst/>
                        </a:rPr>
                        <a:t>0,3</a:t>
                      </a:r>
                      <a:endParaRPr lang="fr-FR"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fr-FR" sz="1100" u="none" strike="noStrike">
                          <a:effectLst/>
                        </a:rPr>
                        <a:t>-21,6</a:t>
                      </a:r>
                      <a:endParaRPr lang="fr-FR"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830894843"/>
                  </a:ext>
                </a:extLst>
              </a:tr>
              <a:tr h="206906">
                <a:tc>
                  <a:txBody>
                    <a:bodyPr/>
                    <a:lstStyle/>
                    <a:p>
                      <a:pPr algn="r" fontAlgn="b">
                        <a:buNone/>
                      </a:pPr>
                      <a:r>
                        <a:rPr lang="fr-FR" sz="1100" u="none" strike="noStrike">
                          <a:effectLst/>
                        </a:rPr>
                        <a:t>1</a:t>
                      </a:r>
                      <a:endParaRPr lang="fr-FR"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fr-FR" sz="1100" u="none" strike="noStrike">
                          <a:effectLst/>
                        </a:rPr>
                        <a:t>6,3</a:t>
                      </a:r>
                      <a:endParaRPr lang="fr-FR"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fr-FR" sz="1100" u="none" strike="noStrike">
                          <a:effectLst/>
                        </a:rPr>
                        <a:t>-0,4</a:t>
                      </a:r>
                      <a:endParaRPr lang="fr-FR"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fr-FR" sz="1100" u="none" strike="noStrike">
                          <a:effectLst/>
                        </a:rPr>
                        <a:t>0,17</a:t>
                      </a:r>
                      <a:endParaRPr lang="fr-FR"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fr-FR" sz="1100" u="none" strike="noStrike">
                          <a:effectLst/>
                        </a:rPr>
                        <a:t>-61,2</a:t>
                      </a:r>
                      <a:endParaRPr lang="fr-FR"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737895418"/>
                  </a:ext>
                </a:extLst>
              </a:tr>
              <a:tr h="206906">
                <a:tc>
                  <a:txBody>
                    <a:bodyPr/>
                    <a:lstStyle/>
                    <a:p>
                      <a:pPr algn="r" fontAlgn="b">
                        <a:buNone/>
                      </a:pPr>
                      <a:r>
                        <a:rPr lang="fr-FR" sz="1100" u="none" strike="noStrike">
                          <a:effectLst/>
                        </a:rPr>
                        <a:t>0,5</a:t>
                      </a:r>
                      <a:endParaRPr lang="fr-FR"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fr-FR" sz="1100" u="none" strike="noStrike">
                          <a:effectLst/>
                        </a:rPr>
                        <a:t>12,4</a:t>
                      </a:r>
                      <a:endParaRPr lang="fr-FR"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fr-FR" sz="1100" u="none" strike="noStrike">
                          <a:effectLst/>
                        </a:rPr>
                        <a:t>-4,9</a:t>
                      </a:r>
                      <a:endParaRPr lang="fr-FR"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fr-FR" sz="1100" u="none" strike="noStrike">
                          <a:effectLst/>
                        </a:rPr>
                        <a:t>0,13</a:t>
                      </a:r>
                      <a:endParaRPr lang="fr-FR"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fr-FR" sz="1100" u="none" strike="noStrike">
                          <a:effectLst/>
                        </a:rPr>
                        <a:t>-93,6</a:t>
                      </a:r>
                      <a:endParaRPr lang="fr-FR"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37116977"/>
                  </a:ext>
                </a:extLst>
              </a:tr>
              <a:tr h="206906">
                <a:tc>
                  <a:txBody>
                    <a:bodyPr/>
                    <a:lstStyle/>
                    <a:p>
                      <a:pPr algn="r" fontAlgn="b">
                        <a:buNone/>
                      </a:pPr>
                      <a:r>
                        <a:rPr lang="fr-FR" sz="1100" u="none" strike="noStrike">
                          <a:effectLst/>
                        </a:rPr>
                        <a:t>0,1</a:t>
                      </a:r>
                      <a:endParaRPr lang="fr-FR"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fr-FR" sz="1100" u="none" strike="noStrike">
                          <a:effectLst/>
                        </a:rPr>
                        <a:t>63</a:t>
                      </a:r>
                      <a:endParaRPr lang="fr-FR"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fr-FR" sz="1100" u="none" strike="noStrike">
                          <a:effectLst/>
                        </a:rPr>
                        <a:t>-14</a:t>
                      </a:r>
                      <a:endParaRPr lang="fr-FR"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fr-FR" sz="1100" u="none" strike="noStrike">
                          <a:effectLst/>
                        </a:rPr>
                        <a:t>0,045</a:t>
                      </a:r>
                      <a:endParaRPr lang="fr-FR"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fr-FR" sz="1100" u="none" strike="noStrike" dirty="0">
                          <a:effectLst/>
                        </a:rPr>
                        <a:t>-162</a:t>
                      </a:r>
                      <a:endParaRPr lang="fr-FR"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548115743"/>
                  </a:ext>
                </a:extLst>
              </a:tr>
            </a:tbl>
          </a:graphicData>
        </a:graphic>
      </p:graphicFrame>
      <p:sp>
        <p:nvSpPr>
          <p:cNvPr id="18" name="ZoneTexte 17">
            <a:extLst>
              <a:ext uri="{FF2B5EF4-FFF2-40B4-BE49-F238E27FC236}">
                <a16:creationId xmlns:a16="http://schemas.microsoft.com/office/drawing/2014/main" id="{6E027E9C-46F1-492C-D799-FC24666962A2}"/>
              </a:ext>
            </a:extLst>
          </p:cNvPr>
          <p:cNvSpPr txBox="1"/>
          <p:nvPr/>
        </p:nvSpPr>
        <p:spPr>
          <a:xfrm>
            <a:off x="9199742" y="3213260"/>
            <a:ext cx="1922578" cy="369332"/>
          </a:xfrm>
          <a:prstGeom prst="rect">
            <a:avLst/>
          </a:prstGeom>
          <a:noFill/>
        </p:spPr>
        <p:txBody>
          <a:bodyPr wrap="none" rtlCol="0">
            <a:spAutoFit/>
          </a:bodyPr>
          <a:lstStyle/>
          <a:p>
            <a:r>
              <a:rPr lang="fr-FR" dirty="0"/>
              <a:t>Table de données</a:t>
            </a:r>
          </a:p>
        </p:txBody>
      </p:sp>
      <p:sp>
        <p:nvSpPr>
          <p:cNvPr id="19" name="Espace réservé de la date 18">
            <a:extLst>
              <a:ext uri="{FF2B5EF4-FFF2-40B4-BE49-F238E27FC236}">
                <a16:creationId xmlns:a16="http://schemas.microsoft.com/office/drawing/2014/main" id="{442B4A51-92C3-AFFF-1976-CC449D6699FB}"/>
              </a:ext>
            </a:extLst>
          </p:cNvPr>
          <p:cNvSpPr>
            <a:spLocks noGrp="1"/>
          </p:cNvSpPr>
          <p:nvPr>
            <p:ph type="dt" sz="half" idx="10"/>
          </p:nvPr>
        </p:nvSpPr>
        <p:spPr/>
        <p:txBody>
          <a:bodyPr/>
          <a:lstStyle/>
          <a:p>
            <a:r>
              <a:rPr lang="fr-FR"/>
              <a:t>10/03/2026</a:t>
            </a:r>
            <a:endParaRPr lang="fr-FR" dirty="0"/>
          </a:p>
        </p:txBody>
      </p:sp>
      <p:sp>
        <p:nvSpPr>
          <p:cNvPr id="3" name="ZoneTexte 2">
            <a:extLst>
              <a:ext uri="{FF2B5EF4-FFF2-40B4-BE49-F238E27FC236}">
                <a16:creationId xmlns:a16="http://schemas.microsoft.com/office/drawing/2014/main" id="{464F09FC-EDB3-FFE5-ADBA-E3C2E62BCBCD}"/>
              </a:ext>
            </a:extLst>
          </p:cNvPr>
          <p:cNvSpPr txBox="1"/>
          <p:nvPr/>
        </p:nvSpPr>
        <p:spPr>
          <a:xfrm rot="16200000">
            <a:off x="-294836" y="2346048"/>
            <a:ext cx="1288173" cy="369332"/>
          </a:xfrm>
          <a:prstGeom prst="rect">
            <a:avLst/>
          </a:prstGeom>
          <a:noFill/>
        </p:spPr>
        <p:txBody>
          <a:bodyPr wrap="none" rtlCol="0">
            <a:spAutoFit/>
          </a:bodyPr>
          <a:lstStyle/>
          <a:p>
            <a:r>
              <a:rPr lang="fr-FR" dirty="0"/>
              <a:t>Angle (</a:t>
            </a:r>
            <a:r>
              <a:rPr lang="fr-FR" dirty="0" err="1"/>
              <a:t>deg</a:t>
            </a:r>
            <a:r>
              <a:rPr lang="fr-FR" dirty="0"/>
              <a:t>)</a:t>
            </a:r>
          </a:p>
        </p:txBody>
      </p:sp>
      <p:sp>
        <p:nvSpPr>
          <p:cNvPr id="17" name="ZoneTexte 16">
            <a:extLst>
              <a:ext uri="{FF2B5EF4-FFF2-40B4-BE49-F238E27FC236}">
                <a16:creationId xmlns:a16="http://schemas.microsoft.com/office/drawing/2014/main" id="{5B1040D5-3FE6-2C62-BBB9-1514FEDFB5A6}"/>
              </a:ext>
            </a:extLst>
          </p:cNvPr>
          <p:cNvSpPr txBox="1"/>
          <p:nvPr/>
        </p:nvSpPr>
        <p:spPr>
          <a:xfrm rot="16200000">
            <a:off x="3303094" y="2292370"/>
            <a:ext cx="1288173" cy="369332"/>
          </a:xfrm>
          <a:prstGeom prst="rect">
            <a:avLst/>
          </a:prstGeom>
          <a:noFill/>
        </p:spPr>
        <p:txBody>
          <a:bodyPr wrap="none" rtlCol="0">
            <a:spAutoFit/>
          </a:bodyPr>
          <a:lstStyle/>
          <a:p>
            <a:r>
              <a:rPr lang="fr-FR" dirty="0"/>
              <a:t>Angle (</a:t>
            </a:r>
            <a:r>
              <a:rPr lang="fr-FR" dirty="0" err="1"/>
              <a:t>deg</a:t>
            </a:r>
            <a:r>
              <a:rPr lang="fr-FR" dirty="0"/>
              <a:t>)</a:t>
            </a:r>
          </a:p>
        </p:txBody>
      </p:sp>
      <p:sp>
        <p:nvSpPr>
          <p:cNvPr id="20" name="ZoneTexte 19">
            <a:extLst>
              <a:ext uri="{FF2B5EF4-FFF2-40B4-BE49-F238E27FC236}">
                <a16:creationId xmlns:a16="http://schemas.microsoft.com/office/drawing/2014/main" id="{8155BE87-0E5D-FE38-EC16-0CF52BAA228A}"/>
              </a:ext>
            </a:extLst>
          </p:cNvPr>
          <p:cNvSpPr txBox="1"/>
          <p:nvPr/>
        </p:nvSpPr>
        <p:spPr>
          <a:xfrm rot="16200000">
            <a:off x="-294837" y="4764619"/>
            <a:ext cx="1288173" cy="369332"/>
          </a:xfrm>
          <a:prstGeom prst="rect">
            <a:avLst/>
          </a:prstGeom>
          <a:noFill/>
        </p:spPr>
        <p:txBody>
          <a:bodyPr wrap="none" rtlCol="0">
            <a:spAutoFit/>
          </a:bodyPr>
          <a:lstStyle/>
          <a:p>
            <a:r>
              <a:rPr lang="fr-FR" dirty="0"/>
              <a:t>Angle (</a:t>
            </a:r>
            <a:r>
              <a:rPr lang="fr-FR" dirty="0" err="1"/>
              <a:t>deg</a:t>
            </a:r>
            <a:r>
              <a:rPr lang="fr-FR" dirty="0"/>
              <a:t>)</a:t>
            </a:r>
          </a:p>
        </p:txBody>
      </p:sp>
      <p:sp>
        <p:nvSpPr>
          <p:cNvPr id="21" name="ZoneTexte 20">
            <a:extLst>
              <a:ext uri="{FF2B5EF4-FFF2-40B4-BE49-F238E27FC236}">
                <a16:creationId xmlns:a16="http://schemas.microsoft.com/office/drawing/2014/main" id="{C4EA2B4B-F5A6-37E1-8B3D-08BA734FFCA2}"/>
              </a:ext>
            </a:extLst>
          </p:cNvPr>
          <p:cNvSpPr txBox="1"/>
          <p:nvPr/>
        </p:nvSpPr>
        <p:spPr>
          <a:xfrm rot="16200000">
            <a:off x="3303094" y="4781849"/>
            <a:ext cx="1288173" cy="369332"/>
          </a:xfrm>
          <a:prstGeom prst="rect">
            <a:avLst/>
          </a:prstGeom>
          <a:noFill/>
        </p:spPr>
        <p:txBody>
          <a:bodyPr wrap="none" rtlCol="0">
            <a:spAutoFit/>
          </a:bodyPr>
          <a:lstStyle/>
          <a:p>
            <a:r>
              <a:rPr lang="fr-FR" dirty="0"/>
              <a:t>Angle (</a:t>
            </a:r>
            <a:r>
              <a:rPr lang="fr-FR" dirty="0" err="1"/>
              <a:t>deg</a:t>
            </a:r>
            <a:r>
              <a:rPr lang="fr-FR" dirty="0"/>
              <a:t>)</a:t>
            </a:r>
          </a:p>
        </p:txBody>
      </p:sp>
      <p:sp>
        <p:nvSpPr>
          <p:cNvPr id="22" name="ZoneTexte 21">
            <a:extLst>
              <a:ext uri="{FF2B5EF4-FFF2-40B4-BE49-F238E27FC236}">
                <a16:creationId xmlns:a16="http://schemas.microsoft.com/office/drawing/2014/main" id="{9F8E7DED-C598-A7AA-BD3A-C5A2A1DD0A0B}"/>
              </a:ext>
            </a:extLst>
          </p:cNvPr>
          <p:cNvSpPr txBox="1"/>
          <p:nvPr/>
        </p:nvSpPr>
        <p:spPr>
          <a:xfrm rot="16200000">
            <a:off x="6888265" y="4687571"/>
            <a:ext cx="1288173" cy="369332"/>
          </a:xfrm>
          <a:prstGeom prst="rect">
            <a:avLst/>
          </a:prstGeom>
          <a:noFill/>
        </p:spPr>
        <p:txBody>
          <a:bodyPr wrap="none" rtlCol="0">
            <a:spAutoFit/>
          </a:bodyPr>
          <a:lstStyle/>
          <a:p>
            <a:r>
              <a:rPr lang="fr-FR" dirty="0"/>
              <a:t>Angle (</a:t>
            </a:r>
            <a:r>
              <a:rPr lang="fr-FR" dirty="0" err="1"/>
              <a:t>deg</a:t>
            </a:r>
            <a:r>
              <a:rPr lang="fr-FR" dirty="0"/>
              <a:t>)</a:t>
            </a:r>
          </a:p>
        </p:txBody>
      </p:sp>
    </p:spTree>
    <p:extLst>
      <p:ext uri="{BB962C8B-B14F-4D97-AF65-F5344CB8AC3E}">
        <p14:creationId xmlns:p14="http://schemas.microsoft.com/office/powerpoint/2010/main" val="20377855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87CFB-AED9-DBA0-F399-E28612C438D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C5BCDDE-9450-B350-E7EA-7E23F337A21E}"/>
              </a:ext>
            </a:extLst>
          </p:cNvPr>
          <p:cNvSpPr>
            <a:spLocks noGrp="1"/>
          </p:cNvSpPr>
          <p:nvPr>
            <p:ph type="title"/>
          </p:nvPr>
        </p:nvSpPr>
        <p:spPr/>
        <p:txBody>
          <a:bodyPr/>
          <a:lstStyle/>
          <a:p>
            <a:r>
              <a:rPr lang="fr-FR" dirty="0"/>
              <a:t>Activité expérimentale à mener par l’élève</a:t>
            </a:r>
          </a:p>
        </p:txBody>
      </p:sp>
      <p:sp>
        <p:nvSpPr>
          <p:cNvPr id="4" name="Espace réservé du pied de page 3">
            <a:extLst>
              <a:ext uri="{FF2B5EF4-FFF2-40B4-BE49-F238E27FC236}">
                <a16:creationId xmlns:a16="http://schemas.microsoft.com/office/drawing/2014/main" id="{F7C62148-E2FF-8576-64D9-9B3C1AEC18A0}"/>
              </a:ext>
            </a:extLst>
          </p:cNvPr>
          <p:cNvSpPr>
            <a:spLocks noGrp="1"/>
          </p:cNvSpPr>
          <p:nvPr>
            <p:ph type="ftr" sz="quarter" idx="11"/>
          </p:nvPr>
        </p:nvSpPr>
        <p:spPr/>
        <p:txBody>
          <a:bodyPr/>
          <a:lstStyle/>
          <a:p>
            <a:r>
              <a:rPr lang="fr-FR" dirty="0"/>
              <a:t>Epreuve d’exploitation pédagogique d’une activité pratique relative à l’approche globale d’un système </a:t>
            </a:r>
            <a:r>
              <a:rPr lang="fr-FR" dirty="0" err="1"/>
              <a:t>pluritechnique</a:t>
            </a:r>
            <a:endParaRPr lang="fr-FR" dirty="0"/>
          </a:p>
        </p:txBody>
      </p:sp>
      <p:sp>
        <p:nvSpPr>
          <p:cNvPr id="5" name="Espace réservé du numéro de diapositive 4">
            <a:extLst>
              <a:ext uri="{FF2B5EF4-FFF2-40B4-BE49-F238E27FC236}">
                <a16:creationId xmlns:a16="http://schemas.microsoft.com/office/drawing/2014/main" id="{793F577D-0C39-340D-6FBA-34794C8557BE}"/>
              </a:ext>
            </a:extLst>
          </p:cNvPr>
          <p:cNvSpPr>
            <a:spLocks noGrp="1"/>
          </p:cNvSpPr>
          <p:nvPr>
            <p:ph type="sldNum" sz="quarter" idx="12"/>
          </p:nvPr>
        </p:nvSpPr>
        <p:spPr/>
        <p:txBody>
          <a:bodyPr/>
          <a:lstStyle/>
          <a:p>
            <a:fld id="{3CA76ACC-A68C-4A5C-9615-B59A999884DC}" type="slidenum">
              <a:rPr lang="fr-FR" smtClean="0"/>
              <a:t>21</a:t>
            </a:fld>
            <a:endParaRPr lang="fr-FR"/>
          </a:p>
        </p:txBody>
      </p:sp>
      <p:sp>
        <p:nvSpPr>
          <p:cNvPr id="11" name="Espace réservé de la date 10">
            <a:extLst>
              <a:ext uri="{FF2B5EF4-FFF2-40B4-BE49-F238E27FC236}">
                <a16:creationId xmlns:a16="http://schemas.microsoft.com/office/drawing/2014/main" id="{D918382E-B75E-4C4C-25F4-8727A31EB7DF}"/>
              </a:ext>
            </a:extLst>
          </p:cNvPr>
          <p:cNvSpPr>
            <a:spLocks noGrp="1"/>
          </p:cNvSpPr>
          <p:nvPr>
            <p:ph type="dt" sz="half" idx="10"/>
          </p:nvPr>
        </p:nvSpPr>
        <p:spPr/>
        <p:txBody>
          <a:bodyPr/>
          <a:lstStyle/>
          <a:p>
            <a:r>
              <a:rPr lang="fr-FR"/>
              <a:t>10/03/2026</a:t>
            </a:r>
            <a:endParaRPr lang="fr-FR" dirty="0"/>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FCCA6787-6189-C49E-B8F7-188189362403}"/>
                  </a:ext>
                </a:extLst>
              </p:cNvPr>
              <p:cNvSpPr txBox="1"/>
              <p:nvPr/>
            </p:nvSpPr>
            <p:spPr>
              <a:xfrm>
                <a:off x="6370813" y="1439208"/>
                <a:ext cx="5436458" cy="5366405"/>
              </a:xfrm>
              <a:prstGeom prst="rect">
                <a:avLst/>
              </a:prstGeom>
              <a:noFill/>
              <a:ln>
                <a:noFill/>
              </a:ln>
            </p:spPr>
            <p:txBody>
              <a:bodyPr wrap="square" rtlCol="0">
                <a:spAutoFit/>
              </a:bodyPr>
              <a:lstStyle/>
              <a:p>
                <a:pPr marL="285750" indent="-285750">
                  <a:buFontTx/>
                  <a:buChar char="-"/>
                </a:pPr>
                <a:r>
                  <a:rPr lang="fr-FR" dirty="0"/>
                  <a:t>Pente d’environ -14db/</a:t>
                </a:r>
                <a:r>
                  <a:rPr lang="fr-FR" dirty="0" err="1"/>
                  <a:t>dec</a:t>
                </a:r>
                <a:r>
                  <a:rPr lang="fr-FR" dirty="0"/>
                  <a:t> : plus proche d’un système du 1</a:t>
                </a:r>
                <a:r>
                  <a:rPr lang="fr-FR" baseline="30000" dirty="0"/>
                  <a:t>er</a:t>
                </a:r>
                <a:r>
                  <a:rPr lang="fr-FR" dirty="0"/>
                  <a:t> ordre</a:t>
                </a:r>
              </a:p>
              <a:p>
                <a:pPr marL="285750" indent="-285750">
                  <a:buFontTx/>
                  <a:buChar char="-"/>
                </a:pPr>
                <a:r>
                  <a:rPr lang="fr-FR" dirty="0"/>
                  <a:t>K = 0,86, w0 = 8 rad/s -&gt; tau = 0,79s</a:t>
                </a:r>
              </a:p>
              <a:p>
                <a:pPr marL="285750" indent="-285750">
                  <a:buFontTx/>
                  <a:buChar char="-"/>
                </a:pPr>
                <a:r>
                  <a:rPr lang="fr-FR" dirty="0"/>
                  <a:t>Filtre passe-bas comportement intégrateur en hautes pulsations</a:t>
                </a:r>
              </a:p>
              <a:p>
                <a:pPr marL="285750" indent="-285750">
                  <a:buFontTx/>
                  <a:buChar char="-"/>
                </a:pPr>
                <a:r>
                  <a:rPr lang="fr-FR" dirty="0"/>
                  <a:t>Fonction de transfert : </a:t>
                </a:r>
                <a14:m>
                  <m:oMath xmlns:m="http://schemas.openxmlformats.org/officeDocument/2006/math">
                    <m:r>
                      <m:rPr>
                        <m:sty m:val="p"/>
                      </m:rPr>
                      <a:rPr lang="fr-FR" sz="2400" b="0" i="0" smtClean="0">
                        <a:latin typeface="Cambria Math" panose="02040503050406030204" pitchFamily="18" charset="0"/>
                      </a:rPr>
                      <m:t>H</m:t>
                    </m:r>
                    <m:r>
                      <a:rPr lang="fr-FR" sz="2400" b="0" i="0" smtClean="0">
                        <a:latin typeface="Cambria Math" panose="02040503050406030204" pitchFamily="18" charset="0"/>
                      </a:rPr>
                      <m:t>(</m:t>
                    </m:r>
                    <m:r>
                      <m:rPr>
                        <m:sty m:val="p"/>
                      </m:rPr>
                      <a:rPr lang="fr-FR" sz="2400" b="0" i="0" smtClean="0">
                        <a:latin typeface="Cambria Math" panose="02040503050406030204" pitchFamily="18" charset="0"/>
                      </a:rPr>
                      <m:t>p</m:t>
                    </m:r>
                    <m:r>
                      <a:rPr lang="fr-FR" sz="2400" b="0" i="0" smtClean="0">
                        <a:latin typeface="Cambria Math" panose="02040503050406030204" pitchFamily="18" charset="0"/>
                      </a:rPr>
                      <m:t>)=</m:t>
                    </m:r>
                    <m:f>
                      <m:fPr>
                        <m:ctrlPr>
                          <a:rPr lang="fr-FR" sz="2400" i="1" smtClean="0">
                            <a:latin typeface="Cambria Math" panose="02040503050406030204" pitchFamily="18" charset="0"/>
                          </a:rPr>
                        </m:ctrlPr>
                      </m:fPr>
                      <m:num>
                        <m:r>
                          <a:rPr lang="fr-FR" sz="2400" b="0" i="1" smtClean="0">
                            <a:latin typeface="Cambria Math" panose="02040503050406030204" pitchFamily="18" charset="0"/>
                          </a:rPr>
                          <m:t>𝐾</m:t>
                        </m:r>
                      </m:num>
                      <m:den>
                        <m:r>
                          <a:rPr lang="fr-FR" sz="2400" b="0" i="1" smtClean="0">
                            <a:latin typeface="Cambria Math" panose="02040503050406030204" pitchFamily="18" charset="0"/>
                          </a:rPr>
                          <m:t>1+ </m:t>
                        </m:r>
                        <m:r>
                          <a:rPr lang="fr-FR" sz="2400" b="0" i="1" smtClean="0">
                            <a:latin typeface="Cambria Math" panose="02040503050406030204" pitchFamily="18" charset="0"/>
                            <a:ea typeface="Cambria Math" panose="02040503050406030204" pitchFamily="18" charset="0"/>
                          </a:rPr>
                          <m:t>𝜏</m:t>
                        </m:r>
                        <m:r>
                          <a:rPr lang="fr-FR" sz="2400" b="0" i="1" smtClean="0">
                            <a:latin typeface="Cambria Math" panose="02040503050406030204" pitchFamily="18" charset="0"/>
                            <a:ea typeface="Cambria Math" panose="02040503050406030204" pitchFamily="18" charset="0"/>
                          </a:rPr>
                          <m:t>𝑝</m:t>
                        </m:r>
                      </m:den>
                    </m:f>
                  </m:oMath>
                </a14:m>
                <a:endParaRPr lang="fr-FR" dirty="0"/>
              </a:p>
              <a:p>
                <a:pPr marL="285750" indent="-285750">
                  <a:buFontTx/>
                  <a:buChar char="-"/>
                </a:pPr>
                <a:endParaRPr lang="fr-FR" dirty="0"/>
              </a:p>
              <a:p>
                <a:pPr marL="285750" indent="-285750">
                  <a:buFontTx/>
                  <a:buChar char="-"/>
                </a:pPr>
                <a:r>
                  <a:rPr lang="fr-FR" dirty="0"/>
                  <a:t>Etudes des asymptotes en BF et HF</a:t>
                </a:r>
              </a:p>
              <a:p>
                <a:pPr marL="285750" indent="-285750">
                  <a:buFontTx/>
                  <a:buChar char="-"/>
                </a:pPr>
                <a:endParaRPr lang="fr-FR" dirty="0"/>
              </a:p>
              <a:p>
                <a:pPr marL="285750" indent="-285750">
                  <a:buFontTx/>
                  <a:buChar char="-"/>
                </a:pPr>
                <a:r>
                  <a:rPr lang="fr-FR" dirty="0"/>
                  <a:t>Hypothèse : peut être est-ce un système du second ordre très amorti, avec un </a:t>
                </a:r>
                <a:r>
                  <a:rPr lang="fr-FR" b="1" dirty="0"/>
                  <a:t>pôle dominant</a:t>
                </a:r>
                <a:r>
                  <a:rPr lang="fr-FR" dirty="0"/>
                  <a:t> qui donne un comportement proche d’un premier ordre.</a:t>
                </a:r>
              </a:p>
              <a:p>
                <a:pPr marL="285750" indent="-285750">
                  <a:buFontTx/>
                  <a:buChar char="-"/>
                </a:pPr>
                <a:r>
                  <a:rPr lang="fr-FR" b="1" dirty="0"/>
                  <a:t>Quelle influence pour le comportement de la cheville NAO et la validité du cahier des charges ?</a:t>
                </a:r>
              </a:p>
              <a:p>
                <a:pPr marL="285750" indent="-285750">
                  <a:buFontTx/>
                  <a:buChar char="-"/>
                </a:pPr>
                <a:endParaRPr lang="fr-FR" dirty="0"/>
              </a:p>
              <a:p>
                <a:pPr marL="742950" lvl="1" indent="-285750">
                  <a:buFontTx/>
                  <a:buChar char="-"/>
                </a:pPr>
                <a:endParaRPr lang="fr-FR" dirty="0"/>
              </a:p>
            </p:txBody>
          </p:sp>
        </mc:Choice>
        <mc:Fallback xmlns="">
          <p:sp>
            <p:nvSpPr>
              <p:cNvPr id="3" name="ZoneTexte 2">
                <a:extLst>
                  <a:ext uri="{FF2B5EF4-FFF2-40B4-BE49-F238E27FC236}">
                    <a16:creationId xmlns:a16="http://schemas.microsoft.com/office/drawing/2014/main" id="{FCCA6787-6189-C49E-B8F7-188189362403}"/>
                  </a:ext>
                </a:extLst>
              </p:cNvPr>
              <p:cNvSpPr txBox="1">
                <a:spLocks noRot="1" noChangeAspect="1" noMove="1" noResize="1" noEditPoints="1" noAdjustHandles="1" noChangeArrowheads="1" noChangeShapeType="1" noTextEdit="1"/>
              </p:cNvSpPr>
              <p:nvPr/>
            </p:nvSpPr>
            <p:spPr>
              <a:xfrm>
                <a:off x="6370813" y="1439208"/>
                <a:ext cx="5436458" cy="5366405"/>
              </a:xfrm>
              <a:prstGeom prst="rect">
                <a:avLst/>
              </a:prstGeom>
              <a:blipFill>
                <a:blip r:embed="rId3"/>
                <a:stretch>
                  <a:fillRect l="-1009" t="-682" r="-1570"/>
                </a:stretch>
              </a:blipFill>
              <a:ln>
                <a:noFill/>
              </a:ln>
            </p:spPr>
            <p:txBody>
              <a:bodyPr/>
              <a:lstStyle/>
              <a:p>
                <a:r>
                  <a:rPr lang="fr-FR">
                    <a:noFill/>
                  </a:rPr>
                  <a:t> </a:t>
                </a:r>
              </a:p>
            </p:txBody>
          </p:sp>
        </mc:Fallback>
      </mc:AlternateContent>
      <p:grpSp>
        <p:nvGrpSpPr>
          <p:cNvPr id="25" name="Groupe 24">
            <a:extLst>
              <a:ext uri="{FF2B5EF4-FFF2-40B4-BE49-F238E27FC236}">
                <a16:creationId xmlns:a16="http://schemas.microsoft.com/office/drawing/2014/main" id="{DFBFA5AE-6A43-0FDA-4953-2F3A5E3585BC}"/>
              </a:ext>
            </a:extLst>
          </p:cNvPr>
          <p:cNvGrpSpPr/>
          <p:nvPr/>
        </p:nvGrpSpPr>
        <p:grpSpPr>
          <a:xfrm>
            <a:off x="502920" y="1453896"/>
            <a:ext cx="5797519" cy="4166319"/>
            <a:chOff x="502920" y="1453896"/>
            <a:chExt cx="5248656" cy="3538728"/>
          </a:xfrm>
        </p:grpSpPr>
        <p:graphicFrame>
          <p:nvGraphicFramePr>
            <p:cNvPr id="6" name="Graphique 5">
              <a:extLst>
                <a:ext uri="{FF2B5EF4-FFF2-40B4-BE49-F238E27FC236}">
                  <a16:creationId xmlns:a16="http://schemas.microsoft.com/office/drawing/2014/main" id="{F7A368AB-94AE-2B53-A257-1D86B20C03C5}"/>
                </a:ext>
              </a:extLst>
            </p:cNvPr>
            <p:cNvGraphicFramePr>
              <a:graphicFrameLocks/>
            </p:cNvGraphicFramePr>
            <p:nvPr>
              <p:extLst>
                <p:ext uri="{D42A27DB-BD31-4B8C-83A1-F6EECF244321}">
                  <p14:modId xmlns:p14="http://schemas.microsoft.com/office/powerpoint/2010/main" val="709322203"/>
                </p:ext>
              </p:extLst>
            </p:nvPr>
          </p:nvGraphicFramePr>
          <p:xfrm>
            <a:off x="502920" y="1453896"/>
            <a:ext cx="5248656" cy="3538728"/>
          </p:xfrm>
          <a:graphic>
            <a:graphicData uri="http://schemas.openxmlformats.org/drawingml/2006/chart">
              <c:chart xmlns:c="http://schemas.openxmlformats.org/drawingml/2006/chart" xmlns:r="http://schemas.openxmlformats.org/officeDocument/2006/relationships" r:id="rId4"/>
            </a:graphicData>
          </a:graphic>
        </p:graphicFrame>
        <p:cxnSp>
          <p:nvCxnSpPr>
            <p:cNvPr id="7" name="Connecteur droit 6">
              <a:extLst>
                <a:ext uri="{FF2B5EF4-FFF2-40B4-BE49-F238E27FC236}">
                  <a16:creationId xmlns:a16="http://schemas.microsoft.com/office/drawing/2014/main" id="{48BC0277-CCA1-BA81-0371-B60DBE8E0603}"/>
                </a:ext>
              </a:extLst>
            </p:cNvPr>
            <p:cNvCxnSpPr>
              <a:cxnSpLocks/>
            </p:cNvCxnSpPr>
            <p:nvPr/>
          </p:nvCxnSpPr>
          <p:spPr>
            <a:xfrm flipH="1" flipV="1">
              <a:off x="3581400" y="2062909"/>
              <a:ext cx="1819972" cy="2557494"/>
            </a:xfrm>
            <a:prstGeom prst="line">
              <a:avLst/>
            </a:prstGeom>
            <a:ln>
              <a:prstDash val="dash"/>
            </a:ln>
          </p:spPr>
          <p:style>
            <a:lnRef idx="2">
              <a:schemeClr val="accent2"/>
            </a:lnRef>
            <a:fillRef idx="0">
              <a:schemeClr val="accent2"/>
            </a:fillRef>
            <a:effectRef idx="1">
              <a:schemeClr val="accent2"/>
            </a:effectRef>
            <a:fontRef idx="minor">
              <a:schemeClr val="tx1"/>
            </a:fontRef>
          </p:style>
        </p:cxnSp>
        <p:cxnSp>
          <p:nvCxnSpPr>
            <p:cNvPr id="12" name="Connecteur droit 11">
              <a:extLst>
                <a:ext uri="{FF2B5EF4-FFF2-40B4-BE49-F238E27FC236}">
                  <a16:creationId xmlns:a16="http://schemas.microsoft.com/office/drawing/2014/main" id="{1D958BEC-9703-E1B5-C298-670B08E32089}"/>
                </a:ext>
              </a:extLst>
            </p:cNvPr>
            <p:cNvCxnSpPr>
              <a:cxnSpLocks/>
            </p:cNvCxnSpPr>
            <p:nvPr/>
          </p:nvCxnSpPr>
          <p:spPr>
            <a:xfrm flipH="1">
              <a:off x="1728439" y="2043966"/>
              <a:ext cx="1852961" cy="0"/>
            </a:xfrm>
            <a:prstGeom prst="line">
              <a:avLst/>
            </a:prstGeom>
            <a:ln>
              <a:prstDash val="dash"/>
            </a:ln>
          </p:spPr>
          <p:style>
            <a:lnRef idx="2">
              <a:schemeClr val="accent2"/>
            </a:lnRef>
            <a:fillRef idx="0">
              <a:schemeClr val="accent2"/>
            </a:fillRef>
            <a:effectRef idx="1">
              <a:schemeClr val="accent2"/>
            </a:effectRef>
            <a:fontRef idx="minor">
              <a:schemeClr val="tx1"/>
            </a:fontRef>
          </p:style>
        </p:cxnSp>
        <p:sp>
          <p:nvSpPr>
            <p:cNvPr id="17" name="ZoneTexte 16">
              <a:extLst>
                <a:ext uri="{FF2B5EF4-FFF2-40B4-BE49-F238E27FC236}">
                  <a16:creationId xmlns:a16="http://schemas.microsoft.com/office/drawing/2014/main" id="{75DBB4F0-13BE-CBA6-FD83-44FD9E124299}"/>
                </a:ext>
              </a:extLst>
            </p:cNvPr>
            <p:cNvSpPr txBox="1"/>
            <p:nvPr/>
          </p:nvSpPr>
          <p:spPr>
            <a:xfrm>
              <a:off x="1064420" y="2293115"/>
              <a:ext cx="890611" cy="307777"/>
            </a:xfrm>
            <a:prstGeom prst="rect">
              <a:avLst/>
            </a:prstGeom>
            <a:solidFill>
              <a:schemeClr val="bg1"/>
            </a:solidFill>
            <a:ln>
              <a:solidFill>
                <a:schemeClr val="accent1"/>
              </a:solidFill>
            </a:ln>
          </p:spPr>
          <p:txBody>
            <a:bodyPr wrap="square" rtlCol="0">
              <a:spAutoFit/>
            </a:bodyPr>
            <a:lstStyle/>
            <a:p>
              <a:r>
                <a:rPr lang="fr-FR" sz="1400" dirty="0"/>
                <a:t>20log(K)</a:t>
              </a:r>
            </a:p>
          </p:txBody>
        </p:sp>
        <p:sp>
          <p:nvSpPr>
            <p:cNvPr id="18" name="ZoneTexte 17">
              <a:extLst>
                <a:ext uri="{FF2B5EF4-FFF2-40B4-BE49-F238E27FC236}">
                  <a16:creationId xmlns:a16="http://schemas.microsoft.com/office/drawing/2014/main" id="{55A68C7D-0D42-76D2-EE9C-0CF35FC3EB29}"/>
                </a:ext>
              </a:extLst>
            </p:cNvPr>
            <p:cNvSpPr txBox="1"/>
            <p:nvPr/>
          </p:nvSpPr>
          <p:spPr>
            <a:xfrm>
              <a:off x="3231196" y="2491488"/>
              <a:ext cx="448706" cy="307777"/>
            </a:xfrm>
            <a:prstGeom prst="rect">
              <a:avLst/>
            </a:prstGeom>
            <a:solidFill>
              <a:schemeClr val="bg1"/>
            </a:solidFill>
            <a:ln>
              <a:solidFill>
                <a:schemeClr val="accent1"/>
              </a:solidFill>
            </a:ln>
          </p:spPr>
          <p:txBody>
            <a:bodyPr wrap="square" rtlCol="0">
              <a:spAutoFit/>
            </a:bodyPr>
            <a:lstStyle/>
            <a:p>
              <a:pPr algn="ctr"/>
              <a:r>
                <a:rPr lang="fr-FR" sz="1400" dirty="0"/>
                <a:t>w0</a:t>
              </a:r>
            </a:p>
          </p:txBody>
        </p:sp>
        <p:cxnSp>
          <p:nvCxnSpPr>
            <p:cNvPr id="20" name="Connecteur droit avec flèche 19">
              <a:extLst>
                <a:ext uri="{FF2B5EF4-FFF2-40B4-BE49-F238E27FC236}">
                  <a16:creationId xmlns:a16="http://schemas.microsoft.com/office/drawing/2014/main" id="{8EC9F658-40EF-795E-02FD-5E015FCCD44A}"/>
                </a:ext>
              </a:extLst>
            </p:cNvPr>
            <p:cNvCxnSpPr>
              <a:cxnSpLocks/>
              <a:stCxn id="18" idx="0"/>
            </p:cNvCxnSpPr>
            <p:nvPr/>
          </p:nvCxnSpPr>
          <p:spPr>
            <a:xfrm flipV="1">
              <a:off x="3455549" y="2062908"/>
              <a:ext cx="125851" cy="4285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Connecteur droit avec flèche 22">
              <a:extLst>
                <a:ext uri="{FF2B5EF4-FFF2-40B4-BE49-F238E27FC236}">
                  <a16:creationId xmlns:a16="http://schemas.microsoft.com/office/drawing/2014/main" id="{6ED64360-3710-7F5B-9D52-6376B2C3242A}"/>
                </a:ext>
              </a:extLst>
            </p:cNvPr>
            <p:cNvCxnSpPr>
              <a:cxnSpLocks/>
              <a:stCxn id="17" idx="0"/>
            </p:cNvCxnSpPr>
            <p:nvPr/>
          </p:nvCxnSpPr>
          <p:spPr>
            <a:xfrm flipV="1">
              <a:off x="1509726" y="2045491"/>
              <a:ext cx="431631" cy="2476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1899429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3639E-1B46-4F86-35AC-18592F9E025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971A8BC-A93B-A009-778E-8BCB2350D270}"/>
              </a:ext>
            </a:extLst>
          </p:cNvPr>
          <p:cNvSpPr>
            <a:spLocks noGrp="1"/>
          </p:cNvSpPr>
          <p:nvPr>
            <p:ph type="title"/>
          </p:nvPr>
        </p:nvSpPr>
        <p:spPr/>
        <p:txBody>
          <a:bodyPr/>
          <a:lstStyle/>
          <a:p>
            <a:r>
              <a:rPr lang="fr-FR" dirty="0"/>
              <a:t>Activité expérimentale à mener par l’élève</a:t>
            </a:r>
          </a:p>
        </p:txBody>
      </p:sp>
      <p:sp>
        <p:nvSpPr>
          <p:cNvPr id="4" name="Espace réservé du pied de page 3">
            <a:extLst>
              <a:ext uri="{FF2B5EF4-FFF2-40B4-BE49-F238E27FC236}">
                <a16:creationId xmlns:a16="http://schemas.microsoft.com/office/drawing/2014/main" id="{15192903-7635-B970-6277-EDB87E8A05E9}"/>
              </a:ext>
            </a:extLst>
          </p:cNvPr>
          <p:cNvSpPr>
            <a:spLocks noGrp="1"/>
          </p:cNvSpPr>
          <p:nvPr>
            <p:ph type="ftr" sz="quarter" idx="11"/>
          </p:nvPr>
        </p:nvSpPr>
        <p:spPr/>
        <p:txBody>
          <a:bodyPr/>
          <a:lstStyle/>
          <a:p>
            <a:r>
              <a:rPr lang="fr-FR" dirty="0"/>
              <a:t>Epreuve d’exploitation pédagogique d’une activité pratique relative à l’approche globale d’un système </a:t>
            </a:r>
            <a:r>
              <a:rPr lang="fr-FR" dirty="0" err="1"/>
              <a:t>pluritechnique</a:t>
            </a:r>
            <a:endParaRPr lang="fr-FR" dirty="0"/>
          </a:p>
        </p:txBody>
      </p:sp>
      <p:sp>
        <p:nvSpPr>
          <p:cNvPr id="5" name="Espace réservé du numéro de diapositive 4">
            <a:extLst>
              <a:ext uri="{FF2B5EF4-FFF2-40B4-BE49-F238E27FC236}">
                <a16:creationId xmlns:a16="http://schemas.microsoft.com/office/drawing/2014/main" id="{3589B629-4C2B-91A5-DA7D-1B433E7896BD}"/>
              </a:ext>
            </a:extLst>
          </p:cNvPr>
          <p:cNvSpPr>
            <a:spLocks noGrp="1"/>
          </p:cNvSpPr>
          <p:nvPr>
            <p:ph type="sldNum" sz="quarter" idx="12"/>
          </p:nvPr>
        </p:nvSpPr>
        <p:spPr/>
        <p:txBody>
          <a:bodyPr/>
          <a:lstStyle/>
          <a:p>
            <a:fld id="{3CA76ACC-A68C-4A5C-9615-B59A999884DC}" type="slidenum">
              <a:rPr lang="fr-FR" smtClean="0"/>
              <a:t>22</a:t>
            </a:fld>
            <a:endParaRPr lang="fr-FR"/>
          </a:p>
        </p:txBody>
      </p:sp>
      <p:graphicFrame>
        <p:nvGraphicFramePr>
          <p:cNvPr id="9" name="Graphique 8">
            <a:extLst>
              <a:ext uri="{FF2B5EF4-FFF2-40B4-BE49-F238E27FC236}">
                <a16:creationId xmlns:a16="http://schemas.microsoft.com/office/drawing/2014/main" id="{E91B1536-D6BF-4554-8B61-4A329F54B955}"/>
              </a:ext>
            </a:extLst>
          </p:cNvPr>
          <p:cNvGraphicFramePr>
            <a:graphicFrameLocks/>
          </p:cNvGraphicFramePr>
          <p:nvPr>
            <p:extLst>
              <p:ext uri="{D42A27DB-BD31-4B8C-83A1-F6EECF244321}">
                <p14:modId xmlns:p14="http://schemas.microsoft.com/office/powerpoint/2010/main" val="2011477772"/>
              </p:ext>
            </p:extLst>
          </p:nvPr>
        </p:nvGraphicFramePr>
        <p:xfrm>
          <a:off x="427101" y="1501521"/>
          <a:ext cx="5812155" cy="3538728"/>
        </p:xfrm>
        <a:graphic>
          <a:graphicData uri="http://schemas.openxmlformats.org/drawingml/2006/chart">
            <c:chart xmlns:c="http://schemas.openxmlformats.org/drawingml/2006/chart" xmlns:r="http://schemas.openxmlformats.org/officeDocument/2006/relationships" r:id="rId3"/>
          </a:graphicData>
        </a:graphic>
      </p:graphicFrame>
      <p:sp>
        <p:nvSpPr>
          <p:cNvPr id="11" name="Espace réservé de la date 10">
            <a:extLst>
              <a:ext uri="{FF2B5EF4-FFF2-40B4-BE49-F238E27FC236}">
                <a16:creationId xmlns:a16="http://schemas.microsoft.com/office/drawing/2014/main" id="{4AAEFA27-B641-4BB6-5689-B01FAD861A11}"/>
              </a:ext>
            </a:extLst>
          </p:cNvPr>
          <p:cNvSpPr>
            <a:spLocks noGrp="1"/>
          </p:cNvSpPr>
          <p:nvPr>
            <p:ph type="dt" sz="half" idx="10"/>
          </p:nvPr>
        </p:nvSpPr>
        <p:spPr/>
        <p:txBody>
          <a:bodyPr/>
          <a:lstStyle/>
          <a:p>
            <a:r>
              <a:rPr lang="fr-FR"/>
              <a:t>10/03/2026</a:t>
            </a:r>
            <a:endParaRPr lang="fr-FR" dirty="0"/>
          </a:p>
        </p:txBody>
      </p:sp>
      <p:sp>
        <p:nvSpPr>
          <p:cNvPr id="13" name="Forme libre : forme 12">
            <a:extLst>
              <a:ext uri="{FF2B5EF4-FFF2-40B4-BE49-F238E27FC236}">
                <a16:creationId xmlns:a16="http://schemas.microsoft.com/office/drawing/2014/main" id="{60F45F63-FA98-8849-C901-67CC54AF57C9}"/>
              </a:ext>
            </a:extLst>
          </p:cNvPr>
          <p:cNvSpPr/>
          <p:nvPr/>
        </p:nvSpPr>
        <p:spPr>
          <a:xfrm>
            <a:off x="781050" y="2047875"/>
            <a:ext cx="5231400" cy="2515658"/>
          </a:xfrm>
          <a:custGeom>
            <a:avLst/>
            <a:gdLst>
              <a:gd name="csX0" fmla="*/ 0 w 5231400"/>
              <a:gd name="csY0" fmla="*/ 0 h 2515658"/>
              <a:gd name="csX1" fmla="*/ 1009650 w 5231400"/>
              <a:gd name="csY1" fmla="*/ 9525 h 2515658"/>
              <a:gd name="csX2" fmla="*/ 1724025 w 5231400"/>
              <a:gd name="csY2" fmla="*/ 76200 h 2515658"/>
              <a:gd name="csX3" fmla="*/ 2238375 w 5231400"/>
              <a:gd name="csY3" fmla="*/ 276225 h 2515658"/>
              <a:gd name="csX4" fmla="*/ 2647950 w 5231400"/>
              <a:gd name="csY4" fmla="*/ 619125 h 2515658"/>
              <a:gd name="csX5" fmla="*/ 3067050 w 5231400"/>
              <a:gd name="csY5" fmla="*/ 1028700 h 2515658"/>
              <a:gd name="csX6" fmla="*/ 3314700 w 5231400"/>
              <a:gd name="csY6" fmla="*/ 1524000 h 2515658"/>
              <a:gd name="csX7" fmla="*/ 3724275 w 5231400"/>
              <a:gd name="csY7" fmla="*/ 1990725 h 2515658"/>
              <a:gd name="csX8" fmla="*/ 4067175 w 5231400"/>
              <a:gd name="csY8" fmla="*/ 2257425 h 2515658"/>
              <a:gd name="csX9" fmla="*/ 4733925 w 5231400"/>
              <a:gd name="csY9" fmla="*/ 2438400 h 2515658"/>
              <a:gd name="csX10" fmla="*/ 5181600 w 5231400"/>
              <a:gd name="csY10" fmla="*/ 2505075 h 2515658"/>
              <a:gd name="csX11" fmla="*/ 5200650 w 5231400"/>
              <a:gd name="csY11" fmla="*/ 2514600 h 25156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231400" h="2515658">
                <a:moveTo>
                  <a:pt x="0" y="0"/>
                </a:moveTo>
                <a:lnTo>
                  <a:pt x="1009650" y="9525"/>
                </a:lnTo>
                <a:cubicBezTo>
                  <a:pt x="1296988" y="22225"/>
                  <a:pt x="1519238" y="31750"/>
                  <a:pt x="1724025" y="76200"/>
                </a:cubicBezTo>
                <a:cubicBezTo>
                  <a:pt x="1928813" y="120650"/>
                  <a:pt x="2084388" y="185738"/>
                  <a:pt x="2238375" y="276225"/>
                </a:cubicBezTo>
                <a:cubicBezTo>
                  <a:pt x="2392362" y="366712"/>
                  <a:pt x="2509838" y="493713"/>
                  <a:pt x="2647950" y="619125"/>
                </a:cubicBezTo>
                <a:cubicBezTo>
                  <a:pt x="2786062" y="744537"/>
                  <a:pt x="2955925" y="877887"/>
                  <a:pt x="3067050" y="1028700"/>
                </a:cubicBezTo>
                <a:cubicBezTo>
                  <a:pt x="3178175" y="1179513"/>
                  <a:pt x="3205163" y="1363663"/>
                  <a:pt x="3314700" y="1524000"/>
                </a:cubicBezTo>
                <a:cubicBezTo>
                  <a:pt x="3424237" y="1684337"/>
                  <a:pt x="3598862" y="1868487"/>
                  <a:pt x="3724275" y="1990725"/>
                </a:cubicBezTo>
                <a:cubicBezTo>
                  <a:pt x="3849688" y="2112963"/>
                  <a:pt x="3898900" y="2182812"/>
                  <a:pt x="4067175" y="2257425"/>
                </a:cubicBezTo>
                <a:cubicBezTo>
                  <a:pt x="4235450" y="2332038"/>
                  <a:pt x="4548188" y="2397125"/>
                  <a:pt x="4733925" y="2438400"/>
                </a:cubicBezTo>
                <a:cubicBezTo>
                  <a:pt x="4919662" y="2479675"/>
                  <a:pt x="5103813" y="2492375"/>
                  <a:pt x="5181600" y="2505075"/>
                </a:cubicBezTo>
                <a:cubicBezTo>
                  <a:pt x="5259388" y="2517775"/>
                  <a:pt x="5230019" y="2516187"/>
                  <a:pt x="5200650" y="2514600"/>
                </a:cubicBezTo>
              </a:path>
            </a:pathLst>
          </a:custGeom>
          <a:ln w="28575">
            <a:solidFill>
              <a:srgbClr val="FFC000"/>
            </a:solidFill>
            <a:prstDash val="dash"/>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fr-FR">
              <a:solidFill>
                <a:schemeClr val="tx1"/>
              </a:solidFill>
            </a:endParaRPr>
          </a:p>
        </p:txBody>
      </p:sp>
      <p:sp>
        <p:nvSpPr>
          <p:cNvPr id="14" name="ZoneTexte 13">
            <a:extLst>
              <a:ext uri="{FF2B5EF4-FFF2-40B4-BE49-F238E27FC236}">
                <a16:creationId xmlns:a16="http://schemas.microsoft.com/office/drawing/2014/main" id="{A3023AF9-5693-9343-7571-6A2682AC8228}"/>
              </a:ext>
            </a:extLst>
          </p:cNvPr>
          <p:cNvSpPr txBox="1"/>
          <p:nvPr/>
        </p:nvSpPr>
        <p:spPr>
          <a:xfrm>
            <a:off x="6483407" y="1370403"/>
            <a:ext cx="5569644" cy="5078313"/>
          </a:xfrm>
          <a:prstGeom prst="rect">
            <a:avLst/>
          </a:prstGeom>
          <a:noFill/>
          <a:ln>
            <a:noFill/>
          </a:ln>
        </p:spPr>
        <p:txBody>
          <a:bodyPr wrap="square" rtlCol="0">
            <a:spAutoFit/>
          </a:bodyPr>
          <a:lstStyle/>
          <a:p>
            <a:pPr marL="285750" indent="-285750">
              <a:buFontTx/>
              <a:buChar char="-"/>
            </a:pPr>
            <a:r>
              <a:rPr lang="fr-FR" dirty="0"/>
              <a:t>Déphasage semblent être de 0 à –</a:t>
            </a:r>
            <a:r>
              <a:rPr lang="el-GR" dirty="0"/>
              <a:t>π</a:t>
            </a:r>
            <a:r>
              <a:rPr lang="fr-FR" dirty="0"/>
              <a:t> typique du système du second ordre..</a:t>
            </a:r>
          </a:p>
          <a:p>
            <a:pPr marL="285750" indent="-285750">
              <a:buFontTx/>
              <a:buChar char="-"/>
            </a:pPr>
            <a:r>
              <a:rPr lang="fr-FR" dirty="0"/>
              <a:t>w0 = 11 rad/s -&gt; tau = 0,57s</a:t>
            </a:r>
          </a:p>
          <a:p>
            <a:endParaRPr lang="fr-FR" dirty="0"/>
          </a:p>
          <a:p>
            <a:r>
              <a:rPr lang="fr-FR" b="1" dirty="0"/>
              <a:t>Limites expérimentales observées</a:t>
            </a:r>
            <a:endParaRPr lang="fr-FR" dirty="0"/>
          </a:p>
          <a:p>
            <a:pPr marL="285750" indent="-285750">
              <a:buFontTx/>
              <a:buChar char="-"/>
            </a:pPr>
            <a:r>
              <a:rPr lang="fr-FR" dirty="0"/>
              <a:t>La mesure de plus haute fréquence (rouge) est peut être erronée ce qui fait tendre vers –</a:t>
            </a:r>
            <a:r>
              <a:rPr lang="el-GR" dirty="0"/>
              <a:t> π</a:t>
            </a:r>
            <a:r>
              <a:rPr lang="fr-FR" dirty="0"/>
              <a:t> (asymptote jaune), au lieu de tendre vers –</a:t>
            </a:r>
            <a:r>
              <a:rPr lang="el-GR" dirty="0"/>
              <a:t>π</a:t>
            </a:r>
            <a:r>
              <a:rPr lang="fr-FR" dirty="0"/>
              <a:t>/2)</a:t>
            </a:r>
          </a:p>
          <a:p>
            <a:pPr marL="285750" indent="-285750">
              <a:buFontTx/>
              <a:buChar char="-"/>
            </a:pPr>
            <a:r>
              <a:rPr lang="fr-FR" dirty="0"/>
              <a:t>Il faut donc refaire d’autres mesures autour de cette fréquence</a:t>
            </a:r>
          </a:p>
          <a:p>
            <a:pPr marL="285750" indent="-285750">
              <a:buFontTx/>
              <a:buChar char="-"/>
            </a:pPr>
            <a:endParaRPr lang="fr-FR" dirty="0"/>
          </a:p>
          <a:p>
            <a:pPr marL="285750" indent="-285750">
              <a:buFontTx/>
              <a:buChar char="-"/>
            </a:pPr>
            <a:r>
              <a:rPr lang="fr-FR" dirty="0"/>
              <a:t>Cependant à noter qu’il est difficile d’exciter proprement le système en très hautes fréquences, surtout au delà de 10Hz</a:t>
            </a:r>
          </a:p>
          <a:p>
            <a:pPr marL="285750" indent="-285750">
              <a:buFontTx/>
              <a:buChar char="-"/>
            </a:pPr>
            <a:endParaRPr lang="fr-FR" dirty="0"/>
          </a:p>
          <a:p>
            <a:pPr marL="285750" indent="-285750">
              <a:buFontTx/>
              <a:buChar char="-"/>
            </a:pPr>
            <a:r>
              <a:rPr lang="fr-FR" b="1" dirty="0"/>
              <a:t>Quelle influence pour le comportement de la cheville NAO et la validité du cahier des charges ?</a:t>
            </a:r>
          </a:p>
        </p:txBody>
      </p:sp>
      <p:sp>
        <p:nvSpPr>
          <p:cNvPr id="15" name="ZoneTexte 14">
            <a:extLst>
              <a:ext uri="{FF2B5EF4-FFF2-40B4-BE49-F238E27FC236}">
                <a16:creationId xmlns:a16="http://schemas.microsoft.com/office/drawing/2014/main" id="{FEA1F6C1-19A6-7EE8-BD8F-0B944CECE2C5}"/>
              </a:ext>
            </a:extLst>
          </p:cNvPr>
          <p:cNvSpPr txBox="1"/>
          <p:nvPr/>
        </p:nvSpPr>
        <p:spPr>
          <a:xfrm>
            <a:off x="5234932" y="4679072"/>
            <a:ext cx="373576" cy="307777"/>
          </a:xfrm>
          <a:prstGeom prst="rect">
            <a:avLst/>
          </a:prstGeom>
          <a:solidFill>
            <a:schemeClr val="bg1"/>
          </a:solidFill>
          <a:ln>
            <a:solidFill>
              <a:schemeClr val="accent1"/>
            </a:solidFill>
          </a:ln>
        </p:spPr>
        <p:txBody>
          <a:bodyPr wrap="square" rtlCol="0">
            <a:spAutoFit/>
          </a:bodyPr>
          <a:lstStyle/>
          <a:p>
            <a:pPr algn="ctr"/>
            <a:r>
              <a:rPr lang="fr-FR" sz="1400" dirty="0"/>
              <a:t>-</a:t>
            </a:r>
            <a:r>
              <a:rPr lang="el-GR" sz="1400" dirty="0"/>
              <a:t>π</a:t>
            </a:r>
            <a:endParaRPr lang="fr-FR" sz="1400" dirty="0"/>
          </a:p>
        </p:txBody>
      </p:sp>
      <p:cxnSp>
        <p:nvCxnSpPr>
          <p:cNvPr id="16" name="Connecteur droit avec flèche 15">
            <a:extLst>
              <a:ext uri="{FF2B5EF4-FFF2-40B4-BE49-F238E27FC236}">
                <a16:creationId xmlns:a16="http://schemas.microsoft.com/office/drawing/2014/main" id="{9F79C070-D304-8851-C174-9FC0D5C1AC73}"/>
              </a:ext>
            </a:extLst>
          </p:cNvPr>
          <p:cNvCxnSpPr>
            <a:cxnSpLocks/>
            <a:stCxn id="15" idx="3"/>
            <a:endCxn id="13" idx="11"/>
          </p:cNvCxnSpPr>
          <p:nvPr/>
        </p:nvCxnSpPr>
        <p:spPr>
          <a:xfrm flipV="1">
            <a:off x="5608508" y="4562475"/>
            <a:ext cx="373192" cy="2704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ZoneTexte 21">
            <a:extLst>
              <a:ext uri="{FF2B5EF4-FFF2-40B4-BE49-F238E27FC236}">
                <a16:creationId xmlns:a16="http://schemas.microsoft.com/office/drawing/2014/main" id="{DA425AC2-984B-4E3A-3C87-8339721D0017}"/>
              </a:ext>
            </a:extLst>
          </p:cNvPr>
          <p:cNvSpPr txBox="1"/>
          <p:nvPr/>
        </p:nvSpPr>
        <p:spPr>
          <a:xfrm>
            <a:off x="3285961" y="3815760"/>
            <a:ext cx="495628" cy="307777"/>
          </a:xfrm>
          <a:prstGeom prst="rect">
            <a:avLst/>
          </a:prstGeom>
          <a:solidFill>
            <a:schemeClr val="bg1"/>
          </a:solidFill>
          <a:ln>
            <a:solidFill>
              <a:schemeClr val="accent1"/>
            </a:solidFill>
          </a:ln>
        </p:spPr>
        <p:txBody>
          <a:bodyPr wrap="square" rtlCol="0">
            <a:spAutoFit/>
          </a:bodyPr>
          <a:lstStyle/>
          <a:p>
            <a:pPr algn="ctr"/>
            <a:r>
              <a:rPr lang="fr-FR" sz="1400" dirty="0"/>
              <a:t>w0</a:t>
            </a:r>
          </a:p>
        </p:txBody>
      </p:sp>
      <p:cxnSp>
        <p:nvCxnSpPr>
          <p:cNvPr id="23" name="Connecteur droit avec flèche 22">
            <a:extLst>
              <a:ext uri="{FF2B5EF4-FFF2-40B4-BE49-F238E27FC236}">
                <a16:creationId xmlns:a16="http://schemas.microsoft.com/office/drawing/2014/main" id="{84BAAAEE-9F5A-4B81-D433-413715408449}"/>
              </a:ext>
            </a:extLst>
          </p:cNvPr>
          <p:cNvCxnSpPr>
            <a:cxnSpLocks/>
            <a:stCxn id="22" idx="0"/>
          </p:cNvCxnSpPr>
          <p:nvPr/>
        </p:nvCxnSpPr>
        <p:spPr>
          <a:xfrm flipV="1">
            <a:off x="3533775" y="3200400"/>
            <a:ext cx="381000" cy="6153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Ellipse 26">
            <a:extLst>
              <a:ext uri="{FF2B5EF4-FFF2-40B4-BE49-F238E27FC236}">
                <a16:creationId xmlns:a16="http://schemas.microsoft.com/office/drawing/2014/main" id="{98EAF14F-5BC8-97DB-1478-FA1CB119FF64}"/>
              </a:ext>
            </a:extLst>
          </p:cNvPr>
          <p:cNvSpPr/>
          <p:nvPr/>
        </p:nvSpPr>
        <p:spPr>
          <a:xfrm>
            <a:off x="4551231" y="4297453"/>
            <a:ext cx="373193" cy="323850"/>
          </a:xfrm>
          <a:prstGeom prst="ellipse">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ZoneTexte 27">
            <a:extLst>
              <a:ext uri="{FF2B5EF4-FFF2-40B4-BE49-F238E27FC236}">
                <a16:creationId xmlns:a16="http://schemas.microsoft.com/office/drawing/2014/main" id="{CE818E68-3BF4-9065-8FE3-5AFD0D319F96}"/>
              </a:ext>
            </a:extLst>
          </p:cNvPr>
          <p:cNvSpPr txBox="1"/>
          <p:nvPr/>
        </p:nvSpPr>
        <p:spPr>
          <a:xfrm>
            <a:off x="3048706" y="5211272"/>
            <a:ext cx="1732138" cy="307777"/>
          </a:xfrm>
          <a:prstGeom prst="rect">
            <a:avLst/>
          </a:prstGeom>
          <a:solidFill>
            <a:schemeClr val="bg1"/>
          </a:solidFill>
          <a:ln>
            <a:solidFill>
              <a:srgbClr val="FF0000"/>
            </a:solidFill>
          </a:ln>
        </p:spPr>
        <p:txBody>
          <a:bodyPr wrap="square" rtlCol="0">
            <a:spAutoFit/>
          </a:bodyPr>
          <a:lstStyle/>
          <a:p>
            <a:pPr algn="ctr"/>
            <a:r>
              <a:rPr lang="fr-FR" sz="1400" dirty="0"/>
              <a:t>Erreur de mesure ?..</a:t>
            </a:r>
          </a:p>
        </p:txBody>
      </p:sp>
      <p:cxnSp>
        <p:nvCxnSpPr>
          <p:cNvPr id="29" name="Connecteur droit avec flèche 28">
            <a:extLst>
              <a:ext uri="{FF2B5EF4-FFF2-40B4-BE49-F238E27FC236}">
                <a16:creationId xmlns:a16="http://schemas.microsoft.com/office/drawing/2014/main" id="{0195891A-B0F6-7C17-19B0-DB3D762FBA93}"/>
              </a:ext>
            </a:extLst>
          </p:cNvPr>
          <p:cNvCxnSpPr>
            <a:cxnSpLocks/>
            <a:stCxn id="28" idx="0"/>
            <a:endCxn id="27" idx="3"/>
          </p:cNvCxnSpPr>
          <p:nvPr/>
        </p:nvCxnSpPr>
        <p:spPr>
          <a:xfrm flipV="1">
            <a:off x="3914775" y="4573876"/>
            <a:ext cx="691109" cy="63739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6" name="Forme libre : forme 35">
            <a:extLst>
              <a:ext uri="{FF2B5EF4-FFF2-40B4-BE49-F238E27FC236}">
                <a16:creationId xmlns:a16="http://schemas.microsoft.com/office/drawing/2014/main" id="{E28C9597-EDD9-32A7-DC98-5C56DD5A7322}"/>
              </a:ext>
            </a:extLst>
          </p:cNvPr>
          <p:cNvSpPr/>
          <p:nvPr/>
        </p:nvSpPr>
        <p:spPr>
          <a:xfrm>
            <a:off x="742950" y="2019300"/>
            <a:ext cx="5276850" cy="1467283"/>
          </a:xfrm>
          <a:custGeom>
            <a:avLst/>
            <a:gdLst>
              <a:gd name="csX0" fmla="*/ 0 w 5276850"/>
              <a:gd name="csY0" fmla="*/ 0 h 1467283"/>
              <a:gd name="csX1" fmla="*/ 1038225 w 5276850"/>
              <a:gd name="csY1" fmla="*/ 9525 h 1467283"/>
              <a:gd name="csX2" fmla="*/ 1838325 w 5276850"/>
              <a:gd name="csY2" fmla="*/ 104775 h 1467283"/>
              <a:gd name="csX3" fmla="*/ 2562225 w 5276850"/>
              <a:gd name="csY3" fmla="*/ 485775 h 1467283"/>
              <a:gd name="csX4" fmla="*/ 2981325 w 5276850"/>
              <a:gd name="csY4" fmla="*/ 904875 h 1467283"/>
              <a:gd name="csX5" fmla="*/ 3295650 w 5276850"/>
              <a:gd name="csY5" fmla="*/ 1314450 h 1467283"/>
              <a:gd name="csX6" fmla="*/ 3943350 w 5276850"/>
              <a:gd name="csY6" fmla="*/ 1457325 h 1467283"/>
              <a:gd name="csX7" fmla="*/ 5276850 w 5276850"/>
              <a:gd name="csY7" fmla="*/ 1466850 h 14672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276850" h="1467283">
                <a:moveTo>
                  <a:pt x="0" y="0"/>
                </a:moveTo>
                <a:lnTo>
                  <a:pt x="1038225" y="9525"/>
                </a:lnTo>
                <a:cubicBezTo>
                  <a:pt x="1344613" y="26988"/>
                  <a:pt x="1584325" y="25400"/>
                  <a:pt x="1838325" y="104775"/>
                </a:cubicBezTo>
                <a:cubicBezTo>
                  <a:pt x="2092325" y="184150"/>
                  <a:pt x="2371725" y="352425"/>
                  <a:pt x="2562225" y="485775"/>
                </a:cubicBezTo>
                <a:cubicBezTo>
                  <a:pt x="2752725" y="619125"/>
                  <a:pt x="2859088" y="766763"/>
                  <a:pt x="2981325" y="904875"/>
                </a:cubicBezTo>
                <a:cubicBezTo>
                  <a:pt x="3103562" y="1042987"/>
                  <a:pt x="3135313" y="1222375"/>
                  <a:pt x="3295650" y="1314450"/>
                </a:cubicBezTo>
                <a:cubicBezTo>
                  <a:pt x="3455987" y="1406525"/>
                  <a:pt x="3613150" y="1431925"/>
                  <a:pt x="3943350" y="1457325"/>
                </a:cubicBezTo>
                <a:cubicBezTo>
                  <a:pt x="4273550" y="1482725"/>
                  <a:pt x="5056187" y="1449387"/>
                  <a:pt x="5276850" y="1466850"/>
                </a:cubicBezTo>
              </a:path>
            </a:pathLst>
          </a:custGeom>
          <a:ln w="28575">
            <a:solidFill>
              <a:srgbClr val="00B050"/>
            </a:solidFill>
            <a:prstDash val="dash"/>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fr-FR">
              <a:solidFill>
                <a:schemeClr val="tx1"/>
              </a:solidFill>
            </a:endParaRPr>
          </a:p>
        </p:txBody>
      </p:sp>
      <p:sp>
        <p:nvSpPr>
          <p:cNvPr id="38" name="ZoneTexte 37">
            <a:extLst>
              <a:ext uri="{FF2B5EF4-FFF2-40B4-BE49-F238E27FC236}">
                <a16:creationId xmlns:a16="http://schemas.microsoft.com/office/drawing/2014/main" id="{492E059F-7624-C92F-6995-C06BCBDD7E53}"/>
              </a:ext>
            </a:extLst>
          </p:cNvPr>
          <p:cNvSpPr txBox="1"/>
          <p:nvPr/>
        </p:nvSpPr>
        <p:spPr>
          <a:xfrm>
            <a:off x="4480840" y="3617172"/>
            <a:ext cx="1158418" cy="307777"/>
          </a:xfrm>
          <a:prstGeom prst="rect">
            <a:avLst/>
          </a:prstGeom>
          <a:solidFill>
            <a:schemeClr val="bg1"/>
          </a:solidFill>
          <a:ln>
            <a:solidFill>
              <a:schemeClr val="accent1"/>
            </a:solidFill>
          </a:ln>
        </p:spPr>
        <p:txBody>
          <a:bodyPr wrap="square" rtlCol="0">
            <a:spAutoFit/>
          </a:bodyPr>
          <a:lstStyle/>
          <a:p>
            <a:pPr algn="ctr"/>
            <a:r>
              <a:rPr lang="fr-FR" sz="1400" dirty="0"/>
              <a:t>Environ –</a:t>
            </a:r>
            <a:r>
              <a:rPr lang="el-GR" sz="1400" dirty="0"/>
              <a:t>π</a:t>
            </a:r>
            <a:r>
              <a:rPr lang="fr-FR" sz="1400" dirty="0"/>
              <a:t>/2</a:t>
            </a:r>
          </a:p>
        </p:txBody>
      </p:sp>
      <p:cxnSp>
        <p:nvCxnSpPr>
          <p:cNvPr id="39" name="Connecteur droit avec flèche 38">
            <a:extLst>
              <a:ext uri="{FF2B5EF4-FFF2-40B4-BE49-F238E27FC236}">
                <a16:creationId xmlns:a16="http://schemas.microsoft.com/office/drawing/2014/main" id="{638ECA8B-09C1-9C02-165B-421B0CD86784}"/>
              </a:ext>
            </a:extLst>
          </p:cNvPr>
          <p:cNvCxnSpPr>
            <a:cxnSpLocks/>
            <a:stCxn id="38" idx="3"/>
          </p:cNvCxnSpPr>
          <p:nvPr/>
        </p:nvCxnSpPr>
        <p:spPr>
          <a:xfrm flipV="1">
            <a:off x="5639258" y="3500575"/>
            <a:ext cx="373192" cy="2704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562109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201363-CD66-706A-70F3-8915B9220606}"/>
              </a:ext>
            </a:extLst>
          </p:cNvPr>
          <p:cNvSpPr>
            <a:spLocks noGrp="1"/>
          </p:cNvSpPr>
          <p:nvPr>
            <p:ph type="title"/>
          </p:nvPr>
        </p:nvSpPr>
        <p:spPr/>
        <p:txBody>
          <a:bodyPr/>
          <a:lstStyle/>
          <a:p>
            <a:r>
              <a:rPr lang="fr-FR" dirty="0"/>
              <a:t>Activités à mener sur les autres systèmes</a:t>
            </a:r>
          </a:p>
        </p:txBody>
      </p:sp>
      <p:sp>
        <p:nvSpPr>
          <p:cNvPr id="4" name="Espace réservé de la date 3">
            <a:extLst>
              <a:ext uri="{FF2B5EF4-FFF2-40B4-BE49-F238E27FC236}">
                <a16:creationId xmlns:a16="http://schemas.microsoft.com/office/drawing/2014/main" id="{2C5DB7A3-6A6C-0DFE-F19F-09C168311B30}"/>
              </a:ext>
            </a:extLst>
          </p:cNvPr>
          <p:cNvSpPr>
            <a:spLocks noGrp="1"/>
          </p:cNvSpPr>
          <p:nvPr>
            <p:ph type="dt" sz="half" idx="10"/>
          </p:nvPr>
        </p:nvSpPr>
        <p:spPr/>
        <p:txBody>
          <a:bodyPr/>
          <a:lstStyle/>
          <a:p>
            <a:r>
              <a:rPr lang="fr-FR"/>
              <a:t>10/03/2026</a:t>
            </a:r>
            <a:endParaRPr lang="fr-FR" dirty="0"/>
          </a:p>
        </p:txBody>
      </p:sp>
      <p:sp>
        <p:nvSpPr>
          <p:cNvPr id="5" name="Espace réservé du pied de page 4">
            <a:extLst>
              <a:ext uri="{FF2B5EF4-FFF2-40B4-BE49-F238E27FC236}">
                <a16:creationId xmlns:a16="http://schemas.microsoft.com/office/drawing/2014/main" id="{EEFABA97-7815-F290-D26D-22210F875CF7}"/>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6" name="Espace réservé du numéro de diapositive 5">
            <a:extLst>
              <a:ext uri="{FF2B5EF4-FFF2-40B4-BE49-F238E27FC236}">
                <a16:creationId xmlns:a16="http://schemas.microsoft.com/office/drawing/2014/main" id="{DB348F17-5885-5724-9F68-8D721D450713}"/>
              </a:ext>
            </a:extLst>
          </p:cNvPr>
          <p:cNvSpPr>
            <a:spLocks noGrp="1"/>
          </p:cNvSpPr>
          <p:nvPr>
            <p:ph type="sldNum" sz="quarter" idx="12"/>
          </p:nvPr>
        </p:nvSpPr>
        <p:spPr/>
        <p:txBody>
          <a:bodyPr/>
          <a:lstStyle/>
          <a:p>
            <a:fld id="{3CA76ACC-A68C-4A5C-9615-B59A999884DC}" type="slidenum">
              <a:rPr lang="fr-FR" smtClean="0"/>
              <a:t>23</a:t>
            </a:fld>
            <a:endParaRPr lang="fr-FR"/>
          </a:p>
        </p:txBody>
      </p:sp>
      <p:grpSp>
        <p:nvGrpSpPr>
          <p:cNvPr id="7" name="Groupe 6">
            <a:extLst>
              <a:ext uri="{FF2B5EF4-FFF2-40B4-BE49-F238E27FC236}">
                <a16:creationId xmlns:a16="http://schemas.microsoft.com/office/drawing/2014/main" id="{9CF99888-8E21-318A-6B64-4CAA177979D8}"/>
              </a:ext>
            </a:extLst>
          </p:cNvPr>
          <p:cNvGrpSpPr/>
          <p:nvPr/>
        </p:nvGrpSpPr>
        <p:grpSpPr>
          <a:xfrm>
            <a:off x="-208677" y="2201152"/>
            <a:ext cx="11967480" cy="2455695"/>
            <a:chOff x="-146955" y="2953529"/>
            <a:chExt cx="11967480" cy="2455695"/>
          </a:xfrm>
        </p:grpSpPr>
        <p:pic>
          <p:nvPicPr>
            <p:cNvPr id="8" name="Picture 2" descr="Control'X – DMS éducation">
              <a:extLst>
                <a:ext uri="{FF2B5EF4-FFF2-40B4-BE49-F238E27FC236}">
                  <a16:creationId xmlns:a16="http://schemas.microsoft.com/office/drawing/2014/main" id="{488AF93D-12E6-6961-A4E0-EA34090A52F2}"/>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46955" y="3505994"/>
              <a:ext cx="3341909" cy="187982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PTSI/PT Dorian Système">
              <a:extLst>
                <a:ext uri="{FF2B5EF4-FFF2-40B4-BE49-F238E27FC236}">
                  <a16:creationId xmlns:a16="http://schemas.microsoft.com/office/drawing/2014/main" id="{C78820D2-F6CA-2CCC-4738-72997056867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916163" y="3235030"/>
              <a:ext cx="2052257" cy="153255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PTSI/PT Dorian Système">
              <a:extLst>
                <a:ext uri="{FF2B5EF4-FFF2-40B4-BE49-F238E27FC236}">
                  <a16:creationId xmlns:a16="http://schemas.microsoft.com/office/drawing/2014/main" id="{29844547-020A-8358-DBA0-0A36380C0120}"/>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6692789" y="3063525"/>
              <a:ext cx="2197934" cy="170405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ERM Automatismes Industriels">
              <a:extLst>
                <a:ext uri="{FF2B5EF4-FFF2-40B4-BE49-F238E27FC236}">
                  <a16:creationId xmlns:a16="http://schemas.microsoft.com/office/drawing/2014/main" id="{C324E00D-8E13-808C-6F04-16BF80A4EEDE}"/>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9982200" y="2953529"/>
              <a:ext cx="1838325" cy="1924050"/>
            </a:xfrm>
            <a:prstGeom prst="rect">
              <a:avLst/>
            </a:prstGeom>
            <a:noFill/>
            <a:extLst>
              <a:ext uri="{909E8E84-426E-40DD-AFC4-6F175D3DCCD1}">
                <a14:hiddenFill xmlns:a14="http://schemas.microsoft.com/office/drawing/2010/main">
                  <a:solidFill>
                    <a:srgbClr val="FFFFFF"/>
                  </a:solidFill>
                </a14:hiddenFill>
              </a:ext>
            </a:extLst>
          </p:spPr>
        </p:pic>
        <p:sp>
          <p:nvSpPr>
            <p:cNvPr id="13" name="ZoneTexte 12">
              <a:extLst>
                <a:ext uri="{FF2B5EF4-FFF2-40B4-BE49-F238E27FC236}">
                  <a16:creationId xmlns:a16="http://schemas.microsoft.com/office/drawing/2014/main" id="{3E5B00F5-7A6C-15AB-F730-258C161F9584}"/>
                </a:ext>
              </a:extLst>
            </p:cNvPr>
            <p:cNvSpPr txBox="1"/>
            <p:nvPr/>
          </p:nvSpPr>
          <p:spPr>
            <a:xfrm>
              <a:off x="979387" y="5039892"/>
              <a:ext cx="1124090" cy="369332"/>
            </a:xfrm>
            <a:prstGeom prst="rect">
              <a:avLst/>
            </a:prstGeom>
            <a:noFill/>
          </p:spPr>
          <p:txBody>
            <a:bodyPr wrap="none" rtlCol="0">
              <a:spAutoFit/>
            </a:bodyPr>
            <a:lstStyle/>
            <a:p>
              <a:r>
                <a:rPr lang="fr-FR" dirty="0" err="1"/>
                <a:t>Control’X</a:t>
              </a:r>
              <a:endParaRPr lang="fr-FR" dirty="0"/>
            </a:p>
          </p:txBody>
        </p:sp>
        <p:sp>
          <p:nvSpPr>
            <p:cNvPr id="14" name="ZoneTexte 13">
              <a:extLst>
                <a:ext uri="{FF2B5EF4-FFF2-40B4-BE49-F238E27FC236}">
                  <a16:creationId xmlns:a16="http://schemas.microsoft.com/office/drawing/2014/main" id="{3DCC433A-3B9C-3CE2-E3F2-90A8282E5513}"/>
                </a:ext>
              </a:extLst>
            </p:cNvPr>
            <p:cNvSpPr txBox="1"/>
            <p:nvPr/>
          </p:nvSpPr>
          <p:spPr>
            <a:xfrm>
              <a:off x="4284646" y="4915333"/>
              <a:ext cx="1107996" cy="369332"/>
            </a:xfrm>
            <a:prstGeom prst="rect">
              <a:avLst/>
            </a:prstGeom>
            <a:noFill/>
          </p:spPr>
          <p:txBody>
            <a:bodyPr wrap="none" rtlCol="0">
              <a:spAutoFit/>
            </a:bodyPr>
            <a:lstStyle/>
            <a:p>
              <a:r>
                <a:rPr lang="fr-FR" dirty="0" err="1"/>
                <a:t>MaxPID</a:t>
              </a:r>
              <a:r>
                <a:rPr lang="fr-FR" dirty="0"/>
                <a:t> 	</a:t>
              </a:r>
            </a:p>
          </p:txBody>
        </p:sp>
        <p:sp>
          <p:nvSpPr>
            <p:cNvPr id="16" name="ZoneTexte 15">
              <a:extLst>
                <a:ext uri="{FF2B5EF4-FFF2-40B4-BE49-F238E27FC236}">
                  <a16:creationId xmlns:a16="http://schemas.microsoft.com/office/drawing/2014/main" id="{CD348A32-6592-F48F-317D-0F84B00FAC0D}"/>
                </a:ext>
              </a:extLst>
            </p:cNvPr>
            <p:cNvSpPr txBox="1"/>
            <p:nvPr/>
          </p:nvSpPr>
          <p:spPr>
            <a:xfrm>
              <a:off x="6831566" y="5039892"/>
              <a:ext cx="2239972" cy="369332"/>
            </a:xfrm>
            <a:prstGeom prst="rect">
              <a:avLst/>
            </a:prstGeom>
            <a:noFill/>
          </p:spPr>
          <p:txBody>
            <a:bodyPr wrap="none" rtlCol="0">
              <a:spAutoFit/>
            </a:bodyPr>
            <a:lstStyle/>
            <a:p>
              <a:r>
                <a:rPr lang="fr-FR" dirty="0"/>
                <a:t>Plateforme sismique</a:t>
              </a:r>
            </a:p>
          </p:txBody>
        </p:sp>
        <p:sp>
          <p:nvSpPr>
            <p:cNvPr id="17" name="ZoneTexte 16">
              <a:extLst>
                <a:ext uri="{FF2B5EF4-FFF2-40B4-BE49-F238E27FC236}">
                  <a16:creationId xmlns:a16="http://schemas.microsoft.com/office/drawing/2014/main" id="{6438FB92-894E-17EC-2CAC-C8E240DCD739}"/>
                </a:ext>
              </a:extLst>
            </p:cNvPr>
            <p:cNvSpPr txBox="1"/>
            <p:nvPr/>
          </p:nvSpPr>
          <p:spPr>
            <a:xfrm>
              <a:off x="10275904" y="5039892"/>
              <a:ext cx="1180727" cy="369332"/>
            </a:xfrm>
            <a:prstGeom prst="rect">
              <a:avLst/>
            </a:prstGeom>
            <a:noFill/>
          </p:spPr>
          <p:txBody>
            <a:bodyPr wrap="square">
              <a:spAutoFit/>
            </a:bodyPr>
            <a:lstStyle/>
            <a:p>
              <a:r>
                <a:rPr lang="fr-FR" dirty="0" err="1"/>
                <a:t>Comax</a:t>
              </a:r>
              <a:endParaRPr lang="fr-FR" dirty="0"/>
            </a:p>
          </p:txBody>
        </p:sp>
      </p:grpSp>
      <p:sp>
        <p:nvSpPr>
          <p:cNvPr id="19" name="ZoneTexte 18">
            <a:extLst>
              <a:ext uri="{FF2B5EF4-FFF2-40B4-BE49-F238E27FC236}">
                <a16:creationId xmlns:a16="http://schemas.microsoft.com/office/drawing/2014/main" id="{738F5D80-E201-793F-CD36-7B085111B05F}"/>
              </a:ext>
            </a:extLst>
          </p:cNvPr>
          <p:cNvSpPr txBox="1"/>
          <p:nvPr/>
        </p:nvSpPr>
        <p:spPr>
          <a:xfrm>
            <a:off x="489856" y="4828041"/>
            <a:ext cx="7446462" cy="646331"/>
          </a:xfrm>
          <a:prstGeom prst="rect">
            <a:avLst/>
          </a:prstGeom>
          <a:noFill/>
        </p:spPr>
        <p:txBody>
          <a:bodyPr wrap="none" rtlCol="0">
            <a:spAutoFit/>
          </a:bodyPr>
          <a:lstStyle/>
          <a:p>
            <a:r>
              <a:rPr lang="fr-FR" dirty="0"/>
              <a:t>Le cahier des charges de chaque maquette sera donné</a:t>
            </a:r>
          </a:p>
          <a:p>
            <a:r>
              <a:rPr lang="fr-FR" dirty="0"/>
              <a:t>Axe principale de mouvement sur lequel tracer les diagrammes de Bode : </a:t>
            </a:r>
          </a:p>
        </p:txBody>
      </p:sp>
      <p:cxnSp>
        <p:nvCxnSpPr>
          <p:cNvPr id="21" name="Connecteur droit avec flèche 20">
            <a:extLst>
              <a:ext uri="{FF2B5EF4-FFF2-40B4-BE49-F238E27FC236}">
                <a16:creationId xmlns:a16="http://schemas.microsoft.com/office/drawing/2014/main" id="{49A69F26-0BF9-A11C-4587-53234DFD0BF7}"/>
              </a:ext>
            </a:extLst>
          </p:cNvPr>
          <p:cNvCxnSpPr/>
          <p:nvPr/>
        </p:nvCxnSpPr>
        <p:spPr>
          <a:xfrm>
            <a:off x="917665" y="3562350"/>
            <a:ext cx="1406435" cy="0"/>
          </a:xfrm>
          <a:prstGeom prst="straightConnector1">
            <a:avLst/>
          </a:prstGeom>
          <a:ln w="57150">
            <a:solidFill>
              <a:srgbClr val="FF0000"/>
            </a:solidFill>
            <a:headEnd type="triangle"/>
            <a:tailEnd type="triangle"/>
          </a:ln>
        </p:spPr>
        <p:style>
          <a:lnRef idx="2">
            <a:schemeClr val="accent2"/>
          </a:lnRef>
          <a:fillRef idx="0">
            <a:schemeClr val="accent2"/>
          </a:fillRef>
          <a:effectRef idx="1">
            <a:schemeClr val="accent2"/>
          </a:effectRef>
          <a:fontRef idx="minor">
            <a:schemeClr val="tx1"/>
          </a:fontRef>
        </p:style>
      </p:cxnSp>
      <p:cxnSp>
        <p:nvCxnSpPr>
          <p:cNvPr id="22" name="Connecteur droit avec flèche 21">
            <a:extLst>
              <a:ext uri="{FF2B5EF4-FFF2-40B4-BE49-F238E27FC236}">
                <a16:creationId xmlns:a16="http://schemas.microsoft.com/office/drawing/2014/main" id="{354B439E-B8CC-2D20-6152-FF2B1FFE707E}"/>
              </a:ext>
            </a:extLst>
          </p:cNvPr>
          <p:cNvCxnSpPr>
            <a:cxnSpLocks/>
          </p:cNvCxnSpPr>
          <p:nvPr/>
        </p:nvCxnSpPr>
        <p:spPr>
          <a:xfrm flipH="1" flipV="1">
            <a:off x="7562850" y="2229303"/>
            <a:ext cx="167184" cy="1048627"/>
          </a:xfrm>
          <a:prstGeom prst="straightConnector1">
            <a:avLst/>
          </a:prstGeom>
          <a:ln w="57150">
            <a:solidFill>
              <a:srgbClr val="FF0000"/>
            </a:solidFill>
            <a:headEnd type="triangle"/>
            <a:tailEnd type="triangle"/>
          </a:ln>
        </p:spPr>
        <p:style>
          <a:lnRef idx="2">
            <a:schemeClr val="accent2"/>
          </a:lnRef>
          <a:fillRef idx="0">
            <a:schemeClr val="accent2"/>
          </a:fillRef>
          <a:effectRef idx="1">
            <a:schemeClr val="accent2"/>
          </a:effectRef>
          <a:fontRef idx="minor">
            <a:schemeClr val="tx1"/>
          </a:fontRef>
        </p:style>
      </p:cxnSp>
      <p:cxnSp>
        <p:nvCxnSpPr>
          <p:cNvPr id="24" name="Connecteur droit avec flèche 23">
            <a:extLst>
              <a:ext uri="{FF2B5EF4-FFF2-40B4-BE49-F238E27FC236}">
                <a16:creationId xmlns:a16="http://schemas.microsoft.com/office/drawing/2014/main" id="{3E87ECA3-E4E1-DFB4-A08E-5EF8C43C1CDF}"/>
              </a:ext>
            </a:extLst>
          </p:cNvPr>
          <p:cNvCxnSpPr>
            <a:cxnSpLocks/>
          </p:cNvCxnSpPr>
          <p:nvPr/>
        </p:nvCxnSpPr>
        <p:spPr>
          <a:xfrm flipV="1">
            <a:off x="11419218" y="2362508"/>
            <a:ext cx="0" cy="1066492"/>
          </a:xfrm>
          <a:prstGeom prst="straightConnector1">
            <a:avLst/>
          </a:prstGeom>
          <a:ln w="57150">
            <a:solidFill>
              <a:srgbClr val="FF0000"/>
            </a:solidFill>
            <a:headEnd type="triangle"/>
            <a:tailEnd type="triangle"/>
          </a:ln>
        </p:spPr>
        <p:style>
          <a:lnRef idx="2">
            <a:schemeClr val="accent2"/>
          </a:lnRef>
          <a:fillRef idx="0">
            <a:schemeClr val="accent2"/>
          </a:fillRef>
          <a:effectRef idx="1">
            <a:schemeClr val="accent2"/>
          </a:effectRef>
          <a:fontRef idx="minor">
            <a:schemeClr val="tx1"/>
          </a:fontRef>
        </p:style>
      </p:cxnSp>
      <p:sp>
        <p:nvSpPr>
          <p:cNvPr id="26" name="Arc 25">
            <a:extLst>
              <a:ext uri="{FF2B5EF4-FFF2-40B4-BE49-F238E27FC236}">
                <a16:creationId xmlns:a16="http://schemas.microsoft.com/office/drawing/2014/main" id="{199A84E2-6231-DBEA-8287-AD9EC43D4708}"/>
              </a:ext>
            </a:extLst>
          </p:cNvPr>
          <p:cNvSpPr/>
          <p:nvPr/>
        </p:nvSpPr>
        <p:spPr>
          <a:xfrm>
            <a:off x="4514544" y="2820730"/>
            <a:ext cx="914400" cy="914400"/>
          </a:xfrm>
          <a:prstGeom prst="arc">
            <a:avLst>
              <a:gd name="adj1" fmla="val 13964016"/>
              <a:gd name="adj2" fmla="val 0"/>
            </a:avLst>
          </a:prstGeom>
          <a:ln w="57150">
            <a:solidFill>
              <a:srgbClr val="FF0000"/>
            </a:solidFill>
            <a:headEnd type="arrow"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cxnSp>
        <p:nvCxnSpPr>
          <p:cNvPr id="27" name="Connecteur droit avec flèche 26">
            <a:extLst>
              <a:ext uri="{FF2B5EF4-FFF2-40B4-BE49-F238E27FC236}">
                <a16:creationId xmlns:a16="http://schemas.microsoft.com/office/drawing/2014/main" id="{88EF9119-C105-6308-597D-72F743C01F6F}"/>
              </a:ext>
            </a:extLst>
          </p:cNvPr>
          <p:cNvCxnSpPr>
            <a:cxnSpLocks/>
          </p:cNvCxnSpPr>
          <p:nvPr/>
        </p:nvCxnSpPr>
        <p:spPr>
          <a:xfrm>
            <a:off x="7796709" y="5288932"/>
            <a:ext cx="906090" cy="0"/>
          </a:xfrm>
          <a:prstGeom prst="straightConnector1">
            <a:avLst/>
          </a:prstGeom>
          <a:ln w="57150">
            <a:solidFill>
              <a:srgbClr val="FF0000"/>
            </a:solidFill>
            <a:headEnd type="triangle"/>
            <a:tailEnd type="triangle"/>
          </a:ln>
        </p:spPr>
        <p:style>
          <a:lnRef idx="2">
            <a:schemeClr val="accent2"/>
          </a:lnRef>
          <a:fillRef idx="0">
            <a:schemeClr val="accent2"/>
          </a:fillRef>
          <a:effectRef idx="1">
            <a:schemeClr val="accent2"/>
          </a:effectRef>
          <a:fontRef idx="minor">
            <a:schemeClr val="tx1"/>
          </a:fontRef>
        </p:style>
      </p:cxnSp>
      <p:sp>
        <p:nvSpPr>
          <p:cNvPr id="30" name="ZoneTexte 29">
            <a:extLst>
              <a:ext uri="{FF2B5EF4-FFF2-40B4-BE49-F238E27FC236}">
                <a16:creationId xmlns:a16="http://schemas.microsoft.com/office/drawing/2014/main" id="{4E82C4FC-7173-9F28-D7DF-22378879D284}"/>
              </a:ext>
            </a:extLst>
          </p:cNvPr>
          <p:cNvSpPr txBox="1"/>
          <p:nvPr/>
        </p:nvSpPr>
        <p:spPr>
          <a:xfrm>
            <a:off x="496760" y="5469252"/>
            <a:ext cx="10558724" cy="646331"/>
          </a:xfrm>
          <a:prstGeom prst="rect">
            <a:avLst/>
          </a:prstGeom>
          <a:noFill/>
        </p:spPr>
        <p:txBody>
          <a:bodyPr wrap="none" rtlCol="0">
            <a:spAutoFit/>
          </a:bodyPr>
          <a:lstStyle/>
          <a:p>
            <a:r>
              <a:rPr lang="fr-FR" dirty="0"/>
              <a:t>L’ajout d’une charge de travail sur l’actionneur modifie t-il le diagramme de Bode ?</a:t>
            </a:r>
            <a:br>
              <a:rPr lang="fr-FR" dirty="0"/>
            </a:br>
            <a:r>
              <a:rPr lang="fr-FR" b="1" dirty="0"/>
              <a:t>Quelles conséquences sur les paramètres caractéristiques et sur la validité du cahier des charges ?</a:t>
            </a:r>
          </a:p>
        </p:txBody>
      </p:sp>
    </p:spTree>
    <p:extLst>
      <p:ext uri="{BB962C8B-B14F-4D97-AF65-F5344CB8AC3E}">
        <p14:creationId xmlns:p14="http://schemas.microsoft.com/office/powerpoint/2010/main" val="17024509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D57F41-8A81-DF96-1C4C-D7676D00BEC5}"/>
              </a:ext>
            </a:extLst>
          </p:cNvPr>
          <p:cNvSpPr>
            <a:spLocks noGrp="1"/>
          </p:cNvSpPr>
          <p:nvPr>
            <p:ph type="title"/>
          </p:nvPr>
        </p:nvSpPr>
        <p:spPr/>
        <p:txBody>
          <a:bodyPr/>
          <a:lstStyle/>
          <a:p>
            <a:r>
              <a:rPr lang="fr-FR" dirty="0"/>
              <a:t>Conclusion</a:t>
            </a:r>
          </a:p>
        </p:txBody>
      </p:sp>
      <p:sp>
        <p:nvSpPr>
          <p:cNvPr id="3" name="Espace réservé du contenu 2">
            <a:extLst>
              <a:ext uri="{FF2B5EF4-FFF2-40B4-BE49-F238E27FC236}">
                <a16:creationId xmlns:a16="http://schemas.microsoft.com/office/drawing/2014/main" id="{C2F42D55-110E-AEB1-69E2-17DCCDC129DF}"/>
              </a:ext>
            </a:extLst>
          </p:cNvPr>
          <p:cNvSpPr>
            <a:spLocks noGrp="1"/>
          </p:cNvSpPr>
          <p:nvPr>
            <p:ph idx="1"/>
          </p:nvPr>
        </p:nvSpPr>
        <p:spPr>
          <a:xfrm>
            <a:off x="838200" y="1501774"/>
            <a:ext cx="10515600" cy="4854575"/>
          </a:xfrm>
        </p:spPr>
        <p:txBody>
          <a:bodyPr>
            <a:normAutofit fontScale="70000" lnSpcReduction="20000"/>
          </a:bodyPr>
          <a:lstStyle/>
          <a:p>
            <a:pPr>
              <a:buNone/>
            </a:pPr>
            <a:r>
              <a:rPr lang="fr-FR" b="1" dirty="0"/>
              <a:t>Bilan de la séquence pédagogique</a:t>
            </a:r>
          </a:p>
          <a:p>
            <a:pPr>
              <a:buNone/>
            </a:pPr>
            <a:r>
              <a:rPr lang="fr-FR" dirty="0"/>
              <a:t>Je vous ai présenté une séquence qui mobilise les compétences </a:t>
            </a:r>
            <a:r>
              <a:rPr lang="fr-FR" b="1" dirty="0"/>
              <a:t>expérimenter, analyser et modéliser</a:t>
            </a:r>
            <a:r>
              <a:rPr lang="fr-FR" dirty="0"/>
              <a:t> afin de </a:t>
            </a:r>
            <a:r>
              <a:rPr lang="fr-FR" b="1" dirty="0"/>
              <a:t>caractériser les performances globales d’un système pluri technologique</a:t>
            </a:r>
            <a:r>
              <a:rPr lang="fr-FR" dirty="0"/>
              <a:t>.</a:t>
            </a:r>
          </a:p>
          <a:p>
            <a:pPr>
              <a:buNone/>
            </a:pPr>
            <a:r>
              <a:rPr lang="fr-FR" dirty="0"/>
              <a:t>À travers l’étude expérimentale des systèmes (cheville NAO et autres supports), les élèves ont pu :</a:t>
            </a:r>
          </a:p>
          <a:p>
            <a:pPr>
              <a:buFont typeface="Arial" panose="020B0604020202020204" pitchFamily="34" charset="0"/>
              <a:buChar char="•"/>
            </a:pPr>
            <a:r>
              <a:rPr lang="fr-FR" b="1" dirty="0"/>
              <a:t>mettre en œuvre une démarche de rétro-engineering</a:t>
            </a:r>
            <a:r>
              <a:rPr lang="fr-FR" dirty="0"/>
              <a:t>,</a:t>
            </a:r>
          </a:p>
          <a:p>
            <a:pPr>
              <a:buFont typeface="Arial" panose="020B0604020202020204" pitchFamily="34" charset="0"/>
              <a:buChar char="•"/>
            </a:pPr>
            <a:r>
              <a:rPr lang="fr-FR" b="1" dirty="0"/>
              <a:t>mesurer les réponses temporelles et fréquentielles</a:t>
            </a:r>
            <a:r>
              <a:rPr lang="fr-FR" dirty="0"/>
              <a:t>,</a:t>
            </a:r>
          </a:p>
          <a:p>
            <a:pPr>
              <a:buFont typeface="Arial" panose="020B0604020202020204" pitchFamily="34" charset="0"/>
              <a:buChar char="•"/>
            </a:pPr>
            <a:r>
              <a:rPr lang="fr-FR" b="1" dirty="0"/>
              <a:t>identifier un modèle canonique de comportement</a:t>
            </a:r>
            <a:r>
              <a:rPr lang="fr-FR" dirty="0"/>
              <a:t>,</a:t>
            </a:r>
          </a:p>
          <a:p>
            <a:pPr>
              <a:buFont typeface="Arial" panose="020B0604020202020204" pitchFamily="34" charset="0"/>
              <a:buChar char="•"/>
            </a:pPr>
            <a:r>
              <a:rPr lang="fr-FR" dirty="0"/>
              <a:t>et </a:t>
            </a:r>
            <a:r>
              <a:rPr lang="fr-FR" b="1" dirty="0"/>
              <a:t>comparer les écarts entre le cahier des charges, le modèle et le système réel</a:t>
            </a:r>
            <a:r>
              <a:rPr lang="fr-FR" dirty="0"/>
              <a:t>.</a:t>
            </a:r>
          </a:p>
          <a:p>
            <a:pPr>
              <a:buNone/>
            </a:pPr>
            <a:r>
              <a:rPr lang="fr-FR" dirty="0"/>
              <a:t>L’utilisation de systèmes concrets a permis </a:t>
            </a:r>
            <a:r>
              <a:rPr lang="fr-FR" b="1" dirty="0"/>
              <a:t>d’illustrer ces compétences et d’accompagner les élèves dans une montée en abstraction</a:t>
            </a:r>
            <a:r>
              <a:rPr lang="fr-FR" dirty="0"/>
              <a:t>, en passant de l’observation expérimentale à la modélisation dynamique.</a:t>
            </a:r>
          </a:p>
          <a:p>
            <a:pPr>
              <a:buNone/>
            </a:pPr>
            <a:r>
              <a:rPr lang="fr-FR" dirty="0"/>
              <a:t>Le </a:t>
            </a:r>
            <a:r>
              <a:rPr lang="fr-FR" b="1" dirty="0"/>
              <a:t>fil rouge de rétro-engineering</a:t>
            </a:r>
            <a:r>
              <a:rPr lang="fr-FR" dirty="0"/>
              <a:t> a permis de donner du sens à l’ensemble des activités :</a:t>
            </a:r>
            <a:br>
              <a:rPr lang="fr-FR" dirty="0"/>
            </a:br>
            <a:r>
              <a:rPr lang="fr-FR" dirty="0"/>
              <a:t>les élèves cherchent progressivement à </a:t>
            </a:r>
            <a:r>
              <a:rPr lang="fr-FR" b="1" dirty="0"/>
              <a:t>comprendre, caractériser puis modéliser le système étudié</a:t>
            </a:r>
            <a:r>
              <a:rPr lang="fr-FR" dirty="0"/>
              <a:t>.</a:t>
            </a:r>
          </a:p>
          <a:p>
            <a:pPr lvl="1"/>
            <a:endParaRPr lang="fr-FR" dirty="0"/>
          </a:p>
        </p:txBody>
      </p:sp>
      <p:sp>
        <p:nvSpPr>
          <p:cNvPr id="4" name="Espace réservé de la date 3">
            <a:extLst>
              <a:ext uri="{FF2B5EF4-FFF2-40B4-BE49-F238E27FC236}">
                <a16:creationId xmlns:a16="http://schemas.microsoft.com/office/drawing/2014/main" id="{8596B6A7-221B-0195-C847-A63F14F55C27}"/>
              </a:ext>
            </a:extLst>
          </p:cNvPr>
          <p:cNvSpPr>
            <a:spLocks noGrp="1"/>
          </p:cNvSpPr>
          <p:nvPr>
            <p:ph type="dt" sz="half" idx="10"/>
          </p:nvPr>
        </p:nvSpPr>
        <p:spPr/>
        <p:txBody>
          <a:bodyPr/>
          <a:lstStyle/>
          <a:p>
            <a:r>
              <a:rPr lang="fr-FR"/>
              <a:t>10/03/2026</a:t>
            </a:r>
            <a:endParaRPr lang="fr-FR" dirty="0"/>
          </a:p>
        </p:txBody>
      </p:sp>
      <p:sp>
        <p:nvSpPr>
          <p:cNvPr id="5" name="Espace réservé du pied de page 4">
            <a:extLst>
              <a:ext uri="{FF2B5EF4-FFF2-40B4-BE49-F238E27FC236}">
                <a16:creationId xmlns:a16="http://schemas.microsoft.com/office/drawing/2014/main" id="{2B555EAE-712F-23B0-285E-1D4548DE1F84}"/>
              </a:ext>
            </a:extLst>
          </p:cNvPr>
          <p:cNvSpPr>
            <a:spLocks noGrp="1"/>
          </p:cNvSpPr>
          <p:nvPr>
            <p:ph type="ftr" sz="quarter" idx="11"/>
          </p:nvPr>
        </p:nvSpPr>
        <p:spPr/>
        <p:txBody>
          <a:bodyPr/>
          <a:lstStyle/>
          <a:p>
            <a:r>
              <a:rPr lang="fr-FR"/>
              <a:t>Epreuve d’exploitation pédagogique d’une activité pratique relative à l’approche globale d’un système pluritechnique</a:t>
            </a:r>
          </a:p>
        </p:txBody>
      </p:sp>
      <p:sp>
        <p:nvSpPr>
          <p:cNvPr id="6" name="Espace réservé du numéro de diapositive 5">
            <a:extLst>
              <a:ext uri="{FF2B5EF4-FFF2-40B4-BE49-F238E27FC236}">
                <a16:creationId xmlns:a16="http://schemas.microsoft.com/office/drawing/2014/main" id="{40CBE9B1-DF29-2D61-4B3B-EDB7CFB1C2E4}"/>
              </a:ext>
            </a:extLst>
          </p:cNvPr>
          <p:cNvSpPr>
            <a:spLocks noGrp="1"/>
          </p:cNvSpPr>
          <p:nvPr>
            <p:ph type="sldNum" sz="quarter" idx="12"/>
          </p:nvPr>
        </p:nvSpPr>
        <p:spPr/>
        <p:txBody>
          <a:bodyPr/>
          <a:lstStyle/>
          <a:p>
            <a:fld id="{3CA76ACC-A68C-4A5C-9615-B59A999884DC}" type="slidenum">
              <a:rPr lang="fr-FR" smtClean="0"/>
              <a:t>24</a:t>
            </a:fld>
            <a:endParaRPr lang="fr-FR"/>
          </a:p>
        </p:txBody>
      </p:sp>
    </p:spTree>
    <p:extLst>
      <p:ext uri="{BB962C8B-B14F-4D97-AF65-F5344CB8AC3E}">
        <p14:creationId xmlns:p14="http://schemas.microsoft.com/office/powerpoint/2010/main" val="355949529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2858</Words>
  <Application>Microsoft Office PowerPoint</Application>
  <PresentationFormat>Grand écran</PresentationFormat>
  <Paragraphs>379</Paragraphs>
  <Slides>24</Slides>
  <Notes>17</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24</vt:i4>
      </vt:variant>
    </vt:vector>
  </HeadingPairs>
  <TitlesOfParts>
    <vt:vector size="31" baseType="lpstr">
      <vt:lpstr>Aptos</vt:lpstr>
      <vt:lpstr>Aptos Display</vt:lpstr>
      <vt:lpstr>Aptos Narrow</vt:lpstr>
      <vt:lpstr>Arial</vt:lpstr>
      <vt:lpstr>Cambria Math</vt:lpstr>
      <vt:lpstr>Courier New</vt:lpstr>
      <vt:lpstr>Thème Office</vt:lpstr>
      <vt:lpstr>Epreuve d’exploitation pédagogique d’une activité pratique relative à l’approche globale d’un système pluri technique  </vt:lpstr>
      <vt:lpstr>La filière PTSI-PT</vt:lpstr>
      <vt:lpstr>La filière PTSI-PT</vt:lpstr>
      <vt:lpstr>Le cycle Terminale STI2D</vt:lpstr>
      <vt:lpstr>Expérimenter et résoudre numériquement pour déterminer les performances globales d’un système complexe pluritechnologique (Écarts CDCF/Modèle/Réel)  </vt:lpstr>
      <vt:lpstr>Contextualisation de séquence et prérequis</vt:lpstr>
      <vt:lpstr>Compétences et connaissances</vt:lpstr>
      <vt:lpstr>Mise en contexte de la séquence</vt:lpstr>
      <vt:lpstr>Modalités pédagogiques et didactiques</vt:lpstr>
      <vt:lpstr>Présentation PowerPoint</vt:lpstr>
      <vt:lpstr>Présentation PowerPoint</vt:lpstr>
      <vt:lpstr>Présentation PowerPoint</vt:lpstr>
      <vt:lpstr>Semaine 2 : caractériser les performances du système</vt:lpstr>
      <vt:lpstr>Présentation PowerPoint</vt:lpstr>
      <vt:lpstr>Semaine 3 : analyser le comportement fréquentiel du système</vt:lpstr>
      <vt:lpstr>Semaine 4: évaluations et séquence suivante</vt:lpstr>
      <vt:lpstr>Présentation du support didactisé</vt:lpstr>
      <vt:lpstr>Potentialités didactiques de la cheville NAO</vt:lpstr>
      <vt:lpstr>Démarche dans la séance expérimentale Mise en contexte</vt:lpstr>
      <vt:lpstr>Activité expérimentale à mener par l’élève</vt:lpstr>
      <vt:lpstr>Activité expérimentale à mener par l’élève</vt:lpstr>
      <vt:lpstr>Activité expérimentale à mener par l’élève</vt:lpstr>
      <vt:lpstr>Activités à mener sur les autres systèmes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Hugues Brice</dc:creator>
  <cp:lastModifiedBy>Hugues Brice</cp:lastModifiedBy>
  <cp:revision>1</cp:revision>
  <dcterms:created xsi:type="dcterms:W3CDTF">2026-03-05T13:02:30Z</dcterms:created>
  <dcterms:modified xsi:type="dcterms:W3CDTF">2026-06-07T11:59:37Z</dcterms:modified>
</cp:coreProperties>
</file>